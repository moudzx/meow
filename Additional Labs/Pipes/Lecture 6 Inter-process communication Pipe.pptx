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09" r:id="rId3"/>
    <p:sldId id="292" r:id="rId4"/>
    <p:sldId id="293" r:id="rId5"/>
    <p:sldId id="294" r:id="rId6"/>
    <p:sldId id="327" r:id="rId7"/>
    <p:sldId id="295" r:id="rId8"/>
    <p:sldId id="296" r:id="rId9"/>
    <p:sldId id="297" r:id="rId10"/>
    <p:sldId id="298" r:id="rId11"/>
    <p:sldId id="299" r:id="rId12"/>
    <p:sldId id="300" r:id="rId13"/>
    <p:sldId id="310" r:id="rId14"/>
    <p:sldId id="311" r:id="rId15"/>
    <p:sldId id="312" r:id="rId16"/>
    <p:sldId id="306" r:id="rId17"/>
    <p:sldId id="313" r:id="rId18"/>
    <p:sldId id="314" r:id="rId19"/>
    <p:sldId id="291" r:id="rId20"/>
    <p:sldId id="315" r:id="rId21"/>
    <p:sldId id="316" r:id="rId22"/>
    <p:sldId id="317" r:id="rId23"/>
    <p:sldId id="323" r:id="rId24"/>
    <p:sldId id="318" r:id="rId25"/>
    <p:sldId id="320" r:id="rId26"/>
    <p:sldId id="319" r:id="rId27"/>
    <p:sldId id="324" r:id="rId28"/>
    <p:sldId id="321" r:id="rId29"/>
    <p:sldId id="325" r:id="rId30"/>
    <p:sldId id="326" r:id="rId31"/>
  </p:sldIdLst>
  <p:sldSz cx="100838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31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>
      <p:cViewPr varScale="1">
        <p:scale>
          <a:sx n="63" d="100"/>
          <a:sy n="63" d="100"/>
        </p:scale>
        <p:origin x="859" y="62"/>
      </p:cViewPr>
      <p:guideLst>
        <p:guide orient="horz" pos="2380"/>
        <p:guide pos="31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285" y="2347413"/>
            <a:ext cx="8571230" cy="1619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570" y="4282016"/>
            <a:ext cx="7058660" cy="19311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8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6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551" y="4855752"/>
            <a:ext cx="8571230" cy="150080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551" y="3202768"/>
            <a:ext cx="8571230" cy="165298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2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190" y="1763185"/>
            <a:ext cx="4453678" cy="49869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932" y="1763185"/>
            <a:ext cx="4453678" cy="49869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190" y="1691468"/>
            <a:ext cx="4455430" cy="7049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190" y="2396390"/>
            <a:ext cx="4455430" cy="435373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2432" y="1691468"/>
            <a:ext cx="4457180" cy="7049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2432" y="2396390"/>
            <a:ext cx="4457180" cy="435373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6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6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192" y="300862"/>
            <a:ext cx="3317501" cy="12804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2486" y="300862"/>
            <a:ext cx="5637124" cy="64492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192" y="1581268"/>
            <a:ext cx="3317501" cy="516885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4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95" y="5289551"/>
            <a:ext cx="6050280" cy="62446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95" y="675187"/>
            <a:ext cx="6050280" cy="45339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95" y="5914012"/>
            <a:ext cx="6050280" cy="8868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5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0755" y="334098"/>
            <a:ext cx="2268855" cy="710345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190" y="334098"/>
            <a:ext cx="6638502" cy="710345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30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190" y="302611"/>
            <a:ext cx="9075420" cy="1259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190" y="1763185"/>
            <a:ext cx="9075420" cy="498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190" y="7003756"/>
            <a:ext cx="2352887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E5787-DC40-48DB-AD63-6BF3F85D9A71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5299" y="7003756"/>
            <a:ext cx="319320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6723" y="7003756"/>
            <a:ext cx="2352887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93EB-AE1F-4BFD-B77C-AE92A6CB1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9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good_fork_pipe.cpp" TargetMode="External"/><Relationship Id="rId2" Type="http://schemas.openxmlformats.org/officeDocument/2006/relationships/hyperlink" Target="bad_fork_pipe.cp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pipe_capacity.cp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pipe_capacity2.cp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toupper.cp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deadlock_pipe2.cpp" TargetMode="External"/><Relationship Id="rId2" Type="http://schemas.openxmlformats.org/officeDocument/2006/relationships/hyperlink" Target="deadlock_pipe1.cp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sinus.c" TargetMode="External"/><Relationship Id="rId2" Type="http://schemas.openxmlformats.org/officeDocument/2006/relationships/hyperlink" Target="pipe1.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rediriger.c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fifo2.c" TargetMode="External"/><Relationship Id="rId2" Type="http://schemas.openxmlformats.org/officeDocument/2006/relationships/hyperlink" Target="fifo1.c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serveurNotes.c" TargetMode="External"/><Relationship Id="rId2" Type="http://schemas.openxmlformats.org/officeDocument/2006/relationships/hyperlink" Target="clientNotes.c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client.c" TargetMode="External"/><Relationship Id="rId2" Type="http://schemas.openxmlformats.org/officeDocument/2006/relationships/hyperlink" Target="serveur.c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lnSpc>
                <a:spcPts val="7500"/>
              </a:lnSpc>
              <a:spcBef>
                <a:spcPts val="0"/>
              </a:spcBef>
              <a:tabLst>
                <a:tab pos="1333500" algn="l"/>
              </a:tabLst>
              <a:defRPr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Inter-process Communication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ts val="7500"/>
              </a:lnSpc>
              <a:spcBef>
                <a:spcPts val="0"/>
              </a:spcBef>
              <a:tabLst>
                <a:tab pos="1333500" algn="l"/>
              </a:tabLst>
              <a:defRPr/>
            </a:pPr>
            <a:r>
              <a:rPr lang="en-US" sz="4400" b="1" dirty="0" smtClean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pipe </a:t>
            </a:r>
            <a:endParaRPr lang="fr-FR" sz="4400" b="1" dirty="0">
              <a:solidFill>
                <a:srgbClr val="0070C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5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600"/>
              </a:lnSpc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Pipe (Le tube )</a:t>
            </a: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Unix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communication by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pipes provide a means of exchanging data between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parent process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its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descendants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is an efficient means of data exchange, but limited to use between parent and child processes.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need for communication arises in applications where processes produce information consumed by other processes.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need cannot be satisfied by the use of signals, nor by the operation of creating a process (fork) which makes a private copy of context.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pipe mechanism provides a partial solution to this problem.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212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 Unix 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 synchronisation &amp;</a:t>
            </a:r>
            <a:b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communication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via a stream of bytes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2 Roles, by classic file I / O operations: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Producer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 write data to the pipe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Consumer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 read data from the tube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Synchronizations: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Full tube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 write block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Empty tube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: block reading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FIFO and </a:t>
            </a:r>
            <a:r>
              <a:rPr lang="en-US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unidirectional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US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destructive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readings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Atomic Read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&amp; </a:t>
            </a:r>
            <a:r>
              <a:rPr lang="en-US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Write Operations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Stop reading as soon as an empty tube and no more writer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Immediate write stop if </a:t>
            </a:r>
            <a:r>
              <a:rPr lang="en-US" dirty="0" smtClean="0">
                <a:latin typeface="Times" panose="02020603050405020304" pitchFamily="18" charset="0"/>
                <a:cs typeface="Times" panose="02020603050405020304" pitchFamily="18" charset="0"/>
              </a:rPr>
              <a:t>no more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readers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Automatic destruction. tube</a:t>
            </a:r>
          </a:p>
          <a:p>
            <a:pPr lvl="1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Finite capacity, which depends on the system</a:t>
            </a:r>
            <a:endParaRPr lang="fr-FR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56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 Unix : synchronisation &amp;</a:t>
            </a:r>
            <a:b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communication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via a stream of bytes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900" y="2940050"/>
            <a:ext cx="7391400" cy="4501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511300"/>
            <a:ext cx="9004300" cy="18514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Reader</a:t>
            </a:r>
            <a:r>
              <a:rPr lang="en-US" sz="2400" dirty="0">
                <a:latin typeface="Times New Roman" pitchFamily="18" charset="0"/>
                <a:ea typeface="Arial Unicode MS"/>
                <a:cs typeface="Times New Roman" pitchFamily="18" charset="0"/>
              </a:rPr>
              <a:t> = process with a descriptor on the reading side</a:t>
            </a:r>
          </a:p>
          <a:p>
            <a:pPr marL="800100" lvl="1" indent="-34290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one cannot write if there is not at least one reader!</a:t>
            </a:r>
          </a:p>
          <a:p>
            <a:pPr marL="342900" indent="-34290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Writer</a:t>
            </a:r>
            <a:r>
              <a:rPr lang="en-US" sz="2400" dirty="0">
                <a:latin typeface="Times New Roman" pitchFamily="18" charset="0"/>
                <a:ea typeface="Arial Unicode MS"/>
                <a:cs typeface="Times New Roman" pitchFamily="18" charset="0"/>
              </a:rPr>
              <a:t> = process with a descriptor on the writing side</a:t>
            </a:r>
          </a:p>
          <a:p>
            <a:pPr marL="800100" lvl="1" indent="-34290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no writer? read will return 0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34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Unix Pipe API: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general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principle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1003300" y="1541164"/>
            <a:ext cx="4740547" cy="1682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err="1" smtClean="0"/>
              <a:t>Syntaxe</a:t>
            </a:r>
            <a:r>
              <a:rPr lang="en-US" b="1" dirty="0" smtClean="0"/>
              <a:t> :</a:t>
            </a:r>
          </a:p>
          <a:p>
            <a:pPr lvl="2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pipe(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[2]);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Retour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0 </a:t>
            </a:r>
            <a:r>
              <a:rPr lang="en-US" dirty="0" err="1" smtClean="0"/>
              <a:t>si</a:t>
            </a:r>
            <a:r>
              <a:rPr lang="en-US" dirty="0" smtClean="0"/>
              <a:t> 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-1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erreur</a:t>
            </a:r>
            <a:endParaRPr lang="fr-F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08181" y="2373866"/>
            <a:ext cx="9075420" cy="4986941"/>
          </a:xfrm>
        </p:spPr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pipe in the kernel, of capacity PIPE_BUF bytes and place in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 integers on each end of the tube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only be used by the process and its descendants created after the pipe (inheritance) because the pipe is anonymous (vs. named pipe)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and write are used to read or write to the pipe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primitives which handle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(except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FIFO!)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 is volatile: disappears when no more process can use it because no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it (at the latest when the processes which have the right to use it via their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terminated =&gt; automatic closing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of exit)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00" y="1125275"/>
            <a:ext cx="43243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459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Inheritance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38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Pipe descriptors are duplicated by a fork and kept across an exec</a:t>
            </a:r>
          </a:p>
          <a:p>
            <a:pPr>
              <a:lnSpc>
                <a:spcPts val="38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Consequently, after a fork, each process must close the side it does not use, otherwise there will be 2 readers and 2 writers</a:t>
            </a:r>
            <a:r>
              <a:rPr lang="en-US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bad_fork_pipe.cpp</a:t>
            </a:r>
            <a:r>
              <a:rPr lang="en-US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i="1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i="1" dirty="0" smtClean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r>
              <a:rPr lang="en-US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3" action="ppaction://hlinkfile"/>
              </a:rPr>
              <a:t>good_fork_pipe.cpp </a:t>
            </a:r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435" y="4234049"/>
            <a:ext cx="406717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25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Pipe: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Managing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file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descriptors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769535"/>
            <a:ext cx="8881110" cy="492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9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Pipe: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Managing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file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descriptors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fr-FR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90" y="1794935"/>
            <a:ext cx="9075420" cy="535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6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Pipe: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Managing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file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descriptors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1866449"/>
            <a:ext cx="8610600" cy="480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2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Pipe: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Managing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file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descriptors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1943254"/>
            <a:ext cx="8957310" cy="46268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0900" y="4541572"/>
            <a:ext cx="5334000" cy="13849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Processus père</a:t>
            </a:r>
          </a:p>
          <a:p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/* création d’un tube avec 2 </a:t>
            </a:r>
            <a:r>
              <a:rPr lang="fr-FR" sz="1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[0] et </a:t>
            </a:r>
            <a:r>
              <a:rPr lang="fr-FR" sz="1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[1] */</a:t>
            </a:r>
          </a:p>
          <a:p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pipe ( </a:t>
            </a:r>
            <a:r>
              <a:rPr lang="fr-FR" sz="1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/* création de deux fils qui héritent des </a:t>
            </a:r>
            <a:r>
              <a:rPr lang="fr-FR" sz="1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de tube */</a:t>
            </a:r>
          </a:p>
          <a:p>
            <a:endParaRPr lang="fr-FR" sz="1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 (fork ( ) )</a:t>
            </a:r>
          </a:p>
          <a:p>
            <a:r>
              <a:rPr lang="fr-FR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fr-FR" sz="1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ork (); </a:t>
            </a:r>
            <a:endParaRPr lang="fr-FR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5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Pipe: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Managing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file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descriptors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90" y="1878849"/>
            <a:ext cx="9185910" cy="509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8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 :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FIFO read and write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read and write are blocking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Writing (Producer role)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Possible if there are still readers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atomic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&lt;PIPE_BUF, interruptible otherwise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blocking, waiting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took place to be able to enter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in the tube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(Consumer role)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the number of buses. desired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therefore necessary to test the number of coaches. actually read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char. if end of file is detected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blocks the calling process (waiting for productions to take place)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the importance of detecting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otherwise blocking is final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remember to close the write ends if no longer needed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02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Writing 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ts val="3900"/>
              </a:lnSpc>
              <a:spcBef>
                <a:spcPts val="0"/>
              </a:spcBef>
            </a:pP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syntaxe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: 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write (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TUBE[1], char *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adresse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taille_info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) </a:t>
            </a:r>
            <a:endParaRPr lang="en-US" dirty="0" smtClean="0">
              <a:solidFill>
                <a:srgbClr val="0070C0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r>
              <a:rPr lang="en-US" dirty="0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write</a:t>
            </a: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 is atomic if size &lt;PIPE_BUF (</a:t>
            </a:r>
            <a:r>
              <a:rPr lang="en-US" dirty="0" err="1">
                <a:latin typeface="Times New Roman" pitchFamily="18" charset="0"/>
                <a:ea typeface="Arial Unicode MS"/>
                <a:cs typeface="Times New Roman" pitchFamily="18" charset="0"/>
              </a:rPr>
              <a:t>linux</a:t>
            </a: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 / </a:t>
            </a:r>
            <a:r>
              <a:rPr lang="en-US" dirty="0" err="1">
                <a:latin typeface="Times New Roman" pitchFamily="18" charset="0"/>
                <a:ea typeface="Arial Unicode MS"/>
                <a:cs typeface="Times New Roman" pitchFamily="18" charset="0"/>
              </a:rPr>
              <a:t>limits.h</a:t>
            </a: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), i.e. data no</a:t>
            </a:r>
          </a:p>
          <a:p>
            <a:pPr marL="0" indent="0">
              <a:lnSpc>
                <a:spcPts val="3800"/>
              </a:lnSpc>
              <a:buNone/>
            </a:pPr>
            <a:r>
              <a:rPr lang="en-US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	interlaced </a:t>
            </a: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if several processes write</a:t>
            </a:r>
          </a:p>
          <a:p>
            <a:pPr>
              <a:lnSpc>
                <a:spcPts val="3800"/>
              </a:lnSpc>
            </a:pP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if no reader, the writer receives the SIGPIPE signal, otherwise:</a:t>
            </a:r>
          </a:p>
          <a:p>
            <a:pPr>
              <a:lnSpc>
                <a:spcPts val="3800"/>
              </a:lnSpc>
            </a:pP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if blocking write, write blocks until complete writing</a:t>
            </a:r>
          </a:p>
          <a:p>
            <a:pPr>
              <a:lnSpc>
                <a:spcPts val="3800"/>
              </a:lnSpc>
            </a:pP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if not,</a:t>
            </a:r>
          </a:p>
          <a:p>
            <a:pPr lvl="1">
              <a:lnSpc>
                <a:spcPts val="3800"/>
              </a:lnSpc>
            </a:pP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the behavior depends on the size, lower or not than PIPE_BUF</a:t>
            </a:r>
            <a:r>
              <a:rPr lang="en-US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pipe_capacity.cpp </a:t>
            </a:r>
            <a:endParaRPr lang="en-US" dirty="0">
              <a:solidFill>
                <a:srgbClr val="0070C0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15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600"/>
              </a:lnSpc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Non-blocking mode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800"/>
              </a:lnSpc>
            </a:pPr>
            <a:r>
              <a:rPr lang="en-US" sz="26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To pass a pipe descriptor in non-blocking mode, use </a:t>
            </a:r>
            <a:r>
              <a:rPr lang="en-US" sz="2600" dirty="0" err="1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fcntl</a:t>
            </a:r>
            <a:endParaRPr lang="en-US" sz="2600" dirty="0">
              <a:solidFill>
                <a:srgbClr val="7030A0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r>
              <a:rPr lang="en-US" sz="26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with </a:t>
            </a:r>
            <a:r>
              <a:rPr lang="en-US" sz="2600" dirty="0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F_SETFL</a:t>
            </a:r>
            <a:r>
              <a:rPr lang="en-US" sz="26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to add the </a:t>
            </a:r>
            <a:r>
              <a:rPr lang="en-US" sz="2600" dirty="0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O_NONBLOCK</a:t>
            </a:r>
            <a:r>
              <a:rPr lang="en-US" sz="26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attribute</a:t>
            </a:r>
          </a:p>
          <a:p>
            <a:pPr>
              <a:lnSpc>
                <a:spcPts val="3800"/>
              </a:lnSpc>
            </a:pPr>
            <a:r>
              <a:rPr lang="en-US" sz="26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example: capacity test of a tube that stops by itself</a:t>
            </a:r>
            <a:endParaRPr lang="en-US" sz="2800" i="1" dirty="0" smtClean="0">
              <a:solidFill>
                <a:srgbClr val="191919"/>
              </a:solidFill>
              <a:latin typeface="Times New Roman" pitchFamily="18" charset="0"/>
              <a:cs typeface="Times New Roman" pitchFamily="18" charset="0"/>
              <a:hlinkClick r:id="rId2" action="ppaction://hlinkfile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2800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pipe_capacity2.cpp </a:t>
            </a:r>
            <a:endParaRPr lang="en-US" sz="2800" i="1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4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3700"/>
              </a:lnSpc>
              <a:buNone/>
            </a:pPr>
            <a:r>
              <a:rPr lang="fr-FR" sz="2800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endParaRPr lang="fr-FR" sz="2800" dirty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sz="2800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endParaRPr lang="fr-FR" sz="2600" b="1" dirty="0">
              <a:solidFill>
                <a:srgbClr val="9866CC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endParaRPr lang="en-US" sz="4400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236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600"/>
              </a:lnSpc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Reading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ts val="3900"/>
              </a:lnSpc>
            </a:pPr>
            <a:r>
              <a:rPr lang="en-US" sz="2800" dirty="0" err="1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syntaxe</a:t>
            </a:r>
            <a:r>
              <a:rPr lang="en-US" sz="28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: 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read (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TUBE[0], char *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adresse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 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taille_info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)</a:t>
            </a:r>
          </a:p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if the pipe is not empty, read returns as many bytes as possible</a:t>
            </a:r>
          </a:p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if not:</a:t>
            </a:r>
          </a:p>
          <a:p>
            <a:pPr lvl="1">
              <a:lnSpc>
                <a:spcPts val="3900"/>
              </a:lnSpc>
            </a:pPr>
            <a:r>
              <a:rPr lang="en-US" sz="24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if there is no more writer, it returns 0</a:t>
            </a:r>
          </a:p>
          <a:p>
            <a:pPr lvl="1">
              <a:lnSpc>
                <a:spcPts val="3900"/>
              </a:lnSpc>
            </a:pPr>
            <a:r>
              <a:rPr lang="en-US" sz="24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if not:</a:t>
            </a:r>
          </a:p>
          <a:p>
            <a:pPr lvl="2">
              <a:lnSpc>
                <a:spcPts val="3900"/>
              </a:lnSpc>
            </a:pPr>
            <a:r>
              <a:rPr lang="en-US" sz="20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 blocking mode, the function blocks while waiting for data</a:t>
            </a:r>
          </a:p>
          <a:p>
            <a:pPr lvl="2">
              <a:lnSpc>
                <a:spcPts val="3900"/>
              </a:lnSpc>
            </a:pPr>
            <a:r>
              <a:rPr lang="en-US" sz="2000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when not blocking, it returns 0 and sets </a:t>
            </a:r>
            <a:r>
              <a:rPr lang="fr-FR" sz="1610" b="1" dirty="0" err="1" smtClean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errno</a:t>
            </a:r>
            <a:r>
              <a:rPr lang="fr-FR" sz="1610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to </a:t>
            </a:r>
            <a:r>
              <a:rPr lang="fr-FR" sz="1610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EAGAIN </a:t>
            </a:r>
          </a:p>
          <a:p>
            <a:pPr>
              <a:lnSpc>
                <a:spcPts val="3900"/>
              </a:lnSpc>
            </a:pPr>
            <a:endParaRPr lang="fr-FR" sz="2800" dirty="0">
              <a:solidFill>
                <a:srgbClr val="0070C0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8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Example: I / O redirection to pipe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produces data, consumed and then processed by its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head -20 fichier | grep expression</a:t>
            </a:r>
          </a:p>
          <a:p>
            <a:pPr lvl="1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grep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 | more =&gt; *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pageur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*,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cad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page/page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499" y="4001483"/>
            <a:ext cx="5500801" cy="29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2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600"/>
              </a:lnSpc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Piper </a:t>
            </a:r>
            <a:r>
              <a:rPr lang="en-US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deux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commandes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700"/>
              </a:lnSpc>
            </a:pPr>
            <a:r>
              <a:rPr lang="en-US" dirty="0">
                <a:solidFill>
                  <a:srgbClr val="7030A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Principle: </a:t>
            </a: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use a tube to connect the standard output of one process to the standard input of another</a:t>
            </a:r>
          </a:p>
          <a:p>
            <a:pPr>
              <a:lnSpc>
                <a:spcPts val="3700"/>
              </a:lnSpc>
            </a:pPr>
            <a:r>
              <a:rPr 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attention, with a fork plus a redirection, we must close both sides of the tube</a:t>
            </a:r>
            <a:r>
              <a:rPr lang="en-US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!</a:t>
            </a:r>
          </a:p>
          <a:p>
            <a:pPr>
              <a:lnSpc>
                <a:spcPts val="3700"/>
              </a:lnSpc>
            </a:pPr>
            <a:r>
              <a:rPr lang="en-US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toupper.cpp </a:t>
            </a:r>
            <a:endParaRPr lang="en-US" i="1" dirty="0" smtClean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3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dirty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b="1" dirty="0">
              <a:solidFill>
                <a:srgbClr val="9866CC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fr-FR" dirty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598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Interblocages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3700"/>
              </a:lnSpc>
            </a:pP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cas </a:t>
            </a:r>
            <a:r>
              <a:rPr lang="fr-FR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n°1: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if a process creates a pipe and reads from it</a:t>
            </a:r>
            <a:endParaRPr lang="fr-FR" dirty="0" smtClean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 marL="0" indent="0" algn="r">
              <a:lnSpc>
                <a:spcPts val="1800"/>
              </a:lnSpc>
              <a:buNone/>
            </a:pPr>
            <a:r>
              <a:rPr lang="en-US" i="1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deadlock_pipe1.cpp </a:t>
            </a:r>
            <a:endParaRPr lang="en-US" i="1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18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cas </a:t>
            </a:r>
            <a:r>
              <a:rPr lang="fr-FR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n°2: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two processes have two pipes to communicate, but </a:t>
            </a: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endParaRPr lang="fr-FR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</a:pP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cas </a:t>
            </a:r>
            <a:r>
              <a:rPr lang="fr-FR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2a: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both read in an empty tube</a:t>
            </a: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ts val="3200"/>
              </a:lnSpc>
            </a:pP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cas </a:t>
            </a:r>
            <a:r>
              <a:rPr lang="fr-FR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2b: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both write in a full tube</a:t>
            </a:r>
            <a:endParaRPr lang="fr-FR" dirty="0" smtClean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r">
              <a:lnSpc>
                <a:spcPts val="1800"/>
              </a:lnSpc>
              <a:buNone/>
            </a:pPr>
            <a:r>
              <a:rPr lang="en-US" i="1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hlinkClick r:id="rId3" action="ppaction://hlinkfile"/>
              </a:rPr>
              <a:t>deadlock_pipe2.cpp </a:t>
            </a:r>
            <a:endParaRPr lang="en-US" i="1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18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3200"/>
              </a:lnSpc>
              <a:buNone/>
            </a:pPr>
            <a:r>
              <a:rPr lang="fr-FR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endParaRPr lang="fr-FR" dirty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3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825" y="501650"/>
            <a:ext cx="2319546" cy="589905"/>
          </a:xfr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Exemples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190" y="1763185"/>
            <a:ext cx="9075420" cy="795865"/>
          </a:xfrm>
        </p:spPr>
        <p:txBody>
          <a:bodyPr/>
          <a:lstStyle/>
          <a:p>
            <a:r>
              <a:rPr lang="en-US" dirty="0" smtClean="0">
                <a:hlinkClick r:id="rId2" action="ppaction://hlinkfile"/>
              </a:rPr>
              <a:t>Pipe1.c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527300" y="1568450"/>
            <a:ext cx="8153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output of this program is </a:t>
            </a:r>
            <a:r>
              <a:rPr lang="fr-FR" dirty="0" smtClean="0"/>
              <a:t>:</a:t>
            </a:r>
            <a:endParaRPr lang="fr-FR" dirty="0"/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Création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d'un tube</a:t>
            </a: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Fermeture entrée dans le fils (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= 12756)</a:t>
            </a: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Fermeture sortie dans le père (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= 12755)</a:t>
            </a: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Ecriture de 31 octets du tube dans le père</a:t>
            </a: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Lecture de 31 octets du tube dans le fils</a:t>
            </a: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Le fils (12756) a lu : Message du père (12755) au fils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9900" y="3599775"/>
            <a:ext cx="94488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 smtClean="0">
                <a:hlinkClick r:id="rId3" action="ppaction://hlinkfile"/>
              </a:rPr>
              <a:t>sinus.c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Here is an example of a program that key-inputs an x ​​value into the parent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process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passes the sine of that number, as a double, to the child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9900" y="4696877"/>
            <a:ext cx="9448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 smtClean="0">
                <a:hlinkClick r:id="rId4" action="ppaction://hlinkfile"/>
              </a:rPr>
              <a:t>rediriger.c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This example shows how to program the redirection of the standard output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stdout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of one command to the standard input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stdin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of another command.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run this example, run the command on the Shell: ./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a.out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command1 command2</a:t>
            </a:r>
          </a:p>
        </p:txBody>
      </p:sp>
    </p:spTree>
    <p:extLst>
      <p:ext uri="{BB962C8B-B14F-4D97-AF65-F5344CB8AC3E}">
        <p14:creationId xmlns:p14="http://schemas.microsoft.com/office/powerpoint/2010/main" val="353850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600"/>
              </a:lnSpc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Named tube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37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pipe having a name in the </a:t>
            </a:r>
            <a:r>
              <a:rPr lang="en-US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filesystem </a:t>
            </a:r>
          </a:p>
          <a:p>
            <a:pPr>
              <a:lnSpc>
                <a:spcPts val="3700"/>
              </a:lnSpc>
            </a:pPr>
            <a:r>
              <a:rPr lang="en-US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Shell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commande </a:t>
            </a:r>
            <a:r>
              <a:rPr lang="en-US" b="1" dirty="0" err="1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mkfifo</a:t>
            </a:r>
            <a:r>
              <a:rPr lang="en-US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endParaRPr lang="en-US" b="1" dirty="0" smtClean="0">
              <a:solidFill>
                <a:srgbClr val="9866CC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r>
              <a:rPr lang="en-US" sz="2200" b="1" dirty="0" err="1" smtClean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sz="2200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  </a:t>
            </a:r>
            <a:r>
              <a:rPr lang="en-US" sz="2200" b="1" dirty="0" err="1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mkfifo</a:t>
            </a:r>
            <a:r>
              <a:rPr lang="en-US" sz="2200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(</a:t>
            </a:r>
            <a:r>
              <a:rPr lang="en-US" sz="2200" b="1" dirty="0" err="1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const</a:t>
            </a:r>
            <a:r>
              <a:rPr lang="en-US" sz="2200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  char  *pathname,  </a:t>
            </a:r>
            <a:r>
              <a:rPr lang="en-US" sz="2200" b="1" dirty="0" err="1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mode_t</a:t>
            </a:r>
            <a:r>
              <a:rPr lang="en-US" sz="2200" b="1" dirty="0">
                <a:solidFill>
                  <a:srgbClr val="9866CC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  mode); </a:t>
            </a:r>
            <a:endParaRPr lang="en-US" sz="2200" b="1" dirty="0" smtClean="0">
              <a:solidFill>
                <a:srgbClr val="9866CC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creates a special file that can be opened with open</a:t>
            </a:r>
          </a:p>
          <a:p>
            <a:pPr>
              <a:lnSpc>
                <a:spcPts val="3700"/>
              </a:lnSpc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only way to link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unrelated processes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processes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without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parentage link)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with a tube!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endParaRPr lang="en-US" b="1" dirty="0">
              <a:solidFill>
                <a:srgbClr val="9866CC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800"/>
              </a:lnSpc>
            </a:pPr>
            <a:endParaRPr lang="en-US" b="1" dirty="0">
              <a:solidFill>
                <a:srgbClr val="9866CC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b="1" dirty="0">
              <a:solidFill>
                <a:srgbClr val="9866CC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fr-FR" dirty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585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600"/>
              </a:lnSpc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Named 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tube Remarks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7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opening for </a:t>
            </a:r>
            <a:r>
              <a:rPr lang="en-US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reading,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blocks </a:t>
            </a:r>
            <a:r>
              <a:rPr lang="en-US" dirty="0" smtClean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up, </a:t>
            </a: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to opening for writing and vice versa</a:t>
            </a:r>
          </a:p>
          <a:p>
            <a:pPr>
              <a:lnSpc>
                <a:spcPts val="37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except in non-blocking mode</a:t>
            </a:r>
          </a:p>
          <a:p>
            <a:pPr>
              <a:lnSpc>
                <a:spcPts val="3700"/>
              </a:lnSpc>
            </a:pPr>
            <a:r>
              <a:rPr lang="en-US" dirty="0">
                <a:solidFill>
                  <a:srgbClr val="191919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avoids deadlocks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</a:pPr>
            <a:endParaRPr lang="fr-FR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</a:pPr>
            <a:endParaRPr lang="en-US" sz="2400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fr-FR" dirty="0">
              <a:solidFill>
                <a:srgbClr val="191919"/>
              </a:solidFill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>
              <a:lnSpc>
                <a:spcPts val="3700"/>
              </a:lnSpc>
            </a:pPr>
            <a:endParaRPr lang="en-US" dirty="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  <p:sp>
        <p:nvSpPr>
          <p:cNvPr id="4" name="TextBox 3"/>
          <p:cNvSpPr txBox="1"/>
          <p:nvPr/>
        </p:nvSpPr>
        <p:spPr>
          <a:xfrm>
            <a:off x="1638300" y="4381500"/>
            <a:ext cx="1179810" cy="3708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1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shell n°1:</a:t>
            </a:r>
            <a:endParaRPr lang="en-US" sz="241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02300" y="4381500"/>
            <a:ext cx="1179810" cy="3708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410" smtClean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</a:rPr>
              <a:t>shell n°2:</a:t>
            </a:r>
            <a:endParaRPr lang="en-US" sz="2410">
              <a:solidFill>
                <a:srgbClr val="1919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74800" y="4914900"/>
            <a:ext cx="1309654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9866CC"/>
                </a:solidFill>
                <a:latin typeface="Times New Roman" pitchFamily="18" charset="0"/>
                <a:cs typeface="Times New Roman" pitchFamily="18" charset="0"/>
              </a:rPr>
              <a:t>$&gt;mkfifo  toto</a:t>
            </a:r>
            <a:endParaRPr lang="en-US" sz="1684" b="1">
              <a:solidFill>
                <a:srgbClr val="9866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74800" y="5194300"/>
            <a:ext cx="1242328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9866CC"/>
                </a:solidFill>
                <a:latin typeface="Times New Roman" pitchFamily="18" charset="0"/>
                <a:cs typeface="Times New Roman" pitchFamily="18" charset="0"/>
              </a:rPr>
              <a:t>$&gt;ls  ­l  &gt;  toto</a:t>
            </a:r>
            <a:endParaRPr lang="en-US" sz="1684" b="1">
              <a:solidFill>
                <a:srgbClr val="9866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4800" y="5461000"/>
            <a:ext cx="1788951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(bloque  jusqu'à  ce</a:t>
            </a:r>
            <a:endParaRPr lang="en-US" sz="1684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38800" y="5473700"/>
            <a:ext cx="974626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9866CC"/>
                </a:solidFill>
                <a:latin typeface="Times New Roman" pitchFamily="18" charset="0"/>
                <a:cs typeface="Times New Roman" pitchFamily="18" charset="0"/>
              </a:rPr>
              <a:t>$&gt;cat  toto</a:t>
            </a:r>
            <a:endParaRPr lang="en-US" sz="1684" b="1">
              <a:solidFill>
                <a:srgbClr val="9866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4800" y="5740400"/>
            <a:ext cx="1551707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que  le  shell  n°2</a:t>
            </a:r>
            <a:endParaRPr lang="en-US" sz="1684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38800" y="5740400"/>
            <a:ext cx="1728037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(affichage  de  ls  ­l)</a:t>
            </a:r>
            <a:endParaRPr lang="en-US" sz="1684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74800" y="6007100"/>
            <a:ext cx="1378583" cy="25917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684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lise  dans  toto)</a:t>
            </a:r>
            <a:endParaRPr lang="en-US" sz="1684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principle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file management application or in a classic database, different processes can access or modify the same files at the same time.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a potential conflict and data integrity issue.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Conflicts can be resolved by setting locks.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resolve conflicts is to allow only one process to view and modify data.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principle</a:t>
            </a:r>
            <a:endParaRPr lang="fr-F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wishing to access the data must submit a request to the server process responsible for the proper management of the data.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examines the request and provides the data corresponding to the request.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client-server application: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process responsible for viewing or modifying the data (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processes (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sending requests (for consultation or modification) to the server.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55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principle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anonymous pipes,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pipes have a name in the file system and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hand they can be used as a means of communication between unrelated processes.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91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principle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 fifo1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(in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fifo1.c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fifo2 (in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fifo2.c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creates a named pipe - whose name is passed as an argument to the command - opens it for writing and writes the string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“Bonjour”.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program opens that same tube for reading, reads its content, and displays 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program must be run in the background because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that has opened a write pipe is suspended as long 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readers.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85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named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management of an application can be done as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 pipes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means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pipe whose name is known to customers receives requests.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response by creating a pipe for each client.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and server processes are independent but communicate through named pipes.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21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named</a:t>
            </a:r>
            <a:r>
              <a:rPr lang="fr-F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no client,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process is stuck waiting to read from the 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named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pipes for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 as there are clients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client terminates, their named pipe is destroyed.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 a client message (a request)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write to the server's named pipe.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Receiving a client message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reading the client's named pipe.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76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Client-server</a:t>
            </a:r>
            <a:r>
              <a:rPr lang="fr-FR" sz="4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4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fr-FR" sz="4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40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named</a:t>
            </a:r>
            <a:r>
              <a:rPr lang="fr-FR" sz="4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1797050"/>
            <a:ext cx="9372600" cy="4986941"/>
          </a:xfrm>
        </p:spPr>
        <p:txBody>
          <a:bodyPr>
            <a:normAutofit fontScale="77500" lnSpcReduction="20000"/>
          </a:bodyPr>
          <a:lstStyle/>
          <a:p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assumed that a server has access to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containing student notes.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client sends its requests to the pipe named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writes to the pipe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accesspoint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”PID-210 + Toto”, 12);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that he wants to know the grade of student Toto (“210” is his PID number).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reads from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accesspoint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tamponreq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100);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(where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tamponreq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array of characters).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looks for the note corresponding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it creates the pipe named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rep210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writes by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(rep210, ”14”, 2);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Toto’s note (14 in this case).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client retrieves the note by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(rep210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tableaunote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tableaunote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array of characters.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the two programs: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client notes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serveur notes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27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fr-FR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2</a:t>
            </a:r>
            <a:endParaRPr lang="fr-FR" sz="4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2 programs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serveur.c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client.c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communicate by two named pipes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cli2serv </a:t>
            </a:r>
            <a:r>
              <a:rPr lang="fr-FR" sz="2400" dirty="0" smtClean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serv2cli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client.c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 request of type a + b, in the pipe </a:t>
            </a:r>
            <a:r>
              <a:rPr lang="en-US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cli2serv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program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response in the pipe </a:t>
            </a:r>
            <a:r>
              <a:rPr lang="en-US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serv2cli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which creates the pipes (designated by the QUESTION and RESPONSE variables) and which deletes them at the end of the execution.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therefore be started before the client program which assumes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tubes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existing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programs are synchronized on the opening of the tubes which must be done in the same order. The communication is stopped when the client program sends the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message; the server then responds with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22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Script </a:t>
            </a:r>
            <a:r>
              <a:rPr lang="fr-FR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d'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lang="fr-FR" sz="4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cli_serv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serv_cli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cli_serv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not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serv_cli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not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% client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Impossible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ouvrire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fifo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cli_serv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Lancer serveur d'abord?</a:t>
            </a: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% serveur &amp;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[1] 21653</a:t>
            </a: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% client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2 +4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Client -&gt; 2 +4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Serveur -&gt; 6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3 + 7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Client -&gt; 3 + 7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Serveur -&gt; 10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Ciao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Client -&gt; Ciao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Serveur -&gt; Bye</a:t>
            </a: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41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ECE13F748774489199EDB80C7ECAED" ma:contentTypeVersion="8" ma:contentTypeDescription="Create a new document." ma:contentTypeScope="" ma:versionID="37c1f23fd20dce6592cf1b2dbe7bd39b">
  <xsd:schema xmlns:xsd="http://www.w3.org/2001/XMLSchema" xmlns:xs="http://www.w3.org/2001/XMLSchema" xmlns:p="http://schemas.microsoft.com/office/2006/metadata/properties" xmlns:ns2="08f3b302-e7b2-4b26-998e-7c93f5dae48d" targetNamespace="http://schemas.microsoft.com/office/2006/metadata/properties" ma:root="true" ma:fieldsID="cb495b3fe2b6e119e8bc79b02fe4ead9" ns2:_="">
    <xsd:import namespace="08f3b302-e7b2-4b26-998e-7c93f5dae4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f3b302-e7b2-4b26-998e-7c93f5dae4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A031CE-DAA1-40F4-8134-41C4AD12CC24}"/>
</file>

<file path=customXml/itemProps2.xml><?xml version="1.0" encoding="utf-8"?>
<ds:datastoreItem xmlns:ds="http://schemas.openxmlformats.org/officeDocument/2006/customXml" ds:itemID="{DD68F845-4D17-4D38-8924-4CBEFACDB681}"/>
</file>

<file path=customXml/itemProps3.xml><?xml version="1.0" encoding="utf-8"?>
<ds:datastoreItem xmlns:ds="http://schemas.openxmlformats.org/officeDocument/2006/customXml" ds:itemID="{94D64764-D85E-44A0-838E-A0AFB07B9174}"/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1766</Words>
  <Application>Microsoft Office PowerPoint</Application>
  <PresentationFormat>Custom</PresentationFormat>
  <Paragraphs>225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 Unicode MS</vt:lpstr>
      <vt:lpstr>Arial</vt:lpstr>
      <vt:lpstr>Calibri</vt:lpstr>
      <vt:lpstr>Courier New</vt:lpstr>
      <vt:lpstr>Times</vt:lpstr>
      <vt:lpstr>Times New Roman</vt:lpstr>
      <vt:lpstr>Wingdings</vt:lpstr>
      <vt:lpstr>Office Theme</vt:lpstr>
      <vt:lpstr>Inter-process Communication</vt:lpstr>
      <vt:lpstr>The Pipe (Le tube )</vt:lpstr>
      <vt:lpstr>Pipe Unix : synchronisation &amp; communication via a stream of bytes</vt:lpstr>
      <vt:lpstr>Pipe Unix : synchronisation &amp; communication via a stream of bytes</vt:lpstr>
      <vt:lpstr>Unix Pipe API: general principle </vt:lpstr>
      <vt:lpstr>Inheritance</vt:lpstr>
      <vt:lpstr>Pipe: Managing file descriptors</vt:lpstr>
      <vt:lpstr>Pipe: Managing file descriptors(2)</vt:lpstr>
      <vt:lpstr>Pipe: Managing file descriptors(3)</vt:lpstr>
      <vt:lpstr>Pipe: Managing file descriptors(4)</vt:lpstr>
      <vt:lpstr>Pipe: Managing file descriptors(5)</vt:lpstr>
      <vt:lpstr>Pipe : FIFO read and write</vt:lpstr>
      <vt:lpstr>Writing </vt:lpstr>
      <vt:lpstr>Non-blocking mode</vt:lpstr>
      <vt:lpstr>Reading</vt:lpstr>
      <vt:lpstr>Example: I / O redirection to pipe</vt:lpstr>
      <vt:lpstr>Piper deux commandes </vt:lpstr>
      <vt:lpstr>Interblocages</vt:lpstr>
      <vt:lpstr>Exemples</vt:lpstr>
      <vt:lpstr>Named tube</vt:lpstr>
      <vt:lpstr>Named tube Remarks</vt:lpstr>
      <vt:lpstr>Client-server principle</vt:lpstr>
      <vt:lpstr>Client-server principle</vt:lpstr>
      <vt:lpstr>Client-server principle</vt:lpstr>
      <vt:lpstr>Client-server principle</vt:lpstr>
      <vt:lpstr>Client-server with named pipes</vt:lpstr>
      <vt:lpstr>Client-server with named pipes</vt:lpstr>
      <vt:lpstr>Client-server with named pipes</vt:lpstr>
      <vt:lpstr>Example 2</vt:lpstr>
      <vt:lpstr>Script d'execution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Mouhammad SAADE</cp:lastModifiedBy>
  <cp:revision>99</cp:revision>
  <dcterms:created xsi:type="dcterms:W3CDTF">2012-10-14T19:25:52Z</dcterms:created>
  <dcterms:modified xsi:type="dcterms:W3CDTF">2022-02-28T07:29:39Z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0x0101008FECE13F748774489199EDB80C7ECAED</vt:lpwstr>
  </property>
</Properties>
</file>