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s/slide2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43.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45"/>
  </p:notesMasterIdLst>
  <p:sldIdLst>
    <p:sldId id="385" r:id="rId2"/>
    <p:sldId id="386" r:id="rId3"/>
    <p:sldId id="387" r:id="rId4"/>
    <p:sldId id="388" r:id="rId5"/>
    <p:sldId id="389" r:id="rId6"/>
    <p:sldId id="450" r:id="rId7"/>
    <p:sldId id="454" r:id="rId8"/>
    <p:sldId id="452" r:id="rId9"/>
    <p:sldId id="410" r:id="rId10"/>
    <p:sldId id="358" r:id="rId11"/>
    <p:sldId id="359" r:id="rId12"/>
    <p:sldId id="413" r:id="rId13"/>
    <p:sldId id="414" r:id="rId14"/>
    <p:sldId id="391" r:id="rId15"/>
    <p:sldId id="453" r:id="rId16"/>
    <p:sldId id="390" r:id="rId17"/>
    <p:sldId id="411" r:id="rId18"/>
    <p:sldId id="392" r:id="rId19"/>
    <p:sldId id="415" r:id="rId20"/>
    <p:sldId id="416" r:id="rId21"/>
    <p:sldId id="417" r:id="rId22"/>
    <p:sldId id="419" r:id="rId23"/>
    <p:sldId id="420" r:id="rId24"/>
    <p:sldId id="434" r:id="rId25"/>
    <p:sldId id="433" r:id="rId26"/>
    <p:sldId id="437" r:id="rId27"/>
    <p:sldId id="432" r:id="rId28"/>
    <p:sldId id="431" r:id="rId29"/>
    <p:sldId id="439" r:id="rId30"/>
    <p:sldId id="440" r:id="rId31"/>
    <p:sldId id="441" r:id="rId32"/>
    <p:sldId id="442" r:id="rId33"/>
    <p:sldId id="443" r:id="rId34"/>
    <p:sldId id="444" r:id="rId35"/>
    <p:sldId id="445" r:id="rId36"/>
    <p:sldId id="446" r:id="rId37"/>
    <p:sldId id="447" r:id="rId38"/>
    <p:sldId id="448" r:id="rId39"/>
    <p:sldId id="438" r:id="rId40"/>
    <p:sldId id="395" r:id="rId41"/>
    <p:sldId id="396" r:id="rId42"/>
    <p:sldId id="397" r:id="rId43"/>
    <p:sldId id="423" r:id="rId44"/>
  </p:sldIdLst>
  <p:sldSz cx="4610100" cy="3460750"/>
  <p:notesSz cx="4610100" cy="346075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0E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465" autoAdjust="0"/>
  </p:normalViewPr>
  <p:slideViewPr>
    <p:cSldViewPr>
      <p:cViewPr varScale="1">
        <p:scale>
          <a:sx n="108" d="100"/>
          <a:sy n="108" d="100"/>
        </p:scale>
        <p:origin x="1296"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1CB85006-4E6E-4BE4-A0E4-4734CE5BDBB0}" type="datetimeFigureOut">
              <a:rPr lang="fr-FR" smtClean="0"/>
              <a:t>13/01/2022</a:t>
            </a:fld>
            <a:endParaRPr lang="fr-FR"/>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FC98BD66-D7C7-4C24-A84B-F8C56EF12BD5}" type="slidenum">
              <a:rPr lang="fr-FR" smtClean="0"/>
              <a:t>‹#›</a:t>
            </a:fld>
            <a:endParaRPr lang="fr-FR"/>
          </a:p>
        </p:txBody>
      </p:sp>
    </p:spTree>
    <p:extLst>
      <p:ext uri="{BB962C8B-B14F-4D97-AF65-F5344CB8AC3E}">
        <p14:creationId xmlns:p14="http://schemas.microsoft.com/office/powerpoint/2010/main" val="742266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FC98BD66-D7C7-4C24-A84B-F8C56EF12BD5}" type="slidenum">
              <a:rPr lang="fr-FR" smtClean="0"/>
              <a:t>4</a:t>
            </a:fld>
            <a:endParaRPr lang="fr-FR"/>
          </a:p>
        </p:txBody>
      </p:sp>
    </p:spTree>
    <p:extLst>
      <p:ext uri="{BB962C8B-B14F-4D97-AF65-F5344CB8AC3E}">
        <p14:creationId xmlns:p14="http://schemas.microsoft.com/office/powerpoint/2010/main" val="2592309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smtClean="0"/>
              <a:t>Lors de l’exécution de ce programme, nous essayons d’examiner les principaux types de fichiers, périphériques de type bloc ou caractère, répertoires, fichiers normaux et FIFO obtenus grâce à une redirection du </a:t>
            </a:r>
            <a:r>
              <a:rPr lang="fr-FR" sz="1200" dirty="0" err="1" smtClean="0"/>
              <a:t>shell</a:t>
            </a:r>
            <a:endParaRPr lang="fr-FR" dirty="0"/>
          </a:p>
        </p:txBody>
      </p:sp>
      <p:sp>
        <p:nvSpPr>
          <p:cNvPr id="4" name="Slide Number Placeholder 3"/>
          <p:cNvSpPr>
            <a:spLocks noGrp="1"/>
          </p:cNvSpPr>
          <p:nvPr>
            <p:ph type="sldNum" sz="quarter" idx="10"/>
          </p:nvPr>
        </p:nvSpPr>
        <p:spPr/>
        <p:txBody>
          <a:bodyPr/>
          <a:lstStyle/>
          <a:p>
            <a:fld id="{FC98BD66-D7C7-4C24-A84B-F8C56EF12BD5}" type="slidenum">
              <a:rPr lang="fr-FR" smtClean="0"/>
              <a:t>14</a:t>
            </a:fld>
            <a:endParaRPr lang="fr-FR"/>
          </a:p>
        </p:txBody>
      </p:sp>
    </p:spTree>
    <p:extLst>
      <p:ext uri="{BB962C8B-B14F-4D97-AF65-F5344CB8AC3E}">
        <p14:creationId xmlns:p14="http://schemas.microsoft.com/office/powerpoint/2010/main" val="2835056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smtClean="0">
                <a:latin typeface="Times New Roman" panose="02020603050405020304" pitchFamily="18" charset="0"/>
                <a:cs typeface="Times New Roman" panose="02020603050405020304" pitchFamily="18" charset="0"/>
              </a:rPr>
              <a:t>Lors de l’exécution, les tentatives d’ouverture d’un fichier système dans /</a:t>
            </a:r>
            <a:r>
              <a:rPr lang="fr-FR" sz="1200" dirty="0" err="1" smtClean="0">
                <a:latin typeface="Times New Roman" panose="02020603050405020304" pitchFamily="18" charset="0"/>
                <a:cs typeface="Times New Roman" panose="02020603050405020304" pitchFamily="18" charset="0"/>
              </a:rPr>
              <a:t>etc</a:t>
            </a:r>
            <a:r>
              <a:rPr lang="fr-FR" sz="1200" dirty="0" smtClean="0">
                <a:latin typeface="Times New Roman" panose="02020603050405020304" pitchFamily="18" charset="0"/>
                <a:cs typeface="Times New Roman" panose="02020603050405020304" pitchFamily="18" charset="0"/>
              </a:rPr>
              <a:t>/ ne fonctionnent évidemment qu’en lecture seule. </a:t>
            </a:r>
          </a:p>
          <a:p>
            <a:r>
              <a:rPr lang="fr-FR" sz="1200" dirty="0" smtClean="0">
                <a:latin typeface="Times New Roman" panose="02020603050405020304" pitchFamily="18" charset="0"/>
                <a:cs typeface="Times New Roman" panose="02020603050405020304" pitchFamily="18" charset="0"/>
              </a:rPr>
              <a:t>En ce qui concerne le fichier </a:t>
            </a:r>
            <a:r>
              <a:rPr lang="fr-FR" sz="1200" dirty="0" err="1" smtClean="0">
                <a:latin typeface="Times New Roman" panose="02020603050405020304" pitchFamily="18" charset="0"/>
                <a:cs typeface="Times New Roman" panose="02020603050405020304" pitchFamily="18" charset="0"/>
              </a:rPr>
              <a:t>essai.open</a:t>
            </a:r>
            <a:r>
              <a:rPr lang="fr-FR" sz="1200" dirty="0" smtClean="0">
                <a:latin typeface="Times New Roman" panose="02020603050405020304" pitchFamily="18" charset="0"/>
                <a:cs typeface="Times New Roman" panose="02020603050405020304" pitchFamily="18" charset="0"/>
              </a:rPr>
              <a:t>, il n’est pas possible de l’ouvrir s’il n’existe pas, tant qu’on ne précise pas l’option O_CREAT. </a:t>
            </a:r>
          </a:p>
          <a:p>
            <a:r>
              <a:rPr lang="fr-FR" sz="1200" dirty="0" smtClean="0">
                <a:latin typeface="Times New Roman" panose="02020603050405020304" pitchFamily="18" charset="0"/>
                <a:cs typeface="Times New Roman" panose="02020603050405020304" pitchFamily="18" charset="0"/>
              </a:rPr>
              <a:t>Par contre, dans ce cas, l’ouverture échoue si le fichier existe et qu’on a demandé l’exclusivité avec </a:t>
            </a:r>
            <a:r>
              <a:rPr lang="en-US" sz="1200" dirty="0" smtClean="0">
                <a:latin typeface="Times New Roman" panose="02020603050405020304" pitchFamily="18" charset="0"/>
                <a:cs typeface="Times New Roman" panose="02020603050405020304" pitchFamily="18" charset="0"/>
              </a:rPr>
              <a:t>O_EXCL.</a:t>
            </a:r>
          </a:p>
          <a:p>
            <a:endParaRPr lang="fr-FR" dirty="0"/>
          </a:p>
        </p:txBody>
      </p:sp>
      <p:sp>
        <p:nvSpPr>
          <p:cNvPr id="4" name="Slide Number Placeholder 3"/>
          <p:cNvSpPr>
            <a:spLocks noGrp="1"/>
          </p:cNvSpPr>
          <p:nvPr>
            <p:ph type="sldNum" sz="quarter" idx="10"/>
          </p:nvPr>
        </p:nvSpPr>
        <p:spPr/>
        <p:txBody>
          <a:bodyPr/>
          <a:lstStyle/>
          <a:p>
            <a:fld id="{FC98BD66-D7C7-4C24-A84B-F8C56EF12BD5}" type="slidenum">
              <a:rPr lang="fr-FR" smtClean="0"/>
              <a:t>22</a:t>
            </a:fld>
            <a:endParaRPr lang="fr-FR"/>
          </a:p>
        </p:txBody>
      </p:sp>
    </p:spTree>
    <p:extLst>
      <p:ext uri="{BB962C8B-B14F-4D97-AF65-F5344CB8AC3E}">
        <p14:creationId xmlns:p14="http://schemas.microsoft.com/office/powerpoint/2010/main" val="3578506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latin typeface="Times New Roman" pitchFamily="18" charset="0"/>
                <a:cs typeface="Times New Roman" pitchFamily="18" charset="0"/>
              </a:rPr>
              <a:t>Lors de l’exécution du programme, le contenu de notre attribut </a:t>
            </a:r>
            <a:r>
              <a:rPr lang="fr-FR" sz="1200" i="1" dirty="0" err="1" smtClean="0">
                <a:latin typeface="Times New Roman" pitchFamily="18" charset="0"/>
                <a:cs typeface="Times New Roman" pitchFamily="18" charset="0"/>
              </a:rPr>
              <a:t>umask</a:t>
            </a:r>
            <a:r>
              <a:rPr lang="fr-FR" sz="1200" i="1" dirty="0" smtClean="0">
                <a:latin typeface="Times New Roman" pitchFamily="18" charset="0"/>
                <a:cs typeface="Times New Roman" pitchFamily="18" charset="0"/>
              </a:rPr>
              <a:t> </a:t>
            </a:r>
            <a:r>
              <a:rPr lang="fr-FR" sz="1200" dirty="0" smtClean="0">
                <a:latin typeface="Times New Roman" pitchFamily="18" charset="0"/>
                <a:cs typeface="Times New Roman" pitchFamily="18" charset="0"/>
              </a:rPr>
              <a:t>est extrait des autorisations demandées, ce qui supprime le droit d’écriture pour tout le monde.</a:t>
            </a:r>
            <a:endParaRPr lang="en-US" sz="1200" dirty="0" smtClean="0">
              <a:latin typeface="Times New Roman" pitchFamily="18" charset="0"/>
              <a:cs typeface="Times New Roman" pitchFamily="18" charset="0"/>
            </a:endParaRPr>
          </a:p>
          <a:p>
            <a:endParaRPr lang="fr-FR" dirty="0"/>
          </a:p>
        </p:txBody>
      </p:sp>
      <p:sp>
        <p:nvSpPr>
          <p:cNvPr id="4" name="Slide Number Placeholder 3"/>
          <p:cNvSpPr>
            <a:spLocks noGrp="1"/>
          </p:cNvSpPr>
          <p:nvPr>
            <p:ph type="sldNum" sz="quarter" idx="10"/>
          </p:nvPr>
        </p:nvSpPr>
        <p:spPr/>
        <p:txBody>
          <a:bodyPr/>
          <a:lstStyle/>
          <a:p>
            <a:fld id="{FC98BD66-D7C7-4C24-A84B-F8C56EF12BD5}" type="slidenum">
              <a:rPr lang="fr-FR" smtClean="0"/>
              <a:t>23</a:t>
            </a:fld>
            <a:endParaRPr lang="fr-FR"/>
          </a:p>
        </p:txBody>
      </p:sp>
    </p:spTree>
    <p:extLst>
      <p:ext uri="{BB962C8B-B14F-4D97-AF65-F5344CB8AC3E}">
        <p14:creationId xmlns:p14="http://schemas.microsoft.com/office/powerpoint/2010/main" val="3079691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201" y="3230033"/>
            <a:ext cx="4608900" cy="23071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 y="3196484"/>
            <a:ext cx="4608900" cy="32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14909" y="382990"/>
            <a:ext cx="3803333" cy="1799590"/>
          </a:xfrm>
        </p:spPr>
        <p:txBody>
          <a:bodyPr anchor="b">
            <a:normAutofit/>
          </a:bodyPr>
          <a:lstStyle>
            <a:lvl1pPr algn="l">
              <a:lnSpc>
                <a:spcPct val="85000"/>
              </a:lnSpc>
              <a:defRPr sz="4034" spc="-25"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15956" y="2248438"/>
            <a:ext cx="3803333" cy="576792"/>
          </a:xfrm>
        </p:spPr>
        <p:txBody>
          <a:bodyPr lIns="91440" rIns="91440">
            <a:normAutofit/>
          </a:bodyPr>
          <a:lstStyle>
            <a:lvl1pPr marL="0" indent="0" algn="l">
              <a:buNone/>
              <a:defRPr sz="1210" cap="all" spc="101" baseline="0">
                <a:solidFill>
                  <a:schemeClr val="tx2"/>
                </a:solidFill>
                <a:latin typeface="+mj-lt"/>
              </a:defRPr>
            </a:lvl1pPr>
            <a:lvl2pPr marL="230520" indent="0" algn="ctr">
              <a:buNone/>
              <a:defRPr sz="1210"/>
            </a:lvl2pPr>
            <a:lvl3pPr marL="461040" indent="0" algn="ctr">
              <a:buNone/>
              <a:defRPr sz="1210"/>
            </a:lvl3pPr>
            <a:lvl4pPr marL="691561" indent="0" algn="ctr">
              <a:buNone/>
              <a:defRPr sz="1008"/>
            </a:lvl4pPr>
            <a:lvl5pPr marL="922081" indent="0" algn="ctr">
              <a:buNone/>
              <a:defRPr sz="1008"/>
            </a:lvl5pPr>
            <a:lvl6pPr marL="1152601" indent="0" algn="ctr">
              <a:buNone/>
              <a:defRPr sz="1008"/>
            </a:lvl6pPr>
            <a:lvl7pPr marL="1383121" indent="0" algn="ctr">
              <a:buNone/>
              <a:defRPr sz="1008"/>
            </a:lvl7pPr>
            <a:lvl8pPr marL="1613642" indent="0" algn="ctr">
              <a:buNone/>
              <a:defRPr sz="1008"/>
            </a:lvl8pPr>
            <a:lvl9pPr marL="1844162" indent="0" algn="ctr">
              <a:buNone/>
              <a:defRPr sz="1008"/>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marL="12700">
              <a:lnSpc>
                <a:spcPts val="580"/>
              </a:lnSpc>
            </a:pPr>
            <a:r>
              <a:rPr lang="fr-FR" spc="-20" smtClean="0"/>
              <a:t>Cours </a:t>
            </a:r>
            <a:r>
              <a:rPr lang="fr-FR" spc="-25" smtClean="0"/>
              <a:t>de </a:t>
            </a:r>
            <a:r>
              <a:rPr lang="fr-FR" spc="-10" smtClean="0"/>
              <a:t>S.E. </a:t>
            </a:r>
            <a:r>
              <a:rPr lang="fr-FR" spc="-15" smtClean="0"/>
              <a:t>– le </a:t>
            </a:r>
            <a:r>
              <a:rPr lang="fr-FR" spc="-40" smtClean="0"/>
              <a:t>Syst`eme </a:t>
            </a:r>
            <a:r>
              <a:rPr lang="fr-FR" spc="-30" smtClean="0"/>
              <a:t>de </a:t>
            </a:r>
            <a:r>
              <a:rPr lang="fr-FR" spc="-15" smtClean="0"/>
              <a:t>Gestion </a:t>
            </a:r>
            <a:r>
              <a:rPr lang="fr-FR" spc="-35" smtClean="0"/>
              <a:t>des</a:t>
            </a:r>
            <a:r>
              <a:rPr lang="fr-FR" spc="25" smtClean="0"/>
              <a:t> </a:t>
            </a:r>
            <a:r>
              <a:rPr lang="fr-FR" spc="-15" smtClean="0"/>
              <a:t>Fichiers</a:t>
            </a:r>
            <a:endParaRPr lang="fr-FR" spc="-15" dirty="0"/>
          </a:p>
        </p:txBody>
      </p:sp>
      <p:sp>
        <p:nvSpPr>
          <p:cNvPr id="5" name="Footer Placeholder 4"/>
          <p:cNvSpPr>
            <a:spLocks noGrp="1"/>
          </p:cNvSpPr>
          <p:nvPr>
            <p:ph type="ftr" sz="quarter" idx="11"/>
          </p:nvPr>
        </p:nvSpPr>
        <p:spPr/>
        <p:txBody>
          <a:bodyPr/>
          <a:lstStyle/>
          <a:p>
            <a:pPr marL="12700">
              <a:lnSpc>
                <a:spcPts val="580"/>
              </a:lnSpc>
            </a:pPr>
            <a:r>
              <a:rPr lang="fr-FR" spc="-15" smtClean="0"/>
              <a:t>Andreea</a:t>
            </a:r>
            <a:r>
              <a:rPr lang="fr-FR" spc="-5" smtClean="0"/>
              <a:t> </a:t>
            </a:r>
            <a:r>
              <a:rPr lang="fr-FR" smtClean="0"/>
              <a:t>Dragut</a:t>
            </a:r>
            <a:endParaRPr lang="fr-FR" dirty="0"/>
          </a:p>
        </p:txBody>
      </p:sp>
      <p:sp>
        <p:nvSpPr>
          <p:cNvPr id="6" name="Slide Number Placeholder 5"/>
          <p:cNvSpPr>
            <a:spLocks noGrp="1"/>
          </p:cNvSpPr>
          <p:nvPr>
            <p:ph type="sldNum" sz="quarter" idx="12"/>
          </p:nvPr>
        </p:nvSpPr>
        <p:spPr/>
        <p:txBody>
          <a:bodyPr/>
          <a:lstStyle/>
          <a:p>
            <a:pPr marL="25400">
              <a:lnSpc>
                <a:spcPts val="580"/>
              </a:lnSpc>
            </a:pPr>
            <a:fld id="{81D60167-4931-47E6-BA6A-407CBD079E47}" type="slidenum">
              <a:rPr lang="fr-FR" spc="-15" smtClean="0"/>
              <a:t>‹#›</a:t>
            </a:fld>
            <a:r>
              <a:rPr lang="fr-FR" spc="-85" smtClean="0"/>
              <a:t> </a:t>
            </a:r>
            <a:r>
              <a:rPr lang="fr-FR" spc="125" smtClean="0"/>
              <a:t>/</a:t>
            </a:r>
            <a:r>
              <a:rPr lang="fr-FR" spc="-85" smtClean="0"/>
              <a:t> </a:t>
            </a:r>
            <a:r>
              <a:rPr lang="fr-FR" spc="-15" smtClean="0"/>
              <a:t>84</a:t>
            </a:r>
            <a:endParaRPr lang="fr-FR" spc="-15" dirty="0"/>
          </a:p>
        </p:txBody>
      </p:sp>
      <p:cxnSp>
        <p:nvCxnSpPr>
          <p:cNvPr id="9" name="Straight Connector 8"/>
          <p:cNvCxnSpPr/>
          <p:nvPr/>
        </p:nvCxnSpPr>
        <p:spPr>
          <a:xfrm>
            <a:off x="456646" y="2191808"/>
            <a:ext cx="3734181"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34538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12700">
              <a:lnSpc>
                <a:spcPts val="580"/>
              </a:lnSpc>
            </a:pPr>
            <a:r>
              <a:rPr lang="fr-FR" spc="-20" smtClean="0"/>
              <a:t>Cours </a:t>
            </a:r>
            <a:r>
              <a:rPr lang="fr-FR" spc="-25" smtClean="0"/>
              <a:t>de </a:t>
            </a:r>
            <a:r>
              <a:rPr lang="fr-FR" spc="-10" smtClean="0"/>
              <a:t>S.E. </a:t>
            </a:r>
            <a:r>
              <a:rPr lang="fr-FR" spc="-15" smtClean="0"/>
              <a:t>– le </a:t>
            </a:r>
            <a:r>
              <a:rPr lang="fr-FR" spc="-40" smtClean="0"/>
              <a:t>Syst`eme </a:t>
            </a:r>
            <a:r>
              <a:rPr lang="fr-FR" spc="-30" smtClean="0"/>
              <a:t>de </a:t>
            </a:r>
            <a:r>
              <a:rPr lang="fr-FR" spc="-15" smtClean="0"/>
              <a:t>Gestion </a:t>
            </a:r>
            <a:r>
              <a:rPr lang="fr-FR" spc="-35" smtClean="0"/>
              <a:t>des</a:t>
            </a:r>
            <a:r>
              <a:rPr lang="fr-FR" spc="25" smtClean="0"/>
              <a:t> </a:t>
            </a:r>
            <a:r>
              <a:rPr lang="fr-FR" spc="-15" smtClean="0"/>
              <a:t>Fichiers</a:t>
            </a:r>
            <a:endParaRPr lang="fr-FR" spc="-15" dirty="0"/>
          </a:p>
        </p:txBody>
      </p:sp>
      <p:sp>
        <p:nvSpPr>
          <p:cNvPr id="5" name="Footer Placeholder 4"/>
          <p:cNvSpPr>
            <a:spLocks noGrp="1"/>
          </p:cNvSpPr>
          <p:nvPr>
            <p:ph type="ftr" sz="quarter" idx="11"/>
          </p:nvPr>
        </p:nvSpPr>
        <p:spPr/>
        <p:txBody>
          <a:bodyPr/>
          <a:lstStyle/>
          <a:p>
            <a:pPr marL="12700">
              <a:lnSpc>
                <a:spcPts val="580"/>
              </a:lnSpc>
            </a:pPr>
            <a:r>
              <a:rPr lang="fr-FR" spc="-15" smtClean="0"/>
              <a:t>Andreea</a:t>
            </a:r>
            <a:r>
              <a:rPr lang="fr-FR" spc="-5" smtClean="0"/>
              <a:t> </a:t>
            </a:r>
            <a:r>
              <a:rPr lang="fr-FR" smtClean="0"/>
              <a:t>Dragut</a:t>
            </a:r>
            <a:endParaRPr lang="fr-FR" dirty="0"/>
          </a:p>
        </p:txBody>
      </p:sp>
      <p:sp>
        <p:nvSpPr>
          <p:cNvPr id="6" name="Slide Number Placeholder 5"/>
          <p:cNvSpPr>
            <a:spLocks noGrp="1"/>
          </p:cNvSpPr>
          <p:nvPr>
            <p:ph type="sldNum" sz="quarter" idx="12"/>
          </p:nvPr>
        </p:nvSpPr>
        <p:spPr/>
        <p:txBody>
          <a:bodyPr/>
          <a:lstStyle/>
          <a:p>
            <a:pPr marL="25400">
              <a:lnSpc>
                <a:spcPts val="580"/>
              </a:lnSpc>
            </a:pPr>
            <a:fld id="{81D60167-4931-47E6-BA6A-407CBD079E47}" type="slidenum">
              <a:rPr lang="fr-FR" spc="-15" smtClean="0"/>
              <a:t>‹#›</a:t>
            </a:fld>
            <a:r>
              <a:rPr lang="fr-FR" spc="-85" smtClean="0"/>
              <a:t> </a:t>
            </a:r>
            <a:r>
              <a:rPr lang="fr-FR" spc="125" smtClean="0"/>
              <a:t>/</a:t>
            </a:r>
            <a:r>
              <a:rPr lang="fr-FR" spc="-85" smtClean="0"/>
              <a:t> </a:t>
            </a:r>
            <a:r>
              <a:rPr lang="fr-FR" spc="-15" smtClean="0"/>
              <a:t>84</a:t>
            </a:r>
            <a:endParaRPr lang="fr-FR" spc="-15" dirty="0"/>
          </a:p>
        </p:txBody>
      </p:sp>
    </p:spTree>
    <p:extLst>
      <p:ext uri="{BB962C8B-B14F-4D97-AF65-F5344CB8AC3E}">
        <p14:creationId xmlns:p14="http://schemas.microsoft.com/office/powerpoint/2010/main" val="1843697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201" y="3230033"/>
            <a:ext cx="4608900" cy="23071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 y="3196484"/>
            <a:ext cx="4608900" cy="32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14909" y="382990"/>
            <a:ext cx="3803333" cy="1799590"/>
          </a:xfrm>
        </p:spPr>
        <p:txBody>
          <a:bodyPr anchor="b" anchorCtr="0">
            <a:normAutofit/>
          </a:bodyPr>
          <a:lstStyle>
            <a:lvl1pPr>
              <a:lnSpc>
                <a:spcPct val="85000"/>
              </a:lnSpc>
              <a:defRPr sz="4034"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414909" y="2247180"/>
            <a:ext cx="3803333" cy="576792"/>
          </a:xfrm>
        </p:spPr>
        <p:txBody>
          <a:bodyPr lIns="91440" rIns="91440" anchor="t" anchorCtr="0">
            <a:normAutofit/>
          </a:bodyPr>
          <a:lstStyle>
            <a:lvl1pPr marL="0" indent="0">
              <a:buNone/>
              <a:defRPr sz="1210" cap="all" spc="101" baseline="0">
                <a:solidFill>
                  <a:schemeClr val="tx2"/>
                </a:solidFill>
                <a:latin typeface="+mj-lt"/>
              </a:defRPr>
            </a:lvl1pPr>
            <a:lvl2pPr marL="230520" indent="0">
              <a:buNone/>
              <a:defRPr sz="908">
                <a:solidFill>
                  <a:schemeClr val="tx1">
                    <a:tint val="75000"/>
                  </a:schemeClr>
                </a:solidFill>
              </a:defRPr>
            </a:lvl2pPr>
            <a:lvl3pPr marL="461040" indent="0">
              <a:buNone/>
              <a:defRPr sz="807">
                <a:solidFill>
                  <a:schemeClr val="tx1">
                    <a:tint val="75000"/>
                  </a:schemeClr>
                </a:solidFill>
              </a:defRPr>
            </a:lvl3pPr>
            <a:lvl4pPr marL="691561" indent="0">
              <a:buNone/>
              <a:defRPr sz="706">
                <a:solidFill>
                  <a:schemeClr val="tx1">
                    <a:tint val="75000"/>
                  </a:schemeClr>
                </a:solidFill>
              </a:defRPr>
            </a:lvl4pPr>
            <a:lvl5pPr marL="922081" indent="0">
              <a:buNone/>
              <a:defRPr sz="706">
                <a:solidFill>
                  <a:schemeClr val="tx1">
                    <a:tint val="75000"/>
                  </a:schemeClr>
                </a:solidFill>
              </a:defRPr>
            </a:lvl5pPr>
            <a:lvl6pPr marL="1152601" indent="0">
              <a:buNone/>
              <a:defRPr sz="706">
                <a:solidFill>
                  <a:schemeClr val="tx1">
                    <a:tint val="75000"/>
                  </a:schemeClr>
                </a:solidFill>
              </a:defRPr>
            </a:lvl6pPr>
            <a:lvl7pPr marL="1383121" indent="0">
              <a:buNone/>
              <a:defRPr sz="706">
                <a:solidFill>
                  <a:schemeClr val="tx1">
                    <a:tint val="75000"/>
                  </a:schemeClr>
                </a:solidFill>
              </a:defRPr>
            </a:lvl7pPr>
            <a:lvl8pPr marL="1613642" indent="0">
              <a:buNone/>
              <a:defRPr sz="706">
                <a:solidFill>
                  <a:schemeClr val="tx1">
                    <a:tint val="75000"/>
                  </a:schemeClr>
                </a:solidFill>
              </a:defRPr>
            </a:lvl8pPr>
            <a:lvl9pPr marL="1844162" indent="0">
              <a:buNone/>
              <a:defRPr sz="706">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marL="12700">
              <a:lnSpc>
                <a:spcPts val="580"/>
              </a:lnSpc>
            </a:pPr>
            <a:r>
              <a:rPr lang="fr-FR" spc="-20" smtClean="0"/>
              <a:t>Cours </a:t>
            </a:r>
            <a:r>
              <a:rPr lang="fr-FR" spc="-25" smtClean="0"/>
              <a:t>de </a:t>
            </a:r>
            <a:r>
              <a:rPr lang="fr-FR" spc="-10" smtClean="0"/>
              <a:t>S.E. </a:t>
            </a:r>
            <a:r>
              <a:rPr lang="fr-FR" spc="-15" smtClean="0"/>
              <a:t>– le </a:t>
            </a:r>
            <a:r>
              <a:rPr lang="fr-FR" spc="-40" smtClean="0"/>
              <a:t>Syst`eme </a:t>
            </a:r>
            <a:r>
              <a:rPr lang="fr-FR" spc="-30" smtClean="0"/>
              <a:t>de </a:t>
            </a:r>
            <a:r>
              <a:rPr lang="fr-FR" spc="-15" smtClean="0"/>
              <a:t>Gestion </a:t>
            </a:r>
            <a:r>
              <a:rPr lang="fr-FR" spc="-35" smtClean="0"/>
              <a:t>des</a:t>
            </a:r>
            <a:r>
              <a:rPr lang="fr-FR" spc="25" smtClean="0"/>
              <a:t> </a:t>
            </a:r>
            <a:r>
              <a:rPr lang="fr-FR" spc="-15" smtClean="0"/>
              <a:t>Fichiers</a:t>
            </a:r>
            <a:endParaRPr lang="fr-FR" spc="-15" dirty="0"/>
          </a:p>
        </p:txBody>
      </p:sp>
      <p:sp>
        <p:nvSpPr>
          <p:cNvPr id="5" name="Footer Placeholder 4"/>
          <p:cNvSpPr>
            <a:spLocks noGrp="1"/>
          </p:cNvSpPr>
          <p:nvPr>
            <p:ph type="ftr" sz="quarter" idx="11"/>
          </p:nvPr>
        </p:nvSpPr>
        <p:spPr/>
        <p:txBody>
          <a:bodyPr/>
          <a:lstStyle/>
          <a:p>
            <a:pPr marL="12700">
              <a:lnSpc>
                <a:spcPts val="580"/>
              </a:lnSpc>
            </a:pPr>
            <a:r>
              <a:rPr lang="fr-FR" spc="-15" smtClean="0"/>
              <a:t>Andreea</a:t>
            </a:r>
            <a:r>
              <a:rPr lang="fr-FR" spc="-5" smtClean="0"/>
              <a:t> </a:t>
            </a:r>
            <a:r>
              <a:rPr lang="fr-FR" smtClean="0"/>
              <a:t>Dragut</a:t>
            </a:r>
            <a:endParaRPr lang="fr-FR" dirty="0"/>
          </a:p>
        </p:txBody>
      </p:sp>
      <p:sp>
        <p:nvSpPr>
          <p:cNvPr id="6" name="Slide Number Placeholder 5"/>
          <p:cNvSpPr>
            <a:spLocks noGrp="1"/>
          </p:cNvSpPr>
          <p:nvPr>
            <p:ph type="sldNum" sz="quarter" idx="12"/>
          </p:nvPr>
        </p:nvSpPr>
        <p:spPr/>
        <p:txBody>
          <a:bodyPr/>
          <a:lstStyle/>
          <a:p>
            <a:pPr marL="25400">
              <a:lnSpc>
                <a:spcPts val="580"/>
              </a:lnSpc>
            </a:pPr>
            <a:fld id="{81D60167-4931-47E6-BA6A-407CBD079E47}" type="slidenum">
              <a:rPr lang="fr-FR" spc="-15" smtClean="0"/>
              <a:t>‹#›</a:t>
            </a:fld>
            <a:r>
              <a:rPr lang="fr-FR" spc="-85" smtClean="0"/>
              <a:t> </a:t>
            </a:r>
            <a:r>
              <a:rPr lang="fr-FR" spc="125" smtClean="0"/>
              <a:t>/</a:t>
            </a:r>
            <a:r>
              <a:rPr lang="fr-FR" spc="-85" smtClean="0"/>
              <a:t> </a:t>
            </a:r>
            <a:r>
              <a:rPr lang="fr-FR" spc="-15" smtClean="0"/>
              <a:t>84</a:t>
            </a:r>
            <a:endParaRPr lang="fr-FR" spc="-15" dirty="0"/>
          </a:p>
        </p:txBody>
      </p:sp>
      <p:cxnSp>
        <p:nvCxnSpPr>
          <p:cNvPr id="9" name="Straight Connector 8"/>
          <p:cNvCxnSpPr/>
          <p:nvPr/>
        </p:nvCxnSpPr>
        <p:spPr>
          <a:xfrm>
            <a:off x="456646" y="2191808"/>
            <a:ext cx="3734181"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6153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414909" y="144629"/>
            <a:ext cx="3803333" cy="73209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14909" y="931412"/>
            <a:ext cx="1867091" cy="20303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2351151" y="931413"/>
            <a:ext cx="1867091" cy="20303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marL="12700">
              <a:lnSpc>
                <a:spcPts val="580"/>
              </a:lnSpc>
            </a:pPr>
            <a:r>
              <a:rPr lang="fr-FR" spc="-20" smtClean="0"/>
              <a:t>Cours </a:t>
            </a:r>
            <a:r>
              <a:rPr lang="fr-FR" spc="-25" smtClean="0"/>
              <a:t>de </a:t>
            </a:r>
            <a:r>
              <a:rPr lang="fr-FR" spc="-10" smtClean="0"/>
              <a:t>S.E. </a:t>
            </a:r>
            <a:r>
              <a:rPr lang="fr-FR" spc="-15" smtClean="0"/>
              <a:t>– le </a:t>
            </a:r>
            <a:r>
              <a:rPr lang="fr-FR" spc="-40" smtClean="0"/>
              <a:t>Syst`eme </a:t>
            </a:r>
            <a:r>
              <a:rPr lang="fr-FR" spc="-30" smtClean="0"/>
              <a:t>de </a:t>
            </a:r>
            <a:r>
              <a:rPr lang="fr-FR" spc="-15" smtClean="0"/>
              <a:t>Gestion </a:t>
            </a:r>
            <a:r>
              <a:rPr lang="fr-FR" spc="-35" smtClean="0"/>
              <a:t>des</a:t>
            </a:r>
            <a:r>
              <a:rPr lang="fr-FR" spc="25" smtClean="0"/>
              <a:t> </a:t>
            </a:r>
            <a:r>
              <a:rPr lang="fr-FR" spc="-15" smtClean="0"/>
              <a:t>Fichiers</a:t>
            </a:r>
            <a:endParaRPr lang="fr-FR" spc="-15" dirty="0"/>
          </a:p>
        </p:txBody>
      </p:sp>
      <p:sp>
        <p:nvSpPr>
          <p:cNvPr id="6" name="Footer Placeholder 5"/>
          <p:cNvSpPr>
            <a:spLocks noGrp="1"/>
          </p:cNvSpPr>
          <p:nvPr>
            <p:ph type="ftr" sz="quarter" idx="11"/>
          </p:nvPr>
        </p:nvSpPr>
        <p:spPr/>
        <p:txBody>
          <a:bodyPr/>
          <a:lstStyle/>
          <a:p>
            <a:pPr marL="12700">
              <a:lnSpc>
                <a:spcPts val="580"/>
              </a:lnSpc>
            </a:pPr>
            <a:r>
              <a:rPr lang="fr-FR" spc="-15" smtClean="0"/>
              <a:t>Andreea</a:t>
            </a:r>
            <a:r>
              <a:rPr lang="fr-FR" spc="-5" smtClean="0"/>
              <a:t> </a:t>
            </a:r>
            <a:r>
              <a:rPr lang="fr-FR" smtClean="0"/>
              <a:t>Dragut</a:t>
            </a:r>
            <a:endParaRPr lang="fr-FR" dirty="0"/>
          </a:p>
        </p:txBody>
      </p:sp>
      <p:sp>
        <p:nvSpPr>
          <p:cNvPr id="7" name="Slide Number Placeholder 6"/>
          <p:cNvSpPr>
            <a:spLocks noGrp="1"/>
          </p:cNvSpPr>
          <p:nvPr>
            <p:ph type="sldNum" sz="quarter" idx="12"/>
          </p:nvPr>
        </p:nvSpPr>
        <p:spPr/>
        <p:txBody>
          <a:bodyPr/>
          <a:lstStyle/>
          <a:p>
            <a:pPr marL="25400">
              <a:lnSpc>
                <a:spcPts val="580"/>
              </a:lnSpc>
            </a:pPr>
            <a:fld id="{81D60167-4931-47E6-BA6A-407CBD079E47}" type="slidenum">
              <a:rPr lang="fr-FR" spc="-15" smtClean="0"/>
              <a:t>‹#›</a:t>
            </a:fld>
            <a:r>
              <a:rPr lang="fr-FR" spc="-85" smtClean="0"/>
              <a:t> </a:t>
            </a:r>
            <a:r>
              <a:rPr lang="fr-FR" spc="125" smtClean="0"/>
              <a:t>/</a:t>
            </a:r>
            <a:r>
              <a:rPr lang="fr-FR" spc="-85" smtClean="0"/>
              <a:t> </a:t>
            </a:r>
            <a:r>
              <a:rPr lang="fr-FR" spc="-15" smtClean="0"/>
              <a:t>84</a:t>
            </a:r>
            <a:endParaRPr lang="fr-FR" spc="-15" dirty="0"/>
          </a:p>
        </p:txBody>
      </p:sp>
    </p:spTree>
    <p:extLst>
      <p:ext uri="{BB962C8B-B14F-4D97-AF65-F5344CB8AC3E}">
        <p14:creationId xmlns:p14="http://schemas.microsoft.com/office/powerpoint/2010/main" val="985238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414909" y="144629"/>
            <a:ext cx="3803333" cy="732095"/>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414909" y="931572"/>
            <a:ext cx="1867091" cy="371550"/>
          </a:xfrm>
        </p:spPr>
        <p:txBody>
          <a:bodyPr lIns="91440" rIns="91440" anchor="ctr">
            <a:normAutofit/>
          </a:bodyPr>
          <a:lstStyle>
            <a:lvl1pPr marL="0" indent="0">
              <a:buNone/>
              <a:defRPr sz="1008" b="0" cap="all" baseline="0">
                <a:solidFill>
                  <a:schemeClr val="tx2"/>
                </a:solidFill>
              </a:defRPr>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en-US" smtClean="0"/>
              <a:t>Click to edit Master text styles</a:t>
            </a:r>
          </a:p>
        </p:txBody>
      </p:sp>
      <p:sp>
        <p:nvSpPr>
          <p:cNvPr id="4" name="Content Placeholder 3"/>
          <p:cNvSpPr>
            <a:spLocks noGrp="1"/>
          </p:cNvSpPr>
          <p:nvPr>
            <p:ph sz="half" idx="2"/>
          </p:nvPr>
        </p:nvSpPr>
        <p:spPr>
          <a:xfrm>
            <a:off x="414909" y="1303122"/>
            <a:ext cx="1867091" cy="165859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2351151" y="931572"/>
            <a:ext cx="1867091" cy="371550"/>
          </a:xfrm>
        </p:spPr>
        <p:txBody>
          <a:bodyPr lIns="91440" rIns="91440" anchor="ctr">
            <a:normAutofit/>
          </a:bodyPr>
          <a:lstStyle>
            <a:lvl1pPr marL="0" indent="0">
              <a:buNone/>
              <a:defRPr sz="1008" b="0" cap="all" baseline="0">
                <a:solidFill>
                  <a:schemeClr val="tx2"/>
                </a:solidFill>
              </a:defRPr>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en-US" smtClean="0"/>
              <a:t>Click to edit Master text styles</a:t>
            </a:r>
          </a:p>
        </p:txBody>
      </p:sp>
      <p:sp>
        <p:nvSpPr>
          <p:cNvPr id="6" name="Content Placeholder 5"/>
          <p:cNvSpPr>
            <a:spLocks noGrp="1"/>
          </p:cNvSpPr>
          <p:nvPr>
            <p:ph sz="quarter" idx="4"/>
          </p:nvPr>
        </p:nvSpPr>
        <p:spPr>
          <a:xfrm>
            <a:off x="2351151" y="1303122"/>
            <a:ext cx="1867091" cy="165859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marL="12700">
              <a:lnSpc>
                <a:spcPts val="580"/>
              </a:lnSpc>
            </a:pPr>
            <a:r>
              <a:rPr lang="fr-FR" spc="-20" smtClean="0"/>
              <a:t>Cours </a:t>
            </a:r>
            <a:r>
              <a:rPr lang="fr-FR" spc="-25" smtClean="0"/>
              <a:t>de </a:t>
            </a:r>
            <a:r>
              <a:rPr lang="fr-FR" spc="-10" smtClean="0"/>
              <a:t>S.E. </a:t>
            </a:r>
            <a:r>
              <a:rPr lang="fr-FR" spc="-15" smtClean="0"/>
              <a:t>– le </a:t>
            </a:r>
            <a:r>
              <a:rPr lang="fr-FR" spc="-40" smtClean="0"/>
              <a:t>Syst`eme </a:t>
            </a:r>
            <a:r>
              <a:rPr lang="fr-FR" spc="-30" smtClean="0"/>
              <a:t>de </a:t>
            </a:r>
            <a:r>
              <a:rPr lang="fr-FR" spc="-15" smtClean="0"/>
              <a:t>Gestion </a:t>
            </a:r>
            <a:r>
              <a:rPr lang="fr-FR" spc="-35" smtClean="0"/>
              <a:t>des</a:t>
            </a:r>
            <a:r>
              <a:rPr lang="fr-FR" spc="25" smtClean="0"/>
              <a:t> </a:t>
            </a:r>
            <a:r>
              <a:rPr lang="fr-FR" spc="-15" smtClean="0"/>
              <a:t>Fichiers</a:t>
            </a:r>
            <a:endParaRPr lang="fr-FR" spc="-15" dirty="0"/>
          </a:p>
        </p:txBody>
      </p:sp>
      <p:sp>
        <p:nvSpPr>
          <p:cNvPr id="8" name="Footer Placeholder 7"/>
          <p:cNvSpPr>
            <a:spLocks noGrp="1"/>
          </p:cNvSpPr>
          <p:nvPr>
            <p:ph type="ftr" sz="quarter" idx="11"/>
          </p:nvPr>
        </p:nvSpPr>
        <p:spPr/>
        <p:txBody>
          <a:bodyPr/>
          <a:lstStyle/>
          <a:p>
            <a:pPr marL="12700">
              <a:lnSpc>
                <a:spcPts val="580"/>
              </a:lnSpc>
            </a:pPr>
            <a:r>
              <a:rPr lang="fr-FR" spc="-15" smtClean="0"/>
              <a:t>Andreea</a:t>
            </a:r>
            <a:r>
              <a:rPr lang="fr-FR" spc="-5" smtClean="0"/>
              <a:t> </a:t>
            </a:r>
            <a:r>
              <a:rPr lang="fr-FR" smtClean="0"/>
              <a:t>Dragut</a:t>
            </a:r>
            <a:endParaRPr lang="fr-FR" dirty="0"/>
          </a:p>
        </p:txBody>
      </p:sp>
      <p:sp>
        <p:nvSpPr>
          <p:cNvPr id="9" name="Slide Number Placeholder 8"/>
          <p:cNvSpPr>
            <a:spLocks noGrp="1"/>
          </p:cNvSpPr>
          <p:nvPr>
            <p:ph type="sldNum" sz="quarter" idx="12"/>
          </p:nvPr>
        </p:nvSpPr>
        <p:spPr/>
        <p:txBody>
          <a:bodyPr/>
          <a:lstStyle/>
          <a:p>
            <a:pPr marL="25400">
              <a:lnSpc>
                <a:spcPts val="580"/>
              </a:lnSpc>
            </a:pPr>
            <a:fld id="{81D60167-4931-47E6-BA6A-407CBD079E47}" type="slidenum">
              <a:rPr lang="fr-FR" spc="-15" smtClean="0"/>
              <a:t>‹#›</a:t>
            </a:fld>
            <a:r>
              <a:rPr lang="fr-FR" spc="-85" smtClean="0"/>
              <a:t> </a:t>
            </a:r>
            <a:r>
              <a:rPr lang="fr-FR" spc="125" smtClean="0"/>
              <a:t>/</a:t>
            </a:r>
            <a:r>
              <a:rPr lang="fr-FR" spc="-85" smtClean="0"/>
              <a:t> </a:t>
            </a:r>
            <a:r>
              <a:rPr lang="fr-FR" spc="-15" smtClean="0"/>
              <a:t>84</a:t>
            </a:r>
            <a:endParaRPr lang="fr-FR" spc="-15" dirty="0"/>
          </a:p>
        </p:txBody>
      </p:sp>
    </p:spTree>
    <p:extLst>
      <p:ext uri="{BB962C8B-B14F-4D97-AF65-F5344CB8AC3E}">
        <p14:creationId xmlns:p14="http://schemas.microsoft.com/office/powerpoint/2010/main" val="724682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marL="12700">
              <a:lnSpc>
                <a:spcPts val="580"/>
              </a:lnSpc>
            </a:pPr>
            <a:r>
              <a:rPr lang="fr-FR" spc="-20" smtClean="0"/>
              <a:t>Cours </a:t>
            </a:r>
            <a:r>
              <a:rPr lang="fr-FR" spc="-25" smtClean="0"/>
              <a:t>de </a:t>
            </a:r>
            <a:r>
              <a:rPr lang="fr-FR" spc="-10" smtClean="0"/>
              <a:t>S.E. </a:t>
            </a:r>
            <a:r>
              <a:rPr lang="fr-FR" spc="-15" smtClean="0"/>
              <a:t>– le </a:t>
            </a:r>
            <a:r>
              <a:rPr lang="fr-FR" spc="-40" smtClean="0"/>
              <a:t>Syst`eme </a:t>
            </a:r>
            <a:r>
              <a:rPr lang="fr-FR" spc="-30" smtClean="0"/>
              <a:t>de </a:t>
            </a:r>
            <a:r>
              <a:rPr lang="fr-FR" spc="-15" smtClean="0"/>
              <a:t>Gestion </a:t>
            </a:r>
            <a:r>
              <a:rPr lang="fr-FR" spc="-35" smtClean="0"/>
              <a:t>des</a:t>
            </a:r>
            <a:r>
              <a:rPr lang="fr-FR" spc="25" smtClean="0"/>
              <a:t> </a:t>
            </a:r>
            <a:r>
              <a:rPr lang="fr-FR" spc="-15" smtClean="0"/>
              <a:t>Fichiers</a:t>
            </a:r>
            <a:endParaRPr lang="fr-FR" spc="-15" dirty="0"/>
          </a:p>
        </p:txBody>
      </p:sp>
      <p:sp>
        <p:nvSpPr>
          <p:cNvPr id="4" name="Footer Placeholder 3"/>
          <p:cNvSpPr>
            <a:spLocks noGrp="1"/>
          </p:cNvSpPr>
          <p:nvPr>
            <p:ph type="ftr" sz="quarter" idx="11"/>
          </p:nvPr>
        </p:nvSpPr>
        <p:spPr/>
        <p:txBody>
          <a:bodyPr/>
          <a:lstStyle/>
          <a:p>
            <a:pPr marL="12700">
              <a:lnSpc>
                <a:spcPts val="580"/>
              </a:lnSpc>
            </a:pPr>
            <a:r>
              <a:rPr lang="fr-FR" spc="-15" smtClean="0"/>
              <a:t>Andreea</a:t>
            </a:r>
            <a:r>
              <a:rPr lang="fr-FR" spc="-5" smtClean="0"/>
              <a:t> </a:t>
            </a:r>
            <a:r>
              <a:rPr lang="fr-FR" smtClean="0"/>
              <a:t>Dragut</a:t>
            </a:r>
            <a:endParaRPr lang="fr-FR" dirty="0"/>
          </a:p>
        </p:txBody>
      </p:sp>
      <p:sp>
        <p:nvSpPr>
          <p:cNvPr id="5" name="Slide Number Placeholder 4"/>
          <p:cNvSpPr>
            <a:spLocks noGrp="1"/>
          </p:cNvSpPr>
          <p:nvPr>
            <p:ph type="sldNum" sz="quarter" idx="12"/>
          </p:nvPr>
        </p:nvSpPr>
        <p:spPr/>
        <p:txBody>
          <a:bodyPr/>
          <a:lstStyle/>
          <a:p>
            <a:pPr marL="25400">
              <a:lnSpc>
                <a:spcPts val="580"/>
              </a:lnSpc>
            </a:pPr>
            <a:fld id="{81D60167-4931-47E6-BA6A-407CBD079E47}" type="slidenum">
              <a:rPr lang="fr-FR" spc="-15" smtClean="0"/>
              <a:t>‹#›</a:t>
            </a:fld>
            <a:r>
              <a:rPr lang="fr-FR" spc="-85" smtClean="0"/>
              <a:t> </a:t>
            </a:r>
            <a:r>
              <a:rPr lang="fr-FR" spc="125" smtClean="0"/>
              <a:t>/</a:t>
            </a:r>
            <a:r>
              <a:rPr lang="fr-FR" spc="-85" smtClean="0"/>
              <a:t> </a:t>
            </a:r>
            <a:r>
              <a:rPr lang="fr-FR" spc="-15" smtClean="0"/>
              <a:t>84</a:t>
            </a:r>
            <a:endParaRPr lang="fr-FR" spc="-15" dirty="0"/>
          </a:p>
        </p:txBody>
      </p:sp>
    </p:spTree>
    <p:extLst>
      <p:ext uri="{BB962C8B-B14F-4D97-AF65-F5344CB8AC3E}">
        <p14:creationId xmlns:p14="http://schemas.microsoft.com/office/powerpoint/2010/main" val="537127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201" y="3230033"/>
            <a:ext cx="4608900" cy="23071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6" y="3196484"/>
            <a:ext cx="4608900" cy="32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marL="12700">
              <a:lnSpc>
                <a:spcPts val="580"/>
              </a:lnSpc>
            </a:pPr>
            <a:r>
              <a:rPr lang="fr-FR" spc="-20" smtClean="0"/>
              <a:t>Cours </a:t>
            </a:r>
            <a:r>
              <a:rPr lang="fr-FR" spc="-25" smtClean="0"/>
              <a:t>de </a:t>
            </a:r>
            <a:r>
              <a:rPr lang="fr-FR" spc="-10" smtClean="0"/>
              <a:t>S.E. </a:t>
            </a:r>
            <a:r>
              <a:rPr lang="fr-FR" spc="-15" smtClean="0"/>
              <a:t>– le </a:t>
            </a:r>
            <a:r>
              <a:rPr lang="fr-FR" spc="-40" smtClean="0"/>
              <a:t>Syst`eme </a:t>
            </a:r>
            <a:r>
              <a:rPr lang="fr-FR" spc="-30" smtClean="0"/>
              <a:t>de </a:t>
            </a:r>
            <a:r>
              <a:rPr lang="fr-FR" spc="-15" smtClean="0"/>
              <a:t>Gestion </a:t>
            </a:r>
            <a:r>
              <a:rPr lang="fr-FR" spc="-35" smtClean="0"/>
              <a:t>des</a:t>
            </a:r>
            <a:r>
              <a:rPr lang="fr-FR" spc="25" smtClean="0"/>
              <a:t> </a:t>
            </a:r>
            <a:r>
              <a:rPr lang="fr-FR" spc="-15" smtClean="0"/>
              <a:t>Fichiers</a:t>
            </a:r>
            <a:endParaRPr lang="fr-FR" spc="-15" dirty="0"/>
          </a:p>
        </p:txBody>
      </p:sp>
      <p:sp>
        <p:nvSpPr>
          <p:cNvPr id="8" name="Footer Placeholder 7"/>
          <p:cNvSpPr>
            <a:spLocks noGrp="1"/>
          </p:cNvSpPr>
          <p:nvPr>
            <p:ph type="ftr" sz="quarter" idx="11"/>
          </p:nvPr>
        </p:nvSpPr>
        <p:spPr/>
        <p:txBody>
          <a:bodyPr/>
          <a:lstStyle>
            <a:lvl1pPr>
              <a:defRPr>
                <a:solidFill>
                  <a:srgbClr val="FFFFFF"/>
                </a:solidFill>
              </a:defRPr>
            </a:lvl1pPr>
          </a:lstStyle>
          <a:p>
            <a:pPr marL="12700">
              <a:lnSpc>
                <a:spcPts val="580"/>
              </a:lnSpc>
            </a:pPr>
            <a:r>
              <a:rPr lang="fr-FR" spc="-15" smtClean="0"/>
              <a:t>Andreea</a:t>
            </a:r>
            <a:r>
              <a:rPr lang="fr-FR" spc="-5" smtClean="0"/>
              <a:t> </a:t>
            </a:r>
            <a:r>
              <a:rPr lang="fr-FR" smtClean="0"/>
              <a:t>Dragut</a:t>
            </a:r>
            <a:endParaRPr lang="fr-FR" dirty="0"/>
          </a:p>
        </p:txBody>
      </p:sp>
      <p:sp>
        <p:nvSpPr>
          <p:cNvPr id="9" name="Slide Number Placeholder 8"/>
          <p:cNvSpPr>
            <a:spLocks noGrp="1"/>
          </p:cNvSpPr>
          <p:nvPr>
            <p:ph type="sldNum" sz="quarter" idx="12"/>
          </p:nvPr>
        </p:nvSpPr>
        <p:spPr/>
        <p:txBody>
          <a:bodyPr/>
          <a:lstStyle/>
          <a:p>
            <a:pPr marL="25400">
              <a:lnSpc>
                <a:spcPts val="580"/>
              </a:lnSpc>
            </a:pPr>
            <a:fld id="{81D60167-4931-47E6-BA6A-407CBD079E47}" type="slidenum">
              <a:rPr lang="fr-FR" spc="-15" smtClean="0"/>
              <a:t>‹#›</a:t>
            </a:fld>
            <a:r>
              <a:rPr lang="fr-FR" spc="-85" smtClean="0"/>
              <a:t> </a:t>
            </a:r>
            <a:r>
              <a:rPr lang="fr-FR" spc="125" smtClean="0"/>
              <a:t>/</a:t>
            </a:r>
            <a:r>
              <a:rPr lang="fr-FR" spc="-85" smtClean="0"/>
              <a:t> </a:t>
            </a:r>
            <a:r>
              <a:rPr lang="fr-FR" spc="-15" smtClean="0"/>
              <a:t>84</a:t>
            </a:r>
            <a:endParaRPr lang="fr-FR" spc="-15" dirty="0"/>
          </a:p>
        </p:txBody>
      </p:sp>
    </p:spTree>
    <p:extLst>
      <p:ext uri="{BB962C8B-B14F-4D97-AF65-F5344CB8AC3E}">
        <p14:creationId xmlns:p14="http://schemas.microsoft.com/office/powerpoint/2010/main" val="55314378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7" y="0"/>
            <a:ext cx="1531705" cy="3460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27652" y="0"/>
            <a:ext cx="24203" cy="3460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72879" y="299931"/>
            <a:ext cx="1210151" cy="1153583"/>
          </a:xfrm>
        </p:spPr>
        <p:txBody>
          <a:bodyPr anchor="b">
            <a:normAutofit/>
          </a:bodyPr>
          <a:lstStyle>
            <a:lvl1pPr>
              <a:defRPr sz="1815"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1744536" y="369147"/>
            <a:ext cx="2525569" cy="265324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72879" y="1476587"/>
            <a:ext cx="1210151" cy="1705206"/>
          </a:xfrm>
        </p:spPr>
        <p:txBody>
          <a:bodyPr lIns="91440" rIns="91440">
            <a:normAutofit/>
          </a:bodyPr>
          <a:lstStyle>
            <a:lvl1pPr marL="0" indent="0">
              <a:buNone/>
              <a:defRPr sz="756">
                <a:solidFill>
                  <a:srgbClr val="FFFFFF"/>
                </a:solidFill>
              </a:defRPr>
            </a:lvl1pPr>
            <a:lvl2pPr marL="230520" indent="0">
              <a:buNone/>
              <a:defRPr sz="605"/>
            </a:lvl2pPr>
            <a:lvl3pPr marL="461040" indent="0">
              <a:buNone/>
              <a:defRPr sz="504"/>
            </a:lvl3pPr>
            <a:lvl4pPr marL="691561" indent="0">
              <a:buNone/>
              <a:defRPr sz="454"/>
            </a:lvl4pPr>
            <a:lvl5pPr marL="922081" indent="0">
              <a:buNone/>
              <a:defRPr sz="454"/>
            </a:lvl5pPr>
            <a:lvl6pPr marL="1152601" indent="0">
              <a:buNone/>
              <a:defRPr sz="454"/>
            </a:lvl6pPr>
            <a:lvl7pPr marL="1383121" indent="0">
              <a:buNone/>
              <a:defRPr sz="454"/>
            </a:lvl7pPr>
            <a:lvl8pPr marL="1613642" indent="0">
              <a:buNone/>
              <a:defRPr sz="454"/>
            </a:lvl8pPr>
            <a:lvl9pPr marL="1844162" indent="0">
              <a:buNone/>
              <a:defRPr sz="454"/>
            </a:lvl9pPr>
          </a:lstStyle>
          <a:p>
            <a:pPr lvl="0"/>
            <a:r>
              <a:rPr lang="en-US" smtClean="0"/>
              <a:t>Click to edit Master text styles</a:t>
            </a:r>
          </a:p>
        </p:txBody>
      </p:sp>
      <p:sp>
        <p:nvSpPr>
          <p:cNvPr id="5" name="Date Placeholder 4"/>
          <p:cNvSpPr>
            <a:spLocks noGrp="1"/>
          </p:cNvSpPr>
          <p:nvPr>
            <p:ph type="dt" sz="half" idx="10"/>
          </p:nvPr>
        </p:nvSpPr>
        <p:spPr>
          <a:xfrm>
            <a:off x="176022" y="3259800"/>
            <a:ext cx="990124" cy="184253"/>
          </a:xfrm>
        </p:spPr>
        <p:txBody>
          <a:bodyPr/>
          <a:lstStyle>
            <a:lvl1pPr algn="l">
              <a:defRPr/>
            </a:lvl1pPr>
          </a:lstStyle>
          <a:p>
            <a:pPr marL="12700">
              <a:lnSpc>
                <a:spcPts val="580"/>
              </a:lnSpc>
            </a:pPr>
            <a:r>
              <a:rPr lang="fr-FR" spc="-20" smtClean="0"/>
              <a:t>Cours </a:t>
            </a:r>
            <a:r>
              <a:rPr lang="fr-FR" spc="-25" smtClean="0"/>
              <a:t>de </a:t>
            </a:r>
            <a:r>
              <a:rPr lang="fr-FR" spc="-10" smtClean="0"/>
              <a:t>S.E. </a:t>
            </a:r>
            <a:r>
              <a:rPr lang="fr-FR" spc="-15" smtClean="0"/>
              <a:t>– le </a:t>
            </a:r>
            <a:r>
              <a:rPr lang="fr-FR" spc="-40" smtClean="0"/>
              <a:t>Syst`eme </a:t>
            </a:r>
            <a:r>
              <a:rPr lang="fr-FR" spc="-30" smtClean="0"/>
              <a:t>de </a:t>
            </a:r>
            <a:r>
              <a:rPr lang="fr-FR" spc="-15" smtClean="0"/>
              <a:t>Gestion </a:t>
            </a:r>
            <a:r>
              <a:rPr lang="fr-FR" spc="-35" smtClean="0"/>
              <a:t>des</a:t>
            </a:r>
            <a:r>
              <a:rPr lang="fr-FR" spc="25" smtClean="0"/>
              <a:t> </a:t>
            </a:r>
            <a:r>
              <a:rPr lang="fr-FR" spc="-15" smtClean="0"/>
              <a:t>Fichiers</a:t>
            </a:r>
            <a:endParaRPr lang="fr-FR" spc="-15" dirty="0"/>
          </a:p>
        </p:txBody>
      </p:sp>
      <p:sp>
        <p:nvSpPr>
          <p:cNvPr id="6" name="Footer Placeholder 5"/>
          <p:cNvSpPr>
            <a:spLocks noGrp="1"/>
          </p:cNvSpPr>
          <p:nvPr>
            <p:ph type="ftr" sz="quarter" idx="11"/>
          </p:nvPr>
        </p:nvSpPr>
        <p:spPr>
          <a:xfrm>
            <a:off x="1815227" y="3259800"/>
            <a:ext cx="1757601" cy="184253"/>
          </a:xfrm>
        </p:spPr>
        <p:txBody>
          <a:bodyPr/>
          <a:lstStyle>
            <a:lvl1pPr algn="l">
              <a:defRPr>
                <a:solidFill>
                  <a:schemeClr val="tx2"/>
                </a:solidFill>
              </a:defRPr>
            </a:lvl1pPr>
          </a:lstStyle>
          <a:p>
            <a:pPr marL="12700">
              <a:lnSpc>
                <a:spcPts val="580"/>
              </a:lnSpc>
            </a:pPr>
            <a:r>
              <a:rPr lang="fr-FR" spc="-15" smtClean="0"/>
              <a:t>Andreea</a:t>
            </a:r>
            <a:r>
              <a:rPr lang="fr-FR" spc="-5" smtClean="0"/>
              <a:t> </a:t>
            </a:r>
            <a:r>
              <a:rPr lang="fr-FR" smtClean="0"/>
              <a:t>Dragut</a:t>
            </a:r>
            <a:endParaRPr lang="fr-FR"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25400">
              <a:lnSpc>
                <a:spcPts val="580"/>
              </a:lnSpc>
            </a:pPr>
            <a:fld id="{81D60167-4931-47E6-BA6A-407CBD079E47}" type="slidenum">
              <a:rPr lang="fr-FR" spc="-15" smtClean="0"/>
              <a:t>‹#›</a:t>
            </a:fld>
            <a:r>
              <a:rPr lang="fr-FR" spc="-85" smtClean="0"/>
              <a:t> </a:t>
            </a:r>
            <a:r>
              <a:rPr lang="fr-FR" spc="125" smtClean="0"/>
              <a:t>/</a:t>
            </a:r>
            <a:r>
              <a:rPr lang="fr-FR" spc="-85" smtClean="0"/>
              <a:t> </a:t>
            </a:r>
            <a:r>
              <a:rPr lang="fr-FR" spc="-15" smtClean="0"/>
              <a:t>84</a:t>
            </a:r>
            <a:endParaRPr lang="fr-FR" spc="-15" dirty="0"/>
          </a:p>
        </p:txBody>
      </p:sp>
    </p:spTree>
    <p:extLst>
      <p:ext uri="{BB962C8B-B14F-4D97-AF65-F5344CB8AC3E}">
        <p14:creationId xmlns:p14="http://schemas.microsoft.com/office/powerpoint/2010/main" val="106277125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2499431"/>
            <a:ext cx="4608900" cy="9613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 y="2480293"/>
            <a:ext cx="4608900" cy="32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14909" y="2560955"/>
            <a:ext cx="3826383" cy="415290"/>
          </a:xfrm>
        </p:spPr>
        <p:txBody>
          <a:bodyPr tIns="0" bIns="0" anchor="b">
            <a:noAutofit/>
          </a:bodyPr>
          <a:lstStyle>
            <a:lvl1pPr>
              <a:defRPr sz="1815"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 y="0"/>
            <a:ext cx="4610094" cy="2480293"/>
          </a:xfrm>
          <a:blipFill>
            <a:blip r:embed="rId2"/>
            <a:stretch>
              <a:fillRect/>
            </a:stretch>
          </a:blipFill>
        </p:spPr>
        <p:txBody>
          <a:bodyPr lIns="457200" tIns="457200" anchor="t"/>
          <a:lstStyle>
            <a:lvl1pPr marL="0" indent="0">
              <a:buNone/>
              <a:defRPr sz="1613">
                <a:solidFill>
                  <a:schemeClr val="bg1"/>
                </a:solidFill>
              </a:defRPr>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r>
              <a:rPr lang="en-US" smtClean="0"/>
              <a:t>Click icon to add picture</a:t>
            </a:r>
            <a:endParaRPr lang="en-US" dirty="0"/>
          </a:p>
        </p:txBody>
      </p:sp>
      <p:sp>
        <p:nvSpPr>
          <p:cNvPr id="4" name="Text Placeholder 3"/>
          <p:cNvSpPr>
            <a:spLocks noGrp="1"/>
          </p:cNvSpPr>
          <p:nvPr>
            <p:ph type="body" sz="half" idx="2"/>
          </p:nvPr>
        </p:nvSpPr>
        <p:spPr>
          <a:xfrm>
            <a:off x="414908" y="2980859"/>
            <a:ext cx="3826383" cy="299932"/>
          </a:xfrm>
        </p:spPr>
        <p:txBody>
          <a:bodyPr lIns="91440" tIns="0" rIns="91440" bIns="0">
            <a:normAutofit/>
          </a:bodyPr>
          <a:lstStyle>
            <a:lvl1pPr marL="0" indent="0">
              <a:spcBef>
                <a:spcPts val="0"/>
              </a:spcBef>
              <a:spcAft>
                <a:spcPts val="303"/>
              </a:spcAft>
              <a:buNone/>
              <a:defRPr sz="756">
                <a:solidFill>
                  <a:srgbClr val="FFFFFF"/>
                </a:solidFill>
              </a:defRPr>
            </a:lvl1pPr>
            <a:lvl2pPr marL="230520" indent="0">
              <a:buNone/>
              <a:defRPr sz="605"/>
            </a:lvl2pPr>
            <a:lvl3pPr marL="461040" indent="0">
              <a:buNone/>
              <a:defRPr sz="504"/>
            </a:lvl3pPr>
            <a:lvl4pPr marL="691561" indent="0">
              <a:buNone/>
              <a:defRPr sz="454"/>
            </a:lvl4pPr>
            <a:lvl5pPr marL="922081" indent="0">
              <a:buNone/>
              <a:defRPr sz="454"/>
            </a:lvl5pPr>
            <a:lvl6pPr marL="1152601" indent="0">
              <a:buNone/>
              <a:defRPr sz="454"/>
            </a:lvl6pPr>
            <a:lvl7pPr marL="1383121" indent="0">
              <a:buNone/>
              <a:defRPr sz="454"/>
            </a:lvl7pPr>
            <a:lvl8pPr marL="1613642" indent="0">
              <a:buNone/>
              <a:defRPr sz="454"/>
            </a:lvl8pPr>
            <a:lvl9pPr marL="1844162" indent="0">
              <a:buNone/>
              <a:defRPr sz="454"/>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12700">
              <a:lnSpc>
                <a:spcPts val="580"/>
              </a:lnSpc>
            </a:pPr>
            <a:r>
              <a:rPr lang="fr-FR" spc="-20" smtClean="0"/>
              <a:t>Cours </a:t>
            </a:r>
            <a:r>
              <a:rPr lang="fr-FR" spc="-25" smtClean="0"/>
              <a:t>de </a:t>
            </a:r>
            <a:r>
              <a:rPr lang="fr-FR" spc="-10" smtClean="0"/>
              <a:t>S.E. </a:t>
            </a:r>
            <a:r>
              <a:rPr lang="fr-FR" spc="-15" smtClean="0"/>
              <a:t>– le </a:t>
            </a:r>
            <a:r>
              <a:rPr lang="fr-FR" spc="-40" smtClean="0"/>
              <a:t>Syst`eme </a:t>
            </a:r>
            <a:r>
              <a:rPr lang="fr-FR" spc="-30" smtClean="0"/>
              <a:t>de </a:t>
            </a:r>
            <a:r>
              <a:rPr lang="fr-FR" spc="-15" smtClean="0"/>
              <a:t>Gestion </a:t>
            </a:r>
            <a:r>
              <a:rPr lang="fr-FR" spc="-35" smtClean="0"/>
              <a:t>des</a:t>
            </a:r>
            <a:r>
              <a:rPr lang="fr-FR" spc="25" smtClean="0"/>
              <a:t> </a:t>
            </a:r>
            <a:r>
              <a:rPr lang="fr-FR" spc="-15" smtClean="0"/>
              <a:t>Fichiers</a:t>
            </a:r>
            <a:endParaRPr lang="fr-FR" spc="-15" dirty="0"/>
          </a:p>
        </p:txBody>
      </p:sp>
      <p:sp>
        <p:nvSpPr>
          <p:cNvPr id="6" name="Footer Placeholder 5"/>
          <p:cNvSpPr>
            <a:spLocks noGrp="1"/>
          </p:cNvSpPr>
          <p:nvPr>
            <p:ph type="ftr" sz="quarter" idx="11"/>
          </p:nvPr>
        </p:nvSpPr>
        <p:spPr/>
        <p:txBody>
          <a:bodyPr/>
          <a:lstStyle/>
          <a:p>
            <a:pPr marL="12700">
              <a:lnSpc>
                <a:spcPts val="580"/>
              </a:lnSpc>
            </a:pPr>
            <a:r>
              <a:rPr lang="fr-FR" spc="-15" smtClean="0"/>
              <a:t>Andreea</a:t>
            </a:r>
            <a:r>
              <a:rPr lang="fr-FR" spc="-5" smtClean="0"/>
              <a:t> </a:t>
            </a:r>
            <a:r>
              <a:rPr lang="fr-FR" smtClean="0"/>
              <a:t>Dragut</a:t>
            </a:r>
            <a:endParaRPr lang="fr-FR" dirty="0"/>
          </a:p>
        </p:txBody>
      </p:sp>
      <p:sp>
        <p:nvSpPr>
          <p:cNvPr id="7" name="Slide Number Placeholder 6"/>
          <p:cNvSpPr>
            <a:spLocks noGrp="1"/>
          </p:cNvSpPr>
          <p:nvPr>
            <p:ph type="sldNum" sz="quarter" idx="12"/>
          </p:nvPr>
        </p:nvSpPr>
        <p:spPr/>
        <p:txBody>
          <a:bodyPr/>
          <a:lstStyle/>
          <a:p>
            <a:pPr marL="25400">
              <a:lnSpc>
                <a:spcPts val="580"/>
              </a:lnSpc>
            </a:pPr>
            <a:fld id="{81D60167-4931-47E6-BA6A-407CBD079E47}" type="slidenum">
              <a:rPr lang="fr-FR" spc="-15" smtClean="0"/>
              <a:t>‹#›</a:t>
            </a:fld>
            <a:r>
              <a:rPr lang="fr-FR" spc="-85" smtClean="0"/>
              <a:t> </a:t>
            </a:r>
            <a:r>
              <a:rPr lang="fr-FR" spc="125" smtClean="0"/>
              <a:t>/</a:t>
            </a:r>
            <a:r>
              <a:rPr lang="fr-FR" spc="-85" smtClean="0"/>
              <a:t> </a:t>
            </a:r>
            <a:r>
              <a:rPr lang="fr-FR" spc="-15" smtClean="0"/>
              <a:t>84</a:t>
            </a:r>
            <a:endParaRPr lang="fr-FR" spc="-15" dirty="0"/>
          </a:p>
        </p:txBody>
      </p:sp>
    </p:spTree>
    <p:extLst>
      <p:ext uri="{BB962C8B-B14F-4D97-AF65-F5344CB8AC3E}">
        <p14:creationId xmlns:p14="http://schemas.microsoft.com/office/powerpoint/2010/main" val="3754076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12700">
              <a:lnSpc>
                <a:spcPts val="580"/>
              </a:lnSpc>
            </a:pPr>
            <a:r>
              <a:rPr lang="fr-FR" spc="-20" smtClean="0"/>
              <a:t>Cours </a:t>
            </a:r>
            <a:r>
              <a:rPr lang="fr-FR" spc="-25" smtClean="0"/>
              <a:t>de </a:t>
            </a:r>
            <a:r>
              <a:rPr lang="fr-FR" spc="-10" smtClean="0"/>
              <a:t>S.E. </a:t>
            </a:r>
            <a:r>
              <a:rPr lang="fr-FR" spc="-15" smtClean="0"/>
              <a:t>– le </a:t>
            </a:r>
            <a:r>
              <a:rPr lang="fr-FR" spc="-40" smtClean="0"/>
              <a:t>Syst`eme </a:t>
            </a:r>
            <a:r>
              <a:rPr lang="fr-FR" spc="-30" smtClean="0"/>
              <a:t>de </a:t>
            </a:r>
            <a:r>
              <a:rPr lang="fr-FR" spc="-15" smtClean="0"/>
              <a:t>Gestion </a:t>
            </a:r>
            <a:r>
              <a:rPr lang="fr-FR" spc="-35" smtClean="0"/>
              <a:t>des</a:t>
            </a:r>
            <a:r>
              <a:rPr lang="fr-FR" spc="25" smtClean="0"/>
              <a:t> </a:t>
            </a:r>
            <a:r>
              <a:rPr lang="fr-FR" spc="-15" smtClean="0"/>
              <a:t>Fichiers</a:t>
            </a:r>
            <a:endParaRPr lang="fr-FR" spc="-15" dirty="0"/>
          </a:p>
        </p:txBody>
      </p:sp>
      <p:sp>
        <p:nvSpPr>
          <p:cNvPr id="5" name="Footer Placeholder 4"/>
          <p:cNvSpPr>
            <a:spLocks noGrp="1"/>
          </p:cNvSpPr>
          <p:nvPr>
            <p:ph type="ftr" sz="quarter" idx="11"/>
          </p:nvPr>
        </p:nvSpPr>
        <p:spPr/>
        <p:txBody>
          <a:bodyPr/>
          <a:lstStyle/>
          <a:p>
            <a:pPr marL="12700">
              <a:lnSpc>
                <a:spcPts val="580"/>
              </a:lnSpc>
            </a:pPr>
            <a:r>
              <a:rPr lang="fr-FR" spc="-15" smtClean="0"/>
              <a:t>Andreea</a:t>
            </a:r>
            <a:r>
              <a:rPr lang="fr-FR" spc="-5" smtClean="0"/>
              <a:t> </a:t>
            </a:r>
            <a:r>
              <a:rPr lang="fr-FR" smtClean="0"/>
              <a:t>Dragut</a:t>
            </a:r>
            <a:endParaRPr lang="fr-FR" dirty="0"/>
          </a:p>
        </p:txBody>
      </p:sp>
      <p:sp>
        <p:nvSpPr>
          <p:cNvPr id="6" name="Slide Number Placeholder 5"/>
          <p:cNvSpPr>
            <a:spLocks noGrp="1"/>
          </p:cNvSpPr>
          <p:nvPr>
            <p:ph type="sldNum" sz="quarter" idx="12"/>
          </p:nvPr>
        </p:nvSpPr>
        <p:spPr/>
        <p:txBody>
          <a:bodyPr/>
          <a:lstStyle/>
          <a:p>
            <a:pPr marL="25400">
              <a:lnSpc>
                <a:spcPts val="580"/>
              </a:lnSpc>
            </a:pPr>
            <a:fld id="{81D60167-4931-47E6-BA6A-407CBD079E47}" type="slidenum">
              <a:rPr lang="fr-FR" spc="-15" smtClean="0"/>
              <a:t>‹#›</a:t>
            </a:fld>
            <a:r>
              <a:rPr lang="fr-FR" spc="-85" smtClean="0"/>
              <a:t> </a:t>
            </a:r>
            <a:r>
              <a:rPr lang="fr-FR" spc="125" smtClean="0"/>
              <a:t>/</a:t>
            </a:r>
            <a:r>
              <a:rPr lang="fr-FR" spc="-85" smtClean="0"/>
              <a:t> </a:t>
            </a:r>
            <a:r>
              <a:rPr lang="fr-FR" spc="-15" smtClean="0"/>
              <a:t>84</a:t>
            </a:r>
            <a:endParaRPr lang="fr-FR" spc="-15" dirty="0"/>
          </a:p>
        </p:txBody>
      </p:sp>
    </p:spTree>
    <p:extLst>
      <p:ext uri="{BB962C8B-B14F-4D97-AF65-F5344CB8AC3E}">
        <p14:creationId xmlns:p14="http://schemas.microsoft.com/office/powerpoint/2010/main" val="780402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201" y="3230033"/>
            <a:ext cx="4608900" cy="23071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 y="3196484"/>
            <a:ext cx="4608900" cy="32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3299103" y="209310"/>
            <a:ext cx="994053" cy="29053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316945" y="209310"/>
            <a:ext cx="2924532" cy="2905365"/>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12700">
              <a:lnSpc>
                <a:spcPts val="580"/>
              </a:lnSpc>
            </a:pPr>
            <a:r>
              <a:rPr lang="fr-FR" spc="-20" smtClean="0"/>
              <a:t>Cours </a:t>
            </a:r>
            <a:r>
              <a:rPr lang="fr-FR" spc="-25" smtClean="0"/>
              <a:t>de </a:t>
            </a:r>
            <a:r>
              <a:rPr lang="fr-FR" spc="-10" smtClean="0"/>
              <a:t>S.E. </a:t>
            </a:r>
            <a:r>
              <a:rPr lang="fr-FR" spc="-15" smtClean="0"/>
              <a:t>– le </a:t>
            </a:r>
            <a:r>
              <a:rPr lang="fr-FR" spc="-40" smtClean="0"/>
              <a:t>Syst`eme </a:t>
            </a:r>
            <a:r>
              <a:rPr lang="fr-FR" spc="-30" smtClean="0"/>
              <a:t>de </a:t>
            </a:r>
            <a:r>
              <a:rPr lang="fr-FR" spc="-15" smtClean="0"/>
              <a:t>Gestion </a:t>
            </a:r>
            <a:r>
              <a:rPr lang="fr-FR" spc="-35" smtClean="0"/>
              <a:t>des</a:t>
            </a:r>
            <a:r>
              <a:rPr lang="fr-FR" spc="25" smtClean="0"/>
              <a:t> </a:t>
            </a:r>
            <a:r>
              <a:rPr lang="fr-FR" spc="-15" smtClean="0"/>
              <a:t>Fichiers</a:t>
            </a:r>
            <a:endParaRPr lang="fr-FR" spc="-15" dirty="0"/>
          </a:p>
        </p:txBody>
      </p:sp>
      <p:sp>
        <p:nvSpPr>
          <p:cNvPr id="5" name="Footer Placeholder 4"/>
          <p:cNvSpPr>
            <a:spLocks noGrp="1"/>
          </p:cNvSpPr>
          <p:nvPr>
            <p:ph type="ftr" sz="quarter" idx="11"/>
          </p:nvPr>
        </p:nvSpPr>
        <p:spPr/>
        <p:txBody>
          <a:bodyPr/>
          <a:lstStyle/>
          <a:p>
            <a:pPr marL="12700">
              <a:lnSpc>
                <a:spcPts val="580"/>
              </a:lnSpc>
            </a:pPr>
            <a:r>
              <a:rPr lang="fr-FR" spc="-15" smtClean="0"/>
              <a:t>Andreea</a:t>
            </a:r>
            <a:r>
              <a:rPr lang="fr-FR" spc="-5" smtClean="0"/>
              <a:t> </a:t>
            </a:r>
            <a:r>
              <a:rPr lang="fr-FR" smtClean="0"/>
              <a:t>Dragut</a:t>
            </a:r>
            <a:endParaRPr lang="fr-FR" dirty="0"/>
          </a:p>
        </p:txBody>
      </p:sp>
      <p:sp>
        <p:nvSpPr>
          <p:cNvPr id="6" name="Slide Number Placeholder 5"/>
          <p:cNvSpPr>
            <a:spLocks noGrp="1"/>
          </p:cNvSpPr>
          <p:nvPr>
            <p:ph type="sldNum" sz="quarter" idx="12"/>
          </p:nvPr>
        </p:nvSpPr>
        <p:spPr/>
        <p:txBody>
          <a:bodyPr/>
          <a:lstStyle/>
          <a:p>
            <a:pPr marL="25400">
              <a:lnSpc>
                <a:spcPts val="580"/>
              </a:lnSpc>
            </a:pPr>
            <a:fld id="{81D60167-4931-47E6-BA6A-407CBD079E47}" type="slidenum">
              <a:rPr lang="fr-FR" spc="-15" smtClean="0"/>
              <a:t>‹#›</a:t>
            </a:fld>
            <a:r>
              <a:rPr lang="fr-FR" spc="-85" smtClean="0"/>
              <a:t> </a:t>
            </a:r>
            <a:r>
              <a:rPr lang="fr-FR" spc="125" smtClean="0"/>
              <a:t>/</a:t>
            </a:r>
            <a:r>
              <a:rPr lang="fr-FR" spc="-85" smtClean="0"/>
              <a:t> </a:t>
            </a:r>
            <a:r>
              <a:rPr lang="fr-FR" spc="-15" smtClean="0"/>
              <a:t>84</a:t>
            </a:r>
            <a:endParaRPr lang="fr-FR" spc="-15" dirty="0"/>
          </a:p>
        </p:txBody>
      </p:sp>
    </p:spTree>
    <p:extLst>
      <p:ext uri="{BB962C8B-B14F-4D97-AF65-F5344CB8AC3E}">
        <p14:creationId xmlns:p14="http://schemas.microsoft.com/office/powerpoint/2010/main" val="68780775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3230033"/>
            <a:ext cx="4610101" cy="23071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3196483"/>
            <a:ext cx="4610101" cy="333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414909" y="144629"/>
            <a:ext cx="3803333" cy="732095"/>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14909" y="931412"/>
            <a:ext cx="3803333" cy="2030307"/>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14910" y="3259800"/>
            <a:ext cx="934827" cy="184253"/>
          </a:xfrm>
          <a:prstGeom prst="rect">
            <a:avLst/>
          </a:prstGeom>
        </p:spPr>
        <p:txBody>
          <a:bodyPr vert="horz" lIns="91440" tIns="45720" rIns="91440" bIns="45720" rtlCol="0" anchor="ctr"/>
          <a:lstStyle>
            <a:lvl1pPr algn="l">
              <a:defRPr sz="454">
                <a:solidFill>
                  <a:srgbClr val="FFFFFF"/>
                </a:solidFill>
              </a:defRPr>
            </a:lvl1pPr>
          </a:lstStyle>
          <a:p>
            <a:pPr marL="12700">
              <a:lnSpc>
                <a:spcPts val="580"/>
              </a:lnSpc>
            </a:pPr>
            <a:r>
              <a:rPr lang="fr-FR" spc="-20" smtClean="0"/>
              <a:t>Cours </a:t>
            </a:r>
            <a:r>
              <a:rPr lang="fr-FR" spc="-25" smtClean="0"/>
              <a:t>de </a:t>
            </a:r>
            <a:r>
              <a:rPr lang="fr-FR" spc="-10" smtClean="0"/>
              <a:t>S.E. </a:t>
            </a:r>
            <a:r>
              <a:rPr lang="fr-FR" spc="-15" smtClean="0"/>
              <a:t>– le </a:t>
            </a:r>
            <a:r>
              <a:rPr lang="fr-FR" spc="-40" smtClean="0"/>
              <a:t>Syst`eme </a:t>
            </a:r>
            <a:r>
              <a:rPr lang="fr-FR" spc="-30" smtClean="0"/>
              <a:t>de </a:t>
            </a:r>
            <a:r>
              <a:rPr lang="fr-FR" spc="-15" smtClean="0"/>
              <a:t>Gestion </a:t>
            </a:r>
            <a:r>
              <a:rPr lang="fr-FR" spc="-35" smtClean="0"/>
              <a:t>des</a:t>
            </a:r>
            <a:r>
              <a:rPr lang="fr-FR" spc="25" smtClean="0"/>
              <a:t> </a:t>
            </a:r>
            <a:r>
              <a:rPr lang="fr-FR" spc="-15" smtClean="0"/>
              <a:t>Fichiers</a:t>
            </a:r>
            <a:endParaRPr lang="fr-FR" spc="-15" dirty="0"/>
          </a:p>
        </p:txBody>
      </p:sp>
      <p:sp>
        <p:nvSpPr>
          <p:cNvPr id="5" name="Footer Placeholder 4"/>
          <p:cNvSpPr>
            <a:spLocks noGrp="1"/>
          </p:cNvSpPr>
          <p:nvPr>
            <p:ph type="ftr" sz="quarter" idx="3"/>
          </p:nvPr>
        </p:nvSpPr>
        <p:spPr>
          <a:xfrm>
            <a:off x="1393839" y="3259800"/>
            <a:ext cx="1823623" cy="184253"/>
          </a:xfrm>
          <a:prstGeom prst="rect">
            <a:avLst/>
          </a:prstGeom>
        </p:spPr>
        <p:txBody>
          <a:bodyPr vert="horz" lIns="91440" tIns="45720" rIns="91440" bIns="45720" rtlCol="0" anchor="ctr"/>
          <a:lstStyle>
            <a:lvl1pPr algn="ctr">
              <a:defRPr sz="454" cap="all" baseline="0">
                <a:solidFill>
                  <a:srgbClr val="FFFFFF"/>
                </a:solidFill>
              </a:defRPr>
            </a:lvl1pPr>
          </a:lstStyle>
          <a:p>
            <a:pPr marL="12700">
              <a:lnSpc>
                <a:spcPts val="580"/>
              </a:lnSpc>
            </a:pPr>
            <a:r>
              <a:rPr lang="fr-FR" spc="-15" smtClean="0"/>
              <a:t>Andreea</a:t>
            </a:r>
            <a:r>
              <a:rPr lang="fr-FR" spc="-5" smtClean="0"/>
              <a:t> </a:t>
            </a:r>
            <a:r>
              <a:rPr lang="fr-FR" smtClean="0"/>
              <a:t>Dragut</a:t>
            </a:r>
            <a:endParaRPr lang="fr-FR" dirty="0"/>
          </a:p>
        </p:txBody>
      </p:sp>
      <p:sp>
        <p:nvSpPr>
          <p:cNvPr id="6" name="Slide Number Placeholder 5"/>
          <p:cNvSpPr>
            <a:spLocks noGrp="1"/>
          </p:cNvSpPr>
          <p:nvPr>
            <p:ph type="sldNum" sz="quarter" idx="4"/>
          </p:nvPr>
        </p:nvSpPr>
        <p:spPr>
          <a:xfrm>
            <a:off x="3743611" y="3259800"/>
            <a:ext cx="496110" cy="184253"/>
          </a:xfrm>
          <a:prstGeom prst="rect">
            <a:avLst/>
          </a:prstGeom>
        </p:spPr>
        <p:txBody>
          <a:bodyPr vert="horz" lIns="91440" tIns="45720" rIns="91440" bIns="45720" rtlCol="0" anchor="ctr"/>
          <a:lstStyle>
            <a:lvl1pPr algn="r">
              <a:defRPr sz="529">
                <a:solidFill>
                  <a:srgbClr val="FFFFFF"/>
                </a:solidFill>
              </a:defRPr>
            </a:lvl1pPr>
          </a:lstStyle>
          <a:p>
            <a:pPr marL="25400">
              <a:lnSpc>
                <a:spcPts val="580"/>
              </a:lnSpc>
            </a:pPr>
            <a:fld id="{81D60167-4931-47E6-BA6A-407CBD079E47}" type="slidenum">
              <a:rPr lang="fr-FR" spc="-15" smtClean="0"/>
              <a:t>‹#›</a:t>
            </a:fld>
            <a:r>
              <a:rPr lang="fr-FR" spc="-85" smtClean="0"/>
              <a:t> </a:t>
            </a:r>
            <a:r>
              <a:rPr lang="fr-FR" spc="125" smtClean="0"/>
              <a:t>/</a:t>
            </a:r>
            <a:r>
              <a:rPr lang="fr-FR" spc="-85" smtClean="0"/>
              <a:t> </a:t>
            </a:r>
            <a:r>
              <a:rPr lang="fr-FR" spc="-15" smtClean="0"/>
              <a:t>84</a:t>
            </a:r>
            <a:endParaRPr lang="fr-FR" spc="-15" dirty="0"/>
          </a:p>
        </p:txBody>
      </p:sp>
      <p:cxnSp>
        <p:nvCxnSpPr>
          <p:cNvPr id="10" name="Straight Connector 9"/>
          <p:cNvCxnSpPr/>
          <p:nvPr/>
        </p:nvCxnSpPr>
        <p:spPr>
          <a:xfrm>
            <a:off x="451304" y="876968"/>
            <a:ext cx="376875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1529131"/>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l" defTabSz="461040" rtl="0" eaLnBrk="1" latinLnBrk="0" hangingPunct="1">
        <a:lnSpc>
          <a:spcPct val="85000"/>
        </a:lnSpc>
        <a:spcBef>
          <a:spcPct val="0"/>
        </a:spcBef>
        <a:buNone/>
        <a:defRPr sz="2420" kern="1200" spc="-25" baseline="0">
          <a:solidFill>
            <a:schemeClr val="tx1">
              <a:lumMod val="75000"/>
              <a:lumOff val="25000"/>
            </a:schemeClr>
          </a:solidFill>
          <a:latin typeface="+mj-lt"/>
          <a:ea typeface="+mj-ea"/>
          <a:cs typeface="+mj-cs"/>
        </a:defRPr>
      </a:lvl1pPr>
    </p:titleStyle>
    <p:bodyStyle>
      <a:lvl1pPr marL="46104" indent="-46104" algn="l" defTabSz="461040" rtl="0" eaLnBrk="1" latinLnBrk="0" hangingPunct="1">
        <a:lnSpc>
          <a:spcPct val="90000"/>
        </a:lnSpc>
        <a:spcBef>
          <a:spcPts val="605"/>
        </a:spcBef>
        <a:spcAft>
          <a:spcPts val="101"/>
        </a:spcAft>
        <a:buClr>
          <a:schemeClr val="accent1"/>
        </a:buClr>
        <a:buSzPct val="100000"/>
        <a:buFont typeface="Calibri" panose="020F0502020204030204" pitchFamily="34" charset="0"/>
        <a:buChar char=" "/>
        <a:defRPr sz="1008" kern="1200">
          <a:solidFill>
            <a:schemeClr val="tx1">
              <a:lumMod val="75000"/>
              <a:lumOff val="25000"/>
            </a:schemeClr>
          </a:solidFill>
          <a:latin typeface="+mn-lt"/>
          <a:ea typeface="+mn-ea"/>
          <a:cs typeface="+mn-cs"/>
        </a:defRPr>
      </a:lvl1pPr>
      <a:lvl2pPr marL="193637" indent="-92208" algn="l" defTabSz="461040" rtl="0" eaLnBrk="1" latinLnBrk="0" hangingPunct="1">
        <a:lnSpc>
          <a:spcPct val="90000"/>
        </a:lnSpc>
        <a:spcBef>
          <a:spcPts val="101"/>
        </a:spcBef>
        <a:spcAft>
          <a:spcPts val="202"/>
        </a:spcAft>
        <a:buClr>
          <a:schemeClr val="accent1"/>
        </a:buClr>
        <a:buFont typeface="Calibri" pitchFamily="34" charset="0"/>
        <a:buChar char="◦"/>
        <a:defRPr sz="908" kern="1200">
          <a:solidFill>
            <a:schemeClr val="tx1">
              <a:lumMod val="75000"/>
              <a:lumOff val="25000"/>
            </a:schemeClr>
          </a:solidFill>
          <a:latin typeface="+mn-lt"/>
          <a:ea typeface="+mn-ea"/>
          <a:cs typeface="+mn-cs"/>
        </a:defRPr>
      </a:lvl2pPr>
      <a:lvl3pPr marL="285845" indent="-92208" algn="l" defTabSz="461040" rtl="0" eaLnBrk="1" latinLnBrk="0" hangingPunct="1">
        <a:lnSpc>
          <a:spcPct val="90000"/>
        </a:lnSpc>
        <a:spcBef>
          <a:spcPts val="101"/>
        </a:spcBef>
        <a:spcAft>
          <a:spcPts val="202"/>
        </a:spcAft>
        <a:buClr>
          <a:schemeClr val="accent1"/>
        </a:buClr>
        <a:buFont typeface="Calibri" pitchFamily="34" charset="0"/>
        <a:buChar char="◦"/>
        <a:defRPr sz="706" kern="1200">
          <a:solidFill>
            <a:schemeClr val="tx1">
              <a:lumMod val="75000"/>
              <a:lumOff val="25000"/>
            </a:schemeClr>
          </a:solidFill>
          <a:latin typeface="+mn-lt"/>
          <a:ea typeface="+mn-ea"/>
          <a:cs typeface="+mn-cs"/>
        </a:defRPr>
      </a:lvl3pPr>
      <a:lvl4pPr marL="378053" indent="-92208" algn="l" defTabSz="461040" rtl="0" eaLnBrk="1" latinLnBrk="0" hangingPunct="1">
        <a:lnSpc>
          <a:spcPct val="90000"/>
        </a:lnSpc>
        <a:spcBef>
          <a:spcPts val="101"/>
        </a:spcBef>
        <a:spcAft>
          <a:spcPts val="202"/>
        </a:spcAft>
        <a:buClr>
          <a:schemeClr val="accent1"/>
        </a:buClr>
        <a:buFont typeface="Calibri" pitchFamily="34" charset="0"/>
        <a:buChar char="◦"/>
        <a:defRPr sz="706" kern="1200">
          <a:solidFill>
            <a:schemeClr val="tx1">
              <a:lumMod val="75000"/>
              <a:lumOff val="25000"/>
            </a:schemeClr>
          </a:solidFill>
          <a:latin typeface="+mn-lt"/>
          <a:ea typeface="+mn-ea"/>
          <a:cs typeface="+mn-cs"/>
        </a:defRPr>
      </a:lvl4pPr>
      <a:lvl5pPr marL="470261" indent="-92208" algn="l" defTabSz="461040" rtl="0" eaLnBrk="1" latinLnBrk="0" hangingPunct="1">
        <a:lnSpc>
          <a:spcPct val="90000"/>
        </a:lnSpc>
        <a:spcBef>
          <a:spcPts val="101"/>
        </a:spcBef>
        <a:spcAft>
          <a:spcPts val="202"/>
        </a:spcAft>
        <a:buClr>
          <a:schemeClr val="accent1"/>
        </a:buClr>
        <a:buFont typeface="Calibri" pitchFamily="34" charset="0"/>
        <a:buChar char="◦"/>
        <a:defRPr sz="706" kern="1200">
          <a:solidFill>
            <a:schemeClr val="tx1">
              <a:lumMod val="75000"/>
              <a:lumOff val="25000"/>
            </a:schemeClr>
          </a:solidFill>
          <a:latin typeface="+mn-lt"/>
          <a:ea typeface="+mn-ea"/>
          <a:cs typeface="+mn-cs"/>
        </a:defRPr>
      </a:lvl5pPr>
      <a:lvl6pPr marL="554620" indent="-115260" algn="l" defTabSz="461040" rtl="0" eaLnBrk="1" latinLnBrk="0" hangingPunct="1">
        <a:lnSpc>
          <a:spcPct val="90000"/>
        </a:lnSpc>
        <a:spcBef>
          <a:spcPts val="101"/>
        </a:spcBef>
        <a:spcAft>
          <a:spcPts val="202"/>
        </a:spcAft>
        <a:buClr>
          <a:schemeClr val="accent1"/>
        </a:buClr>
        <a:buFont typeface="Calibri" pitchFamily="34" charset="0"/>
        <a:buChar char="◦"/>
        <a:defRPr sz="706" kern="1200">
          <a:solidFill>
            <a:schemeClr val="tx1">
              <a:lumMod val="75000"/>
              <a:lumOff val="25000"/>
            </a:schemeClr>
          </a:solidFill>
          <a:latin typeface="+mn-lt"/>
          <a:ea typeface="+mn-ea"/>
          <a:cs typeface="+mn-cs"/>
        </a:defRPr>
      </a:lvl6pPr>
      <a:lvl7pPr marL="655460" indent="-115260" algn="l" defTabSz="461040" rtl="0" eaLnBrk="1" latinLnBrk="0" hangingPunct="1">
        <a:lnSpc>
          <a:spcPct val="90000"/>
        </a:lnSpc>
        <a:spcBef>
          <a:spcPts val="101"/>
        </a:spcBef>
        <a:spcAft>
          <a:spcPts val="202"/>
        </a:spcAft>
        <a:buClr>
          <a:schemeClr val="accent1"/>
        </a:buClr>
        <a:buFont typeface="Calibri" pitchFamily="34" charset="0"/>
        <a:buChar char="◦"/>
        <a:defRPr sz="706" kern="1200">
          <a:solidFill>
            <a:schemeClr val="tx1">
              <a:lumMod val="75000"/>
              <a:lumOff val="25000"/>
            </a:schemeClr>
          </a:solidFill>
          <a:latin typeface="+mn-lt"/>
          <a:ea typeface="+mn-ea"/>
          <a:cs typeface="+mn-cs"/>
        </a:defRPr>
      </a:lvl7pPr>
      <a:lvl8pPr marL="756300" indent="-115260" algn="l" defTabSz="461040" rtl="0" eaLnBrk="1" latinLnBrk="0" hangingPunct="1">
        <a:lnSpc>
          <a:spcPct val="90000"/>
        </a:lnSpc>
        <a:spcBef>
          <a:spcPts val="101"/>
        </a:spcBef>
        <a:spcAft>
          <a:spcPts val="202"/>
        </a:spcAft>
        <a:buClr>
          <a:schemeClr val="accent1"/>
        </a:buClr>
        <a:buFont typeface="Calibri" pitchFamily="34" charset="0"/>
        <a:buChar char="◦"/>
        <a:defRPr sz="706" kern="1200">
          <a:solidFill>
            <a:schemeClr val="tx1">
              <a:lumMod val="75000"/>
              <a:lumOff val="25000"/>
            </a:schemeClr>
          </a:solidFill>
          <a:latin typeface="+mn-lt"/>
          <a:ea typeface="+mn-ea"/>
          <a:cs typeface="+mn-cs"/>
        </a:defRPr>
      </a:lvl8pPr>
      <a:lvl9pPr marL="857140" indent="-115260" algn="l" defTabSz="461040" rtl="0" eaLnBrk="1" latinLnBrk="0" hangingPunct="1">
        <a:lnSpc>
          <a:spcPct val="90000"/>
        </a:lnSpc>
        <a:spcBef>
          <a:spcPts val="101"/>
        </a:spcBef>
        <a:spcAft>
          <a:spcPts val="202"/>
        </a:spcAft>
        <a:buClr>
          <a:schemeClr val="accent1"/>
        </a:buClr>
        <a:buFont typeface="Calibri" pitchFamily="34" charset="0"/>
        <a:buChar char="◦"/>
        <a:defRPr sz="706" kern="1200">
          <a:solidFill>
            <a:schemeClr val="tx1">
              <a:lumMod val="75000"/>
              <a:lumOff val="25000"/>
            </a:schemeClr>
          </a:solidFill>
          <a:latin typeface="+mn-lt"/>
          <a:ea typeface="+mn-ea"/>
          <a:cs typeface="+mn-cs"/>
        </a:defRPr>
      </a:lvl9pPr>
    </p:bodyStyle>
    <p:otherStyle>
      <a:defPPr>
        <a:defRPr lang="en-US"/>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exemple_stat.c"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exemple_stat1.c"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exemple_errno.c"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exemple_creat.c"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exemple_copy.c"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exemple_open1.c"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exemple_open.c"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exemple_open2.c"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exemple_umask.c"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exemple_unlink.c"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exemple_remove.c"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fr-FR" sz="3000" dirty="0" err="1"/>
              <a:t>Syst</a:t>
            </a:r>
            <a:r>
              <a:rPr lang="ar-SA" sz="3000" dirty="0"/>
              <a:t>è</a:t>
            </a:r>
            <a:r>
              <a:rPr lang="fr-FR" sz="3000" dirty="0"/>
              <a:t>me de Gestion de Fichiers SGF</a:t>
            </a:r>
          </a:p>
        </p:txBody>
      </p:sp>
      <p:sp>
        <p:nvSpPr>
          <p:cNvPr id="3" name="Subtitle 2"/>
          <p:cNvSpPr>
            <a:spLocks noGrp="1"/>
          </p:cNvSpPr>
          <p:nvPr>
            <p:ph type="subTitle" idx="1"/>
          </p:nvPr>
        </p:nvSpPr>
        <p:spPr/>
        <p:txBody>
          <a:bodyPr/>
          <a:lstStyle/>
          <a:p>
            <a:endParaRPr lang="fr-FR"/>
          </a:p>
        </p:txBody>
      </p:sp>
    </p:spTree>
    <p:extLst>
      <p:ext uri="{BB962C8B-B14F-4D97-AF65-F5344CB8AC3E}">
        <p14:creationId xmlns:p14="http://schemas.microsoft.com/office/powerpoint/2010/main" val="35155265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2500" dirty="0" smtClean="0">
                <a:latin typeface="Times New Roman" panose="02020603050405020304" pitchFamily="18" charset="0"/>
                <a:cs typeface="Times New Roman" panose="02020603050405020304" pitchFamily="18" charset="0"/>
              </a:rPr>
              <a:t>Unix- Vision unifié E/S</a:t>
            </a:r>
            <a:endParaRPr lang="fr-FR" sz="25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7500" lnSpcReduction="20000"/>
          </a:bodyPr>
          <a:lstStyle/>
          <a:p>
            <a:pPr marL="217554" indent="-171450">
              <a:lnSpc>
                <a:spcPct val="120000"/>
              </a:lnSpc>
              <a:spcBef>
                <a:spcPts val="0"/>
              </a:spcBef>
              <a:buFont typeface="Wingdings" panose="05000000000000000000" pitchFamily="2" charset="2"/>
              <a:buChar char="Ø"/>
            </a:pPr>
            <a:r>
              <a:rPr lang="fr-FR" b="1" dirty="0" smtClean="0">
                <a:latin typeface="Times New Roman" panose="02020603050405020304" pitchFamily="18" charset="0"/>
                <a:cs typeface="Times New Roman" panose="02020603050405020304" pitchFamily="18" charset="0"/>
              </a:rPr>
              <a:t>File</a:t>
            </a:r>
            <a:r>
              <a:rPr lang="fr-FR" dirty="0" smtClean="0">
                <a:latin typeface="Times New Roman" panose="02020603050405020304" pitchFamily="18" charset="0"/>
                <a:cs typeface="Times New Roman" panose="02020603050405020304" pitchFamily="18" charset="0"/>
              </a:rPr>
              <a:t>: an input output point</a:t>
            </a:r>
          </a:p>
          <a:p>
            <a:pPr marL="217554" indent="-171450">
              <a:lnSpc>
                <a:spcPct val="120000"/>
              </a:lnSpc>
              <a:spcBef>
                <a:spcPts val="0"/>
              </a:spcBef>
              <a:buFont typeface="Wingdings" panose="05000000000000000000" pitchFamily="2" charset="2"/>
              <a:buChar char="Ø"/>
            </a:pPr>
            <a:r>
              <a:rPr lang="fr-FR" b="1" dirty="0" smtClean="0">
                <a:latin typeface="Times New Roman" panose="02020603050405020304" pitchFamily="18" charset="0"/>
                <a:cs typeface="Times New Roman" panose="02020603050405020304" pitchFamily="18" charset="0"/>
              </a:rPr>
              <a:t>Information about the file:</a:t>
            </a:r>
          </a:p>
          <a:p>
            <a:pPr marL="365087" lvl="1" indent="-171450">
              <a:lnSpc>
                <a:spcPct val="120000"/>
              </a:lnSpc>
              <a:spcBef>
                <a:spcPts val="0"/>
              </a:spcBef>
              <a:buFont typeface="Wingdings" panose="05000000000000000000" pitchFamily="2" charset="2"/>
              <a:buChar char="Ø"/>
            </a:pPr>
            <a:r>
              <a:rPr lang="fr-FR" dirty="0" smtClean="0">
                <a:solidFill>
                  <a:srgbClr val="002060"/>
                </a:solidFill>
                <a:latin typeface="Times New Roman" panose="02020603050405020304" pitchFamily="18" charset="0"/>
                <a:cs typeface="Times New Roman" panose="02020603050405020304" pitchFamily="18" charset="0"/>
              </a:rPr>
              <a:t>stat(), </a:t>
            </a:r>
            <a:r>
              <a:rPr lang="fr-FR" dirty="0" err="1" smtClean="0">
                <a:solidFill>
                  <a:srgbClr val="002060"/>
                </a:solidFill>
                <a:latin typeface="Times New Roman" panose="02020603050405020304" pitchFamily="18" charset="0"/>
                <a:cs typeface="Times New Roman" panose="02020603050405020304" pitchFamily="18" charset="0"/>
              </a:rPr>
              <a:t>fstat</a:t>
            </a:r>
            <a:r>
              <a:rPr lang="fr-FR" dirty="0" smtClean="0">
                <a:solidFill>
                  <a:srgbClr val="002060"/>
                </a:solidFill>
                <a:latin typeface="Times New Roman" panose="02020603050405020304" pitchFamily="18" charset="0"/>
                <a:cs typeface="Times New Roman" panose="02020603050405020304" pitchFamily="18" charset="0"/>
              </a:rPr>
              <a:t>(), </a:t>
            </a:r>
            <a:r>
              <a:rPr lang="fr-FR" dirty="0" err="1" smtClean="0">
                <a:solidFill>
                  <a:srgbClr val="002060"/>
                </a:solidFill>
                <a:latin typeface="Times New Roman" panose="02020603050405020304" pitchFamily="18" charset="0"/>
                <a:cs typeface="Times New Roman" panose="02020603050405020304" pitchFamily="18" charset="0"/>
              </a:rPr>
              <a:t>lstat</a:t>
            </a:r>
            <a:r>
              <a:rPr lang="fr-FR" dirty="0" smtClean="0">
                <a:solidFill>
                  <a:srgbClr val="002060"/>
                </a:solidFill>
                <a:latin typeface="Times New Roman" panose="02020603050405020304" pitchFamily="18" charset="0"/>
                <a:cs typeface="Times New Roman" panose="02020603050405020304" pitchFamily="18" charset="0"/>
              </a:rPr>
              <a:t>()</a:t>
            </a:r>
          </a:p>
          <a:p>
            <a:pPr marL="217554" indent="-171450">
              <a:lnSpc>
                <a:spcPct val="12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Creation or acquisition of read / write rights for an existing file and allocation of a unique identifier-file descriptor:</a:t>
            </a:r>
            <a:endParaRPr lang="fr-FR" dirty="0" smtClean="0">
              <a:latin typeface="Times New Roman" panose="02020603050405020304" pitchFamily="18" charset="0"/>
              <a:cs typeface="Times New Roman" panose="02020603050405020304" pitchFamily="18" charset="0"/>
            </a:endParaRPr>
          </a:p>
          <a:p>
            <a:pPr marL="365087" lvl="1" indent="-171450">
              <a:lnSpc>
                <a:spcPct val="120000"/>
              </a:lnSpc>
              <a:spcBef>
                <a:spcPts val="0"/>
              </a:spcBef>
              <a:buFont typeface="Wingdings" panose="05000000000000000000" pitchFamily="2" charset="2"/>
              <a:buChar char="Ø"/>
            </a:pPr>
            <a:r>
              <a:rPr lang="fr-FR" dirty="0" smtClean="0">
                <a:solidFill>
                  <a:srgbClr val="002060"/>
                </a:solidFill>
                <a:latin typeface="Times New Roman" panose="02020603050405020304" pitchFamily="18" charset="0"/>
                <a:cs typeface="Times New Roman" panose="02020603050405020304" pitchFamily="18" charset="0"/>
              </a:rPr>
              <a:t>open()</a:t>
            </a:r>
          </a:p>
          <a:p>
            <a:pPr marL="217554" indent="-171450">
              <a:lnSpc>
                <a:spcPct val="120000"/>
              </a:lnSpc>
              <a:spcBef>
                <a:spcPts val="0"/>
              </a:spcBef>
              <a:buFont typeface="Wingdings" panose="05000000000000000000" pitchFamily="2" charset="2"/>
              <a:buChar char="Ø"/>
            </a:pPr>
            <a:r>
              <a:rPr lang="fr-FR" sz="1000" b="1" dirty="0" smtClean="0">
                <a:latin typeface="Times New Roman" panose="02020603050405020304" pitchFamily="18" charset="0"/>
                <a:cs typeface="Times New Roman" panose="02020603050405020304" pitchFamily="18" charset="0"/>
              </a:rPr>
              <a:t>lecture/écriture</a:t>
            </a:r>
            <a:r>
              <a:rPr lang="fr-FR" sz="1000" b="1" dirty="0">
                <a:latin typeface="Times New Roman" panose="02020603050405020304" pitchFamily="18" charset="0"/>
                <a:cs typeface="Times New Roman" panose="02020603050405020304" pitchFamily="18" charset="0"/>
              </a:rPr>
              <a:t>, </a:t>
            </a:r>
            <a:r>
              <a:rPr lang="fr-FR" sz="1000" b="1" dirty="0" smtClean="0">
                <a:latin typeface="Times New Roman" panose="02020603050405020304" pitchFamily="18" charset="0"/>
                <a:cs typeface="Times New Roman" panose="02020603050405020304" pitchFamily="18" charset="0"/>
              </a:rPr>
              <a:t>positionnement </a:t>
            </a:r>
            <a:r>
              <a:rPr lang="fr-FR" sz="1000" b="1" dirty="0">
                <a:latin typeface="Times New Roman" panose="02020603050405020304" pitchFamily="18" charset="0"/>
                <a:cs typeface="Times New Roman" panose="02020603050405020304" pitchFamily="18" charset="0"/>
              </a:rPr>
              <a:t>Opérations </a:t>
            </a:r>
          </a:p>
          <a:p>
            <a:pPr marL="365087" lvl="1" indent="-171450">
              <a:lnSpc>
                <a:spcPct val="120000"/>
              </a:lnSpc>
              <a:spcBef>
                <a:spcPts val="0"/>
              </a:spcBef>
              <a:buFont typeface="Wingdings" panose="05000000000000000000" pitchFamily="2" charset="2"/>
              <a:buChar char="Ø"/>
            </a:pPr>
            <a:r>
              <a:rPr lang="fr-FR" sz="900" dirty="0" err="1" smtClean="0">
                <a:solidFill>
                  <a:srgbClr val="002060"/>
                </a:solidFill>
                <a:latin typeface="Times New Roman" panose="02020603050405020304" pitchFamily="18" charset="0"/>
                <a:cs typeface="Times New Roman" panose="02020603050405020304" pitchFamily="18" charset="0"/>
              </a:rPr>
              <a:t>read</a:t>
            </a:r>
            <a:r>
              <a:rPr lang="fr-FR" sz="900" dirty="0">
                <a:solidFill>
                  <a:srgbClr val="002060"/>
                </a:solidFill>
                <a:latin typeface="Times New Roman" panose="02020603050405020304" pitchFamily="18" charset="0"/>
                <a:cs typeface="Times New Roman" panose="02020603050405020304" pitchFamily="18" charset="0"/>
              </a:rPr>
              <a:t>(), </a:t>
            </a:r>
            <a:r>
              <a:rPr lang="fr-FR" sz="900" dirty="0" err="1">
                <a:solidFill>
                  <a:srgbClr val="002060"/>
                </a:solidFill>
                <a:latin typeface="Times New Roman" panose="02020603050405020304" pitchFamily="18" charset="0"/>
                <a:cs typeface="Times New Roman" panose="02020603050405020304" pitchFamily="18" charset="0"/>
              </a:rPr>
              <a:t>write</a:t>
            </a:r>
            <a:r>
              <a:rPr lang="fr-FR" sz="900" dirty="0">
                <a:solidFill>
                  <a:srgbClr val="002060"/>
                </a:solidFill>
                <a:latin typeface="Times New Roman" panose="02020603050405020304" pitchFamily="18" charset="0"/>
                <a:cs typeface="Times New Roman" panose="02020603050405020304" pitchFamily="18" charset="0"/>
              </a:rPr>
              <a:t>(), </a:t>
            </a:r>
            <a:r>
              <a:rPr lang="fr-FR" sz="900" dirty="0" err="1">
                <a:solidFill>
                  <a:srgbClr val="002060"/>
                </a:solidFill>
                <a:latin typeface="Times New Roman" panose="02020603050405020304" pitchFamily="18" charset="0"/>
                <a:cs typeface="Times New Roman" panose="02020603050405020304" pitchFamily="18" charset="0"/>
              </a:rPr>
              <a:t>lseek</a:t>
            </a:r>
            <a:r>
              <a:rPr lang="fr-FR" sz="900" dirty="0">
                <a:solidFill>
                  <a:srgbClr val="002060"/>
                </a:solidFill>
                <a:latin typeface="Times New Roman" panose="02020603050405020304" pitchFamily="18" charset="0"/>
                <a:cs typeface="Times New Roman" panose="02020603050405020304" pitchFamily="18" charset="0"/>
              </a:rPr>
              <a:t>()</a:t>
            </a:r>
          </a:p>
          <a:p>
            <a:pPr marL="217554" indent="-171450">
              <a:lnSpc>
                <a:spcPct val="120000"/>
              </a:lnSpc>
              <a:spcBef>
                <a:spcPts val="0"/>
              </a:spcBef>
              <a:buFont typeface="Wingdings" panose="05000000000000000000" pitchFamily="2" charset="2"/>
              <a:buChar char="Ø"/>
            </a:pPr>
            <a:r>
              <a:rPr lang="fr-FR" sz="1000" dirty="0">
                <a:latin typeface="Times New Roman" panose="02020603050405020304" pitchFamily="18" charset="0"/>
                <a:cs typeface="Times New Roman" panose="02020603050405020304" pitchFamily="18" charset="0"/>
              </a:rPr>
              <a:t>Sharing / </a:t>
            </a:r>
            <a:r>
              <a:rPr lang="fr-FR" sz="1000" dirty="0" err="1">
                <a:latin typeface="Times New Roman" panose="02020603050405020304" pitchFamily="18" charset="0"/>
                <a:cs typeface="Times New Roman" panose="02020603050405020304" pitchFamily="18" charset="0"/>
              </a:rPr>
              <a:t>locking</a:t>
            </a:r>
            <a:r>
              <a:rPr lang="fr-FR" sz="1000" dirty="0">
                <a:latin typeface="Times New Roman" panose="02020603050405020304" pitchFamily="18" charset="0"/>
                <a:cs typeface="Times New Roman" panose="02020603050405020304" pitchFamily="18" charset="0"/>
              </a:rPr>
              <a:t> a file</a:t>
            </a:r>
            <a:endParaRPr lang="fr-FR" sz="1000" dirty="0" smtClean="0">
              <a:solidFill>
                <a:srgbClr val="002060"/>
              </a:solidFill>
              <a:latin typeface="Times New Roman" panose="02020603050405020304" pitchFamily="18" charset="0"/>
              <a:cs typeface="Times New Roman" panose="02020603050405020304" pitchFamily="18" charset="0"/>
            </a:endParaRPr>
          </a:p>
          <a:p>
            <a:pPr marL="365087" lvl="1" indent="-171450">
              <a:lnSpc>
                <a:spcPct val="120000"/>
              </a:lnSpc>
              <a:spcBef>
                <a:spcPts val="0"/>
              </a:spcBef>
              <a:buFont typeface="Wingdings" panose="05000000000000000000" pitchFamily="2" charset="2"/>
              <a:buChar char="Ø"/>
            </a:pPr>
            <a:r>
              <a:rPr lang="fr-FR" sz="900" dirty="0" smtClean="0">
                <a:solidFill>
                  <a:srgbClr val="002060"/>
                </a:solidFill>
                <a:latin typeface="Times New Roman" panose="02020603050405020304" pitchFamily="18" charset="0"/>
                <a:cs typeface="Times New Roman" panose="02020603050405020304" pitchFamily="18" charset="0"/>
              </a:rPr>
              <a:t>dup2(), </a:t>
            </a:r>
            <a:r>
              <a:rPr lang="fr-FR" sz="900" dirty="0" err="1" smtClean="0">
                <a:solidFill>
                  <a:srgbClr val="002060"/>
                </a:solidFill>
                <a:latin typeface="Times New Roman" panose="02020603050405020304" pitchFamily="18" charset="0"/>
                <a:cs typeface="Times New Roman" panose="02020603050405020304" pitchFamily="18" charset="0"/>
              </a:rPr>
              <a:t>fcntl</a:t>
            </a:r>
            <a:endParaRPr lang="fr-FR" sz="900" dirty="0">
              <a:solidFill>
                <a:srgbClr val="002060"/>
              </a:solidFill>
              <a:latin typeface="Times New Roman" panose="02020603050405020304" pitchFamily="18" charset="0"/>
              <a:cs typeface="Times New Roman" panose="02020603050405020304" pitchFamily="18" charset="0"/>
            </a:endParaRPr>
          </a:p>
          <a:p>
            <a:pPr marL="217554" indent="-171450">
              <a:lnSpc>
                <a:spcPct val="120000"/>
              </a:lnSpc>
              <a:spcBef>
                <a:spcPts val="0"/>
              </a:spcBef>
              <a:buFont typeface="Wingdings" panose="05000000000000000000" pitchFamily="2" charset="2"/>
              <a:buChar char="Ø"/>
            </a:pPr>
            <a:r>
              <a:rPr lang="fr-FR" b="1" dirty="0" err="1" smtClean="0">
                <a:latin typeface="Times New Roman" panose="02020603050405020304" pitchFamily="18" charset="0"/>
                <a:cs typeface="Times New Roman" panose="02020603050405020304" pitchFamily="18" charset="0"/>
              </a:rPr>
              <a:t>Closing</a:t>
            </a:r>
            <a:endParaRPr lang="fr-FR" b="1" dirty="0" smtClean="0">
              <a:latin typeface="Times New Roman" panose="02020603050405020304" pitchFamily="18" charset="0"/>
              <a:cs typeface="Times New Roman" panose="02020603050405020304" pitchFamily="18" charset="0"/>
            </a:endParaRPr>
          </a:p>
          <a:p>
            <a:pPr marL="365087" lvl="1" indent="-171450">
              <a:lnSpc>
                <a:spcPct val="120000"/>
              </a:lnSpc>
              <a:spcBef>
                <a:spcPts val="0"/>
              </a:spcBef>
              <a:buFont typeface="Wingdings" panose="05000000000000000000" pitchFamily="2" charset="2"/>
              <a:buChar char="Ø"/>
            </a:pPr>
            <a:r>
              <a:rPr lang="fr-FR" sz="900" dirty="0">
                <a:solidFill>
                  <a:srgbClr val="002060"/>
                </a:solidFill>
                <a:latin typeface="Times New Roman" panose="02020603050405020304" pitchFamily="18" charset="0"/>
                <a:cs typeface="Times New Roman" panose="02020603050405020304" pitchFamily="18" charset="0"/>
              </a:rPr>
              <a:t>close()</a:t>
            </a:r>
          </a:p>
          <a:p>
            <a:pPr marL="217554" indent="-171450">
              <a:lnSpc>
                <a:spcPct val="120000"/>
              </a:lnSpc>
              <a:spcBef>
                <a:spcPts val="0"/>
              </a:spcBef>
              <a:buFont typeface="Wingdings" panose="05000000000000000000" pitchFamily="2" charset="2"/>
              <a:buChar char="Ø"/>
            </a:pPr>
            <a:r>
              <a:rPr lang="fr-FR" b="1" dirty="0" smtClean="0">
                <a:latin typeface="Times New Roman" panose="02020603050405020304" pitchFamily="18" charset="0"/>
                <a:cs typeface="Times New Roman" panose="02020603050405020304" pitchFamily="18" charset="0"/>
              </a:rPr>
              <a:t>Destruction :</a:t>
            </a:r>
          </a:p>
          <a:p>
            <a:pPr marL="365087" lvl="1" indent="-171450">
              <a:lnSpc>
                <a:spcPct val="120000"/>
              </a:lnSpc>
              <a:spcBef>
                <a:spcPts val="0"/>
              </a:spcBef>
              <a:buFont typeface="Wingdings" panose="05000000000000000000" pitchFamily="2" charset="2"/>
              <a:buChar char="Ø"/>
            </a:pPr>
            <a:r>
              <a:rPr lang="fr-FR" dirty="0" err="1" smtClean="0">
                <a:solidFill>
                  <a:srgbClr val="002060"/>
                </a:solidFill>
                <a:latin typeface="Times New Roman" panose="02020603050405020304" pitchFamily="18" charset="0"/>
                <a:cs typeface="Times New Roman" panose="02020603050405020304" pitchFamily="18" charset="0"/>
              </a:rPr>
              <a:t>unlink</a:t>
            </a:r>
            <a:r>
              <a:rPr lang="fr-FR" dirty="0" smtClean="0">
                <a:solidFill>
                  <a:srgbClr val="002060"/>
                </a:solidFill>
                <a:latin typeface="Times New Roman" panose="02020603050405020304" pitchFamily="18" charset="0"/>
                <a:cs typeface="Times New Roman" panose="02020603050405020304" pitchFamily="18" charset="0"/>
              </a:rPr>
              <a:t>()</a:t>
            </a:r>
            <a:endParaRPr lang="fr-FR"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02494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2500" dirty="0" smtClean="0">
                <a:solidFill>
                  <a:schemeClr val="tx1"/>
                </a:solidFill>
                <a:latin typeface="Times New Roman" panose="02020603050405020304" pitchFamily="18" charset="0"/>
                <a:cs typeface="Times New Roman" panose="02020603050405020304" pitchFamily="18" charset="0"/>
              </a:rPr>
              <a:t>File </a:t>
            </a:r>
            <a:r>
              <a:rPr lang="fr-FR" sz="2500" dirty="0" err="1" smtClean="0">
                <a:solidFill>
                  <a:schemeClr val="tx1"/>
                </a:solidFill>
                <a:latin typeface="Times New Roman" panose="02020603050405020304" pitchFamily="18" charset="0"/>
                <a:cs typeface="Times New Roman" panose="02020603050405020304" pitchFamily="18" charset="0"/>
              </a:rPr>
              <a:t>descriptor</a:t>
            </a:r>
            <a:endParaRPr lang="fr-FR" sz="25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dirty="0" smtClean="0">
                <a:solidFill>
                  <a:srgbClr val="960E7C"/>
                </a:solidFill>
                <a:latin typeface="Times New Roman" panose="02020603050405020304" pitchFamily="18" charset="0"/>
                <a:cs typeface="Times New Roman" panose="02020603050405020304" pitchFamily="18" charset="0"/>
              </a:rPr>
              <a:t>To each </a:t>
            </a:r>
            <a:r>
              <a:rPr lang="en-US" dirty="0" err="1" smtClean="0">
                <a:solidFill>
                  <a:srgbClr val="960E7C"/>
                </a:solidFill>
                <a:latin typeface="Times New Roman" panose="02020603050405020304" pitchFamily="18" charset="0"/>
                <a:cs typeface="Times New Roman" panose="02020603050405020304" pitchFamily="18" charset="0"/>
              </a:rPr>
              <a:t>openning</a:t>
            </a:r>
            <a:r>
              <a:rPr lang="en-US" dirty="0" smtClean="0">
                <a:solidFill>
                  <a:srgbClr val="960E7C"/>
                </a:solidFill>
                <a:latin typeface="Times New Roman" panose="02020603050405020304" pitchFamily="18" charset="0"/>
                <a:cs typeface="Times New Roman" panose="02020603050405020304" pitchFamily="18" charset="0"/>
              </a:rPr>
              <a:t> of a file </a:t>
            </a:r>
            <a:r>
              <a:rPr lang="en-US" dirty="0" smtClean="0">
                <a:latin typeface="Times New Roman" panose="02020603050405020304" pitchFamily="18" charset="0"/>
                <a:cs typeface="Times New Roman" panose="02020603050405020304" pitchFamily="18" charset="0"/>
                <a:sym typeface="Wingdings" panose="05000000000000000000" pitchFamily="2" charset="2"/>
              </a:rPr>
              <a:t>an integer index of a pointer table</a:t>
            </a:r>
            <a:r>
              <a:rPr lang="en-US" dirty="0" smtClean="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Managing of «  </a:t>
            </a:r>
            <a:r>
              <a:rPr lang="en-US" dirty="0" err="1" smtClean="0">
                <a:solidFill>
                  <a:srgbClr val="FF0000"/>
                </a:solidFill>
                <a:latin typeface="Times New Roman" panose="02020603050405020304" pitchFamily="18" charset="0"/>
                <a:cs typeface="Times New Roman" panose="02020603050405020304" pitchFamily="18" charset="0"/>
              </a:rPr>
              <a:t>openning</a:t>
            </a:r>
            <a:r>
              <a:rPr lang="en-US" dirty="0" smtClean="0">
                <a:solidFill>
                  <a:srgbClr val="FF0000"/>
                </a:solidFill>
                <a:latin typeface="Times New Roman" panose="02020603050405020304" pitchFamily="18" charset="0"/>
                <a:cs typeface="Times New Roman" panose="02020603050405020304" pitchFamily="18" charset="0"/>
              </a:rPr>
              <a:t> session</a:t>
            </a:r>
            <a:r>
              <a:rPr lang="en-US"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Same process </a:t>
            </a:r>
            <a:r>
              <a:rPr lang="en-US" dirty="0" smtClean="0">
                <a:latin typeface="Times New Roman" panose="02020603050405020304" pitchFamily="18" charset="0"/>
                <a:cs typeface="Times New Roman" panose="02020603050405020304" pitchFamily="18" charset="0"/>
                <a:sym typeface="Wingdings" panose="05000000000000000000" pitchFamily="2" charset="2"/>
              </a:rPr>
              <a:t>many opening of the same file </a:t>
            </a:r>
            <a:r>
              <a:rPr lang="en-US" dirty="0" smtClean="0">
                <a:latin typeface="Times New Roman" panose="02020603050405020304" pitchFamily="18" charset="0"/>
                <a:cs typeface="Times New Roman" panose="02020603050405020304" pitchFamily="18" charset="0"/>
              </a:rPr>
              <a:t>many descriptors</a:t>
            </a: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Generalize  the communication  notion between the process(IPC)</a:t>
            </a:r>
          </a:p>
          <a:p>
            <a:pPr lvl="2">
              <a:buFont typeface="Wingdings" panose="05000000000000000000" pitchFamily="2" charset="2"/>
              <a:buChar char="Ø"/>
            </a:pPr>
            <a:r>
              <a:rPr lang="en-US" dirty="0" smtClean="0">
                <a:solidFill>
                  <a:srgbClr val="FF0000"/>
                </a:solidFill>
                <a:latin typeface="Times New Roman" panose="02020603050405020304" pitchFamily="18" charset="0"/>
                <a:cs typeface="Times New Roman" panose="02020603050405020304" pitchFamily="18" charset="0"/>
              </a:rPr>
              <a:t>Pipes</a:t>
            </a:r>
          </a:p>
          <a:p>
            <a:pPr lvl="2">
              <a:buFont typeface="Wingdings" panose="05000000000000000000" pitchFamily="2" charset="2"/>
              <a:buChar char="Ø"/>
            </a:pPr>
            <a:r>
              <a:rPr lang="en-US" dirty="0" smtClean="0">
                <a:solidFill>
                  <a:srgbClr val="FF0000"/>
                </a:solidFill>
                <a:latin typeface="Times New Roman" panose="02020603050405020304" pitchFamily="18" charset="0"/>
                <a:cs typeface="Times New Roman" panose="02020603050405020304" pitchFamily="18" charset="0"/>
              </a:rPr>
              <a:t>Socket </a:t>
            </a:r>
          </a:p>
          <a:p>
            <a:pPr lvl="2">
              <a:buFont typeface="Wingdings" panose="05000000000000000000" pitchFamily="2" charset="2"/>
              <a:buChar char="Ø"/>
            </a:pPr>
            <a:r>
              <a:rPr lang="en-US" dirty="0" err="1" smtClean="0">
                <a:solidFill>
                  <a:srgbClr val="FF0000"/>
                </a:solidFill>
                <a:latin typeface="Times New Roman" panose="02020603050405020304" pitchFamily="18" charset="0"/>
                <a:cs typeface="Times New Roman" panose="02020603050405020304" pitchFamily="18" charset="0"/>
              </a:rPr>
              <a:t>Peripherique</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94384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2500" dirty="0" err="1">
                <a:latin typeface="Times New Roman" panose="02020603050405020304" pitchFamily="18" charset="0"/>
                <a:cs typeface="Times New Roman" panose="02020603050405020304" pitchFamily="18" charset="0"/>
              </a:rPr>
              <a:t>Descriptor</a:t>
            </a:r>
            <a:r>
              <a:rPr lang="fr-FR" sz="2500" dirty="0">
                <a:latin typeface="Times New Roman" panose="02020603050405020304" pitchFamily="18" charset="0"/>
                <a:cs typeface="Times New Roman" panose="02020603050405020304" pitchFamily="18" charset="0"/>
              </a:rPr>
              <a:t> Table Location</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Where is the descriptor table</a:t>
            </a:r>
            <a:r>
              <a:rPr lang="fr-FR"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fr-FR" dirty="0" smtClean="0">
                <a:latin typeface="Times New Roman" panose="02020603050405020304" pitchFamily="18" charset="0"/>
                <a:cs typeface="Times New Roman" panose="02020603050405020304" pitchFamily="18" charset="0"/>
              </a:rPr>
              <a:t>Memory  </a:t>
            </a:r>
            <a:r>
              <a:rPr lang="fr-FR" dirty="0" smtClean="0">
                <a:latin typeface="Times New Roman" panose="02020603050405020304" pitchFamily="18" charset="0"/>
                <a:cs typeface="Times New Roman" panose="02020603050405020304" pitchFamily="18" charset="0"/>
                <a:sym typeface="Wingdings" panose="05000000000000000000" pitchFamily="2" charset="2"/>
              </a:rPr>
              <a:t>  </a:t>
            </a:r>
            <a:r>
              <a:rPr lang="fr-FR" dirty="0" err="1" smtClean="0">
                <a:latin typeface="Times New Roman" panose="02020603050405020304" pitchFamily="18" charset="0"/>
                <a:cs typeface="Times New Roman" panose="02020603050405020304" pitchFamily="18" charset="0"/>
                <a:sym typeface="Wingdings" panose="05000000000000000000" pitchFamily="2" charset="2"/>
              </a:rPr>
              <a:t>process</a:t>
            </a:r>
            <a:r>
              <a:rPr lang="fr-FR" dirty="0" smtClean="0">
                <a:latin typeface="Times New Roman" panose="02020603050405020304" pitchFamily="18" charset="0"/>
                <a:cs typeface="Times New Roman" panose="02020603050405020304" pitchFamily="18" charset="0"/>
                <a:sym typeface="Wingdings" panose="05000000000000000000" pitchFamily="2" charset="2"/>
              </a:rPr>
              <a:t> </a:t>
            </a:r>
            <a:r>
              <a:rPr lang="fr-FR" dirty="0" err="1" smtClean="0">
                <a:latin typeface="Times New Roman" panose="02020603050405020304" pitchFamily="18" charset="0"/>
                <a:cs typeface="Times New Roman" panose="02020603050405020304" pitchFamily="18" charset="0"/>
                <a:sym typeface="Wingdings" panose="05000000000000000000" pitchFamily="2" charset="2"/>
              </a:rPr>
              <a:t>virtual</a:t>
            </a:r>
            <a:r>
              <a:rPr lang="fr-FR" dirty="0" smtClean="0">
                <a:latin typeface="Times New Roman" panose="02020603050405020304" pitchFamily="18" charset="0"/>
                <a:cs typeface="Times New Roman" panose="02020603050405020304" pitchFamily="18" charset="0"/>
                <a:sym typeface="Wingdings" panose="05000000000000000000" pitchFamily="2" charset="2"/>
              </a:rPr>
              <a:t> </a:t>
            </a:r>
            <a:r>
              <a:rPr lang="fr-FR" dirty="0" err="1" smtClean="0">
                <a:latin typeface="Times New Roman" panose="02020603050405020304" pitchFamily="18" charset="0"/>
                <a:cs typeface="Times New Roman" panose="02020603050405020304" pitchFamily="18" charset="0"/>
                <a:sym typeface="Wingdings" panose="05000000000000000000" pitchFamily="2" charset="2"/>
              </a:rPr>
              <a:t>address</a:t>
            </a:r>
            <a:r>
              <a:rPr lang="fr-FR" dirty="0" smtClean="0">
                <a:latin typeface="Times New Roman" panose="02020603050405020304" pitchFamily="18" charset="0"/>
                <a:cs typeface="Times New Roman" panose="02020603050405020304" pitchFamily="18" charset="0"/>
                <a:sym typeface="Wingdings" panose="05000000000000000000" pitchFamily="2" charset="2"/>
              </a:rPr>
              <a:t> </a:t>
            </a:r>
            <a:r>
              <a:rPr lang="fr-FR" dirty="0" err="1" smtClean="0">
                <a:latin typeface="Times New Roman" panose="02020603050405020304" pitchFamily="18" charset="0"/>
                <a:cs typeface="Times New Roman" panose="02020603050405020304" pitchFamily="18" charset="0"/>
                <a:sym typeface="Wingdings" panose="05000000000000000000" pitchFamily="2" charset="2"/>
              </a:rPr>
              <a:t>space</a:t>
            </a:r>
            <a:endParaRPr lang="fr-FR" dirty="0" smtClean="0">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Upper process memory area divided in part reserved for the system </a:t>
            </a:r>
            <a:r>
              <a:rPr lang="en-US" dirty="0" smtClean="0">
                <a:latin typeface="Times New Roman" panose="02020603050405020304" pitchFamily="18" charset="0"/>
                <a:cs typeface="Times New Roman" panose="02020603050405020304" pitchFamily="18" charset="0"/>
                <a:sym typeface="Wingdings" panose="05000000000000000000" pitchFamily="2" charset="2"/>
              </a:rPr>
              <a:t></a:t>
            </a:r>
            <a:r>
              <a:rPr lang="en-US" dirty="0" smtClean="0">
                <a:latin typeface="Times New Roman" panose="02020603050405020304" pitchFamily="18" charset="0"/>
                <a:cs typeface="Times New Roman" panose="02020603050405020304" pitchFamily="18" charset="0"/>
              </a:rPr>
              <a:t> u-dote </a:t>
            </a:r>
            <a:r>
              <a:rPr lang="en-US" dirty="0">
                <a:latin typeface="Times New Roman" panose="02020603050405020304" pitchFamily="18" charset="0"/>
                <a:cs typeface="Times New Roman" panose="02020603050405020304" pitchFamily="18" charset="0"/>
              </a:rPr>
              <a:t>area </a:t>
            </a:r>
            <a:r>
              <a:rPr lang="en-US" dirty="0" smtClean="0">
                <a:latin typeface="Times New Roman" panose="02020603050405020304" pitchFamily="18" charset="0"/>
                <a:cs typeface="Times New Roman" panose="02020603050405020304" pitchFamily="18" charset="0"/>
              </a:rPr>
              <a:t>(denoted by u)</a:t>
            </a:r>
            <a:endParaRPr lang="fr-FR" dirty="0" smtClean="0">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endParaRPr lang="fr-FR" dirty="0" smtClean="0">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3"/>
          <a:srcRect l="2" t="36512" r="-1240" b="6835"/>
          <a:stretch/>
        </p:blipFill>
        <p:spPr>
          <a:xfrm>
            <a:off x="0" y="1730375"/>
            <a:ext cx="4667250" cy="1600201"/>
          </a:xfrm>
          <a:prstGeom prst="rect">
            <a:avLst/>
          </a:prstGeom>
        </p:spPr>
      </p:pic>
    </p:spTree>
    <p:extLst>
      <p:ext uri="{BB962C8B-B14F-4D97-AF65-F5344CB8AC3E}">
        <p14:creationId xmlns:p14="http://schemas.microsoft.com/office/powerpoint/2010/main" val="17596028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smtClean="0">
                <a:latin typeface="Times New Roman" panose="02020603050405020304" pitchFamily="18" charset="0"/>
                <a:cs typeface="Times New Roman" panose="02020603050405020304" pitchFamily="18" charset="0"/>
              </a:rPr>
              <a:t>Descriptor</a:t>
            </a:r>
            <a:r>
              <a:rPr lang="fr-FR" dirty="0" smtClean="0">
                <a:latin typeface="Times New Roman" panose="02020603050405020304" pitchFamily="18" charset="0"/>
                <a:cs typeface="Times New Roman" panose="02020603050405020304" pitchFamily="18" charset="0"/>
              </a:rPr>
              <a:t>-i-</a:t>
            </a:r>
            <a:r>
              <a:rPr lang="fr-FR" dirty="0" err="1" smtClean="0">
                <a:latin typeface="Times New Roman" panose="02020603050405020304" pitchFamily="18" charset="0"/>
                <a:cs typeface="Times New Roman" panose="02020603050405020304" pitchFamily="18" charset="0"/>
              </a:rPr>
              <a:t>node</a:t>
            </a:r>
            <a:endParaRPr lang="fr-F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Ø"/>
            </a:pPr>
            <a:r>
              <a:rPr lang="fr-FR" dirty="0" smtClean="0">
                <a:latin typeface="Times New Roman" panose="02020603050405020304" pitchFamily="18" charset="0"/>
                <a:cs typeface="Times New Roman" panose="02020603050405020304" pitchFamily="18" charset="0"/>
              </a:rPr>
              <a:t>File </a:t>
            </a:r>
            <a:r>
              <a:rPr lang="fr-FR" dirty="0" err="1" smtClean="0">
                <a:latin typeface="Times New Roman" panose="02020603050405020304" pitchFamily="18" charset="0"/>
                <a:cs typeface="Times New Roman" panose="02020603050405020304" pitchFamily="18" charset="0"/>
              </a:rPr>
              <a:t>descriptor</a:t>
            </a:r>
            <a:r>
              <a:rPr lang="fr-FR" dirty="0" smtClean="0">
                <a:latin typeface="Times New Roman" panose="02020603050405020304" pitchFamily="18" charset="0"/>
                <a:cs typeface="Times New Roman" panose="02020603050405020304" pitchFamily="18" charset="0"/>
              </a:rPr>
              <a:t>: index in a pointer table </a:t>
            </a:r>
            <a:r>
              <a:rPr lang="fr-FR" dirty="0" smtClean="0">
                <a:latin typeface="Times New Roman" panose="02020603050405020304" pitchFamily="18" charset="0"/>
                <a:cs typeface="Times New Roman" panose="02020603050405020304" pitchFamily="18" charset="0"/>
                <a:sym typeface="Wingdings" panose="05000000000000000000" pitchFamily="2" charset="2"/>
              </a:rPr>
              <a:t></a:t>
            </a:r>
            <a:r>
              <a:rPr lang="fr-FR" dirty="0" smtClean="0">
                <a:latin typeface="Times New Roman" panose="02020603050405020304" pitchFamily="18" charset="0"/>
                <a:cs typeface="Times New Roman" panose="02020603050405020304" pitchFamily="18" charset="0"/>
              </a:rPr>
              <a:t> Open files table</a:t>
            </a:r>
            <a:r>
              <a:rPr lang="fr-FR" dirty="0" smtClean="0">
                <a:latin typeface="Times New Roman" panose="02020603050405020304" pitchFamily="18" charset="0"/>
                <a:cs typeface="Times New Roman" panose="02020603050405020304" pitchFamily="18" charset="0"/>
                <a:sym typeface="Wingdings" panose="05000000000000000000" pitchFamily="2" charset="2"/>
              </a:rPr>
              <a:t> table of </a:t>
            </a:r>
            <a:r>
              <a:rPr lang="fr-FR"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i-</a:t>
            </a:r>
            <a:r>
              <a:rPr lang="fr-FR" dirty="0" err="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node</a:t>
            </a:r>
            <a:r>
              <a:rPr lang="fr-FR" dirty="0" smtClean="0">
                <a:latin typeface="Times New Roman" panose="02020603050405020304" pitchFamily="18" charset="0"/>
                <a:cs typeface="Times New Roman" panose="02020603050405020304" pitchFamily="18" charset="0"/>
                <a:sym typeface="Wingdings" panose="05000000000000000000" pitchFamily="2" charset="2"/>
              </a:rPr>
              <a:t> of open files </a:t>
            </a:r>
          </a:p>
          <a:p>
            <a:pPr>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endParaRPr lang="fr-FR" dirty="0" smtClean="0">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endParaRPr lang="fr-FR" dirty="0" smtClean="0">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endParaRPr lang="fr-FR" dirty="0" smtClean="0">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r>
              <a:rPr lang="fr-FR" dirty="0" smtClean="0">
                <a:solidFill>
                  <a:srgbClr val="FF0000"/>
                </a:solidFill>
                <a:latin typeface="Times New Roman" panose="02020603050405020304" pitchFamily="18" charset="0"/>
                <a:cs typeface="Times New Roman" panose="02020603050405020304" pitchFamily="18" charset="0"/>
              </a:rPr>
              <a:t>i-</a:t>
            </a:r>
            <a:r>
              <a:rPr lang="fr-FR" dirty="0" err="1" smtClean="0">
                <a:solidFill>
                  <a:srgbClr val="FF0000"/>
                </a:solidFill>
                <a:latin typeface="Times New Roman" panose="02020603050405020304" pitchFamily="18" charset="0"/>
                <a:cs typeface="Times New Roman" panose="02020603050405020304" pitchFamily="18" charset="0"/>
              </a:rPr>
              <a:t>node</a:t>
            </a:r>
            <a:r>
              <a:rPr lang="fr-FR" dirty="0" smtClean="0">
                <a:solidFill>
                  <a:srgbClr val="FF0000"/>
                </a:solidFill>
                <a:latin typeface="Times New Roman" panose="02020603050405020304" pitchFamily="18" charset="0"/>
                <a:cs typeface="Times New Roman" panose="02020603050405020304" pitchFamily="18" charset="0"/>
              </a:rPr>
              <a:t>/i-nœud </a:t>
            </a:r>
          </a:p>
          <a:p>
            <a:pPr>
              <a:buFont typeface="Wingdings" panose="05000000000000000000" pitchFamily="2" charset="2"/>
              <a:buChar char="Ø"/>
            </a:pPr>
            <a:r>
              <a:rPr lang="fr-FR" dirty="0" smtClean="0">
                <a:solidFill>
                  <a:schemeClr val="tx1"/>
                </a:solidFill>
                <a:latin typeface="Times New Roman" panose="02020603050405020304" pitchFamily="18" charset="0"/>
                <a:cs typeface="Times New Roman" panose="02020603050405020304" pitchFamily="18" charset="0"/>
              </a:rPr>
              <a:t>« information </a:t>
            </a:r>
            <a:r>
              <a:rPr lang="fr-FR" dirty="0" err="1" smtClean="0">
                <a:solidFill>
                  <a:schemeClr val="tx1"/>
                </a:solidFill>
                <a:latin typeface="Times New Roman" panose="02020603050405020304" pitchFamily="18" charset="0"/>
                <a:cs typeface="Times New Roman" panose="02020603050405020304" pitchFamily="18" charset="0"/>
              </a:rPr>
              <a:t>node</a:t>
            </a:r>
            <a:r>
              <a:rPr lang="fr-FR" dirty="0" smtClean="0">
                <a:solidFill>
                  <a:schemeClr val="tx1"/>
                </a:solidFill>
                <a:latin typeface="Times New Roman" panose="02020603050405020304" pitchFamily="18" charset="0"/>
                <a:cs typeface="Times New Roman" panose="02020603050405020304" pitchFamily="18" charset="0"/>
              </a:rPr>
              <a:t> </a:t>
            </a:r>
            <a:r>
              <a:rPr lang="fr-FR" dirty="0">
                <a:solidFill>
                  <a:schemeClr val="tx1"/>
                </a:solidFill>
                <a:latin typeface="Times New Roman" panose="02020603050405020304" pitchFamily="18" charset="0"/>
                <a:cs typeface="Times New Roman" panose="02020603050405020304" pitchFamily="18" charset="0"/>
              </a:rPr>
              <a:t>»- file management system </a:t>
            </a:r>
            <a:r>
              <a:rPr lang="fr-FR" dirty="0" smtClean="0">
                <a:solidFill>
                  <a:schemeClr val="tx1"/>
                </a:solidFill>
                <a:latin typeface="Times New Roman" panose="02020603050405020304" pitchFamily="18" charset="0"/>
                <a:cs typeface="Times New Roman" panose="02020603050405020304" pitchFamily="18" charset="0"/>
              </a:rPr>
              <a:t>data structure </a:t>
            </a:r>
            <a:r>
              <a:rPr lang="fr-FR" dirty="0" err="1" smtClean="0">
                <a:solidFill>
                  <a:schemeClr val="tx1"/>
                </a:solidFill>
                <a:latin typeface="Times New Roman" panose="02020603050405020304" pitchFamily="18" charset="0"/>
                <a:cs typeface="Times New Roman" panose="02020603050405020304" pitchFamily="18" charset="0"/>
              </a:rPr>
              <a:t>which</a:t>
            </a:r>
            <a:r>
              <a:rPr lang="fr-FR" dirty="0" smtClean="0">
                <a:solidFill>
                  <a:schemeClr val="tx1"/>
                </a:solidFill>
                <a:latin typeface="Times New Roman" panose="02020603050405020304" pitchFamily="18" charset="0"/>
                <a:cs typeface="Times New Roman" panose="02020603050405020304" pitchFamily="18" charset="0"/>
              </a:rPr>
              <a:t>  </a:t>
            </a:r>
            <a:r>
              <a:rPr lang="fr-FR" dirty="0" err="1" smtClean="0">
                <a:solidFill>
                  <a:schemeClr val="tx1"/>
                </a:solidFill>
                <a:latin typeface="Times New Roman" panose="02020603050405020304" pitchFamily="18" charset="0"/>
                <a:cs typeface="Times New Roman" panose="02020603050405020304" pitchFamily="18" charset="0"/>
              </a:rPr>
              <a:t>gather</a:t>
            </a:r>
            <a:r>
              <a:rPr lang="fr-FR" dirty="0" smtClean="0">
                <a:solidFill>
                  <a:schemeClr val="tx1"/>
                </a:solidFill>
                <a:latin typeface="Times New Roman" panose="02020603050405020304" pitchFamily="18" charset="0"/>
                <a:cs typeface="Times New Roman" panose="02020603050405020304" pitchFamily="18" charset="0"/>
              </a:rPr>
              <a:t>  information about the file.</a:t>
            </a:r>
            <a:endParaRPr lang="fr-FR"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l="4958" t="26798" r="2067" b="19604"/>
          <a:stretch/>
        </p:blipFill>
        <p:spPr>
          <a:xfrm>
            <a:off x="95250" y="1196975"/>
            <a:ext cx="4286250" cy="1219200"/>
          </a:xfrm>
          <a:prstGeom prst="rect">
            <a:avLst/>
          </a:prstGeom>
        </p:spPr>
      </p:pic>
    </p:spTree>
    <p:extLst>
      <p:ext uri="{BB962C8B-B14F-4D97-AF65-F5344CB8AC3E}">
        <p14:creationId xmlns:p14="http://schemas.microsoft.com/office/powerpoint/2010/main" val="16369847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latin typeface="Times New Roman" panose="02020603050405020304" pitchFamily="18" charset="0"/>
                <a:cs typeface="Times New Roman" panose="02020603050405020304" pitchFamily="18" charset="0"/>
              </a:rPr>
              <a:t>W</a:t>
            </a:r>
            <a:r>
              <a:rPr lang="fr-FR" dirty="0" err="1" smtClean="0">
                <a:latin typeface="Times New Roman" panose="02020603050405020304" pitchFamily="18" charset="0"/>
                <a:cs typeface="Times New Roman" panose="02020603050405020304" pitchFamily="18" charset="0"/>
              </a:rPr>
              <a:t>hat</a:t>
            </a: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information </a:t>
            </a:r>
            <a:r>
              <a:rPr lang="fr-FR" dirty="0" err="1">
                <a:latin typeface="Times New Roman" panose="02020603050405020304" pitchFamily="18" charset="0"/>
                <a:cs typeface="Times New Roman" panose="02020603050405020304" pitchFamily="18" charset="0"/>
              </a:rPr>
              <a:t>goes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where</a:t>
            </a:r>
            <a:r>
              <a:rPr lang="fr-FR"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Unique, global information at the file level independent of processes and openings except its directory </a:t>
            </a:r>
            <a:r>
              <a:rPr lang="en-US" dirty="0" smtClean="0">
                <a:latin typeface="Times New Roman" panose="02020603050405020304" pitchFamily="18" charset="0"/>
                <a:cs typeface="Times New Roman" panose="02020603050405020304" pitchFamily="18" charset="0"/>
              </a:rPr>
              <a:t>name :</a:t>
            </a: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dates </a:t>
            </a:r>
            <a:r>
              <a:rPr lang="en-US" dirty="0">
                <a:latin typeface="Times New Roman" panose="02020603050405020304" pitchFamily="18" charset="0"/>
                <a:cs typeface="Times New Roman" panose="02020603050405020304" pitchFamily="18" charset="0"/>
              </a:rPr>
              <a:t>of: creation, last access, last modification of the file and its attributes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access </a:t>
            </a:r>
            <a:r>
              <a:rPr lang="en-US" dirty="0">
                <a:latin typeface="Times New Roman" panose="02020603050405020304" pitchFamily="18" charset="0"/>
                <a:cs typeface="Times New Roman" panose="02020603050405020304" pitchFamily="18" charset="0"/>
              </a:rPr>
              <a:t>rights, file type, device where the file resides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File </a:t>
            </a:r>
            <a:r>
              <a:rPr lang="en-US" dirty="0">
                <a:latin typeface="Times New Roman" panose="02020603050405020304" pitchFamily="18" charset="0"/>
                <a:cs typeface="Times New Roman" panose="02020603050405020304" pitchFamily="18" charset="0"/>
              </a:rPr>
              <a:t>size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number of links to the file, etc.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Relevant </a:t>
            </a:r>
            <a:r>
              <a:rPr lang="en-US" dirty="0">
                <a:latin typeface="Times New Roman" panose="02020603050405020304" pitchFamily="18" charset="0"/>
                <a:cs typeface="Times New Roman" panose="02020603050405020304" pitchFamily="18" charset="0"/>
              </a:rPr>
              <a:t>information for an "opening session" (call to open)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opening </a:t>
            </a:r>
            <a:r>
              <a:rPr lang="en-US" dirty="0">
                <a:latin typeface="Times New Roman" panose="02020603050405020304" pitchFamily="18" charset="0"/>
                <a:cs typeface="Times New Roman" panose="02020603050405020304" pitchFamily="18" charset="0"/>
              </a:rPr>
              <a:t>mode (read, write, etc.),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flags </a:t>
            </a:r>
            <a:r>
              <a:rPr lang="en-US" dirty="0">
                <a:latin typeface="Times New Roman" panose="02020603050405020304" pitchFamily="18" charset="0"/>
                <a:cs typeface="Times New Roman" panose="02020603050405020304" pitchFamily="18" charset="0"/>
              </a:rPr>
              <a:t>(status close-</a:t>
            </a:r>
            <a:r>
              <a:rPr lang="en-US" dirty="0" err="1">
                <a:latin typeface="Times New Roman" panose="02020603050405020304" pitchFamily="18" charset="0"/>
                <a:cs typeface="Times New Roman" panose="02020603050405020304" pitchFamily="18" charset="0"/>
              </a:rPr>
              <a:t>en</a:t>
            </a:r>
            <a:r>
              <a:rPr lang="en-US" dirty="0">
                <a:latin typeface="Times New Roman" panose="02020603050405020304" pitchFamily="18" charset="0"/>
                <a:cs typeface="Times New Roman" panose="02020603050405020304" pitchFamily="18" charset="0"/>
              </a:rPr>
              <a:t>-exec)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Current </a:t>
            </a:r>
            <a:r>
              <a:rPr lang="en-US" dirty="0">
                <a:latin typeface="Times New Roman" panose="02020603050405020304" pitchFamily="18" charset="0"/>
                <a:cs typeface="Times New Roman" panose="02020603050405020304" pitchFamily="18" charset="0"/>
              </a:rPr>
              <a:t>read / write position: </a:t>
            </a:r>
            <a:r>
              <a:rPr lang="en-US" dirty="0" smtClean="0">
                <a:latin typeface="Times New Roman" panose="02020603050405020304" pitchFamily="18" charset="0"/>
                <a:cs typeface="Times New Roman" panose="02020603050405020304" pitchFamily="18" charset="0"/>
              </a:rPr>
              <a:t>offset</a:t>
            </a:r>
          </a:p>
          <a:p>
            <a:pPr lvl="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Locks The number of descriptors</a:t>
            </a:r>
            <a:endParaRPr lang="fr-FR"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02846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latin typeface="Times New Roman" panose="02020603050405020304" pitchFamily="18" charset="0"/>
                <a:cs typeface="Times New Roman" panose="02020603050405020304" pitchFamily="18" charset="0"/>
              </a:rPr>
              <a:t>I-</a:t>
            </a:r>
            <a:r>
              <a:rPr lang="fr-FR" dirty="0" err="1">
                <a:latin typeface="Times New Roman" panose="02020603050405020304" pitchFamily="18" charset="0"/>
                <a:cs typeface="Times New Roman" panose="02020603050405020304" pitchFamily="18" charset="0"/>
              </a:rPr>
              <a:t>node</a:t>
            </a:r>
            <a:r>
              <a:rPr lang="fr-FR" dirty="0">
                <a:latin typeface="Times New Roman" panose="02020603050405020304" pitchFamily="18" charset="0"/>
                <a:cs typeface="Times New Roman" panose="02020603050405020304" pitchFamily="18" charset="0"/>
              </a:rPr>
              <a:t> block table</a:t>
            </a:r>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en-US" sz="1100" dirty="0">
                <a:latin typeface="Times New Roman" panose="02020603050405020304" pitchFamily="18" charset="0"/>
                <a:cs typeface="Times New Roman" panose="02020603050405020304" pitchFamily="18" charset="0"/>
              </a:rPr>
              <a:t>the first 12 point </a:t>
            </a:r>
            <a:r>
              <a:rPr lang="en-US" sz="1100" dirty="0" smtClean="0">
                <a:latin typeface="Times New Roman" panose="02020603050405020304" pitchFamily="18" charset="0"/>
                <a:cs typeface="Times New Roman" panose="02020603050405020304" pitchFamily="18" charset="0"/>
              </a:rPr>
              <a:t>directly to the corresponding bloc</a:t>
            </a:r>
          </a:p>
          <a:p>
            <a:pPr>
              <a:buFont typeface="Wingdings" panose="05000000000000000000" pitchFamily="2" charset="2"/>
              <a:buChar char="Ø"/>
            </a:pPr>
            <a:r>
              <a:rPr lang="en-US" sz="1100" dirty="0">
                <a:latin typeface="Times New Roman" panose="02020603050405020304" pitchFamily="18" charset="0"/>
                <a:cs typeface="Times New Roman" panose="02020603050405020304" pitchFamily="18" charset="0"/>
              </a:rPr>
              <a:t>the </a:t>
            </a:r>
            <a:r>
              <a:rPr lang="en-US" sz="1100" dirty="0" smtClean="0">
                <a:latin typeface="Times New Roman" panose="02020603050405020304" pitchFamily="18" charset="0"/>
                <a:cs typeface="Times New Roman" panose="02020603050405020304" pitchFamily="18" charset="0"/>
              </a:rPr>
              <a:t>3 others </a:t>
            </a:r>
            <a:r>
              <a:rPr lang="en-US" sz="1100" dirty="0">
                <a:latin typeface="Times New Roman" panose="02020603050405020304" pitchFamily="18" charset="0"/>
                <a:cs typeface="Times New Roman" panose="02020603050405020304" pitchFamily="18" charset="0"/>
              </a:rPr>
              <a:t>point to blocks themselves contain block tables </a:t>
            </a:r>
            <a:endParaRPr lang="en-US" sz="11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100" dirty="0" smtClean="0">
                <a:latin typeface="Times New Roman" panose="02020603050405020304" pitchFamily="18" charset="0"/>
                <a:cs typeface="Times New Roman" panose="02020603050405020304" pitchFamily="18" charset="0"/>
              </a:rPr>
              <a:t>the </a:t>
            </a:r>
            <a:r>
              <a:rPr lang="en-US" sz="1100" dirty="0">
                <a:latin typeface="Times New Roman" panose="02020603050405020304" pitchFamily="18" charset="0"/>
                <a:cs typeface="Times New Roman" panose="02020603050405020304" pitchFamily="18" charset="0"/>
              </a:rPr>
              <a:t>other 3 point to blocks themselves contain tables of blocks tree structure at several levels with x&gt; 256 pointers</a:t>
            </a:r>
            <a:endParaRPr lang="en-US" sz="11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1100" dirty="0">
                <a:latin typeface="Times New Roman" panose="02020603050405020304" pitchFamily="18" charset="0"/>
                <a:cs typeface="Times New Roman" panose="02020603050405020304" pitchFamily="18" charset="0"/>
              </a:rPr>
              <a:t>entry number 12 on an entry table - pointers on data </a:t>
            </a:r>
            <a:r>
              <a:rPr lang="en-US" sz="1100" dirty="0" err="1">
                <a:latin typeface="Times New Roman" panose="02020603050405020304" pitchFamily="18" charset="0"/>
                <a:cs typeface="Times New Roman" panose="02020603050405020304" pitchFamily="18" charset="0"/>
              </a:rPr>
              <a:t>bocs</a:t>
            </a:r>
            <a:r>
              <a:rPr lang="en-US" sz="1100" dirty="0">
                <a:latin typeface="Times New Roman" panose="02020603050405020304" pitchFamily="18" charset="0"/>
                <a:cs typeface="Times New Roman" panose="02020603050405020304" pitchFamily="18" charset="0"/>
              </a:rPr>
              <a:t> -&gt; x </a:t>
            </a:r>
            <a:r>
              <a:rPr lang="en-US" sz="1100" dirty="0" smtClean="0">
                <a:latin typeface="Times New Roman" panose="02020603050405020304" pitchFamily="18" charset="0"/>
                <a:cs typeface="Times New Roman" panose="02020603050405020304" pitchFamily="18" charset="0"/>
              </a:rPr>
              <a:t>blocks</a:t>
            </a:r>
          </a:p>
          <a:p>
            <a:pPr lvl="1">
              <a:buFont typeface="Wingdings" panose="05000000000000000000" pitchFamily="2" charset="2"/>
              <a:buChar char="Ø"/>
            </a:pPr>
            <a:r>
              <a:rPr lang="en-US" sz="1100" dirty="0">
                <a:latin typeface="Times New Roman" panose="02020603050405020304" pitchFamily="18" charset="0"/>
                <a:cs typeface="Times New Roman" panose="02020603050405020304" pitchFamily="18" charset="0"/>
              </a:rPr>
              <a:t>entry number 13 on an entry table -pointers on </a:t>
            </a:r>
            <a:r>
              <a:rPr lang="en-US" sz="1100" dirty="0" smtClean="0">
                <a:latin typeface="Times New Roman" panose="02020603050405020304" pitchFamily="18" charset="0"/>
                <a:cs typeface="Times New Roman" panose="02020603050405020304" pitchFamily="18" charset="0"/>
              </a:rPr>
              <a:t>blocs </a:t>
            </a:r>
            <a:r>
              <a:rPr lang="en-US" sz="1100" dirty="0">
                <a:latin typeface="Times New Roman" panose="02020603050405020304" pitchFamily="18" charset="0"/>
                <a:cs typeface="Times New Roman" panose="02020603050405020304" pitchFamily="18" charset="0"/>
              </a:rPr>
              <a:t>containing block tables with pointers on data blocks -&gt; x</a:t>
            </a:r>
            <a:r>
              <a:rPr lang="en-US" sz="1100" baseline="30000" dirty="0">
                <a:latin typeface="Times New Roman" panose="02020603050405020304" pitchFamily="18" charset="0"/>
                <a:cs typeface="Times New Roman" panose="02020603050405020304" pitchFamily="18" charset="0"/>
              </a:rPr>
              <a:t>2</a:t>
            </a:r>
            <a:r>
              <a:rPr lang="en-US" sz="1100" dirty="0">
                <a:latin typeface="Times New Roman" panose="02020603050405020304" pitchFamily="18" charset="0"/>
                <a:cs typeface="Times New Roman" panose="02020603050405020304" pitchFamily="18" charset="0"/>
              </a:rPr>
              <a:t> </a:t>
            </a:r>
            <a:r>
              <a:rPr lang="en-US" sz="1100" dirty="0" smtClean="0">
                <a:latin typeface="Times New Roman" panose="02020603050405020304" pitchFamily="18" charset="0"/>
                <a:cs typeface="Times New Roman" panose="02020603050405020304" pitchFamily="18" charset="0"/>
              </a:rPr>
              <a:t>blocks</a:t>
            </a:r>
          </a:p>
          <a:p>
            <a:pPr lvl="1">
              <a:buFont typeface="Wingdings" panose="05000000000000000000" pitchFamily="2" charset="2"/>
              <a:buChar char="Ø"/>
            </a:pPr>
            <a:r>
              <a:rPr lang="en-US" sz="1100" dirty="0">
                <a:latin typeface="Times New Roman" panose="02020603050405020304" pitchFamily="18" charset="0"/>
                <a:cs typeface="Times New Roman" panose="02020603050405020304" pitchFamily="18" charset="0"/>
              </a:rPr>
              <a:t>entry number 14 on an entry table - pointers to </a:t>
            </a:r>
            <a:r>
              <a:rPr lang="en-US" sz="1100" dirty="0" err="1">
                <a:latin typeface="Times New Roman" panose="02020603050405020304" pitchFamily="18" charset="0"/>
                <a:cs typeface="Times New Roman" panose="02020603050405020304" pitchFamily="18" charset="0"/>
              </a:rPr>
              <a:t>bocs</a:t>
            </a:r>
            <a:r>
              <a:rPr lang="en-US" sz="1100" dirty="0">
                <a:latin typeface="Times New Roman" panose="02020603050405020304" pitchFamily="18" charset="0"/>
                <a:cs typeface="Times New Roman" panose="02020603050405020304" pitchFamily="18" charset="0"/>
              </a:rPr>
              <a:t> containing block tables with pointers to block tables with pointers to data blocks -&gt; </a:t>
            </a:r>
            <a:r>
              <a:rPr lang="en-US" sz="1100" dirty="0" smtClean="0">
                <a:latin typeface="Times New Roman" panose="02020603050405020304" pitchFamily="18" charset="0"/>
                <a:cs typeface="Times New Roman" panose="02020603050405020304" pitchFamily="18" charset="0"/>
              </a:rPr>
              <a:t>x</a:t>
            </a:r>
            <a:r>
              <a:rPr lang="en-US" sz="1100" baseline="30000" dirty="0" smtClean="0">
                <a:latin typeface="Times New Roman" panose="02020603050405020304" pitchFamily="18" charset="0"/>
                <a:cs typeface="Times New Roman" panose="02020603050405020304" pitchFamily="18" charset="0"/>
              </a:rPr>
              <a:t>3</a:t>
            </a:r>
            <a:r>
              <a:rPr lang="en-US" sz="1100" dirty="0" smtClean="0">
                <a:latin typeface="Times New Roman" panose="02020603050405020304" pitchFamily="18" charset="0"/>
                <a:cs typeface="Times New Roman" panose="02020603050405020304" pitchFamily="18" charset="0"/>
              </a:rPr>
              <a:t> </a:t>
            </a:r>
            <a:r>
              <a:rPr lang="en-US" sz="1100" dirty="0">
                <a:latin typeface="Times New Roman" panose="02020603050405020304" pitchFamily="18" charset="0"/>
                <a:cs typeface="Times New Roman" panose="02020603050405020304" pitchFamily="18" charset="0"/>
              </a:rPr>
              <a:t>blocks</a:t>
            </a:r>
            <a:endParaRPr lang="en-US" sz="11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en-US" sz="1100" dirty="0" smtClean="0">
              <a:latin typeface="Times New Roman" panose="02020603050405020304" pitchFamily="18" charset="0"/>
              <a:cs typeface="Times New Roman" panose="02020603050405020304" pitchFamily="18" charset="0"/>
            </a:endParaRPr>
          </a:p>
          <a:p>
            <a:endParaRPr lang="fr-FR"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66627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latin typeface="Times New Roman" panose="02020603050405020304" pitchFamily="18" charset="0"/>
                <a:cs typeface="Times New Roman" panose="02020603050405020304" pitchFamily="18" charset="0"/>
              </a:rPr>
              <a:t>Block table</a:t>
            </a:r>
          </a:p>
        </p:txBody>
      </p:sp>
      <p:sp>
        <p:nvSpPr>
          <p:cNvPr id="3" name="Content Placeholder 2"/>
          <p:cNvSpPr>
            <a:spLocks noGrp="1"/>
          </p:cNvSpPr>
          <p:nvPr>
            <p:ph idx="1"/>
          </p:nvPr>
        </p:nvSpPr>
        <p:spPr/>
        <p:txBody>
          <a:bodyPr/>
          <a:lstStyle/>
          <a:p>
            <a:r>
              <a:rPr lang="fr-FR" dirty="0" smtClean="0">
                <a:latin typeface="Times New Roman" panose="02020603050405020304" pitchFamily="18" charset="0"/>
                <a:cs typeface="Times New Roman" panose="02020603050405020304" pitchFamily="18" charset="0"/>
              </a:rPr>
              <a:t>Bloc Size=4kb, </a:t>
            </a:r>
            <a:r>
              <a:rPr lang="fr-FR" dirty="0" err="1" smtClean="0">
                <a:latin typeface="Times New Roman" panose="02020603050405020304" pitchFamily="18" charset="0"/>
                <a:cs typeface="Times New Roman" panose="02020603050405020304" pitchFamily="18" charset="0"/>
              </a:rPr>
              <a:t>Addresse</a:t>
            </a:r>
            <a:r>
              <a:rPr lang="fr-FR" dirty="0" smtClean="0">
                <a:latin typeface="Times New Roman" panose="02020603050405020304" pitchFamily="18" charset="0"/>
                <a:cs typeface="Times New Roman" panose="02020603050405020304" pitchFamily="18" charset="0"/>
              </a:rPr>
              <a:t> on 32bits=4bytes: x=1024</a:t>
            </a:r>
          </a:p>
          <a:p>
            <a:r>
              <a:rPr lang="fr-FR" dirty="0" smtClean="0">
                <a:latin typeface="Times New Roman" panose="02020603050405020304" pitchFamily="18" charset="0"/>
                <a:cs typeface="Times New Roman" panose="02020603050405020304" pitchFamily="18" charset="0"/>
              </a:rPr>
              <a:t>File maximum size on UNX: 4096(10+1024+1024</a:t>
            </a:r>
            <a:r>
              <a:rPr lang="fr-FR" baseline="30000" dirty="0">
                <a:latin typeface="Times New Roman" panose="02020603050405020304" pitchFamily="18" charset="0"/>
                <a:cs typeface="Times New Roman" panose="02020603050405020304" pitchFamily="18" charset="0"/>
              </a:rPr>
              <a:t>2</a:t>
            </a:r>
            <a:r>
              <a:rPr lang="fr-FR" dirty="0" smtClean="0">
                <a:latin typeface="Times New Roman" panose="02020603050405020304" pitchFamily="18" charset="0"/>
                <a:cs typeface="Times New Roman" panose="02020603050405020304" pitchFamily="18" charset="0"/>
              </a:rPr>
              <a:t>+1024</a:t>
            </a:r>
            <a:r>
              <a:rPr lang="fr-FR" baseline="30000" dirty="0" smtClean="0">
                <a:latin typeface="Times New Roman" panose="02020603050405020304" pitchFamily="18" charset="0"/>
                <a:cs typeface="Times New Roman" panose="02020603050405020304" pitchFamily="18" charset="0"/>
              </a:rPr>
              <a:t>3</a:t>
            </a:r>
            <a:r>
              <a:rPr lang="fr-FR" dirty="0" smtClean="0">
                <a:latin typeface="Times New Roman" panose="02020603050405020304" pitchFamily="18" charset="0"/>
                <a:cs typeface="Times New Roman" panose="02020603050405020304" pitchFamily="18" charset="0"/>
              </a:rPr>
              <a:t>)</a:t>
            </a:r>
            <a:r>
              <a:rPr lang="fr-FR" dirty="0" smtClean="0">
                <a:latin typeface="Times New Roman" panose="02020603050405020304" pitchFamily="18" charset="0"/>
                <a:cs typeface="Times New Roman" panose="02020603050405020304" pitchFamily="18" charset="0"/>
                <a:sym typeface="Symbol" panose="05050102010706020507" pitchFamily="18" charset="2"/>
              </a:rPr>
              <a:t>4TO</a:t>
            </a:r>
            <a:endParaRPr lang="fr-FR"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l="11570" t="17802" r="4131" b="-862"/>
          <a:stretch/>
        </p:blipFill>
        <p:spPr>
          <a:xfrm>
            <a:off x="398790" y="1349375"/>
            <a:ext cx="3886200" cy="1879146"/>
          </a:xfrm>
          <a:prstGeom prst="rect">
            <a:avLst/>
          </a:prstGeom>
        </p:spPr>
      </p:pic>
    </p:spTree>
    <p:extLst>
      <p:ext uri="{BB962C8B-B14F-4D97-AF65-F5344CB8AC3E}">
        <p14:creationId xmlns:p14="http://schemas.microsoft.com/office/powerpoint/2010/main" val="26041631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500" dirty="0">
                <a:latin typeface="Times New Roman" panose="02020603050405020304" pitchFamily="18" charset="0"/>
                <a:cs typeface="Times New Roman" panose="02020603050405020304" pitchFamily="18" charset="0"/>
              </a:rPr>
              <a:t>Information on a file according to the </a:t>
            </a:r>
            <a:r>
              <a:rPr lang="en-US" sz="2500" dirty="0" err="1">
                <a:latin typeface="Times New Roman" panose="02020603050405020304" pitchFamily="18" charset="0"/>
                <a:cs typeface="Times New Roman" panose="02020603050405020304" pitchFamily="18" charset="0"/>
              </a:rPr>
              <a:t>i</a:t>
            </a:r>
            <a:r>
              <a:rPr lang="en-US" sz="2500" dirty="0">
                <a:latin typeface="Times New Roman" panose="02020603050405020304" pitchFamily="18" charset="0"/>
                <a:cs typeface="Times New Roman" panose="02020603050405020304" pitchFamily="18" charset="0"/>
              </a:rPr>
              <a:t>-node</a:t>
            </a:r>
            <a:endParaRPr lang="fr-FR" sz="25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l="10331" t="16443" r="2066" b="3536"/>
          <a:stretch/>
        </p:blipFill>
        <p:spPr>
          <a:xfrm>
            <a:off x="297275" y="815975"/>
            <a:ext cx="4038600" cy="2362200"/>
          </a:xfrm>
          <a:prstGeom prst="rect">
            <a:avLst/>
          </a:prstGeom>
        </p:spPr>
      </p:pic>
    </p:spTree>
    <p:extLst>
      <p:ext uri="{BB962C8B-B14F-4D97-AF65-F5344CB8AC3E}">
        <p14:creationId xmlns:p14="http://schemas.microsoft.com/office/powerpoint/2010/main" val="14302674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3964"/>
            <a:ext cx="4499783" cy="218971"/>
          </a:xfrm>
          <a:prstGeom prst="rect">
            <a:avLst/>
          </a:prstGeom>
        </p:spPr>
        <p:txBody>
          <a:bodyPr wrap="square">
            <a:spAutoFit/>
          </a:bodyPr>
          <a:lstStyle/>
          <a:p>
            <a:r>
              <a:rPr lang="fr-FR" sz="823" dirty="0">
                <a:solidFill>
                  <a:srgbClr val="7030A0"/>
                </a:solidFill>
              </a:rPr>
              <a:t>La structure </a:t>
            </a:r>
            <a:r>
              <a:rPr lang="fr-FR" sz="823" b="1" dirty="0">
                <a:solidFill>
                  <a:srgbClr val="7030A0"/>
                </a:solidFill>
              </a:rPr>
              <a:t>stat </a:t>
            </a:r>
            <a:r>
              <a:rPr lang="fr-FR" sz="823" dirty="0">
                <a:solidFill>
                  <a:srgbClr val="7030A0"/>
                </a:solidFill>
              </a:rPr>
              <a:t>est définie par SUSv3 comme contenant les membres suivants :</a:t>
            </a:r>
            <a:endParaRPr lang="en-US" sz="823" dirty="0">
              <a:solidFill>
                <a:srgbClr val="7030A0"/>
              </a:solidFill>
            </a:endParaRPr>
          </a:p>
        </p:txBody>
      </p:sp>
      <p:graphicFrame>
        <p:nvGraphicFramePr>
          <p:cNvPr id="8" name="Table 7"/>
          <p:cNvGraphicFramePr>
            <a:graphicFrameLocks noGrp="1"/>
          </p:cNvGraphicFramePr>
          <p:nvPr>
            <p:extLst/>
          </p:nvPr>
        </p:nvGraphicFramePr>
        <p:xfrm>
          <a:off x="38553" y="232383"/>
          <a:ext cx="4701228" cy="3184102"/>
        </p:xfrm>
        <a:graphic>
          <a:graphicData uri="http://schemas.openxmlformats.org/drawingml/2006/table">
            <a:tbl>
              <a:tblPr firstRow="1" bandRow="1">
                <a:tableStyleId>{5C22544A-7EE6-4342-B048-85BDC9FD1C3A}</a:tableStyleId>
              </a:tblPr>
              <a:tblGrid>
                <a:gridCol w="511147"/>
                <a:gridCol w="440688"/>
                <a:gridCol w="3749393"/>
              </a:tblGrid>
              <a:tr h="169540">
                <a:tc>
                  <a:txBody>
                    <a:bodyPr/>
                    <a:lstStyle/>
                    <a:p>
                      <a:r>
                        <a:rPr lang="en-US" sz="800" dirty="0" smtClean="0"/>
                        <a:t>Nom</a:t>
                      </a:r>
                      <a:endParaRPr lang="en-US" sz="800" dirty="0"/>
                    </a:p>
                  </a:txBody>
                  <a:tcPr marL="41804" marR="41804" marT="20902" marB="20902"/>
                </a:tc>
                <a:tc>
                  <a:txBody>
                    <a:bodyPr/>
                    <a:lstStyle/>
                    <a:p>
                      <a:r>
                        <a:rPr lang="en-US" sz="800" dirty="0" smtClean="0"/>
                        <a:t>Type</a:t>
                      </a:r>
                      <a:endParaRPr lang="en-US" sz="800" dirty="0"/>
                    </a:p>
                  </a:txBody>
                  <a:tcPr marL="41804" marR="41804" marT="20902" marB="20902"/>
                </a:tc>
                <a:tc>
                  <a:txBody>
                    <a:bodyPr/>
                    <a:lstStyle/>
                    <a:p>
                      <a:r>
                        <a:rPr lang="en-US" sz="800" dirty="0" smtClean="0"/>
                        <a:t>Signification</a:t>
                      </a:r>
                      <a:endParaRPr lang="en-US" sz="800" dirty="0"/>
                    </a:p>
                  </a:txBody>
                  <a:tcPr marL="41804" marR="41804" marT="20902" marB="20902"/>
                </a:tc>
              </a:tr>
              <a:tr h="376240">
                <a:tc>
                  <a:txBody>
                    <a:bodyPr/>
                    <a:lstStyle/>
                    <a:p>
                      <a:r>
                        <a:rPr lang="en-US" sz="800" b="0" i="0" u="none" strike="noStrike" kern="1200" baseline="0" dirty="0" err="1" smtClean="0">
                          <a:solidFill>
                            <a:schemeClr val="dk1"/>
                          </a:solidFill>
                          <a:latin typeface="+mn-lt"/>
                          <a:ea typeface="+mn-ea"/>
                          <a:cs typeface="+mn-cs"/>
                        </a:rPr>
                        <a:t>st_mode</a:t>
                      </a:r>
                      <a:endParaRPr lang="en-US" sz="800" dirty="0"/>
                    </a:p>
                  </a:txBody>
                  <a:tcPr marL="41804" marR="41804" marT="20902" marB="20902"/>
                </a:tc>
                <a:tc>
                  <a:txBody>
                    <a:bodyPr/>
                    <a:lstStyle/>
                    <a:p>
                      <a:r>
                        <a:rPr lang="en-US" sz="800" b="0" i="0" u="none" strike="noStrike" kern="1200" baseline="0" dirty="0" err="1" smtClean="0">
                          <a:solidFill>
                            <a:schemeClr val="dk1"/>
                          </a:solidFill>
                          <a:latin typeface="+mn-lt"/>
                          <a:ea typeface="+mn-ea"/>
                          <a:cs typeface="+mn-cs"/>
                        </a:rPr>
                        <a:t>mode_t</a:t>
                      </a:r>
                      <a:endParaRPr lang="en-US" sz="800" dirty="0"/>
                    </a:p>
                  </a:txBody>
                  <a:tcPr marL="41804" marR="41804" marT="20902" marB="20902"/>
                </a:tc>
                <a:tc>
                  <a:txBody>
                    <a:bodyPr/>
                    <a:lstStyle/>
                    <a:p>
                      <a:r>
                        <a:rPr lang="fr-FR" sz="700" b="0" i="0" u="none" strike="noStrike" kern="1200" baseline="0" dirty="0" smtClean="0">
                          <a:solidFill>
                            <a:schemeClr val="dk1"/>
                          </a:solidFill>
                          <a:latin typeface="Times New Roman" pitchFamily="18" charset="0"/>
                          <a:ea typeface="+mn-ea"/>
                          <a:cs typeface="Times New Roman" pitchFamily="18" charset="0"/>
                        </a:rPr>
                        <a:t>Les permissions d’accès au fichier et le type de ce dernier (répertoire, socket, fichier normal…). Peuvent être modifiées avec l’appel-système chmod(). Pour déterminer le type du fichier, il existe des macros </a:t>
                      </a:r>
                      <a:r>
                        <a:rPr lang="en-US" sz="700" b="0" i="0" u="none" strike="noStrike" kern="1200" baseline="0" dirty="0" err="1" smtClean="0">
                          <a:solidFill>
                            <a:schemeClr val="dk1"/>
                          </a:solidFill>
                          <a:latin typeface="Times New Roman" pitchFamily="18" charset="0"/>
                          <a:ea typeface="+mn-ea"/>
                          <a:cs typeface="Times New Roman" pitchFamily="18" charset="0"/>
                        </a:rPr>
                        <a:t>décrites</a:t>
                      </a:r>
                      <a:r>
                        <a:rPr lang="en-US" sz="700" b="0" i="0" u="none" strike="noStrike" kern="1200" baseline="0" dirty="0" smtClean="0">
                          <a:solidFill>
                            <a:schemeClr val="dk1"/>
                          </a:solidFill>
                          <a:latin typeface="Times New Roman" pitchFamily="18" charset="0"/>
                          <a:ea typeface="+mn-ea"/>
                          <a:cs typeface="Times New Roman" pitchFamily="18" charset="0"/>
                        </a:rPr>
                        <a:t> plus bas</a:t>
                      </a:r>
                      <a:endParaRPr lang="en-US" sz="700" dirty="0">
                        <a:latin typeface="Times New Roman" pitchFamily="18" charset="0"/>
                        <a:cs typeface="Times New Roman" pitchFamily="18" charset="0"/>
                      </a:endParaRPr>
                    </a:p>
                  </a:txBody>
                  <a:tcPr marL="41804" marR="41804" marT="20902" marB="20902"/>
                </a:tc>
              </a:tr>
              <a:tr h="264761">
                <a:tc>
                  <a:txBody>
                    <a:bodyPr/>
                    <a:lstStyle/>
                    <a:p>
                      <a:r>
                        <a:rPr lang="en-US" sz="800" b="0" i="0" u="none" strike="noStrike" kern="1200" baseline="0" dirty="0" err="1" smtClean="0">
                          <a:solidFill>
                            <a:schemeClr val="dk1"/>
                          </a:solidFill>
                          <a:latin typeface="+mn-lt"/>
                          <a:ea typeface="+mn-ea"/>
                          <a:cs typeface="+mn-cs"/>
                        </a:rPr>
                        <a:t>st_ino</a:t>
                      </a:r>
                      <a:endParaRPr lang="en-US" sz="800" dirty="0"/>
                    </a:p>
                  </a:txBody>
                  <a:tcPr marL="41804" marR="41804" marT="20902" marB="20902"/>
                </a:tc>
                <a:tc>
                  <a:txBody>
                    <a:bodyPr/>
                    <a:lstStyle/>
                    <a:p>
                      <a:r>
                        <a:rPr lang="en-US" sz="800" b="0" i="0" u="none" strike="noStrike" kern="1200" baseline="0" dirty="0" err="1" smtClean="0">
                          <a:solidFill>
                            <a:schemeClr val="dk1"/>
                          </a:solidFill>
                          <a:latin typeface="+mn-lt"/>
                          <a:ea typeface="+mn-ea"/>
                          <a:cs typeface="+mn-cs"/>
                        </a:rPr>
                        <a:t>ino_t</a:t>
                      </a:r>
                      <a:endParaRPr lang="en-US" sz="800" dirty="0"/>
                    </a:p>
                  </a:txBody>
                  <a:tcPr marL="41804" marR="41804" marT="20902" marB="20902"/>
                </a:tc>
                <a:tc>
                  <a:txBody>
                    <a:bodyPr/>
                    <a:lstStyle/>
                    <a:p>
                      <a:r>
                        <a:rPr lang="fr-FR" sz="700" b="0" i="0" u="none" strike="noStrike" kern="1200" baseline="0" dirty="0" smtClean="0">
                          <a:solidFill>
                            <a:schemeClr val="dk1"/>
                          </a:solidFill>
                          <a:latin typeface="Times New Roman" pitchFamily="18" charset="0"/>
                          <a:ea typeface="+mn-ea"/>
                          <a:cs typeface="Times New Roman" pitchFamily="18" charset="0"/>
                        </a:rPr>
                        <a:t>Identifiant unique permettant d’accéder au contenu du fichier. On le nomme plutôt numéro d’i-</a:t>
                      </a:r>
                      <a:r>
                        <a:rPr lang="fr-FR" sz="700" b="0" i="0" u="none" strike="noStrike" kern="1200" baseline="0" dirty="0" err="1" smtClean="0">
                          <a:solidFill>
                            <a:schemeClr val="dk1"/>
                          </a:solidFill>
                          <a:latin typeface="Times New Roman" pitchFamily="18" charset="0"/>
                          <a:ea typeface="+mn-ea"/>
                          <a:cs typeface="Times New Roman" pitchFamily="18" charset="0"/>
                        </a:rPr>
                        <a:t>noeud</a:t>
                      </a:r>
                      <a:r>
                        <a:rPr lang="fr-FR" sz="700" b="0" i="0" u="none" strike="noStrike" kern="1200" baseline="0" dirty="0" smtClean="0">
                          <a:solidFill>
                            <a:schemeClr val="dk1"/>
                          </a:solidFill>
                          <a:latin typeface="Times New Roman" pitchFamily="18" charset="0"/>
                          <a:ea typeface="+mn-ea"/>
                          <a:cs typeface="Times New Roman" pitchFamily="18" charset="0"/>
                        </a:rPr>
                        <a:t>. Ce numéro est unique au sein d’un même système de fichiers.</a:t>
                      </a:r>
                      <a:endParaRPr lang="en-US" sz="700" dirty="0">
                        <a:latin typeface="Times New Roman" pitchFamily="18" charset="0"/>
                        <a:cs typeface="Times New Roman" pitchFamily="18" charset="0"/>
                      </a:endParaRPr>
                    </a:p>
                  </a:txBody>
                  <a:tcPr marL="41804" marR="41804" marT="20902" marB="20902"/>
                </a:tc>
              </a:tr>
              <a:tr h="487718">
                <a:tc>
                  <a:txBody>
                    <a:bodyPr/>
                    <a:lstStyle/>
                    <a:p>
                      <a:r>
                        <a:rPr lang="en-US" sz="800" b="0" i="0" u="none" strike="noStrike" kern="1200" baseline="0" dirty="0" err="1" smtClean="0">
                          <a:solidFill>
                            <a:schemeClr val="dk1"/>
                          </a:solidFill>
                          <a:latin typeface="+mn-lt"/>
                          <a:ea typeface="+mn-ea"/>
                          <a:cs typeface="+mn-cs"/>
                        </a:rPr>
                        <a:t>st_dev</a:t>
                      </a:r>
                      <a:endParaRPr lang="en-US" sz="800" dirty="0"/>
                    </a:p>
                  </a:txBody>
                  <a:tcPr marL="41804" marR="41804" marT="20902" marB="20902"/>
                </a:tc>
                <a:tc>
                  <a:txBody>
                    <a:bodyPr/>
                    <a:lstStyle/>
                    <a:p>
                      <a:r>
                        <a:rPr lang="en-US" sz="800" b="0" i="0" u="none" strike="noStrike" kern="1200" baseline="0" dirty="0" err="1" smtClean="0">
                          <a:solidFill>
                            <a:schemeClr val="dk1"/>
                          </a:solidFill>
                          <a:latin typeface="+mn-lt"/>
                          <a:ea typeface="+mn-ea"/>
                          <a:cs typeface="+mn-cs"/>
                        </a:rPr>
                        <a:t>dev_t</a:t>
                      </a:r>
                      <a:endParaRPr lang="en-US" sz="800" dirty="0"/>
                    </a:p>
                  </a:txBody>
                  <a:tcPr marL="41804" marR="41804" marT="20902" marB="20902"/>
                </a:tc>
                <a:tc>
                  <a:txBody>
                    <a:bodyPr/>
                    <a:lstStyle/>
                    <a:p>
                      <a:r>
                        <a:rPr lang="fr-FR" sz="700" b="0" i="0" u="none" strike="noStrike" kern="1200" baseline="0" dirty="0" smtClean="0">
                          <a:solidFill>
                            <a:schemeClr val="dk1"/>
                          </a:solidFill>
                          <a:latin typeface="Times New Roman" pitchFamily="18" charset="0"/>
                          <a:ea typeface="+mn-ea"/>
                          <a:cs typeface="Times New Roman" pitchFamily="18" charset="0"/>
                        </a:rPr>
                        <a:t>le numéro du périphérique qui contient le système de fichiers auquel se rapporte le numéro d’i-</a:t>
                      </a:r>
                      <a:r>
                        <a:rPr lang="fr-FR" sz="700" b="0" i="0" u="none" strike="noStrike" kern="1200" baseline="0" dirty="0" err="1" smtClean="0">
                          <a:solidFill>
                            <a:schemeClr val="dk1"/>
                          </a:solidFill>
                          <a:latin typeface="Times New Roman" pitchFamily="18" charset="0"/>
                          <a:ea typeface="+mn-ea"/>
                          <a:cs typeface="Times New Roman" pitchFamily="18" charset="0"/>
                        </a:rPr>
                        <a:t>noeud</a:t>
                      </a:r>
                      <a:r>
                        <a:rPr lang="fr-FR" sz="700" b="0" i="0" u="none" strike="noStrike" kern="1200" baseline="0" dirty="0" smtClean="0">
                          <a:solidFill>
                            <a:schemeClr val="dk1"/>
                          </a:solidFill>
                          <a:latin typeface="Times New Roman" pitchFamily="18" charset="0"/>
                          <a:ea typeface="+mn-ea"/>
                          <a:cs typeface="Times New Roman" pitchFamily="18" charset="0"/>
                        </a:rPr>
                        <a:t>. Le couple </a:t>
                      </a:r>
                      <a:r>
                        <a:rPr lang="fr-FR" sz="700" b="0" i="0" u="none" strike="noStrike" kern="1200" baseline="0" dirty="0" err="1" smtClean="0">
                          <a:solidFill>
                            <a:schemeClr val="dk1"/>
                          </a:solidFill>
                          <a:latin typeface="Times New Roman" pitchFamily="18" charset="0"/>
                          <a:ea typeface="+mn-ea"/>
                          <a:cs typeface="Times New Roman" pitchFamily="18" charset="0"/>
                        </a:rPr>
                        <a:t>st_ino</a:t>
                      </a:r>
                      <a:r>
                        <a:rPr lang="fr-FR" sz="700" b="0" i="0" u="none" strike="noStrike" kern="1200" baseline="0" dirty="0" smtClean="0">
                          <a:solidFill>
                            <a:schemeClr val="dk1"/>
                          </a:solidFill>
                          <a:latin typeface="Times New Roman" pitchFamily="18" charset="0"/>
                          <a:ea typeface="+mn-ea"/>
                          <a:cs typeface="Times New Roman" pitchFamily="18" charset="0"/>
                        </a:rPr>
                        <a:t> et </a:t>
                      </a:r>
                      <a:r>
                        <a:rPr lang="fr-FR" sz="700" b="0" i="0" u="none" strike="noStrike" kern="1200" baseline="0" dirty="0" err="1" smtClean="0">
                          <a:solidFill>
                            <a:schemeClr val="dk1"/>
                          </a:solidFill>
                          <a:latin typeface="Times New Roman" pitchFamily="18" charset="0"/>
                          <a:ea typeface="+mn-ea"/>
                          <a:cs typeface="Times New Roman" pitchFamily="18" charset="0"/>
                        </a:rPr>
                        <a:t>st_dev</a:t>
                      </a:r>
                      <a:r>
                        <a:rPr lang="fr-FR" sz="700" b="0" i="0" u="none" strike="noStrike" kern="1200" baseline="0" dirty="0" smtClean="0">
                          <a:solidFill>
                            <a:schemeClr val="dk1"/>
                          </a:solidFill>
                          <a:latin typeface="Times New Roman" pitchFamily="18" charset="0"/>
                          <a:ea typeface="+mn-ea"/>
                          <a:cs typeface="Times New Roman" pitchFamily="18" charset="0"/>
                        </a:rPr>
                        <a:t> permet de définir de manière unique un fichier. La valeur </a:t>
                      </a:r>
                      <a:r>
                        <a:rPr lang="fr-FR" sz="700" b="0" i="0" u="none" strike="noStrike" kern="1200" baseline="0" dirty="0" err="1" smtClean="0">
                          <a:solidFill>
                            <a:schemeClr val="dk1"/>
                          </a:solidFill>
                          <a:latin typeface="Times New Roman" pitchFamily="18" charset="0"/>
                          <a:ea typeface="+mn-ea"/>
                          <a:cs typeface="Times New Roman" pitchFamily="18" charset="0"/>
                        </a:rPr>
                        <a:t>st_dev</a:t>
                      </a:r>
                      <a:r>
                        <a:rPr lang="fr-FR" sz="700" b="0" i="0" u="none" strike="noStrike" kern="1200" baseline="0" dirty="0" smtClean="0">
                          <a:solidFill>
                            <a:schemeClr val="dk1"/>
                          </a:solidFill>
                          <a:latin typeface="Times New Roman" pitchFamily="18" charset="0"/>
                          <a:ea typeface="+mn-ea"/>
                          <a:cs typeface="Times New Roman" pitchFamily="18" charset="0"/>
                        </a:rPr>
                        <a:t> n’est pas obligatoirement conservée entre deux redémarrages de la machine. Elle peut par exemple dépendre de l’ordre de détection des disques. </a:t>
                      </a:r>
                      <a:endParaRPr lang="en-US" sz="700" dirty="0">
                        <a:latin typeface="Times New Roman" pitchFamily="18" charset="0"/>
                        <a:cs typeface="Times New Roman" pitchFamily="18" charset="0"/>
                      </a:endParaRPr>
                    </a:p>
                  </a:txBody>
                  <a:tcPr marL="41804" marR="41804" marT="20902" marB="20902"/>
                </a:tc>
              </a:tr>
              <a:tr h="376240">
                <a:tc>
                  <a:txBody>
                    <a:bodyPr/>
                    <a:lstStyle/>
                    <a:p>
                      <a:r>
                        <a:rPr lang="en-US" sz="800" b="0" i="0" u="none" strike="noStrike" kern="1200" baseline="0" dirty="0" err="1" smtClean="0">
                          <a:solidFill>
                            <a:schemeClr val="dk1"/>
                          </a:solidFill>
                          <a:latin typeface="+mn-lt"/>
                          <a:ea typeface="+mn-ea"/>
                          <a:cs typeface="+mn-cs"/>
                        </a:rPr>
                        <a:t>st_nlink</a:t>
                      </a:r>
                      <a:endParaRPr lang="en-US" sz="800" dirty="0"/>
                    </a:p>
                  </a:txBody>
                  <a:tcPr marL="41804" marR="41804" marT="20902" marB="20902"/>
                </a:tc>
                <a:tc>
                  <a:txBody>
                    <a:bodyPr/>
                    <a:lstStyle/>
                    <a:p>
                      <a:r>
                        <a:rPr lang="en-US" sz="800" b="0" i="0" u="none" strike="noStrike" kern="1200" baseline="0" dirty="0" err="1" smtClean="0">
                          <a:solidFill>
                            <a:schemeClr val="dk1"/>
                          </a:solidFill>
                          <a:latin typeface="+mn-lt"/>
                          <a:ea typeface="+mn-ea"/>
                          <a:cs typeface="+mn-cs"/>
                        </a:rPr>
                        <a:t>nlink_t</a:t>
                      </a:r>
                      <a:endParaRPr lang="en-US" sz="800" dirty="0"/>
                    </a:p>
                  </a:txBody>
                  <a:tcPr marL="41804" marR="41804" marT="20902" marB="20902"/>
                </a:tc>
                <a:tc>
                  <a:txBody>
                    <a:bodyPr/>
                    <a:lstStyle/>
                    <a:p>
                      <a:r>
                        <a:rPr lang="fr-FR" sz="700" b="0" i="0" u="none" strike="noStrike" kern="1200" baseline="0" dirty="0" smtClean="0">
                          <a:solidFill>
                            <a:schemeClr val="dk1"/>
                          </a:solidFill>
                          <a:latin typeface="Times New Roman" pitchFamily="18" charset="0"/>
                          <a:ea typeface="+mn-ea"/>
                          <a:cs typeface="Times New Roman" pitchFamily="18" charset="0"/>
                        </a:rPr>
                        <a:t>Un fichier pouvant avoir plusieurs noms. Nombre de liens physiques sur l’i-</a:t>
                      </a:r>
                      <a:r>
                        <a:rPr lang="fr-FR" sz="700" b="0" i="0" u="none" strike="noStrike" kern="1200" baseline="0" dirty="0" err="1" smtClean="0">
                          <a:solidFill>
                            <a:schemeClr val="dk1"/>
                          </a:solidFill>
                          <a:latin typeface="Times New Roman" pitchFamily="18" charset="0"/>
                          <a:ea typeface="+mn-ea"/>
                          <a:cs typeface="Times New Roman" pitchFamily="18" charset="0"/>
                        </a:rPr>
                        <a:t>noeud</a:t>
                      </a:r>
                      <a:r>
                        <a:rPr lang="fr-FR" sz="700" b="0" i="0" u="none" strike="noStrike" kern="1200" baseline="0" dirty="0" smtClean="0">
                          <a:solidFill>
                            <a:schemeClr val="dk1"/>
                          </a:solidFill>
                          <a:latin typeface="Times New Roman" pitchFamily="18" charset="0"/>
                          <a:ea typeface="+mn-ea"/>
                          <a:cs typeface="Times New Roman" pitchFamily="18" charset="0"/>
                        </a:rPr>
                        <a:t>. Lors d’un appel-système </a:t>
                      </a:r>
                      <a:r>
                        <a:rPr lang="fr-FR" sz="700" b="0" i="0" u="none" strike="noStrike" kern="1200" baseline="0" dirty="0" err="1" smtClean="0">
                          <a:solidFill>
                            <a:schemeClr val="dk1"/>
                          </a:solidFill>
                          <a:latin typeface="Times New Roman" pitchFamily="18" charset="0"/>
                          <a:ea typeface="+mn-ea"/>
                          <a:cs typeface="Times New Roman" pitchFamily="18" charset="0"/>
                        </a:rPr>
                        <a:t>unlink</a:t>
                      </a:r>
                      <a:r>
                        <a:rPr lang="fr-FR" sz="700" b="0" i="0" u="none" strike="noStrike" kern="1200" baseline="0" dirty="0" smtClean="0">
                          <a:solidFill>
                            <a:schemeClr val="dk1"/>
                          </a:solidFill>
                          <a:latin typeface="Times New Roman" pitchFamily="18" charset="0"/>
                          <a:ea typeface="+mn-ea"/>
                          <a:cs typeface="Times New Roman" pitchFamily="18" charset="0"/>
                        </a:rPr>
                        <a:t>(), cette valeur est décrémentée. Le fichier n’est véritablement supprimé que lorsque st_</a:t>
                      </a:r>
                      <a:r>
                        <a:rPr lang="en-US" sz="700" b="0" i="0" u="none" strike="noStrike" kern="1200" baseline="0" dirty="0" err="1" smtClean="0">
                          <a:solidFill>
                            <a:schemeClr val="dk1"/>
                          </a:solidFill>
                          <a:latin typeface="Times New Roman" pitchFamily="18" charset="0"/>
                          <a:ea typeface="+mn-ea"/>
                          <a:cs typeface="Times New Roman" pitchFamily="18" charset="0"/>
                        </a:rPr>
                        <a:t>nlink</a:t>
                      </a:r>
                      <a:r>
                        <a:rPr lang="en-US" sz="700" b="0" i="0" u="none" strike="noStrike" kern="1200" baseline="0" dirty="0" smtClean="0">
                          <a:solidFill>
                            <a:schemeClr val="dk1"/>
                          </a:solidFill>
                          <a:latin typeface="Times New Roman" pitchFamily="18" charset="0"/>
                          <a:ea typeface="+mn-ea"/>
                          <a:cs typeface="Times New Roman" pitchFamily="18" charset="0"/>
                        </a:rPr>
                        <a:t> arrive à </a:t>
                      </a:r>
                      <a:r>
                        <a:rPr lang="en-US" sz="700" b="0" i="0" u="none" strike="noStrike" kern="1200" baseline="0" dirty="0" err="1" smtClean="0">
                          <a:solidFill>
                            <a:schemeClr val="dk1"/>
                          </a:solidFill>
                          <a:latin typeface="Times New Roman" pitchFamily="18" charset="0"/>
                          <a:ea typeface="+mn-ea"/>
                          <a:cs typeface="Times New Roman" pitchFamily="18" charset="0"/>
                        </a:rPr>
                        <a:t>zéro</a:t>
                      </a:r>
                      <a:r>
                        <a:rPr lang="en-US" sz="700" b="0" i="0" u="none" strike="noStrike" kern="1200" baseline="0" dirty="0" smtClean="0">
                          <a:solidFill>
                            <a:schemeClr val="dk1"/>
                          </a:solidFill>
                          <a:latin typeface="Times New Roman" pitchFamily="18" charset="0"/>
                          <a:ea typeface="+mn-ea"/>
                          <a:cs typeface="Times New Roman" pitchFamily="18" charset="0"/>
                        </a:rPr>
                        <a:t>.</a:t>
                      </a:r>
                      <a:endParaRPr lang="en-US" sz="700" dirty="0">
                        <a:latin typeface="Times New Roman" pitchFamily="18" charset="0"/>
                        <a:cs typeface="Times New Roman" pitchFamily="18" charset="0"/>
                      </a:endParaRPr>
                    </a:p>
                  </a:txBody>
                  <a:tcPr marL="41804" marR="41804" marT="20902" marB="20902"/>
                </a:tc>
              </a:tr>
              <a:tr h="264761">
                <a:tc>
                  <a:txBody>
                    <a:bodyPr/>
                    <a:lstStyle/>
                    <a:p>
                      <a:r>
                        <a:rPr lang="en-US" sz="800" b="0" i="0" u="none" strike="noStrike" kern="1200" baseline="0" dirty="0" err="1" smtClean="0">
                          <a:solidFill>
                            <a:schemeClr val="dk1"/>
                          </a:solidFill>
                          <a:latin typeface="+mn-lt"/>
                          <a:ea typeface="+mn-ea"/>
                          <a:cs typeface="+mn-cs"/>
                        </a:rPr>
                        <a:t>st_uid</a:t>
                      </a:r>
                      <a:endParaRPr lang="en-US" sz="800" dirty="0"/>
                    </a:p>
                  </a:txBody>
                  <a:tcPr marL="41804" marR="41804" marT="20902" marB="20902"/>
                </a:tc>
                <a:tc>
                  <a:txBody>
                    <a:bodyPr/>
                    <a:lstStyle/>
                    <a:p>
                      <a:r>
                        <a:rPr lang="en-US" sz="800" b="0" i="0" u="none" strike="noStrike" kern="1200" baseline="0" dirty="0" err="1" smtClean="0">
                          <a:solidFill>
                            <a:schemeClr val="dk1"/>
                          </a:solidFill>
                          <a:latin typeface="+mn-lt"/>
                          <a:ea typeface="+mn-ea"/>
                          <a:cs typeface="+mn-cs"/>
                        </a:rPr>
                        <a:t>uid_t</a:t>
                      </a:r>
                      <a:endParaRPr lang="en-US" sz="800" dirty="0"/>
                    </a:p>
                  </a:txBody>
                  <a:tcPr marL="41804" marR="41804" marT="20902" marB="20902"/>
                </a:tc>
                <a:tc>
                  <a:txBody>
                    <a:bodyPr/>
                    <a:lstStyle/>
                    <a:p>
                      <a:r>
                        <a:rPr lang="fr-FR" sz="700" b="0" i="0" u="none" strike="noStrike" kern="1200" baseline="0" dirty="0" smtClean="0">
                          <a:solidFill>
                            <a:schemeClr val="dk1"/>
                          </a:solidFill>
                          <a:latin typeface="Times New Roman" pitchFamily="18" charset="0"/>
                          <a:ea typeface="+mn-ea"/>
                          <a:cs typeface="Times New Roman" pitchFamily="18" charset="0"/>
                        </a:rPr>
                        <a:t>UID du propriétaire du fichier. Il n’y a qu’un seul propriétaire pour un fichier, même si celui-ci dispose de plusieurs noms. Modifié par </a:t>
                      </a:r>
                      <a:r>
                        <a:rPr lang="en-US" sz="700" b="0" i="0" u="none" strike="noStrike" kern="1200" baseline="0" dirty="0" err="1" smtClean="0">
                          <a:solidFill>
                            <a:schemeClr val="dk1"/>
                          </a:solidFill>
                          <a:latin typeface="Times New Roman" pitchFamily="18" charset="0"/>
                          <a:ea typeface="+mn-ea"/>
                          <a:cs typeface="Times New Roman" pitchFamily="18" charset="0"/>
                        </a:rPr>
                        <a:t>l’appel-système</a:t>
                      </a:r>
                      <a:r>
                        <a:rPr lang="en-US" sz="700" b="0" i="0" u="none" strike="noStrike" kern="1200" baseline="0" dirty="0" smtClean="0">
                          <a:solidFill>
                            <a:schemeClr val="dk1"/>
                          </a:solidFill>
                          <a:latin typeface="Times New Roman" pitchFamily="18" charset="0"/>
                          <a:ea typeface="+mn-ea"/>
                          <a:cs typeface="Times New Roman" pitchFamily="18" charset="0"/>
                        </a:rPr>
                        <a:t> </a:t>
                      </a:r>
                      <a:r>
                        <a:rPr lang="en-US" sz="700" b="0" i="0" u="none" strike="noStrike" kern="1200" baseline="0" dirty="0" err="1" smtClean="0">
                          <a:solidFill>
                            <a:schemeClr val="dk1"/>
                          </a:solidFill>
                          <a:latin typeface="Times New Roman" pitchFamily="18" charset="0"/>
                          <a:ea typeface="+mn-ea"/>
                          <a:cs typeface="Times New Roman" pitchFamily="18" charset="0"/>
                        </a:rPr>
                        <a:t>chown</a:t>
                      </a:r>
                      <a:r>
                        <a:rPr lang="en-US" sz="700" b="0" i="0" u="none" strike="noStrike" kern="1200" baseline="0" dirty="0" smtClean="0">
                          <a:solidFill>
                            <a:schemeClr val="dk1"/>
                          </a:solidFill>
                          <a:latin typeface="Times New Roman" pitchFamily="18" charset="0"/>
                          <a:ea typeface="+mn-ea"/>
                          <a:cs typeface="Times New Roman" pitchFamily="18" charset="0"/>
                        </a:rPr>
                        <a:t>().</a:t>
                      </a:r>
                      <a:endParaRPr lang="en-US" sz="700" dirty="0">
                        <a:latin typeface="Times New Roman" pitchFamily="18" charset="0"/>
                        <a:cs typeface="Times New Roman" pitchFamily="18" charset="0"/>
                      </a:endParaRPr>
                    </a:p>
                  </a:txBody>
                  <a:tcPr marL="41804" marR="41804" marT="20902" marB="20902"/>
                </a:tc>
              </a:tr>
              <a:tr h="169540">
                <a:tc>
                  <a:txBody>
                    <a:bodyPr/>
                    <a:lstStyle/>
                    <a:p>
                      <a:r>
                        <a:rPr lang="en-US" sz="800" b="0" i="0" u="none" strike="noStrike" kern="1200" baseline="0" dirty="0" err="1" smtClean="0">
                          <a:solidFill>
                            <a:schemeClr val="dk1"/>
                          </a:solidFill>
                          <a:latin typeface="+mn-lt"/>
                          <a:ea typeface="+mn-ea"/>
                          <a:cs typeface="+mn-cs"/>
                        </a:rPr>
                        <a:t>st_gid</a:t>
                      </a:r>
                      <a:endParaRPr lang="en-US" sz="800" dirty="0"/>
                    </a:p>
                  </a:txBody>
                  <a:tcPr marL="41804" marR="41804" marT="20902" marB="20902"/>
                </a:tc>
                <a:tc>
                  <a:txBody>
                    <a:bodyPr/>
                    <a:lstStyle/>
                    <a:p>
                      <a:r>
                        <a:rPr lang="en-US" sz="800" b="0" i="0" u="none" strike="noStrike" kern="1200" baseline="0" dirty="0" err="1" smtClean="0">
                          <a:solidFill>
                            <a:schemeClr val="dk1"/>
                          </a:solidFill>
                          <a:latin typeface="+mn-lt"/>
                          <a:ea typeface="+mn-ea"/>
                          <a:cs typeface="+mn-cs"/>
                        </a:rPr>
                        <a:t>gid_t</a:t>
                      </a:r>
                      <a:endParaRPr lang="en-US" sz="800" dirty="0"/>
                    </a:p>
                  </a:txBody>
                  <a:tcPr marL="41804" marR="41804" marT="20902" marB="20902"/>
                </a:tc>
                <a:tc>
                  <a:txBody>
                    <a:bodyPr/>
                    <a:lstStyle/>
                    <a:p>
                      <a:r>
                        <a:rPr lang="fr-FR" sz="700" b="0" i="0" u="none" strike="noStrike" kern="1200" baseline="0" dirty="0" smtClean="0">
                          <a:solidFill>
                            <a:schemeClr val="dk1"/>
                          </a:solidFill>
                          <a:latin typeface="Times New Roman" pitchFamily="18" charset="0"/>
                          <a:ea typeface="+mn-ea"/>
                          <a:cs typeface="Times New Roman" pitchFamily="18" charset="0"/>
                        </a:rPr>
                        <a:t>l’appartenance du fichier, à un groupe. Modifiée par l’appel-système </a:t>
                      </a:r>
                      <a:r>
                        <a:rPr lang="fr-FR" sz="700" b="0" i="0" u="none" strike="noStrike" kern="1200" baseline="0" dirty="0" err="1" smtClean="0">
                          <a:solidFill>
                            <a:schemeClr val="dk1"/>
                          </a:solidFill>
                          <a:latin typeface="Times New Roman" pitchFamily="18" charset="0"/>
                          <a:ea typeface="+mn-ea"/>
                          <a:cs typeface="Times New Roman" pitchFamily="18" charset="0"/>
                        </a:rPr>
                        <a:t>chown</a:t>
                      </a:r>
                      <a:r>
                        <a:rPr lang="fr-FR" sz="700" b="0" i="0" u="none" strike="noStrike" kern="1200" baseline="0" dirty="0" smtClean="0">
                          <a:solidFill>
                            <a:schemeClr val="dk1"/>
                          </a:solidFill>
                          <a:latin typeface="Times New Roman" pitchFamily="18" charset="0"/>
                          <a:ea typeface="+mn-ea"/>
                          <a:cs typeface="Times New Roman" pitchFamily="18" charset="0"/>
                        </a:rPr>
                        <a:t>().</a:t>
                      </a:r>
                      <a:endParaRPr lang="en-US" sz="700" dirty="0">
                        <a:latin typeface="Times New Roman" pitchFamily="18" charset="0"/>
                        <a:cs typeface="Times New Roman" pitchFamily="18" charset="0"/>
                      </a:endParaRPr>
                    </a:p>
                  </a:txBody>
                  <a:tcPr marL="41804" marR="41804" marT="20902" marB="20902"/>
                </a:tc>
              </a:tr>
              <a:tr h="264761">
                <a:tc>
                  <a:txBody>
                    <a:bodyPr/>
                    <a:lstStyle/>
                    <a:p>
                      <a:r>
                        <a:rPr lang="en-US" sz="800" b="0" i="0" u="none" strike="noStrike" kern="1200" baseline="0" dirty="0" err="1" smtClean="0">
                          <a:solidFill>
                            <a:schemeClr val="dk1"/>
                          </a:solidFill>
                          <a:latin typeface="+mn-lt"/>
                          <a:ea typeface="+mn-ea"/>
                          <a:cs typeface="+mn-cs"/>
                        </a:rPr>
                        <a:t>st_size</a:t>
                      </a:r>
                      <a:endParaRPr lang="en-US" sz="800" dirty="0"/>
                    </a:p>
                  </a:txBody>
                  <a:tcPr marL="41804" marR="41804" marT="20902" marB="20902"/>
                </a:tc>
                <a:tc>
                  <a:txBody>
                    <a:bodyPr/>
                    <a:lstStyle/>
                    <a:p>
                      <a:r>
                        <a:rPr lang="en-US" sz="800" b="0" i="0" u="none" strike="noStrike" kern="1200" baseline="0" dirty="0" err="1" smtClean="0">
                          <a:solidFill>
                            <a:schemeClr val="dk1"/>
                          </a:solidFill>
                          <a:latin typeface="+mn-lt"/>
                          <a:ea typeface="+mn-ea"/>
                          <a:cs typeface="+mn-cs"/>
                        </a:rPr>
                        <a:t>off_t</a:t>
                      </a:r>
                      <a:endParaRPr lang="en-US" sz="800" dirty="0"/>
                    </a:p>
                  </a:txBody>
                  <a:tcPr marL="41804" marR="41804" marT="20902" marB="20902"/>
                </a:tc>
                <a:tc>
                  <a:txBody>
                    <a:bodyPr/>
                    <a:lstStyle/>
                    <a:p>
                      <a:r>
                        <a:rPr lang="fr-FR" sz="700" b="0" i="0" u="none" strike="noStrike" kern="1200" baseline="0" dirty="0" smtClean="0">
                          <a:solidFill>
                            <a:schemeClr val="dk1"/>
                          </a:solidFill>
                          <a:latin typeface="Times New Roman" pitchFamily="18" charset="0"/>
                          <a:ea typeface="+mn-ea"/>
                          <a:cs typeface="Times New Roman" pitchFamily="18" charset="0"/>
                        </a:rPr>
                        <a:t>La taille du fichier est ici mesurée en octets. (</a:t>
                      </a:r>
                      <a:r>
                        <a:rPr lang="fr-FR" sz="700" b="0" i="0" u="none" strike="noStrike" kern="1200" baseline="0" dirty="0" err="1" smtClean="0">
                          <a:solidFill>
                            <a:schemeClr val="dk1"/>
                          </a:solidFill>
                          <a:latin typeface="Times New Roman" pitchFamily="18" charset="0"/>
                          <a:ea typeface="+mn-ea"/>
                          <a:cs typeface="Times New Roman" pitchFamily="18" charset="0"/>
                        </a:rPr>
                        <a:t>pourles</a:t>
                      </a:r>
                      <a:r>
                        <a:rPr lang="fr-FR" sz="700" b="0" i="0" u="none" strike="noStrike" kern="1200" baseline="0" dirty="0" smtClean="0">
                          <a:solidFill>
                            <a:schemeClr val="dk1"/>
                          </a:solidFill>
                          <a:latin typeface="Times New Roman" pitchFamily="18" charset="0"/>
                          <a:ea typeface="+mn-ea"/>
                          <a:cs typeface="Times New Roman" pitchFamily="18" charset="0"/>
                        </a:rPr>
                        <a:t> fichiers normaux, pas pour les liens symboliques ni pour les fichiers spéciaux de </a:t>
                      </a:r>
                      <a:r>
                        <a:rPr lang="en-US" sz="700" b="0" i="0" u="none" strike="noStrike" kern="1200" baseline="0" dirty="0" err="1" smtClean="0">
                          <a:solidFill>
                            <a:schemeClr val="dk1"/>
                          </a:solidFill>
                          <a:latin typeface="Times New Roman" pitchFamily="18" charset="0"/>
                          <a:ea typeface="+mn-ea"/>
                          <a:cs typeface="Times New Roman" pitchFamily="18" charset="0"/>
                        </a:rPr>
                        <a:t>périphérique</a:t>
                      </a:r>
                      <a:r>
                        <a:rPr lang="en-US" sz="700" b="0" i="0" u="none" strike="noStrike" kern="1200" baseline="0" dirty="0" smtClean="0">
                          <a:solidFill>
                            <a:schemeClr val="dk1"/>
                          </a:solidFill>
                          <a:latin typeface="Times New Roman" pitchFamily="18" charset="0"/>
                          <a:ea typeface="+mn-ea"/>
                          <a:cs typeface="Times New Roman" pitchFamily="18" charset="0"/>
                        </a:rPr>
                        <a:t>.</a:t>
                      </a:r>
                      <a:endParaRPr lang="en-US" sz="700" dirty="0">
                        <a:latin typeface="Times New Roman" pitchFamily="18" charset="0"/>
                        <a:cs typeface="Times New Roman" pitchFamily="18" charset="0"/>
                      </a:endParaRPr>
                    </a:p>
                  </a:txBody>
                  <a:tcPr marL="41804" marR="41804" marT="20902" marB="20902"/>
                </a:tc>
              </a:tr>
              <a:tr h="169540">
                <a:tc>
                  <a:txBody>
                    <a:bodyPr/>
                    <a:lstStyle/>
                    <a:p>
                      <a:r>
                        <a:rPr lang="en-US" sz="800" b="0" i="0" u="none" strike="noStrike" kern="1200" baseline="0" dirty="0" err="1" smtClean="0">
                          <a:solidFill>
                            <a:schemeClr val="dk1"/>
                          </a:solidFill>
                          <a:latin typeface="+mn-lt"/>
                          <a:ea typeface="+mn-ea"/>
                          <a:cs typeface="+mn-cs"/>
                        </a:rPr>
                        <a:t>st_atime</a:t>
                      </a:r>
                      <a:endParaRPr lang="en-US" sz="800" dirty="0"/>
                    </a:p>
                  </a:txBody>
                  <a:tcPr marL="41804" marR="41804" marT="20902" marB="20902"/>
                </a:tc>
                <a:tc>
                  <a:txBody>
                    <a:bodyPr/>
                    <a:lstStyle/>
                    <a:p>
                      <a:r>
                        <a:rPr lang="en-US" sz="800" b="0" i="0" u="none" strike="noStrike" kern="1200" baseline="0" dirty="0" err="1" smtClean="0">
                          <a:solidFill>
                            <a:schemeClr val="dk1"/>
                          </a:solidFill>
                          <a:latin typeface="+mn-lt"/>
                          <a:ea typeface="+mn-ea"/>
                          <a:cs typeface="+mn-cs"/>
                        </a:rPr>
                        <a:t>time_t</a:t>
                      </a:r>
                      <a:endParaRPr lang="en-US" sz="800" dirty="0"/>
                    </a:p>
                  </a:txBody>
                  <a:tcPr marL="41804" marR="41804" marT="20902" marB="20902"/>
                </a:tc>
                <a:tc>
                  <a:txBody>
                    <a:bodyPr/>
                    <a:lstStyle/>
                    <a:p>
                      <a:r>
                        <a:rPr lang="fr-FR" sz="700" b="0" i="0" u="none" strike="noStrike" kern="1200" baseline="0" dirty="0" smtClean="0">
                          <a:solidFill>
                            <a:schemeClr val="dk1"/>
                          </a:solidFill>
                          <a:latin typeface="Times New Roman" pitchFamily="18" charset="0"/>
                          <a:ea typeface="+mn-ea"/>
                          <a:cs typeface="Times New Roman" pitchFamily="18" charset="0"/>
                        </a:rPr>
                        <a:t>date du dernier accès au fichier. Mise à jour lors de toute lecture ou écriture du contenu du fichier.</a:t>
                      </a:r>
                      <a:endParaRPr lang="en-US" sz="700" dirty="0">
                        <a:latin typeface="Times New Roman" pitchFamily="18" charset="0"/>
                        <a:cs typeface="Times New Roman" pitchFamily="18" charset="0"/>
                      </a:endParaRPr>
                    </a:p>
                  </a:txBody>
                  <a:tcPr marL="41804" marR="41804" marT="20902" marB="20902"/>
                </a:tc>
              </a:tr>
              <a:tr h="376240">
                <a:tc>
                  <a:txBody>
                    <a:bodyPr/>
                    <a:lstStyle/>
                    <a:p>
                      <a:r>
                        <a:rPr lang="en-US" sz="800" b="0" i="0" u="none" strike="noStrike" kern="1200" baseline="0" dirty="0" err="1" smtClean="0">
                          <a:solidFill>
                            <a:schemeClr val="dk1"/>
                          </a:solidFill>
                          <a:latin typeface="+mn-lt"/>
                          <a:ea typeface="+mn-ea"/>
                          <a:cs typeface="+mn-cs"/>
                        </a:rPr>
                        <a:t>st_ctime</a:t>
                      </a:r>
                      <a:endParaRPr lang="en-US" sz="800" dirty="0"/>
                    </a:p>
                  </a:txBody>
                  <a:tcPr marL="41804" marR="41804" marT="20902" marB="20902"/>
                </a:tc>
                <a:tc>
                  <a:txBody>
                    <a:bodyPr/>
                    <a:lstStyle/>
                    <a:p>
                      <a:r>
                        <a:rPr lang="en-US" sz="800" b="0" i="0" u="none" strike="noStrike" kern="1200" baseline="0" dirty="0" err="1" smtClean="0">
                          <a:solidFill>
                            <a:schemeClr val="dk1"/>
                          </a:solidFill>
                          <a:latin typeface="+mn-lt"/>
                          <a:ea typeface="+mn-ea"/>
                          <a:cs typeface="+mn-cs"/>
                        </a:rPr>
                        <a:t>time_t</a:t>
                      </a:r>
                      <a:endParaRPr lang="en-US" sz="800" dirty="0"/>
                    </a:p>
                  </a:txBody>
                  <a:tcPr marL="41804" marR="41804" marT="20902" marB="20902"/>
                </a:tc>
                <a:tc>
                  <a:txBody>
                    <a:bodyPr/>
                    <a:lstStyle/>
                    <a:p>
                      <a:r>
                        <a:rPr lang="fr-FR" sz="700" b="0" i="0" u="none" strike="noStrike" kern="1200" baseline="0" dirty="0" smtClean="0">
                          <a:solidFill>
                            <a:schemeClr val="dk1"/>
                          </a:solidFill>
                          <a:latin typeface="Times New Roman" pitchFamily="18" charset="0"/>
                          <a:ea typeface="+mn-ea"/>
                          <a:cs typeface="Times New Roman" pitchFamily="18" charset="0"/>
                        </a:rPr>
                        <a:t>La date de changement du </a:t>
                      </a:r>
                      <a:r>
                        <a:rPr lang="fr-FR" sz="700" b="0" i="0" u="none" strike="noStrike" kern="1200" baseline="0" dirty="0" err="1" smtClean="0">
                          <a:solidFill>
                            <a:schemeClr val="dk1"/>
                          </a:solidFill>
                          <a:latin typeface="Times New Roman" pitchFamily="18" charset="0"/>
                          <a:ea typeface="+mn-ea"/>
                          <a:cs typeface="Times New Roman" pitchFamily="18" charset="0"/>
                        </a:rPr>
                        <a:t>status</a:t>
                      </a:r>
                      <a:r>
                        <a:rPr lang="fr-FR" sz="700" b="0" i="0" u="none" strike="noStrike" kern="1200" baseline="0" dirty="0" smtClean="0">
                          <a:solidFill>
                            <a:schemeClr val="dk1"/>
                          </a:solidFill>
                          <a:latin typeface="Times New Roman" pitchFamily="18" charset="0"/>
                          <a:ea typeface="+mn-ea"/>
                          <a:cs typeface="Times New Roman" pitchFamily="18" charset="0"/>
                        </a:rPr>
                        <a:t> du fichier est mise à jour à chaque consultation ou</a:t>
                      </a:r>
                    </a:p>
                    <a:p>
                      <a:r>
                        <a:rPr lang="fr-FR" sz="700" b="0" i="0" u="none" strike="noStrike" kern="1200" baseline="0" dirty="0" smtClean="0">
                          <a:solidFill>
                            <a:schemeClr val="dk1"/>
                          </a:solidFill>
                          <a:latin typeface="Times New Roman" pitchFamily="18" charset="0"/>
                          <a:ea typeface="+mn-ea"/>
                          <a:cs typeface="Times New Roman" pitchFamily="18" charset="0"/>
                        </a:rPr>
                        <a:t>modification du contenu du fichier, mais également lors de la modification de ses</a:t>
                      </a:r>
                    </a:p>
                    <a:p>
                      <a:r>
                        <a:rPr lang="en-US" sz="700" b="0" i="0" u="none" strike="noStrike" kern="1200" baseline="0" dirty="0" err="1" smtClean="0">
                          <a:solidFill>
                            <a:schemeClr val="dk1"/>
                          </a:solidFill>
                          <a:latin typeface="Times New Roman" pitchFamily="18" charset="0"/>
                          <a:ea typeface="+mn-ea"/>
                          <a:cs typeface="Times New Roman" pitchFamily="18" charset="0"/>
                        </a:rPr>
                        <a:t>caractéristiques</a:t>
                      </a:r>
                      <a:r>
                        <a:rPr lang="en-US" sz="700" b="0" i="0" u="none" strike="noStrike" kern="1200" baseline="0" dirty="0" smtClean="0">
                          <a:solidFill>
                            <a:schemeClr val="dk1"/>
                          </a:solidFill>
                          <a:latin typeface="Times New Roman" pitchFamily="18" charset="0"/>
                          <a:ea typeface="+mn-ea"/>
                          <a:cs typeface="Times New Roman" pitchFamily="18" charset="0"/>
                        </a:rPr>
                        <a:t> (avec </a:t>
                      </a:r>
                      <a:r>
                        <a:rPr lang="en-US" sz="700" b="0" i="0" u="none" strike="noStrike" kern="1200" baseline="0" dirty="0" err="1" smtClean="0">
                          <a:solidFill>
                            <a:schemeClr val="dk1"/>
                          </a:solidFill>
                          <a:latin typeface="Times New Roman" pitchFamily="18" charset="0"/>
                          <a:ea typeface="+mn-ea"/>
                          <a:cs typeface="Times New Roman" pitchFamily="18" charset="0"/>
                        </a:rPr>
                        <a:t>chmod</a:t>
                      </a:r>
                      <a:r>
                        <a:rPr lang="en-US" sz="700" b="0" i="0" u="none" strike="noStrike" kern="1200" baseline="0" dirty="0" smtClean="0">
                          <a:solidFill>
                            <a:schemeClr val="dk1"/>
                          </a:solidFill>
                          <a:latin typeface="Times New Roman" pitchFamily="18" charset="0"/>
                          <a:ea typeface="+mn-ea"/>
                          <a:cs typeface="Times New Roman" pitchFamily="18" charset="0"/>
                        </a:rPr>
                        <a:t>(), </a:t>
                      </a:r>
                      <a:r>
                        <a:rPr lang="en-US" sz="700" b="0" i="0" u="none" strike="noStrike" kern="1200" baseline="0" dirty="0" err="1" smtClean="0">
                          <a:solidFill>
                            <a:schemeClr val="dk1"/>
                          </a:solidFill>
                          <a:latin typeface="Times New Roman" pitchFamily="18" charset="0"/>
                          <a:ea typeface="+mn-ea"/>
                          <a:cs typeface="Times New Roman" pitchFamily="18" charset="0"/>
                        </a:rPr>
                        <a:t>chown</a:t>
                      </a:r>
                      <a:r>
                        <a:rPr lang="en-US" sz="700" b="0" i="0" u="none" strike="noStrike" kern="1200" baseline="0" dirty="0" smtClean="0">
                          <a:solidFill>
                            <a:schemeClr val="dk1"/>
                          </a:solidFill>
                          <a:latin typeface="Times New Roman" pitchFamily="18" charset="0"/>
                          <a:ea typeface="+mn-ea"/>
                          <a:cs typeface="Times New Roman" pitchFamily="18" charset="0"/>
                        </a:rPr>
                        <a:t>()…).</a:t>
                      </a:r>
                      <a:endParaRPr lang="en-US" sz="700" dirty="0">
                        <a:latin typeface="Times New Roman" pitchFamily="18" charset="0"/>
                        <a:cs typeface="Times New Roman" pitchFamily="18" charset="0"/>
                      </a:endParaRPr>
                    </a:p>
                  </a:txBody>
                  <a:tcPr marL="41804" marR="41804" marT="20902" marB="20902"/>
                </a:tc>
              </a:tr>
              <a:tr h="264761">
                <a:tc>
                  <a:txBody>
                    <a:bodyPr/>
                    <a:lstStyle/>
                    <a:p>
                      <a:r>
                        <a:rPr lang="en-US" sz="800" b="0" i="0" u="none" strike="noStrike" kern="1200" baseline="0" dirty="0" err="1" smtClean="0">
                          <a:solidFill>
                            <a:schemeClr val="dk1"/>
                          </a:solidFill>
                          <a:latin typeface="+mn-lt"/>
                          <a:ea typeface="+mn-ea"/>
                          <a:cs typeface="+mn-cs"/>
                        </a:rPr>
                        <a:t>st_mtime</a:t>
                      </a:r>
                      <a:endParaRPr lang="en-US" sz="800" dirty="0"/>
                    </a:p>
                  </a:txBody>
                  <a:tcPr marL="41804" marR="41804" marT="20902" marB="20902"/>
                </a:tc>
                <a:tc>
                  <a:txBody>
                    <a:bodyPr/>
                    <a:lstStyle/>
                    <a:p>
                      <a:r>
                        <a:rPr lang="en-US" sz="800" b="0" i="0" u="none" strike="noStrike" kern="1200" baseline="0" dirty="0" err="1" smtClean="0">
                          <a:solidFill>
                            <a:schemeClr val="dk1"/>
                          </a:solidFill>
                          <a:latin typeface="+mn-lt"/>
                          <a:ea typeface="+mn-ea"/>
                          <a:cs typeface="+mn-cs"/>
                        </a:rPr>
                        <a:t>time_t</a:t>
                      </a:r>
                      <a:endParaRPr lang="en-US" sz="800" dirty="0"/>
                    </a:p>
                  </a:txBody>
                  <a:tcPr marL="41804" marR="41804" marT="20902" marB="20902"/>
                </a:tc>
                <a:tc>
                  <a:txBody>
                    <a:bodyPr/>
                    <a:lstStyle/>
                    <a:p>
                      <a:r>
                        <a:rPr lang="fr-FR" sz="700" b="0" i="0" u="none" strike="noStrike" kern="1200" baseline="0" dirty="0" smtClean="0">
                          <a:solidFill>
                            <a:schemeClr val="dk1"/>
                          </a:solidFill>
                          <a:latin typeface="Times New Roman" pitchFamily="18" charset="0"/>
                          <a:ea typeface="+mn-ea"/>
                          <a:cs typeface="Times New Roman" pitchFamily="18" charset="0"/>
                        </a:rPr>
                        <a:t>Date de la dernière modification du contenu du fichier. Elle n’est pas affectée par les changements de propriétaire, de permissions…</a:t>
                      </a:r>
                      <a:endParaRPr lang="en-US" sz="700" dirty="0">
                        <a:latin typeface="Times New Roman" pitchFamily="18" charset="0"/>
                        <a:cs typeface="Times New Roman" pitchFamily="18" charset="0"/>
                      </a:endParaRPr>
                    </a:p>
                  </a:txBody>
                  <a:tcPr marL="41804" marR="41804" marT="20902" marB="20902"/>
                </a:tc>
              </a:tr>
            </a:tbl>
          </a:graphicData>
        </a:graphic>
      </p:graphicFrame>
    </p:spTree>
    <p:extLst>
      <p:ext uri="{BB962C8B-B14F-4D97-AF65-F5344CB8AC3E}">
        <p14:creationId xmlns:p14="http://schemas.microsoft.com/office/powerpoint/2010/main" val="33390976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3964"/>
            <a:ext cx="4499783" cy="218971"/>
          </a:xfrm>
          <a:prstGeom prst="rect">
            <a:avLst/>
          </a:prstGeom>
        </p:spPr>
        <p:txBody>
          <a:bodyPr wrap="square">
            <a:spAutoFit/>
          </a:bodyPr>
          <a:lstStyle/>
          <a:p>
            <a:r>
              <a:rPr lang="fr-FR" sz="823" dirty="0">
                <a:solidFill>
                  <a:srgbClr val="7030A0"/>
                </a:solidFill>
              </a:rPr>
              <a:t>La structure </a:t>
            </a:r>
            <a:r>
              <a:rPr lang="fr-FR" sz="823" b="1" dirty="0">
                <a:solidFill>
                  <a:srgbClr val="7030A0"/>
                </a:solidFill>
              </a:rPr>
              <a:t>stat </a:t>
            </a:r>
            <a:r>
              <a:rPr lang="fr-FR" sz="823" dirty="0">
                <a:solidFill>
                  <a:srgbClr val="7030A0"/>
                </a:solidFill>
              </a:rPr>
              <a:t>est définie par SUSv3 comme contenant les membres suivants :</a:t>
            </a:r>
            <a:endParaRPr lang="en-US" sz="823" dirty="0">
              <a:solidFill>
                <a:srgbClr val="7030A0"/>
              </a:solidFill>
            </a:endParaRPr>
          </a:p>
        </p:txBody>
      </p:sp>
      <p:graphicFrame>
        <p:nvGraphicFramePr>
          <p:cNvPr id="8" name="Table 7"/>
          <p:cNvGraphicFramePr>
            <a:graphicFrameLocks noGrp="1"/>
          </p:cNvGraphicFramePr>
          <p:nvPr>
            <p:extLst/>
          </p:nvPr>
        </p:nvGraphicFramePr>
        <p:xfrm>
          <a:off x="38553" y="232383"/>
          <a:ext cx="4571547" cy="1091560"/>
        </p:xfrm>
        <a:graphic>
          <a:graphicData uri="http://schemas.openxmlformats.org/drawingml/2006/table">
            <a:tbl>
              <a:tblPr firstRow="1" bandRow="1">
                <a:tableStyleId>{5C22544A-7EE6-4342-B048-85BDC9FD1C3A}</a:tableStyleId>
              </a:tblPr>
              <a:tblGrid>
                <a:gridCol w="497047"/>
                <a:gridCol w="428532"/>
                <a:gridCol w="3645968"/>
              </a:tblGrid>
              <a:tr h="169540">
                <a:tc>
                  <a:txBody>
                    <a:bodyPr/>
                    <a:lstStyle/>
                    <a:p>
                      <a:r>
                        <a:rPr lang="en-US" sz="800" dirty="0" smtClean="0"/>
                        <a:t>Nom</a:t>
                      </a:r>
                      <a:endParaRPr lang="en-US" sz="800" dirty="0"/>
                    </a:p>
                  </a:txBody>
                  <a:tcPr marL="41804" marR="41804" marT="20902" marB="20902"/>
                </a:tc>
                <a:tc>
                  <a:txBody>
                    <a:bodyPr/>
                    <a:lstStyle/>
                    <a:p>
                      <a:r>
                        <a:rPr lang="en-US" sz="800" dirty="0" smtClean="0"/>
                        <a:t>Type</a:t>
                      </a:r>
                      <a:endParaRPr lang="en-US" sz="800" dirty="0"/>
                    </a:p>
                  </a:txBody>
                  <a:tcPr marL="41804" marR="41804" marT="20902" marB="20902"/>
                </a:tc>
                <a:tc>
                  <a:txBody>
                    <a:bodyPr/>
                    <a:lstStyle/>
                    <a:p>
                      <a:r>
                        <a:rPr lang="en-US" sz="700" dirty="0" smtClean="0">
                          <a:latin typeface="Times New Roman" pitchFamily="18" charset="0"/>
                          <a:cs typeface="Times New Roman" pitchFamily="18" charset="0"/>
                        </a:rPr>
                        <a:t>Signification</a:t>
                      </a:r>
                      <a:endParaRPr lang="en-US" sz="700" dirty="0">
                        <a:latin typeface="Times New Roman" pitchFamily="18" charset="0"/>
                        <a:cs typeface="Times New Roman" pitchFamily="18" charset="0"/>
                      </a:endParaRPr>
                    </a:p>
                  </a:txBody>
                  <a:tcPr marL="41804" marR="41804" marT="20902" marB="20902"/>
                </a:tc>
              </a:tr>
              <a:tr h="376240">
                <a:tc>
                  <a:txBody>
                    <a:bodyPr/>
                    <a:lstStyle/>
                    <a:p>
                      <a:r>
                        <a:rPr lang="en-US" sz="800" b="0" i="0" u="none" strike="noStrike" kern="1200" baseline="0" dirty="0" err="1" smtClean="0">
                          <a:solidFill>
                            <a:schemeClr val="dk1"/>
                          </a:solidFill>
                          <a:latin typeface="+mn-lt"/>
                          <a:ea typeface="+mn-ea"/>
                          <a:cs typeface="+mn-cs"/>
                        </a:rPr>
                        <a:t>st_rdev</a:t>
                      </a:r>
                      <a:endParaRPr lang="en-US" sz="800" dirty="0"/>
                    </a:p>
                  </a:txBody>
                  <a:tcPr marL="41804" marR="41804" marT="20902" marB="20902"/>
                </a:tc>
                <a:tc>
                  <a:txBody>
                    <a:bodyPr/>
                    <a:lstStyle/>
                    <a:p>
                      <a:r>
                        <a:rPr lang="en-US" sz="800" b="0" i="0" u="none" strike="noStrike" kern="1200" baseline="0" dirty="0" err="1" smtClean="0">
                          <a:solidFill>
                            <a:schemeClr val="dk1"/>
                          </a:solidFill>
                          <a:latin typeface="+mn-lt"/>
                          <a:ea typeface="+mn-ea"/>
                          <a:cs typeface="+mn-cs"/>
                        </a:rPr>
                        <a:t>dev_t</a:t>
                      </a:r>
                      <a:endParaRPr lang="en-US" sz="800" dirty="0"/>
                    </a:p>
                  </a:txBody>
                  <a:tcPr marL="41804" marR="41804" marT="20902" marB="20902"/>
                </a:tc>
                <a:tc>
                  <a:txBody>
                    <a:bodyPr/>
                    <a:lstStyle/>
                    <a:p>
                      <a:r>
                        <a:rPr lang="fr-FR" sz="700" b="0" i="0" u="none" strike="noStrike" kern="1200" baseline="0" dirty="0" smtClean="0">
                          <a:solidFill>
                            <a:schemeClr val="dk1"/>
                          </a:solidFill>
                          <a:latin typeface="Times New Roman" pitchFamily="18" charset="0"/>
                          <a:ea typeface="+mn-ea"/>
                          <a:cs typeface="Times New Roman" pitchFamily="18" charset="0"/>
                        </a:rPr>
                        <a:t>Pour un fichier spécial représentant un périphérique, il s’agit des numéros d’identification majeur et mineur. Le numéro majeur est contenu dans le poids fort, le mineur dans </a:t>
                      </a:r>
                      <a:r>
                        <a:rPr lang="en-US" sz="700" b="0" i="0" u="none" strike="noStrike" kern="1200" baseline="0" dirty="0" smtClean="0">
                          <a:solidFill>
                            <a:schemeClr val="dk1"/>
                          </a:solidFill>
                          <a:latin typeface="Times New Roman" pitchFamily="18" charset="0"/>
                          <a:ea typeface="+mn-ea"/>
                          <a:cs typeface="Times New Roman" pitchFamily="18" charset="0"/>
                        </a:rPr>
                        <a:t>le </a:t>
                      </a:r>
                      <a:r>
                        <a:rPr lang="en-US" sz="700" b="0" i="0" u="none" strike="noStrike" kern="1200" baseline="0" dirty="0" err="1" smtClean="0">
                          <a:solidFill>
                            <a:schemeClr val="dk1"/>
                          </a:solidFill>
                          <a:latin typeface="Times New Roman" pitchFamily="18" charset="0"/>
                          <a:ea typeface="+mn-ea"/>
                          <a:cs typeface="Times New Roman" pitchFamily="18" charset="0"/>
                        </a:rPr>
                        <a:t>poids</a:t>
                      </a:r>
                      <a:r>
                        <a:rPr lang="en-US" sz="700" b="0" i="0" u="none" strike="noStrike" kern="1200" baseline="0" dirty="0" smtClean="0">
                          <a:solidFill>
                            <a:schemeClr val="dk1"/>
                          </a:solidFill>
                          <a:latin typeface="Times New Roman" pitchFamily="18" charset="0"/>
                          <a:ea typeface="+mn-ea"/>
                          <a:cs typeface="Times New Roman" pitchFamily="18" charset="0"/>
                        </a:rPr>
                        <a:t> </a:t>
                      </a:r>
                      <a:r>
                        <a:rPr lang="en-US" sz="700" b="0" i="0" u="none" strike="noStrike" kern="1200" baseline="0" dirty="0" err="1" smtClean="0">
                          <a:solidFill>
                            <a:schemeClr val="dk1"/>
                          </a:solidFill>
                          <a:latin typeface="Times New Roman" pitchFamily="18" charset="0"/>
                          <a:ea typeface="+mn-ea"/>
                          <a:cs typeface="Times New Roman" pitchFamily="18" charset="0"/>
                        </a:rPr>
                        <a:t>faible</a:t>
                      </a:r>
                      <a:r>
                        <a:rPr lang="en-US" sz="700" b="0" i="0" u="none" strike="noStrike" kern="1200" baseline="0" dirty="0" smtClean="0">
                          <a:solidFill>
                            <a:schemeClr val="dk1"/>
                          </a:solidFill>
                          <a:latin typeface="Times New Roman" pitchFamily="18" charset="0"/>
                          <a:ea typeface="+mn-ea"/>
                          <a:cs typeface="Times New Roman" pitchFamily="18" charset="0"/>
                        </a:rPr>
                        <a:t>.</a:t>
                      </a:r>
                      <a:endParaRPr lang="en-US" sz="700" dirty="0">
                        <a:latin typeface="Times New Roman" pitchFamily="18" charset="0"/>
                        <a:cs typeface="Times New Roman" pitchFamily="18" charset="0"/>
                      </a:endParaRPr>
                    </a:p>
                  </a:txBody>
                  <a:tcPr marL="41804" marR="41804" marT="20902" marB="20902"/>
                </a:tc>
              </a:tr>
              <a:tr h="169540">
                <a:tc>
                  <a:txBody>
                    <a:bodyPr/>
                    <a:lstStyle/>
                    <a:p>
                      <a:r>
                        <a:rPr lang="en-US" sz="800" b="0" i="0" u="none" strike="noStrike" kern="1200" baseline="0" dirty="0" err="1" smtClean="0">
                          <a:solidFill>
                            <a:schemeClr val="dk1"/>
                          </a:solidFill>
                          <a:latin typeface="+mn-lt"/>
                          <a:ea typeface="+mn-ea"/>
                          <a:cs typeface="+mn-cs"/>
                        </a:rPr>
                        <a:t>st_blksize</a:t>
                      </a:r>
                      <a:endParaRPr lang="en-US" sz="800" dirty="0"/>
                    </a:p>
                  </a:txBody>
                  <a:tcPr marL="41804" marR="41804" marT="20902" marB="20902"/>
                </a:tc>
                <a:tc>
                  <a:txBody>
                    <a:bodyPr/>
                    <a:lstStyle/>
                    <a:p>
                      <a:r>
                        <a:rPr lang="en-US" sz="800" b="0" i="0" u="none" strike="noStrike" kern="1200" baseline="0" dirty="0" smtClean="0">
                          <a:solidFill>
                            <a:schemeClr val="dk1"/>
                          </a:solidFill>
                          <a:latin typeface="+mn-lt"/>
                          <a:ea typeface="+mn-ea"/>
                          <a:cs typeface="+mn-cs"/>
                        </a:rPr>
                        <a:t>long</a:t>
                      </a:r>
                      <a:endParaRPr lang="en-US" sz="800" dirty="0"/>
                    </a:p>
                  </a:txBody>
                  <a:tcPr marL="41804" marR="41804" marT="20902" marB="20902"/>
                </a:tc>
                <a:tc>
                  <a:txBody>
                    <a:bodyPr/>
                    <a:lstStyle/>
                    <a:p>
                      <a:r>
                        <a:rPr lang="fr-FR" sz="700" b="0" i="0" u="none" strike="noStrike" kern="1200" baseline="0" dirty="0" smtClean="0">
                          <a:solidFill>
                            <a:schemeClr val="dk1"/>
                          </a:solidFill>
                          <a:latin typeface="Times New Roman" pitchFamily="18" charset="0"/>
                          <a:ea typeface="+mn-ea"/>
                          <a:cs typeface="Times New Roman" pitchFamily="18" charset="0"/>
                        </a:rPr>
                        <a:t>La taille de bloc(en octets) la mieux adaptée pour les entrées-sorties sur ce fichier.</a:t>
                      </a:r>
                      <a:endParaRPr lang="en-US" sz="700" dirty="0">
                        <a:latin typeface="Times New Roman" pitchFamily="18" charset="0"/>
                        <a:cs typeface="Times New Roman" pitchFamily="18" charset="0"/>
                      </a:endParaRPr>
                    </a:p>
                  </a:txBody>
                  <a:tcPr marL="41804" marR="41804" marT="20902" marB="20902"/>
                </a:tc>
              </a:tr>
              <a:tr h="376240">
                <a:tc>
                  <a:txBody>
                    <a:bodyPr/>
                    <a:lstStyle/>
                    <a:p>
                      <a:r>
                        <a:rPr lang="en-US" sz="800" b="0" i="0" u="none" strike="noStrike" kern="1200" baseline="0" dirty="0" err="1" smtClean="0">
                          <a:solidFill>
                            <a:schemeClr val="dk1"/>
                          </a:solidFill>
                          <a:latin typeface="+mn-lt"/>
                          <a:ea typeface="+mn-ea"/>
                          <a:cs typeface="+mn-cs"/>
                        </a:rPr>
                        <a:t>st_blocks</a:t>
                      </a:r>
                      <a:endParaRPr lang="en-US" sz="800" dirty="0"/>
                    </a:p>
                  </a:txBody>
                  <a:tcPr marL="41804" marR="41804" marT="20902" marB="20902"/>
                </a:tc>
                <a:tc>
                  <a:txBody>
                    <a:bodyPr/>
                    <a:lstStyle/>
                    <a:p>
                      <a:r>
                        <a:rPr lang="en-US" sz="800" b="0" i="0" u="none" strike="noStrike" kern="1200" baseline="0" dirty="0" smtClean="0">
                          <a:solidFill>
                            <a:schemeClr val="dk1"/>
                          </a:solidFill>
                          <a:latin typeface="+mn-lt"/>
                          <a:ea typeface="+mn-ea"/>
                          <a:cs typeface="+mn-cs"/>
                        </a:rPr>
                        <a:t>long</a:t>
                      </a:r>
                      <a:endParaRPr lang="en-US" sz="800" dirty="0"/>
                    </a:p>
                  </a:txBody>
                  <a:tcPr marL="41804" marR="41804" marT="20902" marB="20902"/>
                </a:tc>
                <a:tc>
                  <a:txBody>
                    <a:bodyPr/>
                    <a:lstStyle/>
                    <a:p>
                      <a:r>
                        <a:rPr lang="fr-FR" sz="700" b="0" i="0" u="none" strike="noStrike" kern="1200" baseline="0" dirty="0" smtClean="0">
                          <a:solidFill>
                            <a:schemeClr val="dk1"/>
                          </a:solidFill>
                          <a:latin typeface="Times New Roman" pitchFamily="18" charset="0"/>
                          <a:ea typeface="+mn-ea"/>
                          <a:cs typeface="Times New Roman" pitchFamily="18" charset="0"/>
                        </a:rPr>
                        <a:t>La taille effectivement allouée pour le fichier, telle qu’elle est mesurée par l’utilitaire. Ce champ est évalué en nombre de blocs, mais la taille même des blocs n’est pas disponible de manière portable. </a:t>
                      </a:r>
                      <a:endParaRPr lang="en-US" sz="700" dirty="0">
                        <a:latin typeface="Times New Roman" pitchFamily="18" charset="0"/>
                        <a:cs typeface="Times New Roman" pitchFamily="18" charset="0"/>
                      </a:endParaRPr>
                    </a:p>
                  </a:txBody>
                  <a:tcPr marL="41804" marR="41804" marT="20902" marB="20902"/>
                </a:tc>
              </a:tr>
            </a:tbl>
          </a:graphicData>
        </a:graphic>
      </p:graphicFrame>
    </p:spTree>
    <p:extLst>
      <p:ext uri="{BB962C8B-B14F-4D97-AF65-F5344CB8AC3E}">
        <p14:creationId xmlns:p14="http://schemas.microsoft.com/office/powerpoint/2010/main" val="39714583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Information on a file according to the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-node</a:t>
            </a:r>
            <a:endParaRPr lang="fr-F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sz="1050" dirty="0"/>
              <a:t>To check the type of a file, you must use a macro which takes as an argument the </a:t>
            </a:r>
            <a:r>
              <a:rPr lang="en-US" sz="1050" dirty="0" err="1"/>
              <a:t>st_mode</a:t>
            </a:r>
            <a:r>
              <a:rPr lang="en-US" sz="1050" dirty="0"/>
              <a:t> field of the stat structure</a:t>
            </a:r>
            <a:r>
              <a:rPr lang="en-US" sz="1050" dirty="0" smtClean="0"/>
              <a:t>.</a:t>
            </a:r>
          </a:p>
          <a:p>
            <a:pPr>
              <a:buFont typeface="Wingdings" panose="05000000000000000000" pitchFamily="2" charset="2"/>
              <a:buChar char="Ø"/>
            </a:pPr>
            <a:endParaRPr lang="fr-FR" sz="1050" dirty="0">
              <a:latin typeface="Times New Roman" panose="02020603050405020304" pitchFamily="18" charset="0"/>
              <a:cs typeface="Times New Roman" panose="02020603050405020304" pitchFamily="18" charset="0"/>
            </a:endParaRPr>
          </a:p>
          <a:p>
            <a:endParaRPr lang="fr-FR" sz="1050" dirty="0" smtClean="0">
              <a:latin typeface="Times New Roman" panose="02020603050405020304" pitchFamily="18" charset="0"/>
              <a:cs typeface="Times New Roman" panose="02020603050405020304" pitchFamily="18" charset="0"/>
            </a:endParaRPr>
          </a:p>
          <a:p>
            <a:endParaRPr lang="fr-FR" sz="1050" dirty="0">
              <a:latin typeface="Times New Roman" panose="02020603050405020304" pitchFamily="18" charset="0"/>
              <a:cs typeface="Times New Roman" panose="02020603050405020304" pitchFamily="18" charset="0"/>
            </a:endParaRPr>
          </a:p>
          <a:p>
            <a:endParaRPr lang="fr-FR" sz="1050" dirty="0" smtClean="0">
              <a:latin typeface="Times New Roman" panose="02020603050405020304" pitchFamily="18" charset="0"/>
              <a:cs typeface="Times New Roman" panose="02020603050405020304" pitchFamily="18" charset="0"/>
            </a:endParaRPr>
          </a:p>
          <a:p>
            <a:endParaRPr lang="fr-FR" sz="1050" dirty="0">
              <a:latin typeface="Times New Roman" panose="02020603050405020304" pitchFamily="18" charset="0"/>
              <a:cs typeface="Times New Roman" panose="02020603050405020304" pitchFamily="18" charset="0"/>
            </a:endParaRPr>
          </a:p>
          <a:p>
            <a:r>
              <a:rPr lang="fr-FR" sz="1050" dirty="0" smtClean="0">
                <a:latin typeface="Times New Roman" panose="02020603050405020304" pitchFamily="18" charset="0"/>
                <a:cs typeface="Times New Roman" panose="02020603050405020304" pitchFamily="18" charset="0"/>
              </a:rPr>
              <a:t>Droits d’accès-</a:t>
            </a:r>
            <a:r>
              <a:rPr lang="fr-FR" sz="1050" dirty="0" err="1" smtClean="0">
                <a:latin typeface="Times New Roman" panose="02020603050405020304" pitchFamily="18" charset="0"/>
                <a:cs typeface="Times New Roman" panose="02020603050405020304" pitchFamily="18" charset="0"/>
              </a:rPr>
              <a:t>eg</a:t>
            </a:r>
            <a:r>
              <a:rPr lang="fr-FR" sz="1050" dirty="0" smtClean="0">
                <a:latin typeface="Times New Roman" panose="02020603050405020304" pitchFamily="18" charset="0"/>
                <a:cs typeface="Times New Roman" panose="02020603050405020304" pitchFamily="18" charset="0"/>
              </a:rPr>
              <a:t> </a:t>
            </a:r>
            <a:r>
              <a:rPr lang="fr-FR" sz="1050" dirty="0" smtClean="0">
                <a:solidFill>
                  <a:srgbClr val="960E7C"/>
                </a:solidFill>
                <a:latin typeface="Times New Roman" panose="02020603050405020304" pitchFamily="18" charset="0"/>
                <a:cs typeface="Times New Roman" panose="02020603050405020304" pitchFamily="18" charset="0"/>
              </a:rPr>
              <a:t>S_IRUSR</a:t>
            </a:r>
            <a:r>
              <a:rPr lang="fr-FR" sz="1050" dirty="0" smtClean="0">
                <a:latin typeface="Times New Roman" panose="02020603050405020304" pitchFamily="18" charset="0"/>
                <a:cs typeface="Times New Roman" panose="02020603050405020304" pitchFamily="18" charset="0"/>
              </a:rPr>
              <a:t> lecture pour propriétaire </a:t>
            </a:r>
            <a:r>
              <a:rPr lang="fr-FR" sz="1050" dirty="0" smtClean="0">
                <a:solidFill>
                  <a:srgbClr val="960E7C"/>
                </a:solidFill>
                <a:latin typeface="Times New Roman" panose="02020603050405020304" pitchFamily="18" charset="0"/>
                <a:cs typeface="Times New Roman" panose="02020603050405020304" pitchFamily="18" charset="0"/>
              </a:rPr>
              <a:t>S_IWUSR, S_IXUSR, S_IRGRP….</a:t>
            </a:r>
            <a:endParaRPr lang="fr-FR" sz="1050" dirty="0" smtClean="0">
              <a:latin typeface="Times New Roman" panose="02020603050405020304" pitchFamily="18" charset="0"/>
              <a:cs typeface="Times New Roman" panose="02020603050405020304" pitchFamily="18" charset="0"/>
            </a:endParaRPr>
          </a:p>
          <a:p>
            <a:endParaRPr lang="en-US" sz="1050" dirty="0">
              <a:latin typeface="Times New Roman" panose="02020603050405020304" pitchFamily="18" charset="0"/>
              <a:cs typeface="Times New Roman" panose="02020603050405020304"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635" y="1273175"/>
            <a:ext cx="4389465" cy="1207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73930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dirty="0">
                <a:latin typeface="Times New Roman" panose="02020603050405020304" pitchFamily="18" charset="0"/>
                <a:cs typeface="Times New Roman" panose="02020603050405020304" pitchFamily="18" charset="0"/>
              </a:rPr>
              <a:t>Information on a file according to the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-node</a:t>
            </a:r>
            <a:endParaRPr lang="fr-FR"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stat () function and its variables</a:t>
            </a:r>
            <a:endParaRPr lang="fr-FR"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323850" y="1196975"/>
            <a:ext cx="4114800" cy="10668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000" dirty="0" smtClean="0">
                <a:latin typeface="Courier New" panose="02070309020205020404" pitchFamily="49" charset="0"/>
                <a:cs typeface="Courier New" panose="02070309020205020404" pitchFamily="49" charset="0"/>
              </a:rPr>
              <a:t>#</a:t>
            </a:r>
            <a:r>
              <a:rPr lang="fr-FR" sz="1000" dirty="0" err="1" smtClean="0">
                <a:latin typeface="Courier New" panose="02070309020205020404" pitchFamily="49" charset="0"/>
                <a:cs typeface="Courier New" panose="02070309020205020404" pitchFamily="49" charset="0"/>
              </a:rPr>
              <a:t>include</a:t>
            </a:r>
            <a:r>
              <a:rPr lang="fr-FR" sz="1000" dirty="0" smtClean="0">
                <a:latin typeface="Courier New" panose="02070309020205020404" pitchFamily="49" charset="0"/>
                <a:cs typeface="Courier New" panose="02070309020205020404" pitchFamily="49" charset="0"/>
              </a:rPr>
              <a:t>&lt;</a:t>
            </a:r>
            <a:r>
              <a:rPr lang="fr-FR" sz="1000" dirty="0" err="1" smtClean="0">
                <a:latin typeface="Courier New" panose="02070309020205020404" pitchFamily="49" charset="0"/>
                <a:cs typeface="Courier New" panose="02070309020205020404" pitchFamily="49" charset="0"/>
              </a:rPr>
              <a:t>sys</a:t>
            </a:r>
            <a:r>
              <a:rPr lang="fr-FR" sz="1000" dirty="0" smtClean="0">
                <a:latin typeface="Courier New" panose="02070309020205020404" pitchFamily="49" charset="0"/>
                <a:cs typeface="Courier New" panose="02070309020205020404" pitchFamily="49" charset="0"/>
              </a:rPr>
              <a:t>/</a:t>
            </a:r>
            <a:r>
              <a:rPr lang="fr-FR" sz="1000" dirty="0" err="1" smtClean="0">
                <a:latin typeface="Courier New" panose="02070309020205020404" pitchFamily="49" charset="0"/>
                <a:cs typeface="Courier New" panose="02070309020205020404" pitchFamily="49" charset="0"/>
              </a:rPr>
              <a:t>types.h</a:t>
            </a:r>
            <a:r>
              <a:rPr lang="fr-FR" sz="1000" dirty="0" smtClean="0">
                <a:latin typeface="Courier New" panose="02070309020205020404" pitchFamily="49" charset="0"/>
                <a:cs typeface="Courier New" panose="02070309020205020404" pitchFamily="49" charset="0"/>
              </a:rPr>
              <a:t>&gt;</a:t>
            </a:r>
          </a:p>
          <a:p>
            <a:r>
              <a:rPr lang="fr-FR" sz="1000" dirty="0">
                <a:latin typeface="Courier New" panose="02070309020205020404" pitchFamily="49" charset="0"/>
                <a:cs typeface="Courier New" panose="02070309020205020404" pitchFamily="49" charset="0"/>
              </a:rPr>
              <a:t>#</a:t>
            </a:r>
            <a:r>
              <a:rPr lang="fr-FR" sz="1000" dirty="0" err="1" smtClean="0">
                <a:latin typeface="Courier New" panose="02070309020205020404" pitchFamily="49" charset="0"/>
                <a:cs typeface="Courier New" panose="02070309020205020404" pitchFamily="49" charset="0"/>
              </a:rPr>
              <a:t>include</a:t>
            </a:r>
            <a:r>
              <a:rPr lang="fr-FR" sz="1000" dirty="0" smtClean="0">
                <a:latin typeface="Courier New" panose="02070309020205020404" pitchFamily="49" charset="0"/>
                <a:cs typeface="Courier New" panose="02070309020205020404" pitchFamily="49" charset="0"/>
              </a:rPr>
              <a:t>&lt;</a:t>
            </a:r>
            <a:r>
              <a:rPr lang="fr-FR" sz="1000" dirty="0" err="1" smtClean="0">
                <a:latin typeface="Courier New" panose="02070309020205020404" pitchFamily="49" charset="0"/>
                <a:cs typeface="Courier New" panose="02070309020205020404" pitchFamily="49" charset="0"/>
              </a:rPr>
              <a:t>sys</a:t>
            </a:r>
            <a:r>
              <a:rPr lang="fr-FR" sz="1000" dirty="0" smtClean="0">
                <a:latin typeface="Courier New" panose="02070309020205020404" pitchFamily="49" charset="0"/>
                <a:cs typeface="Courier New" panose="02070309020205020404" pitchFamily="49" charset="0"/>
              </a:rPr>
              <a:t>/</a:t>
            </a:r>
            <a:r>
              <a:rPr lang="fr-FR" sz="1000" dirty="0" err="1" smtClean="0">
                <a:solidFill>
                  <a:srgbClr val="0070C0"/>
                </a:solidFill>
                <a:latin typeface="Courier New" panose="02070309020205020404" pitchFamily="49" charset="0"/>
                <a:cs typeface="Courier New" panose="02070309020205020404" pitchFamily="49" charset="0"/>
              </a:rPr>
              <a:t>stat</a:t>
            </a:r>
            <a:r>
              <a:rPr lang="fr-FR" sz="1000" dirty="0" err="1" smtClean="0">
                <a:latin typeface="Courier New" panose="02070309020205020404" pitchFamily="49" charset="0"/>
                <a:cs typeface="Courier New" panose="02070309020205020404" pitchFamily="49" charset="0"/>
              </a:rPr>
              <a:t>.h</a:t>
            </a:r>
            <a:r>
              <a:rPr lang="fr-FR" sz="1000" dirty="0">
                <a:latin typeface="Courier New" panose="02070309020205020404" pitchFamily="49" charset="0"/>
                <a:cs typeface="Courier New" panose="02070309020205020404" pitchFamily="49" charset="0"/>
              </a:rPr>
              <a:t>&gt;</a:t>
            </a:r>
          </a:p>
          <a:p>
            <a:r>
              <a:rPr lang="fr-FR" sz="1000" dirty="0">
                <a:latin typeface="Courier New" panose="02070309020205020404" pitchFamily="49" charset="0"/>
                <a:cs typeface="Courier New" panose="02070309020205020404" pitchFamily="49" charset="0"/>
              </a:rPr>
              <a:t>#</a:t>
            </a:r>
            <a:r>
              <a:rPr lang="fr-FR" sz="1000" dirty="0" err="1" smtClean="0">
                <a:latin typeface="Courier New" panose="02070309020205020404" pitchFamily="49" charset="0"/>
                <a:cs typeface="Courier New" panose="02070309020205020404" pitchFamily="49" charset="0"/>
              </a:rPr>
              <a:t>include</a:t>
            </a:r>
            <a:r>
              <a:rPr lang="fr-FR" sz="1000" dirty="0" smtClean="0">
                <a:latin typeface="Courier New" panose="02070309020205020404" pitchFamily="49" charset="0"/>
                <a:cs typeface="Courier New" panose="02070309020205020404" pitchFamily="49" charset="0"/>
              </a:rPr>
              <a:t>&lt;</a:t>
            </a:r>
            <a:r>
              <a:rPr lang="fr-FR" sz="1000" dirty="0" err="1" smtClean="0">
                <a:latin typeface="Courier New" panose="02070309020205020404" pitchFamily="49" charset="0"/>
                <a:cs typeface="Courier New" panose="02070309020205020404" pitchFamily="49" charset="0"/>
              </a:rPr>
              <a:t>unistd.h</a:t>
            </a:r>
            <a:r>
              <a:rPr lang="fr-FR" sz="1000" dirty="0" smtClean="0">
                <a:latin typeface="Courier New" panose="02070309020205020404" pitchFamily="49" charset="0"/>
                <a:cs typeface="Courier New" panose="02070309020205020404" pitchFamily="49" charset="0"/>
              </a:rPr>
              <a:t>&gt;</a:t>
            </a:r>
          </a:p>
          <a:p>
            <a:r>
              <a:rPr lang="fr-FR" sz="1000" dirty="0" err="1">
                <a:latin typeface="Courier New" panose="02070309020205020404" pitchFamily="49" charset="0"/>
                <a:cs typeface="Courier New" panose="02070309020205020404" pitchFamily="49" charset="0"/>
              </a:rPr>
              <a:t>i</a:t>
            </a:r>
            <a:r>
              <a:rPr lang="fr-FR" sz="1000" dirty="0" err="1" smtClean="0">
                <a:latin typeface="Courier New" panose="02070309020205020404" pitchFamily="49" charset="0"/>
                <a:cs typeface="Courier New" panose="02070309020205020404" pitchFamily="49" charset="0"/>
              </a:rPr>
              <a:t>nt</a:t>
            </a:r>
            <a:r>
              <a:rPr lang="fr-FR" sz="1000" dirty="0" smtClean="0">
                <a:latin typeface="Courier New" panose="02070309020205020404" pitchFamily="49" charset="0"/>
                <a:cs typeface="Courier New" panose="02070309020205020404" pitchFamily="49" charset="0"/>
              </a:rPr>
              <a:t> </a:t>
            </a:r>
            <a:r>
              <a:rPr lang="fr-FR" sz="1000" dirty="0" smtClean="0">
                <a:solidFill>
                  <a:srgbClr val="0070C0"/>
                </a:solidFill>
                <a:latin typeface="Courier New" panose="02070309020205020404" pitchFamily="49" charset="0"/>
                <a:cs typeface="Courier New" panose="02070309020205020404" pitchFamily="49" charset="0"/>
              </a:rPr>
              <a:t>stat</a:t>
            </a:r>
            <a:r>
              <a:rPr lang="fr-FR" sz="1000" dirty="0" smtClean="0">
                <a:latin typeface="Courier New" panose="02070309020205020404" pitchFamily="49" charset="0"/>
                <a:cs typeface="Courier New" panose="02070309020205020404" pitchFamily="49" charset="0"/>
              </a:rPr>
              <a:t>(</a:t>
            </a:r>
            <a:r>
              <a:rPr lang="fr-FR" sz="1000" dirty="0" err="1" smtClean="0">
                <a:latin typeface="Courier New" panose="02070309020205020404" pitchFamily="49" charset="0"/>
                <a:cs typeface="Courier New" panose="02070309020205020404" pitchFamily="49" charset="0"/>
              </a:rPr>
              <a:t>const</a:t>
            </a:r>
            <a:r>
              <a:rPr lang="fr-FR" sz="1000" dirty="0" smtClean="0">
                <a:latin typeface="Courier New" panose="02070309020205020404" pitchFamily="49" charset="0"/>
                <a:cs typeface="Courier New" panose="02070309020205020404" pitchFamily="49" charset="0"/>
              </a:rPr>
              <a:t> char*</a:t>
            </a:r>
            <a:r>
              <a:rPr lang="fr-FR" sz="1000" dirty="0" err="1" smtClean="0">
                <a:latin typeface="Courier New" panose="02070309020205020404" pitchFamily="49" charset="0"/>
                <a:cs typeface="Courier New" panose="02070309020205020404" pitchFamily="49" charset="0"/>
              </a:rPr>
              <a:t>chemFic,struct</a:t>
            </a:r>
            <a:r>
              <a:rPr lang="fr-FR" sz="1000" dirty="0" smtClean="0">
                <a:latin typeface="Courier New" panose="02070309020205020404" pitchFamily="49" charset="0"/>
                <a:cs typeface="Courier New" panose="02070309020205020404" pitchFamily="49" charset="0"/>
              </a:rPr>
              <a:t> </a:t>
            </a:r>
            <a:r>
              <a:rPr lang="fr-FR" sz="1000" dirty="0" smtClean="0">
                <a:solidFill>
                  <a:srgbClr val="0070C0"/>
                </a:solidFill>
                <a:latin typeface="Courier New" panose="02070309020205020404" pitchFamily="49" charset="0"/>
                <a:cs typeface="Courier New" panose="02070309020205020404" pitchFamily="49" charset="0"/>
              </a:rPr>
              <a:t>stat</a:t>
            </a:r>
            <a:r>
              <a:rPr lang="fr-FR" sz="1000" dirty="0" smtClean="0">
                <a:latin typeface="Courier New" panose="02070309020205020404" pitchFamily="49" charset="0"/>
                <a:cs typeface="Courier New" panose="02070309020205020404" pitchFamily="49" charset="0"/>
              </a:rPr>
              <a:t> *</a:t>
            </a:r>
            <a:r>
              <a:rPr lang="fr-FR" sz="1000" dirty="0" err="1" smtClean="0">
                <a:latin typeface="Courier New" panose="02070309020205020404" pitchFamily="49" charset="0"/>
                <a:cs typeface="Courier New" panose="02070309020205020404" pitchFamily="49" charset="0"/>
              </a:rPr>
              <a:t>buf</a:t>
            </a:r>
            <a:r>
              <a:rPr lang="fr-FR" sz="1000" dirty="0" smtClean="0">
                <a:latin typeface="Courier New" panose="02070309020205020404" pitchFamily="49" charset="0"/>
                <a:cs typeface="Courier New" panose="02070309020205020404" pitchFamily="49" charset="0"/>
              </a:rPr>
              <a:t>)</a:t>
            </a:r>
          </a:p>
          <a:p>
            <a:r>
              <a:rPr lang="fr-FR" sz="1000" dirty="0" err="1">
                <a:latin typeface="Courier New" panose="02070309020205020404" pitchFamily="49" charset="0"/>
                <a:cs typeface="Courier New" panose="02070309020205020404" pitchFamily="49" charset="0"/>
              </a:rPr>
              <a:t>int</a:t>
            </a:r>
            <a:r>
              <a:rPr lang="fr-FR" sz="1000" dirty="0">
                <a:latin typeface="Courier New" panose="02070309020205020404" pitchFamily="49" charset="0"/>
                <a:cs typeface="Courier New" panose="02070309020205020404" pitchFamily="49" charset="0"/>
              </a:rPr>
              <a:t> </a:t>
            </a:r>
            <a:r>
              <a:rPr lang="fr-FR" sz="1000" dirty="0" err="1" smtClean="0">
                <a:latin typeface="Courier New" panose="02070309020205020404" pitchFamily="49" charset="0"/>
                <a:cs typeface="Courier New" panose="02070309020205020404" pitchFamily="49" charset="0"/>
              </a:rPr>
              <a:t>f</a:t>
            </a:r>
            <a:r>
              <a:rPr lang="fr-FR" sz="1000" dirty="0" err="1" smtClean="0">
                <a:solidFill>
                  <a:srgbClr val="0070C0"/>
                </a:solidFill>
                <a:latin typeface="Courier New" panose="02070309020205020404" pitchFamily="49" charset="0"/>
                <a:cs typeface="Courier New" panose="02070309020205020404" pitchFamily="49" charset="0"/>
              </a:rPr>
              <a:t>stat</a:t>
            </a:r>
            <a:r>
              <a:rPr lang="fr-FR" sz="1000" dirty="0" smtClean="0">
                <a:latin typeface="Courier New" panose="02070309020205020404" pitchFamily="49" charset="0"/>
                <a:cs typeface="Courier New" panose="02070309020205020404" pitchFamily="49" charset="0"/>
              </a:rPr>
              <a:t>(</a:t>
            </a:r>
            <a:r>
              <a:rPr lang="fr-FR" sz="1000" dirty="0" err="1" smtClean="0">
                <a:latin typeface="Courier New" panose="02070309020205020404" pitchFamily="49" charset="0"/>
                <a:cs typeface="Courier New" panose="02070309020205020404" pitchFamily="49" charset="0"/>
              </a:rPr>
              <a:t>const</a:t>
            </a:r>
            <a:r>
              <a:rPr lang="fr-FR" sz="1000" dirty="0" smtClean="0">
                <a:latin typeface="Courier New" panose="02070309020205020404" pitchFamily="49" charset="0"/>
                <a:cs typeface="Courier New" panose="02070309020205020404" pitchFamily="49" charset="0"/>
              </a:rPr>
              <a:t> </a:t>
            </a:r>
            <a:r>
              <a:rPr lang="fr-FR" sz="1000" dirty="0" err="1" smtClean="0">
                <a:latin typeface="Courier New" panose="02070309020205020404" pitchFamily="49" charset="0"/>
                <a:cs typeface="Courier New" panose="02070309020205020404" pitchFamily="49" charset="0"/>
              </a:rPr>
              <a:t>int</a:t>
            </a:r>
            <a:r>
              <a:rPr lang="fr-FR" sz="1000" dirty="0" smtClean="0">
                <a:latin typeface="Courier New" panose="02070309020205020404" pitchFamily="49" charset="0"/>
                <a:cs typeface="Courier New" panose="02070309020205020404" pitchFamily="49" charset="0"/>
              </a:rPr>
              <a:t> </a:t>
            </a:r>
            <a:r>
              <a:rPr lang="fr-FR" sz="1000" dirty="0" err="1" smtClean="0">
                <a:latin typeface="Courier New" panose="02070309020205020404" pitchFamily="49" charset="0"/>
                <a:cs typeface="Courier New" panose="02070309020205020404" pitchFamily="49" charset="0"/>
              </a:rPr>
              <a:t>fd,struct</a:t>
            </a:r>
            <a:r>
              <a:rPr lang="fr-FR" sz="1000" dirty="0" smtClean="0">
                <a:latin typeface="Courier New" panose="02070309020205020404" pitchFamily="49" charset="0"/>
                <a:cs typeface="Courier New" panose="02070309020205020404" pitchFamily="49" charset="0"/>
              </a:rPr>
              <a:t> </a:t>
            </a:r>
            <a:r>
              <a:rPr lang="fr-FR" sz="1000" dirty="0">
                <a:solidFill>
                  <a:srgbClr val="0070C0"/>
                </a:solidFill>
                <a:latin typeface="Courier New" panose="02070309020205020404" pitchFamily="49" charset="0"/>
                <a:cs typeface="Courier New" panose="02070309020205020404" pitchFamily="49" charset="0"/>
              </a:rPr>
              <a:t>stat</a:t>
            </a:r>
            <a:r>
              <a:rPr lang="fr-FR" sz="1000" dirty="0">
                <a:latin typeface="Courier New" panose="02070309020205020404" pitchFamily="49" charset="0"/>
                <a:cs typeface="Courier New" panose="02070309020205020404" pitchFamily="49" charset="0"/>
              </a:rPr>
              <a:t> *</a:t>
            </a:r>
            <a:r>
              <a:rPr lang="fr-FR" sz="1000" dirty="0" err="1">
                <a:latin typeface="Courier New" panose="02070309020205020404" pitchFamily="49" charset="0"/>
                <a:cs typeface="Courier New" panose="02070309020205020404" pitchFamily="49" charset="0"/>
              </a:rPr>
              <a:t>buf</a:t>
            </a:r>
            <a:r>
              <a:rPr lang="fr-FR" sz="1000" dirty="0">
                <a:latin typeface="Courier New" panose="02070309020205020404" pitchFamily="49" charset="0"/>
                <a:cs typeface="Courier New" panose="02070309020205020404" pitchFamily="49" charset="0"/>
              </a:rPr>
              <a:t>)</a:t>
            </a:r>
          </a:p>
          <a:p>
            <a:r>
              <a:rPr lang="fr-FR" sz="1000" dirty="0" err="1">
                <a:latin typeface="Courier New" panose="02070309020205020404" pitchFamily="49" charset="0"/>
                <a:cs typeface="Courier New" panose="02070309020205020404" pitchFamily="49" charset="0"/>
              </a:rPr>
              <a:t>int</a:t>
            </a:r>
            <a:r>
              <a:rPr lang="fr-FR" sz="1000" dirty="0">
                <a:latin typeface="Courier New" panose="02070309020205020404" pitchFamily="49" charset="0"/>
                <a:cs typeface="Courier New" panose="02070309020205020404" pitchFamily="49" charset="0"/>
              </a:rPr>
              <a:t> </a:t>
            </a:r>
            <a:r>
              <a:rPr lang="fr-FR" sz="1000" dirty="0" err="1" smtClean="0">
                <a:latin typeface="Courier New" panose="02070309020205020404" pitchFamily="49" charset="0"/>
                <a:cs typeface="Courier New" panose="02070309020205020404" pitchFamily="49" charset="0"/>
              </a:rPr>
              <a:t>l</a:t>
            </a:r>
            <a:r>
              <a:rPr lang="fr-FR" sz="1000" dirty="0" err="1" smtClean="0">
                <a:solidFill>
                  <a:srgbClr val="0070C0"/>
                </a:solidFill>
                <a:latin typeface="Courier New" panose="02070309020205020404" pitchFamily="49" charset="0"/>
                <a:cs typeface="Courier New" panose="02070309020205020404" pitchFamily="49" charset="0"/>
              </a:rPr>
              <a:t>stat</a:t>
            </a:r>
            <a:r>
              <a:rPr lang="fr-FR" sz="1000" dirty="0" smtClean="0">
                <a:latin typeface="Courier New" panose="02070309020205020404" pitchFamily="49" charset="0"/>
                <a:cs typeface="Courier New" panose="02070309020205020404" pitchFamily="49" charset="0"/>
              </a:rPr>
              <a:t>(</a:t>
            </a:r>
            <a:r>
              <a:rPr lang="fr-FR" sz="1000" dirty="0" err="1" smtClean="0">
                <a:latin typeface="Courier New" panose="02070309020205020404" pitchFamily="49" charset="0"/>
                <a:cs typeface="Courier New" panose="02070309020205020404" pitchFamily="49" charset="0"/>
              </a:rPr>
              <a:t>const</a:t>
            </a:r>
            <a:r>
              <a:rPr lang="fr-FR" sz="1000" dirty="0" smtClean="0">
                <a:latin typeface="Courier New" panose="02070309020205020404" pitchFamily="49" charset="0"/>
                <a:cs typeface="Courier New" panose="02070309020205020404" pitchFamily="49" charset="0"/>
              </a:rPr>
              <a:t> </a:t>
            </a:r>
            <a:r>
              <a:rPr lang="fr-FR" sz="1000" dirty="0">
                <a:latin typeface="Courier New" panose="02070309020205020404" pitchFamily="49" charset="0"/>
                <a:cs typeface="Courier New" panose="02070309020205020404" pitchFamily="49" charset="0"/>
              </a:rPr>
              <a:t>char*</a:t>
            </a:r>
            <a:r>
              <a:rPr lang="fr-FR" sz="1000" dirty="0" err="1">
                <a:latin typeface="Courier New" panose="02070309020205020404" pitchFamily="49" charset="0"/>
                <a:cs typeface="Courier New" panose="02070309020205020404" pitchFamily="49" charset="0"/>
              </a:rPr>
              <a:t>chemFic,struct</a:t>
            </a:r>
            <a:r>
              <a:rPr lang="fr-FR" sz="1000" dirty="0">
                <a:latin typeface="Courier New" panose="02070309020205020404" pitchFamily="49" charset="0"/>
                <a:cs typeface="Courier New" panose="02070309020205020404" pitchFamily="49" charset="0"/>
              </a:rPr>
              <a:t> </a:t>
            </a:r>
            <a:r>
              <a:rPr lang="fr-FR" sz="1000" dirty="0">
                <a:solidFill>
                  <a:srgbClr val="0070C0"/>
                </a:solidFill>
                <a:latin typeface="Courier New" panose="02070309020205020404" pitchFamily="49" charset="0"/>
                <a:cs typeface="Courier New" panose="02070309020205020404" pitchFamily="49" charset="0"/>
              </a:rPr>
              <a:t>stat</a:t>
            </a:r>
            <a:r>
              <a:rPr lang="fr-FR" sz="1000" dirty="0">
                <a:latin typeface="Courier New" panose="02070309020205020404" pitchFamily="49" charset="0"/>
                <a:cs typeface="Courier New" panose="02070309020205020404" pitchFamily="49" charset="0"/>
              </a:rPr>
              <a:t> *</a:t>
            </a:r>
            <a:r>
              <a:rPr lang="fr-FR" sz="1000" dirty="0" err="1">
                <a:latin typeface="Courier New" panose="02070309020205020404" pitchFamily="49" charset="0"/>
                <a:cs typeface="Courier New" panose="02070309020205020404" pitchFamily="49" charset="0"/>
              </a:rPr>
              <a:t>buf</a:t>
            </a:r>
            <a:r>
              <a:rPr lang="fr-FR" sz="1000" dirty="0">
                <a:latin typeface="Courier New" panose="02070309020205020404" pitchFamily="49" charset="0"/>
                <a:cs typeface="Courier New" panose="02070309020205020404" pitchFamily="49" charset="0"/>
              </a:rPr>
              <a:t>)</a:t>
            </a:r>
          </a:p>
          <a:p>
            <a:endParaRPr lang="fr-FR" sz="10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r>
              <a:rPr lang="en-US" sz="1200" dirty="0">
                <a:solidFill>
                  <a:schemeClr val="tx1"/>
                </a:solidFill>
                <a:latin typeface="Times New Roman" panose="02020603050405020304" pitchFamily="18" charset="0"/>
                <a:cs typeface="Times New Roman" panose="02020603050405020304" pitchFamily="18" charset="0"/>
              </a:rPr>
              <a:t>The system retrieves the status of the </a:t>
            </a:r>
            <a:r>
              <a:rPr lang="en-US" sz="1200" dirty="0" err="1">
                <a:solidFill>
                  <a:schemeClr val="tx1"/>
                </a:solidFill>
                <a:latin typeface="Times New Roman" panose="02020603050405020304" pitchFamily="18" charset="0"/>
                <a:cs typeface="Times New Roman" panose="02020603050405020304" pitchFamily="18" charset="0"/>
              </a:rPr>
              <a:t>chemFic</a:t>
            </a:r>
            <a:r>
              <a:rPr lang="en-US" sz="1200" dirty="0">
                <a:solidFill>
                  <a:schemeClr val="tx1"/>
                </a:solidFill>
                <a:latin typeface="Times New Roman" panose="02020603050405020304" pitchFamily="18" charset="0"/>
                <a:cs typeface="Times New Roman" panose="02020603050405020304" pitchFamily="18" charset="0"/>
              </a:rPr>
              <a:t> file and fills a variable of type </a:t>
            </a:r>
            <a:r>
              <a:rPr lang="en-US" sz="1200" dirty="0" err="1">
                <a:solidFill>
                  <a:schemeClr val="tx1"/>
                </a:solidFill>
                <a:latin typeface="Times New Roman" panose="02020603050405020304" pitchFamily="18" charset="0"/>
                <a:cs typeface="Times New Roman" panose="02020603050405020304" pitchFamily="18" charset="0"/>
              </a:rPr>
              <a:t>struct</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latin typeface="Times New Roman" panose="02020603050405020304" pitchFamily="18" charset="0"/>
                <a:cs typeface="Times New Roman" panose="02020603050405020304" pitchFamily="18" charset="0"/>
              </a:rPr>
              <a:t>stat</a:t>
            </a:r>
          </a:p>
          <a:p>
            <a:pPr marL="171450" indent="-171450">
              <a:buFont typeface="Wingdings" panose="05000000000000000000" pitchFamily="2" charset="2"/>
              <a:buChar char="Ø"/>
            </a:pP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lstat</a:t>
            </a:r>
            <a:r>
              <a:rPr lang="en-US" sz="1200" dirty="0">
                <a:solidFill>
                  <a:schemeClr val="tx1"/>
                </a:solidFill>
                <a:latin typeface="Times New Roman" panose="02020603050405020304" pitchFamily="18" charset="0"/>
                <a:cs typeface="Times New Roman" panose="02020603050405020304" pitchFamily="18" charset="0"/>
              </a:rPr>
              <a:t> does not follow symbolic links</a:t>
            </a:r>
            <a:endParaRPr lang="fr-FR" sz="1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9501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2400" dirty="0" err="1">
                <a:latin typeface="Times New Roman" panose="02020603050405020304" pitchFamily="18" charset="0"/>
                <a:cs typeface="Times New Roman" panose="02020603050405020304" pitchFamily="18" charset="0"/>
              </a:rPr>
              <a:t>Example</a:t>
            </a:r>
            <a:r>
              <a:rPr lang="fr-FR" sz="2400" dirty="0">
                <a:latin typeface="Times New Roman" panose="02020603050405020304" pitchFamily="18" charset="0"/>
                <a:cs typeface="Times New Roman" panose="02020603050405020304" pitchFamily="18" charset="0"/>
              </a:rPr>
              <a:t> of stat usage:</a:t>
            </a:r>
          </a:p>
        </p:txBody>
      </p:sp>
      <p:sp>
        <p:nvSpPr>
          <p:cNvPr id="3" name="Content Placeholder 2"/>
          <p:cNvSpPr>
            <a:spLocks noGrp="1"/>
          </p:cNvSpPr>
          <p:nvPr>
            <p:ph idx="1"/>
          </p:nvPr>
        </p:nvSpPr>
        <p:spPr>
          <a:xfrm>
            <a:off x="414909" y="889352"/>
            <a:ext cx="2575941" cy="2030307"/>
          </a:xfrm>
        </p:spPr>
        <p:txBody>
          <a:bodyPr>
            <a:normAutofit fontScale="25000" lnSpcReduction="20000"/>
          </a:bodyPr>
          <a:lstStyle/>
          <a:p>
            <a:r>
              <a:rPr lang="fr-FR" sz="3200" dirty="0" err="1">
                <a:latin typeface="Times New Roman" panose="02020603050405020304" pitchFamily="18" charset="0"/>
                <a:cs typeface="Times New Roman" panose="02020603050405020304" pitchFamily="18" charset="0"/>
                <a:hlinkClick r:id="rId3" action="ppaction://hlinkfile"/>
              </a:rPr>
              <a:t>Exemple_stat.c</a:t>
            </a:r>
            <a:endParaRPr lang="en-US" sz="3200" dirty="0" smtClean="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a:t>
            </a:r>
            <a:r>
              <a:rPr lang="en-US" sz="3200" b="1" dirty="0" err="1">
                <a:latin typeface="Times New Roman" panose="02020603050405020304" pitchFamily="18" charset="0"/>
                <a:cs typeface="Times New Roman" panose="02020603050405020304" pitchFamily="18" charset="0"/>
              </a:rPr>
              <a:t>exemple_stat</a:t>
            </a:r>
            <a:r>
              <a:rPr lang="en-US" sz="3200" b="1" dirty="0">
                <a:latin typeface="Times New Roman" panose="02020603050405020304" pitchFamily="18" charset="0"/>
                <a:cs typeface="Times New Roman" panose="02020603050405020304" pitchFamily="18" charset="0"/>
              </a:rPr>
              <a:t> /dev/hda1 /dev/ttyS2 /</a:t>
            </a:r>
            <a:r>
              <a:rPr lang="en-US" sz="3200" b="1" dirty="0" err="1">
                <a:latin typeface="Times New Roman" panose="02020603050405020304" pitchFamily="18" charset="0"/>
                <a:cs typeface="Times New Roman" panose="02020603050405020304" pitchFamily="18" charset="0"/>
              </a:rPr>
              <a:t>etc</a:t>
            </a:r>
            <a:r>
              <a:rPr lang="en-US" sz="3200" b="1" dirty="0">
                <a:latin typeface="Times New Roman" panose="02020603050405020304" pitchFamily="18" charset="0"/>
                <a:cs typeface="Times New Roman" panose="02020603050405020304" pitchFamily="18" charset="0"/>
              </a:rPr>
              <a:t>/</a:t>
            </a:r>
            <a:r>
              <a:rPr lang="en-US" sz="3200" b="1" dirty="0" err="1">
                <a:latin typeface="Times New Roman" panose="02020603050405020304" pitchFamily="18" charset="0"/>
                <a:cs typeface="Times New Roman" panose="02020603050405020304" pitchFamily="18" charset="0"/>
              </a:rPr>
              <a:t>passwd</a:t>
            </a:r>
            <a:endParaRPr lang="en-US" sz="3200" b="1" dirty="0">
              <a:latin typeface="Times New Roman" panose="02020603050405020304" pitchFamily="18" charset="0"/>
              <a:cs typeface="Times New Roman" panose="02020603050405020304" pitchFamily="18" charset="0"/>
            </a:endParaRPr>
          </a:p>
          <a:p>
            <a:r>
              <a:rPr lang="pl-PL" sz="3200" dirty="0">
                <a:latin typeface="Times New Roman" panose="02020603050405020304" pitchFamily="18" charset="0"/>
                <a:cs typeface="Times New Roman" panose="02020603050405020304" pitchFamily="18" charset="0"/>
              </a:rPr>
              <a:t>/dev/hda1 : bloc u:rw- g:rw- o:---</a:t>
            </a:r>
          </a:p>
          <a:p>
            <a:r>
              <a:rPr lang="en-US" sz="3200" dirty="0">
                <a:latin typeface="Times New Roman" panose="02020603050405020304" pitchFamily="18" charset="0"/>
                <a:cs typeface="Times New Roman" panose="02020603050405020304" pitchFamily="18" charset="0"/>
              </a:rPr>
              <a:t>/dev/ttyS2 : </a:t>
            </a:r>
            <a:r>
              <a:rPr lang="en-US" sz="3200" dirty="0" err="1">
                <a:latin typeface="Times New Roman" panose="02020603050405020304" pitchFamily="18" charset="0"/>
                <a:cs typeface="Times New Roman" panose="02020603050405020304" pitchFamily="18" charset="0"/>
              </a:rPr>
              <a:t>caractère</a:t>
            </a:r>
            <a:r>
              <a:rPr lang="en-US" sz="3200" dirty="0">
                <a:latin typeface="Times New Roman" panose="02020603050405020304" pitchFamily="18" charset="0"/>
                <a:cs typeface="Times New Roman" panose="02020603050405020304" pitchFamily="18" charset="0"/>
              </a:rPr>
              <a:t> u:rw- g:--- o:---</a:t>
            </a:r>
          </a:p>
          <a:p>
            <a:r>
              <a:rPr lang="pt-BR" sz="3200" dirty="0">
                <a:latin typeface="Times New Roman" panose="02020603050405020304" pitchFamily="18" charset="0"/>
                <a:cs typeface="Times New Roman" panose="02020603050405020304" pitchFamily="18" charset="0"/>
              </a:rPr>
              <a:t>/etc/passwd : fichier u:rw- g:r-- o:r--</a:t>
            </a:r>
          </a:p>
          <a:p>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a:t>
            </a:r>
            <a:r>
              <a:rPr lang="en-US" sz="3200" b="1" dirty="0" err="1">
                <a:latin typeface="Times New Roman" panose="02020603050405020304" pitchFamily="18" charset="0"/>
                <a:cs typeface="Times New Roman" panose="02020603050405020304" pitchFamily="18" charset="0"/>
              </a:rPr>
              <a:t>exemple_stat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etc</a:t>
            </a:r>
            <a:endParaRPr lang="en-US" sz="3200" b="1" dirty="0">
              <a:latin typeface="Times New Roman" panose="02020603050405020304" pitchFamily="18" charset="0"/>
              <a:cs typeface="Times New Roman" panose="02020603050405020304" pitchFamily="18" charset="0"/>
            </a:endParaRPr>
          </a:p>
          <a:p>
            <a:r>
              <a:rPr lang="pt-BR" sz="3200" dirty="0">
                <a:latin typeface="Times New Roman" panose="02020603050405020304" pitchFamily="18" charset="0"/>
                <a:cs typeface="Times New Roman" panose="02020603050405020304" pitchFamily="18" charset="0"/>
              </a:rPr>
              <a:t>/etc : répertoire u:rwx g:r-x o:r-x</a:t>
            </a:r>
          </a:p>
          <a:p>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a:t>
            </a:r>
            <a:r>
              <a:rPr lang="en-US" sz="3200" b="1" dirty="0" err="1">
                <a:latin typeface="Times New Roman" panose="02020603050405020304" pitchFamily="18" charset="0"/>
                <a:cs typeface="Times New Roman" panose="02020603050405020304" pitchFamily="18" charset="0"/>
              </a:rPr>
              <a:t>exemple_stat</a:t>
            </a:r>
            <a:r>
              <a:rPr lang="en-US" sz="3200" b="1" dirty="0">
                <a:latin typeface="Times New Roman" panose="02020603050405020304" pitchFamily="18" charset="0"/>
                <a:cs typeface="Times New Roman" panose="02020603050405020304" pitchFamily="18" charset="0"/>
              </a:rPr>
              <a:t> | cat</a:t>
            </a:r>
          </a:p>
          <a:p>
            <a:r>
              <a:rPr lang="pl-PL" sz="3200" dirty="0">
                <a:latin typeface="Times New Roman" panose="02020603050405020304" pitchFamily="18" charset="0"/>
                <a:cs typeface="Times New Roman" panose="02020603050405020304" pitchFamily="18" charset="0"/>
              </a:rPr>
              <a:t>stdin : caractère u:rw- g:-w- o:---</a:t>
            </a:r>
          </a:p>
          <a:p>
            <a:r>
              <a:rPr lang="pl-PL" sz="3200" dirty="0">
                <a:latin typeface="Times New Roman" panose="02020603050405020304" pitchFamily="18" charset="0"/>
                <a:cs typeface="Times New Roman" panose="02020603050405020304" pitchFamily="18" charset="0"/>
              </a:rPr>
              <a:t>stdout : fifo u:rw- g:--- o:---</a:t>
            </a:r>
          </a:p>
          <a:p>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cat /dev/null | ./</a:t>
            </a:r>
            <a:r>
              <a:rPr lang="en-US" sz="3200" b="1" dirty="0" err="1">
                <a:latin typeface="Times New Roman" panose="02020603050405020304" pitchFamily="18" charset="0"/>
                <a:cs typeface="Times New Roman" panose="02020603050405020304" pitchFamily="18" charset="0"/>
              </a:rPr>
              <a:t>exemple_stat</a:t>
            </a:r>
            <a:endParaRPr lang="en-US" sz="3200" b="1" dirty="0">
              <a:latin typeface="Times New Roman" panose="02020603050405020304" pitchFamily="18" charset="0"/>
              <a:cs typeface="Times New Roman" panose="02020603050405020304" pitchFamily="18" charset="0"/>
            </a:endParaRPr>
          </a:p>
          <a:p>
            <a:r>
              <a:rPr lang="pl-PL" sz="3200" dirty="0">
                <a:latin typeface="Times New Roman" panose="02020603050405020304" pitchFamily="18" charset="0"/>
                <a:cs typeface="Times New Roman" panose="02020603050405020304" pitchFamily="18" charset="0"/>
              </a:rPr>
              <a:t>stdin : fifo u:rw- g:--- o:---</a:t>
            </a:r>
          </a:p>
          <a:p>
            <a:r>
              <a:rPr lang="pl-PL" sz="3200" dirty="0">
                <a:latin typeface="Times New Roman" panose="02020603050405020304" pitchFamily="18" charset="0"/>
                <a:cs typeface="Times New Roman" panose="02020603050405020304" pitchFamily="18" charset="0"/>
              </a:rPr>
              <a:t>stdout : caractère u:rw- g:-w- o:---</a:t>
            </a:r>
          </a:p>
          <a:p>
            <a:r>
              <a:rPr lang="en-US" sz="3200" dirty="0">
                <a:latin typeface="Times New Roman" panose="02020603050405020304" pitchFamily="18" charset="0"/>
                <a:cs typeface="Times New Roman" panose="02020603050405020304" pitchFamily="18" charset="0"/>
              </a:rPr>
              <a:t>$</a:t>
            </a:r>
          </a:p>
          <a:p>
            <a:endParaRPr lang="en-US" sz="1050" dirty="0"/>
          </a:p>
          <a:p>
            <a:endParaRPr lang="fr-FR" dirty="0"/>
          </a:p>
        </p:txBody>
      </p:sp>
    </p:spTree>
    <p:extLst>
      <p:ext uri="{BB962C8B-B14F-4D97-AF65-F5344CB8AC3E}">
        <p14:creationId xmlns:p14="http://schemas.microsoft.com/office/powerpoint/2010/main" val="7728162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2400" dirty="0" err="1">
                <a:latin typeface="Times New Roman" panose="02020603050405020304" pitchFamily="18" charset="0"/>
                <a:cs typeface="Times New Roman" panose="02020603050405020304" pitchFamily="18" charset="0"/>
              </a:rPr>
              <a:t>Example</a:t>
            </a:r>
            <a:r>
              <a:rPr lang="fr-FR" sz="2400" dirty="0">
                <a:latin typeface="Times New Roman" panose="02020603050405020304" pitchFamily="18" charset="0"/>
                <a:cs typeface="Times New Roman" panose="02020603050405020304" pitchFamily="18" charset="0"/>
              </a:rPr>
              <a:t> of stat usage:</a:t>
            </a:r>
          </a:p>
        </p:txBody>
      </p:sp>
      <p:sp>
        <p:nvSpPr>
          <p:cNvPr id="3" name="Content Placeholder 2"/>
          <p:cNvSpPr>
            <a:spLocks noGrp="1"/>
          </p:cNvSpPr>
          <p:nvPr>
            <p:ph idx="1"/>
          </p:nvPr>
        </p:nvSpPr>
        <p:spPr/>
        <p:txBody>
          <a:bodyPr/>
          <a:lstStyle/>
          <a:p>
            <a:r>
              <a:rPr lang="fr-FR" sz="1050" dirty="0" smtClean="0">
                <a:latin typeface="Times New Roman" panose="02020603050405020304" pitchFamily="18" charset="0"/>
                <a:cs typeface="Times New Roman" panose="02020603050405020304" pitchFamily="18" charset="0"/>
                <a:hlinkClick r:id="rId2" action="ppaction://hlinkfile"/>
              </a:rPr>
              <a:t>Exemple_stat1.c</a:t>
            </a:r>
            <a:endParaRPr lang="fr-FR" sz="1050" dirty="0" smtClean="0">
              <a:latin typeface="Times New Roman" panose="02020603050405020304" pitchFamily="18" charset="0"/>
              <a:cs typeface="Times New Roman" panose="02020603050405020304" pitchFamily="18" charset="0"/>
            </a:endParaRPr>
          </a:p>
          <a:p>
            <a:pPr marL="0" lvl="0" indent="0" defTabSz="914400">
              <a:lnSpc>
                <a:spcPct val="100000"/>
              </a:lnSpc>
              <a:spcBef>
                <a:spcPts val="0"/>
              </a:spcBef>
              <a:spcAft>
                <a:spcPts val="0"/>
              </a:spcAft>
              <a:buClrTx/>
              <a:buSzTx/>
              <a:buNone/>
            </a:pPr>
            <a:r>
              <a:rPr lang="en-US" sz="914" dirty="0">
                <a:solidFill>
                  <a:srgbClr val="002060"/>
                </a:solidFill>
                <a:latin typeface="Times New Roman" pitchFamily="18" charset="0"/>
                <a:cs typeface="Times New Roman" pitchFamily="18" charset="0"/>
              </a:rPr>
              <a:t>$ gcc </a:t>
            </a:r>
            <a:r>
              <a:rPr lang="en-US" sz="914" dirty="0" err="1">
                <a:solidFill>
                  <a:srgbClr val="002060"/>
                </a:solidFill>
                <a:latin typeface="Times New Roman" pitchFamily="18" charset="0"/>
                <a:cs typeface="Times New Roman" pitchFamily="18" charset="0"/>
              </a:rPr>
              <a:t>testStat.c</a:t>
            </a:r>
            <a:r>
              <a:rPr lang="en-US" sz="914" dirty="0">
                <a:solidFill>
                  <a:srgbClr val="002060"/>
                </a:solidFill>
                <a:latin typeface="Times New Roman" pitchFamily="18" charset="0"/>
                <a:cs typeface="Times New Roman" pitchFamily="18" charset="0"/>
              </a:rPr>
              <a:t> -o </a:t>
            </a:r>
            <a:r>
              <a:rPr lang="en-US" sz="914" dirty="0" err="1">
                <a:solidFill>
                  <a:srgbClr val="002060"/>
                </a:solidFill>
                <a:latin typeface="Times New Roman" pitchFamily="18" charset="0"/>
                <a:cs typeface="Times New Roman" pitchFamily="18" charset="0"/>
              </a:rPr>
              <a:t>testStat</a:t>
            </a:r>
            <a:endParaRPr lang="en-US" sz="914" dirty="0">
              <a:solidFill>
                <a:srgbClr val="002060"/>
              </a:solidFill>
              <a:latin typeface="Times New Roman" pitchFamily="18" charset="0"/>
              <a:cs typeface="Times New Roman" pitchFamily="18" charset="0"/>
            </a:endParaRPr>
          </a:p>
          <a:p>
            <a:pPr marL="0" lvl="0" indent="0" defTabSz="914400">
              <a:lnSpc>
                <a:spcPct val="100000"/>
              </a:lnSpc>
              <a:spcBef>
                <a:spcPts val="0"/>
              </a:spcBef>
              <a:spcAft>
                <a:spcPts val="0"/>
              </a:spcAft>
              <a:buClrTx/>
              <a:buSzTx/>
              <a:buNone/>
            </a:pPr>
            <a:r>
              <a:rPr lang="en-US" sz="914" dirty="0">
                <a:solidFill>
                  <a:srgbClr val="002060"/>
                </a:solidFill>
                <a:latin typeface="Times New Roman" pitchFamily="18" charset="0"/>
                <a:cs typeface="Times New Roman" pitchFamily="18" charset="0"/>
              </a:rPr>
              <a:t>$ ls -l</a:t>
            </a:r>
          </a:p>
          <a:p>
            <a:pPr marL="0" lvl="0" indent="0" defTabSz="914400">
              <a:lnSpc>
                <a:spcPct val="100000"/>
              </a:lnSpc>
              <a:spcBef>
                <a:spcPts val="0"/>
              </a:spcBef>
              <a:spcAft>
                <a:spcPts val="0"/>
              </a:spcAft>
              <a:buClrTx/>
              <a:buSzTx/>
              <a:buNone/>
            </a:pPr>
            <a:r>
              <a:rPr lang="en-US" sz="914" dirty="0">
                <a:solidFill>
                  <a:srgbClr val="002060"/>
                </a:solidFill>
                <a:latin typeface="Times New Roman" pitchFamily="18" charset="0"/>
                <a:cs typeface="Times New Roman" pitchFamily="18" charset="0"/>
              </a:rPr>
              <a:t>-</a:t>
            </a:r>
            <a:r>
              <a:rPr lang="en-US" sz="914" dirty="0" err="1">
                <a:solidFill>
                  <a:srgbClr val="002060"/>
                </a:solidFill>
                <a:latin typeface="Times New Roman" pitchFamily="18" charset="0"/>
                <a:cs typeface="Times New Roman" pitchFamily="18" charset="0"/>
              </a:rPr>
              <a:t>rwxr</a:t>
            </a:r>
            <a:r>
              <a:rPr lang="en-US" sz="914" dirty="0">
                <a:solidFill>
                  <a:srgbClr val="002060"/>
                </a:solidFill>
                <a:latin typeface="Times New Roman" pitchFamily="18" charset="0"/>
                <a:cs typeface="Times New Roman" pitchFamily="18" charset="0"/>
              </a:rPr>
              <a:t>-</a:t>
            </a:r>
            <a:r>
              <a:rPr lang="en-US" sz="914" dirty="0" err="1">
                <a:solidFill>
                  <a:srgbClr val="002060"/>
                </a:solidFill>
                <a:latin typeface="Times New Roman" pitchFamily="18" charset="0"/>
                <a:cs typeface="Times New Roman" pitchFamily="18" charset="0"/>
              </a:rPr>
              <a:t>xr</a:t>
            </a:r>
            <a:r>
              <a:rPr lang="en-US" sz="914" dirty="0">
                <a:solidFill>
                  <a:srgbClr val="002060"/>
                </a:solidFill>
                <a:latin typeface="Times New Roman" pitchFamily="18" charset="0"/>
                <a:cs typeface="Times New Roman" pitchFamily="18" charset="0"/>
              </a:rPr>
              <a:t>-x 1 </a:t>
            </a:r>
            <a:r>
              <a:rPr lang="en-US" sz="914" dirty="0" err="1">
                <a:solidFill>
                  <a:srgbClr val="002060"/>
                </a:solidFill>
                <a:latin typeface="Times New Roman" pitchFamily="18" charset="0"/>
                <a:cs typeface="Times New Roman" pitchFamily="18" charset="0"/>
              </a:rPr>
              <a:t>remy</a:t>
            </a:r>
            <a:r>
              <a:rPr lang="en-US" sz="914" dirty="0">
                <a:solidFill>
                  <a:srgbClr val="002060"/>
                </a:solidFill>
                <a:latin typeface="Times New Roman" pitchFamily="18" charset="0"/>
                <a:cs typeface="Times New Roman" pitchFamily="18" charset="0"/>
              </a:rPr>
              <a:t> </a:t>
            </a:r>
            <a:r>
              <a:rPr lang="en-US" sz="914" dirty="0" err="1">
                <a:solidFill>
                  <a:srgbClr val="002060"/>
                </a:solidFill>
                <a:latin typeface="Times New Roman" pitchFamily="18" charset="0"/>
                <a:cs typeface="Times New Roman" pitchFamily="18" charset="0"/>
              </a:rPr>
              <a:t>remy</a:t>
            </a:r>
            <a:r>
              <a:rPr lang="en-US" sz="914" dirty="0">
                <a:solidFill>
                  <a:srgbClr val="002060"/>
                </a:solidFill>
                <a:latin typeface="Times New Roman" pitchFamily="18" charset="0"/>
                <a:cs typeface="Times New Roman" pitchFamily="18" charset="0"/>
              </a:rPr>
              <a:t> 8277 Feb 1 13:03 </a:t>
            </a:r>
            <a:r>
              <a:rPr lang="en-US" sz="914" dirty="0" err="1">
                <a:solidFill>
                  <a:srgbClr val="002060"/>
                </a:solidFill>
                <a:latin typeface="Times New Roman" pitchFamily="18" charset="0"/>
                <a:cs typeface="Times New Roman" pitchFamily="18" charset="0"/>
              </a:rPr>
              <a:t>testStat</a:t>
            </a:r>
            <a:endParaRPr lang="en-US" sz="914" dirty="0">
              <a:solidFill>
                <a:srgbClr val="002060"/>
              </a:solidFill>
              <a:latin typeface="Times New Roman" pitchFamily="18" charset="0"/>
              <a:cs typeface="Times New Roman" pitchFamily="18" charset="0"/>
            </a:endParaRPr>
          </a:p>
          <a:p>
            <a:pPr marL="0" lvl="0" indent="0" defTabSz="914400">
              <a:lnSpc>
                <a:spcPct val="100000"/>
              </a:lnSpc>
              <a:spcBef>
                <a:spcPts val="0"/>
              </a:spcBef>
              <a:spcAft>
                <a:spcPts val="0"/>
              </a:spcAft>
              <a:buClrTx/>
              <a:buSzTx/>
              <a:buNone/>
            </a:pPr>
            <a:r>
              <a:rPr lang="en-US" sz="914" dirty="0">
                <a:solidFill>
                  <a:srgbClr val="002060"/>
                </a:solidFill>
                <a:latin typeface="Times New Roman" pitchFamily="18" charset="0"/>
                <a:cs typeface="Times New Roman" pitchFamily="18" charset="0"/>
              </a:rPr>
              <a:t>-</a:t>
            </a:r>
            <a:r>
              <a:rPr lang="en-US" sz="914" dirty="0" err="1">
                <a:solidFill>
                  <a:srgbClr val="002060"/>
                </a:solidFill>
                <a:latin typeface="Times New Roman" pitchFamily="18" charset="0"/>
                <a:cs typeface="Times New Roman" pitchFamily="18" charset="0"/>
              </a:rPr>
              <a:t>rw</a:t>
            </a:r>
            <a:r>
              <a:rPr lang="en-US" sz="914" dirty="0">
                <a:solidFill>
                  <a:srgbClr val="002060"/>
                </a:solidFill>
                <a:latin typeface="Times New Roman" pitchFamily="18" charset="0"/>
                <a:cs typeface="Times New Roman" pitchFamily="18" charset="0"/>
              </a:rPr>
              <a:t>-r--r-- 1 </a:t>
            </a:r>
            <a:r>
              <a:rPr lang="en-US" sz="914" dirty="0" err="1">
                <a:solidFill>
                  <a:srgbClr val="002060"/>
                </a:solidFill>
                <a:latin typeface="Times New Roman" pitchFamily="18" charset="0"/>
                <a:cs typeface="Times New Roman" pitchFamily="18" charset="0"/>
              </a:rPr>
              <a:t>remy</a:t>
            </a:r>
            <a:r>
              <a:rPr lang="en-US" sz="914" dirty="0">
                <a:solidFill>
                  <a:srgbClr val="002060"/>
                </a:solidFill>
                <a:latin typeface="Times New Roman" pitchFamily="18" charset="0"/>
                <a:cs typeface="Times New Roman" pitchFamily="18" charset="0"/>
              </a:rPr>
              <a:t> </a:t>
            </a:r>
            <a:r>
              <a:rPr lang="en-US" sz="914" dirty="0" err="1">
                <a:solidFill>
                  <a:srgbClr val="002060"/>
                </a:solidFill>
                <a:latin typeface="Times New Roman" pitchFamily="18" charset="0"/>
                <a:cs typeface="Times New Roman" pitchFamily="18" charset="0"/>
              </a:rPr>
              <a:t>remy</a:t>
            </a:r>
            <a:r>
              <a:rPr lang="en-US" sz="914" dirty="0">
                <a:solidFill>
                  <a:srgbClr val="002060"/>
                </a:solidFill>
                <a:latin typeface="Times New Roman" pitchFamily="18" charset="0"/>
                <a:cs typeface="Times New Roman" pitchFamily="18" charset="0"/>
              </a:rPr>
              <a:t> 935 Feb 1 13:03 </a:t>
            </a:r>
            <a:r>
              <a:rPr lang="en-US" sz="914" dirty="0" err="1">
                <a:solidFill>
                  <a:srgbClr val="002060"/>
                </a:solidFill>
                <a:latin typeface="Times New Roman" pitchFamily="18" charset="0"/>
                <a:cs typeface="Times New Roman" pitchFamily="18" charset="0"/>
              </a:rPr>
              <a:t>testStat.c</a:t>
            </a:r>
            <a:endParaRPr lang="en-US" sz="914" dirty="0">
              <a:solidFill>
                <a:srgbClr val="002060"/>
              </a:solidFill>
              <a:latin typeface="Times New Roman" pitchFamily="18" charset="0"/>
              <a:cs typeface="Times New Roman" pitchFamily="18" charset="0"/>
            </a:endParaRPr>
          </a:p>
          <a:p>
            <a:pPr marL="0" lvl="0" indent="0" defTabSz="914400">
              <a:lnSpc>
                <a:spcPct val="100000"/>
              </a:lnSpc>
              <a:spcBef>
                <a:spcPts val="0"/>
              </a:spcBef>
              <a:spcAft>
                <a:spcPts val="0"/>
              </a:spcAft>
              <a:buClrTx/>
              <a:buSzTx/>
              <a:buNone/>
            </a:pPr>
            <a:r>
              <a:rPr lang="en-US" sz="914" dirty="0">
                <a:solidFill>
                  <a:srgbClr val="002060"/>
                </a:solidFill>
                <a:latin typeface="Times New Roman" pitchFamily="18" charset="0"/>
                <a:cs typeface="Times New Roman" pitchFamily="18" charset="0"/>
              </a:rPr>
              <a:t>$ ./</a:t>
            </a:r>
            <a:r>
              <a:rPr lang="en-US" sz="914" dirty="0" err="1">
                <a:solidFill>
                  <a:srgbClr val="002060"/>
                </a:solidFill>
                <a:latin typeface="Times New Roman" pitchFamily="18" charset="0"/>
                <a:cs typeface="Times New Roman" pitchFamily="18" charset="0"/>
              </a:rPr>
              <a:t>testStat</a:t>
            </a:r>
            <a:r>
              <a:rPr lang="en-US" sz="914" dirty="0">
                <a:solidFill>
                  <a:srgbClr val="002060"/>
                </a:solidFill>
                <a:latin typeface="Times New Roman" pitchFamily="18" charset="0"/>
                <a:cs typeface="Times New Roman" pitchFamily="18" charset="0"/>
              </a:rPr>
              <a:t> </a:t>
            </a:r>
            <a:r>
              <a:rPr lang="en-US" sz="914" dirty="0" err="1">
                <a:solidFill>
                  <a:srgbClr val="002060"/>
                </a:solidFill>
                <a:latin typeface="Times New Roman" pitchFamily="18" charset="0"/>
                <a:cs typeface="Times New Roman" pitchFamily="18" charset="0"/>
              </a:rPr>
              <a:t>testStat.c</a:t>
            </a:r>
            <a:endParaRPr lang="en-US" sz="914" dirty="0">
              <a:solidFill>
                <a:srgbClr val="002060"/>
              </a:solidFill>
              <a:latin typeface="Times New Roman" pitchFamily="18" charset="0"/>
              <a:cs typeface="Times New Roman" pitchFamily="18" charset="0"/>
            </a:endParaRPr>
          </a:p>
          <a:p>
            <a:pPr marL="0" lvl="0" indent="0" defTabSz="914400">
              <a:lnSpc>
                <a:spcPct val="100000"/>
              </a:lnSpc>
              <a:spcBef>
                <a:spcPts val="0"/>
              </a:spcBef>
              <a:spcAft>
                <a:spcPts val="0"/>
              </a:spcAft>
              <a:buClrTx/>
              <a:buSzTx/>
              <a:buNone/>
            </a:pPr>
            <a:r>
              <a:rPr lang="fr-FR" sz="914" dirty="0" err="1">
                <a:solidFill>
                  <a:srgbClr val="002060"/>
                </a:solidFill>
                <a:latin typeface="Times New Roman" pitchFamily="18" charset="0"/>
                <a:cs typeface="Times New Roman" pitchFamily="18" charset="0"/>
              </a:rPr>
              <a:t>testStat.c</a:t>
            </a:r>
            <a:r>
              <a:rPr lang="fr-FR" sz="914" dirty="0">
                <a:solidFill>
                  <a:srgbClr val="002060"/>
                </a:solidFill>
                <a:latin typeface="Times New Roman" pitchFamily="18" charset="0"/>
                <a:cs typeface="Times New Roman" pitchFamily="18" charset="0"/>
              </a:rPr>
              <a:t> est un fichier ordinaire</a:t>
            </a:r>
          </a:p>
          <a:p>
            <a:pPr marL="0" lvl="0" indent="0" defTabSz="914400">
              <a:lnSpc>
                <a:spcPct val="100000"/>
              </a:lnSpc>
              <a:spcBef>
                <a:spcPts val="0"/>
              </a:spcBef>
              <a:spcAft>
                <a:spcPts val="0"/>
              </a:spcAft>
              <a:buClrTx/>
              <a:buSzTx/>
              <a:buNone/>
            </a:pPr>
            <a:r>
              <a:rPr lang="fr-FR" sz="914" dirty="0">
                <a:solidFill>
                  <a:srgbClr val="002060"/>
                </a:solidFill>
                <a:latin typeface="Times New Roman" pitchFamily="18" charset="0"/>
                <a:cs typeface="Times New Roman" pitchFamily="18" charset="0"/>
              </a:rPr>
              <a:t>La taille du fichier en octets est 935</a:t>
            </a:r>
          </a:p>
          <a:p>
            <a:pPr marL="0" lvl="0" indent="0" defTabSz="914400">
              <a:lnSpc>
                <a:spcPct val="100000"/>
              </a:lnSpc>
              <a:spcBef>
                <a:spcPts val="0"/>
              </a:spcBef>
              <a:spcAft>
                <a:spcPts val="0"/>
              </a:spcAft>
              <a:buClrTx/>
              <a:buSzTx/>
              <a:buNone/>
            </a:pPr>
            <a:r>
              <a:rPr lang="fr-FR" sz="914" dirty="0">
                <a:solidFill>
                  <a:srgbClr val="002060"/>
                </a:solidFill>
                <a:latin typeface="Times New Roman" pitchFamily="18" charset="0"/>
                <a:cs typeface="Times New Roman" pitchFamily="18" charset="0"/>
              </a:rPr>
              <a:t>Le jour de dernière </a:t>
            </a:r>
            <a:r>
              <a:rPr lang="fr-FR" sz="914" dirty="0" err="1">
                <a:solidFill>
                  <a:srgbClr val="002060"/>
                </a:solidFill>
                <a:latin typeface="Times New Roman" pitchFamily="18" charset="0"/>
                <a:cs typeface="Times New Roman" pitchFamily="18" charset="0"/>
              </a:rPr>
              <a:t>mofification</a:t>
            </a:r>
            <a:r>
              <a:rPr lang="fr-FR" sz="914" dirty="0">
                <a:solidFill>
                  <a:srgbClr val="002060"/>
                </a:solidFill>
                <a:latin typeface="Times New Roman" pitchFamily="18" charset="0"/>
                <a:cs typeface="Times New Roman" pitchFamily="18" charset="0"/>
              </a:rPr>
              <a:t> est 1/2/2008</a:t>
            </a:r>
            <a:endParaRPr lang="fr-FR" sz="914" b="1" dirty="0">
              <a:solidFill>
                <a:srgbClr val="002060"/>
              </a:solidFill>
              <a:latin typeface="Times New Roman" pitchFamily="18" charset="0"/>
              <a:cs typeface="Times New Roman" pitchFamily="18" charset="0"/>
            </a:endParaRPr>
          </a:p>
          <a:p>
            <a:endParaRPr lang="fr-FR" sz="105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02312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err="1">
                <a:latin typeface="Times New Roman" panose="02020603050405020304" pitchFamily="18" charset="0"/>
                <a:cs typeface="Times New Roman" panose="02020603050405020304" pitchFamily="18" charset="0"/>
              </a:rPr>
              <a:t>Error</a:t>
            </a:r>
            <a:r>
              <a:rPr lang="fr-FR" dirty="0">
                <a:latin typeface="Times New Roman" panose="02020603050405020304" pitchFamily="18" charset="0"/>
                <a:cs typeface="Times New Roman" panose="02020603050405020304" pitchFamily="18" charset="0"/>
              </a:rPr>
              <a:t> handling, </a:t>
            </a:r>
            <a:r>
              <a:rPr lang="fr-FR" dirty="0" err="1">
                <a:latin typeface="Times New Roman" panose="02020603050405020304" pitchFamily="18" charset="0"/>
                <a:cs typeface="Times New Roman" panose="02020603050405020304" pitchFamily="18" charset="0"/>
              </a:rPr>
              <a:t>errno</a:t>
            </a:r>
            <a:r>
              <a:rPr lang="fr-FR" dirty="0">
                <a:latin typeface="Times New Roman" panose="02020603050405020304" pitchFamily="18" charset="0"/>
                <a:cs typeface="Times New Roman" panose="02020603050405020304" pitchFamily="18" charset="0"/>
              </a:rPr>
              <a:t> values</a:t>
            </a:r>
          </a:p>
        </p:txBody>
      </p:sp>
      <p:sp>
        <p:nvSpPr>
          <p:cNvPr id="3" name="Content Placeholder 2"/>
          <p:cNvSpPr>
            <a:spLocks noGrp="1"/>
          </p:cNvSpPr>
          <p:nvPr>
            <p:ph idx="1"/>
          </p:nvPr>
        </p:nvSpPr>
        <p:spPr>
          <a:xfrm>
            <a:off x="414909" y="931412"/>
            <a:ext cx="3803333" cy="2170563"/>
          </a:xfrm>
        </p:spPr>
        <p:txBody>
          <a:bodyPr>
            <a:normAutofit/>
          </a:bodyPr>
          <a:lstStyle/>
          <a:p>
            <a:pPr>
              <a:buFont typeface="Wingdings" panose="05000000000000000000" pitchFamily="2" charset="2"/>
              <a:buChar char="Ø"/>
            </a:pPr>
            <a:r>
              <a:rPr lang="en-US" sz="1200" dirty="0"/>
              <a:t>A failed system call sets the </a:t>
            </a:r>
            <a:r>
              <a:rPr lang="en-US" sz="1200" dirty="0" err="1"/>
              <a:t>errno</a:t>
            </a:r>
            <a:r>
              <a:rPr lang="en-US" sz="1200" dirty="0"/>
              <a:t> variable </a:t>
            </a:r>
            <a:endParaRPr lang="en-US" sz="1200" dirty="0" smtClean="0"/>
          </a:p>
          <a:p>
            <a:pPr lvl="1">
              <a:buFont typeface="Wingdings" panose="05000000000000000000" pitchFamily="2" charset="2"/>
              <a:buChar char="Ø"/>
            </a:pPr>
            <a:r>
              <a:rPr lang="en-US" sz="1100" dirty="0" smtClean="0"/>
              <a:t>If </a:t>
            </a:r>
            <a:r>
              <a:rPr lang="en-US" sz="1100" dirty="0"/>
              <a:t>e = -1 often </a:t>
            </a:r>
            <a:r>
              <a:rPr lang="en-US" sz="1100" dirty="0" err="1"/>
              <a:t>errno</a:t>
            </a:r>
            <a:r>
              <a:rPr lang="en-US" sz="1100" dirty="0" smtClean="0"/>
              <a:t>:</a:t>
            </a:r>
          </a:p>
          <a:p>
            <a:pPr lvl="1">
              <a:buFont typeface="Wingdings" panose="05000000000000000000" pitchFamily="2" charset="2"/>
              <a:buChar char="Ø"/>
            </a:pPr>
            <a:r>
              <a:rPr lang="en-US" sz="1100" dirty="0" smtClean="0"/>
              <a:t>ENOENT</a:t>
            </a:r>
            <a:r>
              <a:rPr lang="en-US" sz="1100" dirty="0" smtClean="0">
                <a:sym typeface="Wingdings" panose="05000000000000000000" pitchFamily="2" charset="2"/>
              </a:rPr>
              <a:t></a:t>
            </a:r>
            <a:r>
              <a:rPr lang="en-US" sz="1100" dirty="0" smtClean="0"/>
              <a:t> </a:t>
            </a:r>
            <a:r>
              <a:rPr lang="en-US" sz="1100" dirty="0"/>
              <a:t>non-existent file </a:t>
            </a:r>
            <a:endParaRPr lang="en-US" sz="1100" dirty="0" smtClean="0"/>
          </a:p>
          <a:p>
            <a:pPr lvl="1">
              <a:buFont typeface="Wingdings" panose="05000000000000000000" pitchFamily="2" charset="2"/>
              <a:buChar char="Ø"/>
            </a:pPr>
            <a:r>
              <a:rPr lang="en-US" sz="1100" dirty="0" smtClean="0"/>
              <a:t>EACCES</a:t>
            </a:r>
            <a:r>
              <a:rPr lang="en-US" sz="1100" dirty="0" smtClean="0">
                <a:sym typeface="Wingdings" panose="05000000000000000000" pitchFamily="2" charset="2"/>
              </a:rPr>
              <a:t></a:t>
            </a:r>
            <a:r>
              <a:rPr lang="en-US" sz="1100" dirty="0" smtClean="0"/>
              <a:t> </a:t>
            </a:r>
            <a:r>
              <a:rPr lang="en-US" sz="1100" dirty="0"/>
              <a:t>no access allowed</a:t>
            </a:r>
            <a:endParaRPr lang="fr-FR" sz="11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sz="1200" dirty="0" smtClean="0">
                <a:latin typeface="Times New Roman" panose="02020603050405020304" pitchFamily="18" charset="0"/>
                <a:cs typeface="Times New Roman" panose="02020603050405020304" pitchFamily="18" charset="0"/>
                <a:hlinkClick r:id="rId2" action="ppaction://hlinkfile"/>
              </a:rPr>
              <a:t>Exemple </a:t>
            </a:r>
            <a:endParaRPr lang="fr-FR"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0805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2800" dirty="0">
                <a:latin typeface="Times New Roman" panose="02020603050405020304" pitchFamily="18" charset="0"/>
                <a:cs typeface="Times New Roman" panose="02020603050405020304" pitchFamily="18" charset="0"/>
              </a:rPr>
              <a:t>File </a:t>
            </a:r>
            <a:r>
              <a:rPr lang="fr-FR" sz="2800" dirty="0" err="1">
                <a:latin typeface="Times New Roman" panose="02020603050405020304" pitchFamily="18" charset="0"/>
                <a:cs typeface="Times New Roman" panose="02020603050405020304" pitchFamily="18" charset="0"/>
              </a:rPr>
              <a:t>creation</a:t>
            </a:r>
            <a:endParaRPr lang="en-US" sz="25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Ø"/>
            </a:pPr>
            <a:r>
              <a:rPr lang="fr-FR" i="1" dirty="0"/>
              <a:t>Syntaxe </a:t>
            </a:r>
            <a:r>
              <a:rPr lang="fr-FR" dirty="0"/>
              <a:t>: </a:t>
            </a:r>
            <a:r>
              <a:rPr lang="fr-FR" dirty="0" err="1">
                <a:solidFill>
                  <a:srgbClr val="C00000"/>
                </a:solidFill>
              </a:rPr>
              <a:t>int</a:t>
            </a:r>
            <a:r>
              <a:rPr lang="fr-FR" dirty="0">
                <a:solidFill>
                  <a:srgbClr val="C00000"/>
                </a:solidFill>
              </a:rPr>
              <a:t> </a:t>
            </a:r>
            <a:r>
              <a:rPr lang="fr-FR" dirty="0" err="1">
                <a:solidFill>
                  <a:srgbClr val="C00000"/>
                </a:solidFill>
              </a:rPr>
              <a:t>creat</a:t>
            </a:r>
            <a:r>
              <a:rPr lang="fr-FR" dirty="0">
                <a:solidFill>
                  <a:srgbClr val="C00000"/>
                </a:solidFill>
              </a:rPr>
              <a:t>(</a:t>
            </a:r>
            <a:r>
              <a:rPr lang="fr-FR" dirty="0" err="1">
                <a:solidFill>
                  <a:srgbClr val="C00000"/>
                </a:solidFill>
              </a:rPr>
              <a:t>const</a:t>
            </a:r>
            <a:r>
              <a:rPr lang="fr-FR" dirty="0">
                <a:solidFill>
                  <a:srgbClr val="C00000"/>
                </a:solidFill>
              </a:rPr>
              <a:t> char *</a:t>
            </a:r>
            <a:r>
              <a:rPr lang="fr-FR" dirty="0" err="1">
                <a:solidFill>
                  <a:srgbClr val="C00000"/>
                </a:solidFill>
              </a:rPr>
              <a:t>nom_fichier</a:t>
            </a:r>
            <a:r>
              <a:rPr lang="fr-FR" dirty="0">
                <a:solidFill>
                  <a:srgbClr val="C00000"/>
                </a:solidFill>
              </a:rPr>
              <a:t>, </a:t>
            </a:r>
            <a:r>
              <a:rPr lang="fr-FR" dirty="0" err="1">
                <a:solidFill>
                  <a:srgbClr val="C00000"/>
                </a:solidFill>
              </a:rPr>
              <a:t>mode_t</a:t>
            </a:r>
            <a:r>
              <a:rPr lang="fr-FR" dirty="0">
                <a:solidFill>
                  <a:srgbClr val="C00000"/>
                </a:solidFill>
              </a:rPr>
              <a:t> droits</a:t>
            </a:r>
            <a:r>
              <a:rPr lang="fr-FR" dirty="0" smtClean="0">
                <a:solidFill>
                  <a:srgbClr val="C00000"/>
                </a:solidFill>
              </a:rPr>
              <a:t>)</a:t>
            </a:r>
          </a:p>
          <a:p>
            <a:pPr>
              <a:buFont typeface="Wingdings" panose="05000000000000000000" pitchFamily="2" charset="2"/>
              <a:buChar char="Ø"/>
            </a:pPr>
            <a:r>
              <a:rPr lang="en-US" dirty="0"/>
              <a:t>T</a:t>
            </a:r>
            <a:r>
              <a:rPr lang="en-US" dirty="0" smtClean="0"/>
              <a:t>he </a:t>
            </a:r>
            <a:r>
              <a:rPr lang="en-US" dirty="0"/>
              <a:t>first parameter corresponds to the </a:t>
            </a:r>
            <a:r>
              <a:rPr lang="en-US" dirty="0" smtClean="0"/>
              <a:t>string </a:t>
            </a:r>
            <a:r>
              <a:rPr lang="en-US" dirty="0"/>
              <a:t>defining the name of the file to create. </a:t>
            </a:r>
            <a:endParaRPr lang="en-US" dirty="0" smtClean="0"/>
          </a:p>
          <a:p>
            <a:pPr>
              <a:buFont typeface="Wingdings" panose="05000000000000000000" pitchFamily="2" charset="2"/>
              <a:buChar char="Ø"/>
            </a:pPr>
            <a:r>
              <a:rPr lang="en-US" dirty="0" smtClean="0"/>
              <a:t>The </a:t>
            </a:r>
            <a:r>
              <a:rPr lang="en-US" dirty="0"/>
              <a:t>second parameter defines the access rights to the file, if the file already exists, then Unix recovers the old access rights and overwrites the contents of the file. </a:t>
            </a:r>
            <a:endParaRPr lang="en-US" dirty="0" smtClean="0"/>
          </a:p>
          <a:p>
            <a:pPr>
              <a:buFont typeface="Wingdings" panose="05000000000000000000" pitchFamily="2" charset="2"/>
              <a:buChar char="Ø"/>
            </a:pPr>
            <a:r>
              <a:rPr lang="en-US" dirty="0" smtClean="0"/>
              <a:t>The </a:t>
            </a:r>
            <a:r>
              <a:rPr lang="en-US" dirty="0" err="1"/>
              <a:t>creat</a:t>
            </a:r>
            <a:r>
              <a:rPr lang="en-US" dirty="0"/>
              <a:t> function opens the file for writing and returns an internal number used in future operations on the file, </a:t>
            </a:r>
            <a:endParaRPr lang="en-US" dirty="0" smtClean="0"/>
          </a:p>
          <a:p>
            <a:pPr>
              <a:buFont typeface="Wingdings" panose="05000000000000000000" pitchFamily="2" charset="2"/>
              <a:buChar char="Ø"/>
            </a:pPr>
            <a:r>
              <a:rPr lang="en-US" dirty="0" smtClean="0"/>
              <a:t>if </a:t>
            </a:r>
            <a:r>
              <a:rPr lang="en-US" dirty="0"/>
              <a:t>the number returned is –1 it means that the creation operation has failed.</a:t>
            </a:r>
            <a:endParaRPr lang="fr-FR" dirty="0" smtClean="0">
              <a:solidFill>
                <a:srgbClr val="C00000"/>
              </a:solidFill>
              <a:latin typeface="Times New Roman" panose="02020603050405020304" pitchFamily="18" charset="0"/>
              <a:cs typeface="Times New Roman" panose="02020603050405020304" pitchFamily="18" charset="0"/>
              <a:hlinkClick r:id="rId2" action="ppaction://hlinkfile"/>
            </a:endParaRPr>
          </a:p>
          <a:p>
            <a:pPr>
              <a:buFont typeface="Wingdings" panose="05000000000000000000" pitchFamily="2" charset="2"/>
              <a:buChar char="Ø"/>
            </a:pPr>
            <a:r>
              <a:rPr lang="fr-FR" dirty="0" err="1" smtClean="0">
                <a:solidFill>
                  <a:srgbClr val="C00000"/>
                </a:solidFill>
                <a:latin typeface="Times New Roman" panose="02020603050405020304" pitchFamily="18" charset="0"/>
                <a:cs typeface="Times New Roman" panose="02020603050405020304" pitchFamily="18" charset="0"/>
                <a:hlinkClick r:id="rId2" action="ppaction://hlinkfile"/>
              </a:rPr>
              <a:t>exmple</a:t>
            </a:r>
            <a:endParaRPr lang="en-US"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99645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latin typeface="Times New Roman" panose="02020603050405020304" pitchFamily="18" charset="0"/>
                <a:cs typeface="Times New Roman" panose="02020603050405020304" pitchFamily="18" charset="0"/>
              </a:rPr>
              <a:t>Copy a file</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fr-FR" sz="1300" dirty="0" smtClean="0">
                <a:latin typeface="Times New Roman" panose="02020603050405020304" pitchFamily="18" charset="0"/>
                <a:cs typeface="Times New Roman" panose="02020603050405020304" pitchFamily="18" charset="0"/>
              </a:rPr>
              <a:t>Command Shell  % </a:t>
            </a:r>
            <a:r>
              <a:rPr lang="fr-FR" sz="1300" dirty="0" err="1" smtClean="0">
                <a:latin typeface="Times New Roman" panose="02020603050405020304" pitchFamily="18" charset="0"/>
                <a:cs typeface="Times New Roman" panose="02020603050405020304" pitchFamily="18" charset="0"/>
              </a:rPr>
              <a:t>cp</a:t>
            </a:r>
            <a:r>
              <a:rPr lang="fr-FR" sz="1300" dirty="0" smtClean="0">
                <a:latin typeface="Times New Roman" panose="02020603050405020304" pitchFamily="18" charset="0"/>
                <a:cs typeface="Times New Roman" panose="02020603050405020304" pitchFamily="18" charset="0"/>
              </a:rPr>
              <a:t> Source Destination</a:t>
            </a:r>
          </a:p>
          <a:p>
            <a:pPr>
              <a:buFont typeface="Wingdings" panose="05000000000000000000" pitchFamily="2" charset="2"/>
              <a:buChar char="Ø"/>
            </a:pPr>
            <a:r>
              <a:rPr lang="fr-FR" sz="1400" dirty="0" err="1" smtClean="0">
                <a:latin typeface="Times New Roman" panose="02020603050405020304" pitchFamily="18" charset="0"/>
                <a:cs typeface="Times New Roman" panose="02020603050405020304" pitchFamily="18" charset="0"/>
              </a:rPr>
              <a:t>Programm</a:t>
            </a:r>
            <a:r>
              <a:rPr lang="fr-FR" sz="14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fr-FR" sz="1400" dirty="0" smtClean="0">
                <a:latin typeface="Times New Roman" panose="02020603050405020304" pitchFamily="18" charset="0"/>
                <a:cs typeface="Times New Roman" panose="02020603050405020304" pitchFamily="18" charset="0"/>
              </a:rPr>
              <a:t>Use :</a:t>
            </a:r>
            <a:r>
              <a:rPr lang="fr-FR" sz="1400" dirty="0" smtClean="0">
                <a:solidFill>
                  <a:srgbClr val="00B0F0"/>
                </a:solidFill>
                <a:latin typeface="Times New Roman" panose="02020603050405020304" pitchFamily="18" charset="0"/>
                <a:cs typeface="Times New Roman" panose="02020603050405020304" pitchFamily="18" charset="0"/>
              </a:rPr>
              <a:t> open(), close(), </a:t>
            </a:r>
            <a:r>
              <a:rPr lang="fr-FR" sz="1400" dirty="0" err="1" smtClean="0">
                <a:solidFill>
                  <a:srgbClr val="00B0F0"/>
                </a:solidFill>
                <a:latin typeface="Times New Roman" panose="02020603050405020304" pitchFamily="18" charset="0"/>
                <a:cs typeface="Times New Roman" panose="02020603050405020304" pitchFamily="18" charset="0"/>
              </a:rPr>
              <a:t>read</a:t>
            </a:r>
            <a:r>
              <a:rPr lang="fr-FR" sz="1400" dirty="0" smtClean="0">
                <a:solidFill>
                  <a:srgbClr val="00B0F0"/>
                </a:solidFill>
                <a:latin typeface="Times New Roman" panose="02020603050405020304" pitchFamily="18" charset="0"/>
                <a:cs typeface="Times New Roman" panose="02020603050405020304" pitchFamily="18" charset="0"/>
              </a:rPr>
              <a:t>(),</a:t>
            </a:r>
            <a:r>
              <a:rPr lang="fr-FR" sz="1400" dirty="0" err="1" smtClean="0">
                <a:solidFill>
                  <a:srgbClr val="00B0F0"/>
                </a:solidFill>
                <a:latin typeface="Times New Roman" panose="02020603050405020304" pitchFamily="18" charset="0"/>
                <a:cs typeface="Times New Roman" panose="02020603050405020304" pitchFamily="18" charset="0"/>
              </a:rPr>
              <a:t>write</a:t>
            </a:r>
            <a:r>
              <a:rPr lang="fr-FR" sz="1400" dirty="0" smtClean="0">
                <a:solidFill>
                  <a:srgbClr val="00B0F0"/>
                </a:solidFill>
                <a:latin typeface="Times New Roman" panose="02020603050405020304" pitchFamily="18" charset="0"/>
                <a:cs typeface="Times New Roman" panose="02020603050405020304" pitchFamily="18" charset="0"/>
              </a:rPr>
              <a:t>() </a:t>
            </a:r>
            <a:r>
              <a:rPr lang="fr-FR" sz="1400" dirty="0" smtClean="0">
                <a:solidFill>
                  <a:schemeClr val="tx1"/>
                </a:solidFill>
                <a:latin typeface="Times New Roman" panose="02020603050405020304" pitchFamily="18" charset="0"/>
                <a:cs typeface="Times New Roman" panose="02020603050405020304" pitchFamily="18" charset="0"/>
              </a:rPr>
              <a:t>pour :</a:t>
            </a:r>
          </a:p>
          <a:p>
            <a:pPr lvl="1">
              <a:buFont typeface="Wingdings" panose="05000000000000000000" pitchFamily="2" charset="2"/>
              <a:buChar char="Ø"/>
            </a:pPr>
            <a:r>
              <a:rPr lang="fr-FR" sz="1000" dirty="0" smtClean="0">
                <a:solidFill>
                  <a:schemeClr val="tx1"/>
                </a:solidFill>
                <a:latin typeface="Times New Roman" panose="02020603050405020304" pitchFamily="18" charset="0"/>
                <a:cs typeface="Times New Roman" panose="02020603050405020304" pitchFamily="18" charset="0"/>
              </a:rPr>
              <a:t>Open the file to </a:t>
            </a:r>
            <a:r>
              <a:rPr lang="fr-FR" sz="1000" dirty="0" err="1" smtClean="0">
                <a:solidFill>
                  <a:schemeClr val="tx1"/>
                </a:solidFill>
                <a:latin typeface="Times New Roman" panose="02020603050405020304" pitchFamily="18" charset="0"/>
                <a:cs typeface="Times New Roman" panose="02020603050405020304" pitchFamily="18" charset="0"/>
              </a:rPr>
              <a:t>read</a:t>
            </a:r>
            <a:r>
              <a:rPr lang="fr-FR" sz="1000" dirty="0" smtClean="0">
                <a:solidFill>
                  <a:schemeClr val="tx1"/>
                </a:solidFill>
                <a:latin typeface="Times New Roman" panose="02020603050405020304" pitchFamily="18" charset="0"/>
                <a:cs typeface="Times New Roman" panose="02020603050405020304" pitchFamily="18" charset="0"/>
              </a:rPr>
              <a:t> </a:t>
            </a:r>
            <a:r>
              <a:rPr lang="fr-FR" sz="1000" dirty="0" err="1" smtClean="0">
                <a:solidFill>
                  <a:schemeClr val="tx1"/>
                </a:solidFill>
                <a:latin typeface="Times New Roman" panose="02020603050405020304" pitchFamily="18" charset="0"/>
                <a:cs typeface="Times New Roman" panose="02020603050405020304" pitchFamily="18" charset="0"/>
              </a:rPr>
              <a:t>respectivelly</a:t>
            </a:r>
            <a:r>
              <a:rPr lang="fr-FR" sz="1000" dirty="0" smtClean="0">
                <a:solidFill>
                  <a:schemeClr val="tx1"/>
                </a:solidFill>
                <a:latin typeface="Times New Roman" panose="02020603050405020304" pitchFamily="18" charset="0"/>
                <a:cs typeface="Times New Roman" panose="02020603050405020304" pitchFamily="18" charset="0"/>
              </a:rPr>
              <a:t> to </a:t>
            </a:r>
            <a:r>
              <a:rPr lang="fr-FR" sz="1000" dirty="0" err="1" smtClean="0">
                <a:solidFill>
                  <a:schemeClr val="tx1"/>
                </a:solidFill>
                <a:latin typeface="Times New Roman" panose="02020603050405020304" pitchFamily="18" charset="0"/>
                <a:cs typeface="Times New Roman" panose="02020603050405020304" pitchFamily="18" charset="0"/>
              </a:rPr>
              <a:t>write</a:t>
            </a:r>
            <a:endParaRPr lang="fr-FR" sz="1000" dirty="0" smtClean="0">
              <a:solidFill>
                <a:schemeClr val="tx1"/>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fr-FR" sz="1000" dirty="0" smtClean="0">
                <a:solidFill>
                  <a:schemeClr val="tx1"/>
                </a:solidFill>
                <a:latin typeface="Times New Roman" panose="02020603050405020304" pitchFamily="18" charset="0"/>
                <a:cs typeface="Times New Roman" panose="02020603050405020304" pitchFamily="18" charset="0"/>
              </a:rPr>
              <a:t>Read bytes : source file </a:t>
            </a:r>
            <a:r>
              <a:rPr lang="fr-FR" sz="10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zone memory</a:t>
            </a:r>
          </a:p>
          <a:p>
            <a:pPr lvl="1">
              <a:buFont typeface="Wingdings" panose="05000000000000000000" pitchFamily="2" charset="2"/>
              <a:buChar char="Ø"/>
            </a:pPr>
            <a:r>
              <a:rPr lang="fr-FR" sz="10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Write bytes : zone memory  destination file</a:t>
            </a:r>
          </a:p>
          <a:p>
            <a:pPr lvl="1">
              <a:buFont typeface="Wingdings" panose="05000000000000000000" pitchFamily="2" charset="2"/>
              <a:buChar char="Ø"/>
            </a:pPr>
            <a:r>
              <a:rPr lang="fr-FR" sz="10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Repeat</a:t>
            </a:r>
            <a:r>
              <a:rPr lang="fr-FR" sz="10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fr-FR" sz="10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from</a:t>
            </a:r>
            <a:r>
              <a:rPr lang="fr-FR" sz="10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point 2 </a:t>
            </a:r>
            <a:r>
              <a:rPr lang="fr-FR" sz="10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while</a:t>
            </a:r>
            <a:r>
              <a:rPr lang="fr-FR" sz="10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fr-FR" sz="10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there</a:t>
            </a:r>
            <a:r>
              <a:rPr lang="fr-FR" sz="10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fr-FR" sz="10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is</a:t>
            </a:r>
            <a:r>
              <a:rPr lang="fr-FR" sz="10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fr-FR" sz="10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something</a:t>
            </a:r>
            <a:r>
              <a:rPr lang="fr-FR" sz="10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to copy</a:t>
            </a:r>
          </a:p>
          <a:p>
            <a:pPr lvl="1">
              <a:buFont typeface="Wingdings" panose="05000000000000000000" pitchFamily="2" charset="2"/>
              <a:buChar char="Ø"/>
            </a:pPr>
            <a:r>
              <a:rPr lang="fr-FR" sz="10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Close files </a:t>
            </a:r>
          </a:p>
          <a:p>
            <a:pPr>
              <a:buFont typeface="Wingdings" panose="05000000000000000000" pitchFamily="2" charset="2"/>
              <a:buChar char="Ø"/>
            </a:pPr>
            <a:r>
              <a:rPr lang="fr-FR" sz="11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hlinkClick r:id="rId2" action="ppaction://hlinkfile"/>
              </a:rPr>
              <a:t>Exemple copy</a:t>
            </a:r>
            <a:endParaRPr lang="fr-FR" sz="11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44542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latin typeface="Times New Roman" panose="02020603050405020304" pitchFamily="18" charset="0"/>
                <a:cs typeface="Times New Roman" panose="02020603050405020304" pitchFamily="18" charset="0"/>
              </a:rPr>
              <a:t>Comment on the </a:t>
            </a:r>
            <a:r>
              <a:rPr lang="en-US" sz="2400" dirty="0" smtClean="0">
                <a:latin typeface="Times New Roman" panose="02020603050405020304" pitchFamily="18" charset="0"/>
                <a:cs typeface="Times New Roman" panose="02020603050405020304" pitchFamily="18" charset="0"/>
              </a:rPr>
              <a:t>program : </a:t>
            </a:r>
            <a:r>
              <a:rPr lang="en-US" sz="2400" dirty="0">
                <a:latin typeface="Times New Roman" panose="02020603050405020304" pitchFamily="18" charset="0"/>
                <a:cs typeface="Times New Roman" panose="02020603050405020304" pitchFamily="18" charset="0"/>
              </a:rPr>
              <a:t>copy of a file</a:t>
            </a:r>
            <a:endParaRPr lang="fr-FR"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Ø"/>
            </a:pPr>
            <a:r>
              <a:rPr lang="fr-FR" sz="1300" dirty="0" err="1" smtClean="0">
                <a:latin typeface="Times New Roman" panose="02020603050405020304" pitchFamily="18" charset="0"/>
                <a:cs typeface="Times New Roman" panose="02020603050405020304" pitchFamily="18" charset="0"/>
              </a:rPr>
              <a:t>Include</a:t>
            </a:r>
            <a:r>
              <a:rPr lang="fr-FR" sz="1300" dirty="0" smtClean="0">
                <a:latin typeface="Times New Roman" panose="02020603050405020304" pitchFamily="18" charset="0"/>
                <a:cs typeface="Times New Roman" panose="02020603050405020304" pitchFamily="18" charset="0"/>
              </a:rPr>
              <a:t> </a:t>
            </a:r>
            <a:r>
              <a:rPr lang="fr-FR" sz="1300" dirty="0" err="1" smtClean="0">
                <a:latin typeface="Times New Roman" panose="02020603050405020304" pitchFamily="18" charset="0"/>
                <a:cs typeface="Times New Roman" panose="02020603050405020304" pitchFamily="18" charset="0"/>
              </a:rPr>
              <a:t>libraries</a:t>
            </a:r>
            <a:r>
              <a:rPr lang="fr-FR" sz="1300" dirty="0" smtClean="0">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fr-FR" sz="1300" dirty="0" smtClean="0">
                <a:solidFill>
                  <a:srgbClr val="0070C0"/>
                </a:solidFill>
                <a:latin typeface="Times New Roman" panose="02020603050405020304" pitchFamily="18" charset="0"/>
                <a:cs typeface="Times New Roman" panose="02020603050405020304" pitchFamily="18" charset="0"/>
              </a:rPr>
              <a:t>Open files </a:t>
            </a:r>
            <a:r>
              <a:rPr lang="fr-FR" sz="1300" dirty="0" smtClean="0">
                <a:latin typeface="Times New Roman" panose="02020603050405020304" pitchFamily="18" charset="0"/>
                <a:cs typeface="Times New Roman" panose="02020603050405020304" pitchFamily="18" charset="0"/>
                <a:sym typeface="Wingdings" panose="05000000000000000000" pitchFamily="2" charset="2"/>
              </a:rPr>
              <a:t> </a:t>
            </a:r>
            <a:r>
              <a:rPr lang="fr-FR" sz="1300" dirty="0" err="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names</a:t>
            </a:r>
            <a:endParaRPr lang="fr-FR" sz="13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r>
              <a:rPr lang="fr-FR" sz="1300" dirty="0" smtClean="0">
                <a:solidFill>
                  <a:srgbClr val="0070C0"/>
                </a:solidFill>
                <a:latin typeface="Times New Roman" panose="02020603050405020304" pitchFamily="18" charset="0"/>
                <a:cs typeface="Times New Roman" panose="02020603050405020304" pitchFamily="18" charset="0"/>
                <a:sym typeface="Wingdings" panose="05000000000000000000" pitchFamily="2" charset="2"/>
              </a:rPr>
              <a:t>Read/</a:t>
            </a:r>
            <a:r>
              <a:rPr lang="fr-FR" sz="1300" dirty="0" err="1" smtClean="0">
                <a:solidFill>
                  <a:srgbClr val="0070C0"/>
                </a:solidFill>
                <a:latin typeface="Times New Roman" panose="02020603050405020304" pitchFamily="18" charset="0"/>
                <a:cs typeface="Times New Roman" panose="02020603050405020304" pitchFamily="18" charset="0"/>
                <a:sym typeface="Wingdings" panose="05000000000000000000" pitchFamily="2" charset="2"/>
              </a:rPr>
              <a:t>write</a:t>
            </a:r>
            <a:r>
              <a:rPr lang="fr-FR" sz="13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fr-FR" sz="1300" dirty="0" err="1" smtClean="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file</a:t>
            </a:r>
            <a:r>
              <a:rPr lang="fr-FR" sz="1300" dirty="0" smtClean="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 </a:t>
            </a:r>
            <a:r>
              <a:rPr lang="fr-FR" sz="1300" dirty="0" err="1" smtClean="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descriptors</a:t>
            </a:r>
            <a:endParaRPr lang="fr-FR" sz="1300" dirty="0" smtClean="0">
              <a:solidFill>
                <a:srgbClr val="00B050"/>
              </a:solidFill>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r>
              <a:rPr lang="fr-FR" sz="13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read</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file </a:t>
            </a:r>
            <a:r>
              <a:rPr lang="fr-FR" sz="1300" dirty="0" smtClean="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zone memory </a:t>
            </a:r>
            <a:r>
              <a:rPr lang="fr-FR" sz="1300" dirty="0" err="1" smtClean="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reserved</a:t>
            </a:r>
            <a:r>
              <a:rPr lang="fr-FR" sz="1300" dirty="0" smtClean="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 for</a:t>
            </a:r>
            <a:r>
              <a:rPr lang="fr-FR" sz="130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fr-FR" sz="13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programm</a:t>
            </a:r>
            <a:endPar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r>
              <a:rPr lang="fr-FR" sz="13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write</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fr-FR" sz="1300" dirty="0" smtClean="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 </a:t>
            </a:r>
            <a:r>
              <a:rPr lang="fr-FR" sz="1300" dirty="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zone </a:t>
            </a:r>
            <a:r>
              <a:rPr lang="fr-FR" sz="1300" dirty="0" smtClean="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memory</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fr-FR" sz="13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other</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file </a:t>
            </a:r>
          </a:p>
          <a:p>
            <a:pPr>
              <a:buFont typeface="Wingdings" panose="05000000000000000000" pitchFamily="2" charset="2"/>
              <a:buChar char="Ø"/>
            </a:pPr>
            <a:r>
              <a:rPr lang="fr-FR" sz="13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Closing</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fr-FR" sz="13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access</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p>
          <a:p>
            <a:pPr>
              <a:buFont typeface="Wingdings" panose="05000000000000000000" pitchFamily="2" charset="2"/>
              <a:buChar char="Ø"/>
            </a:pPr>
            <a:r>
              <a:rPr lang="fr-FR" sz="13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Work</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 </a:t>
            </a:r>
            <a:r>
              <a:rPr lang="fr-FR" sz="1300" dirty="0" err="1" smtClean="0">
                <a:solidFill>
                  <a:srgbClr val="0070C0"/>
                </a:solidFill>
                <a:latin typeface="Times New Roman" panose="02020603050405020304" pitchFamily="18" charset="0"/>
                <a:cs typeface="Times New Roman" panose="02020603050405020304" pitchFamily="18" charset="0"/>
                <a:sym typeface="Wingdings" panose="05000000000000000000" pitchFamily="2" charset="2"/>
              </a:rPr>
              <a:t>read</a:t>
            </a:r>
            <a:r>
              <a:rPr lang="fr-FR" sz="1300" dirty="0" smtClean="0">
                <a:solidFill>
                  <a:srgbClr val="0070C0"/>
                </a:solidFill>
                <a:latin typeface="Times New Roman" panose="02020603050405020304" pitchFamily="18" charset="0"/>
                <a:cs typeface="Times New Roman" panose="02020603050405020304" pitchFamily="18" charset="0"/>
                <a:sym typeface="Wingdings" panose="05000000000000000000" pitchFamily="2" charset="2"/>
              </a:rPr>
              <a:t>()</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and </a:t>
            </a:r>
            <a:r>
              <a:rPr lang="fr-FR" sz="1300" dirty="0" err="1" smtClean="0">
                <a:solidFill>
                  <a:srgbClr val="0070C0"/>
                </a:solidFill>
                <a:latin typeface="Times New Roman" panose="02020603050405020304" pitchFamily="18" charset="0"/>
                <a:cs typeface="Times New Roman" panose="02020603050405020304" pitchFamily="18" charset="0"/>
                <a:sym typeface="Wingdings" panose="05000000000000000000" pitchFamily="2" charset="2"/>
              </a:rPr>
              <a:t>write</a:t>
            </a:r>
            <a:r>
              <a:rPr lang="fr-FR" sz="1300" dirty="0">
                <a:solidFill>
                  <a:srgbClr val="0070C0"/>
                </a:solidFill>
                <a:latin typeface="Times New Roman" panose="02020603050405020304" pitchFamily="18" charset="0"/>
                <a:cs typeface="Times New Roman" panose="02020603050405020304" pitchFamily="18" charset="0"/>
                <a:sym typeface="Wingdings" panose="05000000000000000000" pitchFamily="2" charset="2"/>
              </a:rPr>
              <a:t>() </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in </a:t>
            </a:r>
            <a:r>
              <a:rPr lang="fr-FR" sz="13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kernel</a:t>
            </a:r>
            <a:endPar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r>
              <a:rPr lang="fr-FR" sz="1100" dirty="0" err="1"/>
              <a:t>Generality</a:t>
            </a:r>
            <a:r>
              <a:rPr lang="fr-FR" sz="1100" dirty="0"/>
              <a:t> </a:t>
            </a:r>
            <a:r>
              <a:rPr lang="fr-FR" sz="1300" dirty="0" smtClean="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open() </a:t>
            </a:r>
            <a:r>
              <a:rPr lang="fr-FR" sz="13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is</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the </a:t>
            </a:r>
            <a:r>
              <a:rPr lang="fr-FR" sz="13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same</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for all files?</a:t>
            </a:r>
          </a:p>
          <a:p>
            <a:pPr>
              <a:buFont typeface="Wingdings" panose="05000000000000000000" pitchFamily="2" charset="2"/>
              <a:buChar char="Ø"/>
            </a:pPr>
            <a:r>
              <a:rPr lang="fr-FR" sz="1100" dirty="0"/>
              <a:t>Settings </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open-</a:t>
            </a:r>
            <a:r>
              <a:rPr lang="fr-FR" sz="13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read</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fr-FR" sz="13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write</a:t>
            </a:r>
            <a:r>
              <a:rPr lang="fr-FR" sz="13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-close</a:t>
            </a:r>
            <a:endParaRPr lang="fr-FR"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00975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latin typeface="Times New Roman" panose="02020603050405020304" pitchFamily="18" charset="0"/>
                <a:cs typeface="Times New Roman" panose="02020603050405020304" pitchFamily="18" charset="0"/>
              </a:rPr>
              <a:t>Open  a file</a:t>
            </a:r>
            <a:endParaRPr lang="fr-F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fr-FR" sz="800" dirty="0"/>
              <a:t>File </a:t>
            </a:r>
            <a:r>
              <a:rPr lang="fr-FR" sz="800" dirty="0" err="1"/>
              <a:t>opening</a:t>
            </a:r>
            <a:r>
              <a:rPr lang="fr-FR" sz="800" dirty="0"/>
              <a:t> </a:t>
            </a:r>
            <a:r>
              <a:rPr lang="fr-FR" sz="800" dirty="0" smtClean="0">
                <a:latin typeface="Times New Roman" panose="02020603050405020304" pitchFamily="18" charset="0"/>
                <a:cs typeface="Times New Roman" panose="02020603050405020304" pitchFamily="18" charset="0"/>
                <a:sym typeface="Wingdings" panose="05000000000000000000" pitchFamily="2" charset="2"/>
              </a:rPr>
              <a:t></a:t>
            </a:r>
            <a:r>
              <a:rPr lang="en-US" sz="800" dirty="0" smtClean="0">
                <a:latin typeface="Times New Roman" panose="02020603050405020304" pitchFamily="18" charset="0"/>
                <a:cs typeface="Times New Roman" panose="02020603050405020304" pitchFamily="18" charset="0"/>
              </a:rPr>
              <a:t>get </a:t>
            </a:r>
            <a:r>
              <a:rPr lang="en-US" sz="800" dirty="0">
                <a:latin typeface="Times New Roman" panose="02020603050405020304" pitchFamily="18" charset="0"/>
                <a:cs typeface="Times New Roman" panose="02020603050405020304" pitchFamily="18" charset="0"/>
              </a:rPr>
              <a:t>file descriptor - open () </a:t>
            </a:r>
            <a:r>
              <a:rPr lang="en-US" sz="800" dirty="0" smtClean="0">
                <a:latin typeface="Times New Roman" panose="02020603050405020304" pitchFamily="18" charset="0"/>
                <a:cs typeface="Times New Roman" panose="02020603050405020304" pitchFamily="18" charset="0"/>
              </a:rPr>
              <a:t>function</a:t>
            </a:r>
          </a:p>
          <a:p>
            <a:pPr>
              <a:buFont typeface="Wingdings" panose="05000000000000000000" pitchFamily="2" charset="2"/>
              <a:buChar char="Ø"/>
            </a:pPr>
            <a:endParaRPr lang="fr-FR" sz="8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sz="900" dirty="0" smtClean="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sz="9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sz="900" dirty="0" smtClean="0">
                <a:solidFill>
                  <a:srgbClr val="00B050"/>
                </a:solidFill>
                <a:latin typeface="Times New Roman" panose="02020603050405020304" pitchFamily="18" charset="0"/>
                <a:cs typeface="Times New Roman" panose="02020603050405020304" pitchFamily="18" charset="0"/>
              </a:rPr>
              <a:t>oflag </a:t>
            </a:r>
            <a:r>
              <a:rPr lang="fr-FR" sz="900" dirty="0">
                <a:solidFill>
                  <a:srgbClr val="00B050"/>
                </a:solidFill>
                <a:latin typeface="Times New Roman" panose="02020603050405020304" pitchFamily="18" charset="0"/>
                <a:cs typeface="Times New Roman" panose="02020603050405020304" pitchFamily="18" charset="0"/>
              </a:rPr>
              <a:t>:</a:t>
            </a:r>
          </a:p>
          <a:p>
            <a:pPr marL="628650" lvl="1" indent="-171450">
              <a:buFont typeface="Wingdings" panose="05000000000000000000" pitchFamily="2" charset="2"/>
              <a:buChar char="Ø"/>
            </a:pPr>
            <a:r>
              <a:rPr lang="fr-FR" sz="900" dirty="0" err="1" smtClean="0">
                <a:solidFill>
                  <a:srgbClr val="0070C0"/>
                </a:solidFill>
                <a:latin typeface="Times New Roman" panose="02020603050405020304" pitchFamily="18" charset="0"/>
                <a:cs typeface="Times New Roman" panose="02020603050405020304" pitchFamily="18" charset="0"/>
              </a:rPr>
              <a:t>kind</a:t>
            </a:r>
            <a:r>
              <a:rPr lang="fr-FR" sz="900" dirty="0" smtClean="0">
                <a:solidFill>
                  <a:srgbClr val="00B050"/>
                </a:solidFill>
                <a:latin typeface="Times New Roman" panose="02020603050405020304" pitchFamily="18" charset="0"/>
                <a:cs typeface="Times New Roman" panose="02020603050405020304" pitchFamily="18" charset="0"/>
              </a:rPr>
              <a:t>:</a:t>
            </a:r>
            <a:r>
              <a:rPr lang="fr-FR" sz="900" dirty="0" smtClean="0">
                <a:solidFill>
                  <a:schemeClr val="tx1"/>
                </a:solidFill>
                <a:latin typeface="Times New Roman" panose="02020603050405020304" pitchFamily="18" charset="0"/>
                <a:cs typeface="Times New Roman" panose="02020603050405020304" pitchFamily="18" charset="0"/>
              </a:rPr>
              <a:t>( </a:t>
            </a:r>
            <a:r>
              <a:rPr lang="fr-FR" sz="900" dirty="0" err="1" smtClean="0">
                <a:solidFill>
                  <a:schemeClr val="tx1"/>
                </a:solidFill>
                <a:latin typeface="Times New Roman" panose="02020603050405020304" pitchFamily="18" charset="0"/>
                <a:cs typeface="Times New Roman" panose="02020603050405020304" pitchFamily="18" charset="0"/>
              </a:rPr>
              <a:t>read</a:t>
            </a:r>
            <a:r>
              <a:rPr lang="fr-FR" sz="900" dirty="0" smtClean="0">
                <a:solidFill>
                  <a:schemeClr val="tx1"/>
                </a:solidFill>
                <a:latin typeface="Times New Roman" panose="02020603050405020304" pitchFamily="18" charset="0"/>
                <a:cs typeface="Times New Roman" panose="02020603050405020304" pitchFamily="18" charset="0"/>
              </a:rPr>
              <a:t>, </a:t>
            </a:r>
            <a:r>
              <a:rPr lang="fr-FR" sz="900" dirty="0" err="1" smtClean="0">
                <a:solidFill>
                  <a:schemeClr val="tx1"/>
                </a:solidFill>
                <a:latin typeface="Times New Roman" panose="02020603050405020304" pitchFamily="18" charset="0"/>
                <a:cs typeface="Times New Roman" panose="02020603050405020304" pitchFamily="18" charset="0"/>
              </a:rPr>
              <a:t>write</a:t>
            </a:r>
            <a:r>
              <a:rPr lang="fr-FR" sz="900" dirty="0" smtClean="0">
                <a:solidFill>
                  <a:schemeClr val="tx1"/>
                </a:solidFill>
                <a:latin typeface="Times New Roman" panose="02020603050405020304" pitchFamily="18" charset="0"/>
                <a:cs typeface="Times New Roman" panose="02020603050405020304" pitchFamily="18" charset="0"/>
              </a:rPr>
              <a:t>)</a:t>
            </a:r>
            <a:endParaRPr lang="fr-FR" sz="900" dirty="0">
              <a:solidFill>
                <a:schemeClr val="tx1"/>
              </a:solidFill>
              <a:latin typeface="Times New Roman" panose="02020603050405020304" pitchFamily="18" charset="0"/>
              <a:cs typeface="Times New Roman" panose="02020603050405020304" pitchFamily="18" charset="0"/>
            </a:endParaRPr>
          </a:p>
          <a:p>
            <a:pPr marL="628650" lvl="1" indent="-171450">
              <a:buFont typeface="Wingdings" panose="05000000000000000000" pitchFamily="2" charset="2"/>
              <a:buChar char="Ø"/>
            </a:pPr>
            <a:r>
              <a:rPr lang="en-US" sz="900" dirty="0">
                <a:solidFill>
                  <a:schemeClr val="tx1"/>
                </a:solidFill>
                <a:latin typeface="Times New Roman" panose="02020603050405020304" pitchFamily="18" charset="0"/>
                <a:cs typeface="Times New Roman" panose="02020603050405020304" pitchFamily="18" charset="0"/>
              </a:rPr>
              <a:t>way of opening (creation, </a:t>
            </a:r>
            <a:r>
              <a:rPr lang="en-US" sz="900" dirty="0" err="1">
                <a:solidFill>
                  <a:schemeClr val="tx1"/>
                </a:solidFill>
                <a:latin typeface="Times New Roman" panose="02020603050405020304" pitchFamily="18" charset="0"/>
                <a:cs typeface="Times New Roman" panose="02020603050405020304" pitchFamily="18" charset="0"/>
              </a:rPr>
              <a:t>trancuture</a:t>
            </a:r>
            <a:r>
              <a:rPr lang="en-US" sz="900" dirty="0">
                <a:solidFill>
                  <a:schemeClr val="tx1"/>
                </a:solidFill>
                <a:latin typeface="Times New Roman" panose="02020603050405020304" pitchFamily="18" charset="0"/>
                <a:cs typeface="Times New Roman" panose="02020603050405020304" pitchFamily="18" charset="0"/>
              </a:rPr>
              <a:t> ..)</a:t>
            </a:r>
            <a:endParaRPr lang="fr-FR" sz="900" dirty="0">
              <a:solidFill>
                <a:schemeClr val="tx1"/>
              </a:solidFill>
              <a:latin typeface="Times New Roman" panose="02020603050405020304" pitchFamily="18" charset="0"/>
              <a:cs typeface="Times New Roman" panose="02020603050405020304" pitchFamily="18" charset="0"/>
            </a:endParaRPr>
          </a:p>
          <a:p>
            <a:pPr marL="628650" lvl="1" indent="-171450">
              <a:buFont typeface="Wingdings" panose="05000000000000000000" pitchFamily="2" charset="2"/>
              <a:buChar char="Ø"/>
            </a:pPr>
            <a:r>
              <a:rPr lang="fr-FR" sz="900" dirty="0" err="1">
                <a:solidFill>
                  <a:schemeClr val="tx1"/>
                </a:solidFill>
                <a:latin typeface="Times New Roman" panose="02020603050405020304" pitchFamily="18" charset="0"/>
                <a:cs typeface="Times New Roman" panose="02020603050405020304" pitchFamily="18" charset="0"/>
              </a:rPr>
              <a:t>behavior</a:t>
            </a:r>
            <a:r>
              <a:rPr lang="fr-FR" sz="900" dirty="0">
                <a:solidFill>
                  <a:schemeClr val="tx1"/>
                </a:solidFill>
                <a:latin typeface="Times New Roman" panose="02020603050405020304" pitchFamily="18" charset="0"/>
                <a:cs typeface="Times New Roman" panose="02020603050405020304" pitchFamily="18" charset="0"/>
              </a:rPr>
              <a:t> (</a:t>
            </a:r>
            <a:r>
              <a:rPr lang="fr-FR" sz="900" dirty="0" err="1">
                <a:solidFill>
                  <a:schemeClr val="tx1"/>
                </a:solidFill>
                <a:latin typeface="Times New Roman" panose="02020603050405020304" pitchFamily="18" charset="0"/>
                <a:cs typeface="Times New Roman" panose="02020603050405020304" pitchFamily="18" charset="0"/>
              </a:rPr>
              <a:t>immediate</a:t>
            </a:r>
            <a:r>
              <a:rPr lang="fr-FR" sz="900" dirty="0">
                <a:solidFill>
                  <a:schemeClr val="tx1"/>
                </a:solidFill>
                <a:latin typeface="Times New Roman" panose="02020603050405020304" pitchFamily="18" charset="0"/>
                <a:cs typeface="Times New Roman" panose="02020603050405020304" pitchFamily="18" charset="0"/>
              </a:rPr>
              <a:t>, </a:t>
            </a:r>
            <a:r>
              <a:rPr lang="fr-FR" sz="900" dirty="0" err="1">
                <a:solidFill>
                  <a:schemeClr val="tx1"/>
                </a:solidFill>
                <a:latin typeface="Times New Roman" panose="02020603050405020304" pitchFamily="18" charset="0"/>
                <a:cs typeface="Times New Roman" panose="02020603050405020304" pitchFamily="18" charset="0"/>
              </a:rPr>
              <a:t>deferred</a:t>
            </a:r>
            <a:r>
              <a:rPr lang="fr-FR" sz="900" dirty="0">
                <a:solidFill>
                  <a:schemeClr val="tx1"/>
                </a:solidFill>
                <a:latin typeface="Times New Roman" panose="02020603050405020304" pitchFamily="18" charset="0"/>
                <a:cs typeface="Times New Roman" panose="02020603050405020304" pitchFamily="18" charset="0"/>
              </a:rPr>
              <a:t> </a:t>
            </a:r>
            <a:r>
              <a:rPr lang="fr-FR" sz="900" dirty="0" err="1">
                <a:solidFill>
                  <a:schemeClr val="tx1"/>
                </a:solidFill>
                <a:latin typeface="Times New Roman" panose="02020603050405020304" pitchFamily="18" charset="0"/>
                <a:cs typeface="Times New Roman" panose="02020603050405020304" pitchFamily="18" charset="0"/>
              </a:rPr>
              <a:t>writing</a:t>
            </a:r>
            <a:r>
              <a:rPr lang="fr-FR" sz="900" dirty="0">
                <a:solidFill>
                  <a:schemeClr val="tx1"/>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fr-FR" sz="900" dirty="0">
                <a:solidFill>
                  <a:srgbClr val="00B050"/>
                </a:solidFill>
                <a:latin typeface="Times New Roman" panose="02020603050405020304" pitchFamily="18" charset="0"/>
                <a:cs typeface="Times New Roman" panose="02020603050405020304" pitchFamily="18" charset="0"/>
              </a:rPr>
              <a:t>mode</a:t>
            </a:r>
            <a:r>
              <a:rPr lang="fr-FR" sz="900" dirty="0">
                <a:solidFill>
                  <a:schemeClr val="tx1"/>
                </a:solidFill>
                <a:latin typeface="Times New Roman" panose="02020603050405020304" pitchFamily="18" charset="0"/>
                <a:cs typeface="Times New Roman" panose="02020603050405020304" pitchFamily="18" charset="0"/>
              </a:rPr>
              <a:t> </a:t>
            </a:r>
            <a:r>
              <a:rPr lang="fr-FR" sz="9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ONLY </a:t>
            </a:r>
            <a:r>
              <a:rPr lang="fr-FR" sz="9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when</a:t>
            </a:r>
            <a:r>
              <a:rPr lang="fr-FR" sz="9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fr-FR" sz="9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creation</a:t>
            </a:r>
            <a:r>
              <a:rPr lang="fr-FR" sz="9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fr-FR" sz="900" dirty="0">
                <a:solidFill>
                  <a:srgbClr val="960E7C"/>
                </a:solidFill>
                <a:latin typeface="Times New Roman" panose="02020603050405020304" pitchFamily="18" charset="0"/>
                <a:cs typeface="Times New Roman" panose="02020603050405020304" pitchFamily="18" charset="0"/>
                <a:sym typeface="Wingdings" panose="05000000000000000000" pitchFamily="2" charset="2"/>
              </a:rPr>
              <a:t>O_CREAT</a:t>
            </a:r>
            <a:r>
              <a:rPr lang="fr-FR" sz="9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fr-FR" sz="9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fr-FR" sz="900" dirty="0" err="1" smtClean="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Rights</a:t>
            </a:r>
            <a:r>
              <a:rPr lang="fr-FR" sz="900" dirty="0" smtClean="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 </a:t>
            </a:r>
            <a:r>
              <a:rPr lang="fr-FR" sz="900" dirty="0" err="1" smtClean="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access</a:t>
            </a:r>
            <a:endParaRPr lang="fr-FR" sz="900" dirty="0">
              <a:solidFill>
                <a:srgbClr val="00B05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sz="900" dirty="0" smtClean="0">
                <a:solidFill>
                  <a:srgbClr val="00B050"/>
                </a:solidFill>
                <a:latin typeface="Times New Roman" panose="02020603050405020304" pitchFamily="18" charset="0"/>
                <a:cs typeface="Times New Roman" panose="02020603050405020304" pitchFamily="18" charset="0"/>
              </a:rPr>
              <a:t>Return value:</a:t>
            </a:r>
            <a:endParaRPr lang="fr-FR" sz="900" dirty="0">
              <a:solidFill>
                <a:srgbClr val="00B050"/>
              </a:solidFill>
              <a:latin typeface="Times New Roman" panose="02020603050405020304" pitchFamily="18" charset="0"/>
              <a:cs typeface="Times New Roman" panose="02020603050405020304" pitchFamily="18" charset="0"/>
            </a:endParaRPr>
          </a:p>
          <a:p>
            <a:pPr marL="628650" lvl="1" indent="-171450">
              <a:buFont typeface="Wingdings" panose="05000000000000000000" pitchFamily="2" charset="2"/>
              <a:buChar char="Ø"/>
            </a:pPr>
            <a:r>
              <a:rPr lang="fr-FR" sz="900" dirty="0">
                <a:solidFill>
                  <a:schemeClr val="tx1"/>
                </a:solidFill>
                <a:latin typeface="Times New Roman" panose="02020603050405020304" pitchFamily="18" charset="0"/>
                <a:cs typeface="Times New Roman" panose="02020603050405020304" pitchFamily="18" charset="0"/>
              </a:rPr>
              <a:t>-1 </a:t>
            </a:r>
            <a:r>
              <a:rPr lang="fr-FR" sz="900" dirty="0" err="1" smtClean="0">
                <a:solidFill>
                  <a:schemeClr val="tx1"/>
                </a:solidFill>
                <a:latin typeface="Times New Roman" panose="02020603050405020304" pitchFamily="18" charset="0"/>
                <a:cs typeface="Times New Roman" panose="02020603050405020304" pitchFamily="18" charset="0"/>
              </a:rPr>
              <a:t>error</a:t>
            </a:r>
            <a:endParaRPr lang="fr-FR" sz="900" dirty="0">
              <a:solidFill>
                <a:schemeClr val="tx1"/>
              </a:solidFill>
              <a:latin typeface="Times New Roman" panose="02020603050405020304" pitchFamily="18" charset="0"/>
              <a:cs typeface="Times New Roman" panose="02020603050405020304" pitchFamily="18" charset="0"/>
            </a:endParaRPr>
          </a:p>
          <a:p>
            <a:pPr marL="628650" lvl="1" indent="-171450">
              <a:buFont typeface="Wingdings" panose="05000000000000000000" pitchFamily="2" charset="2"/>
              <a:buChar char="Ø"/>
            </a:pPr>
            <a:r>
              <a:rPr lang="fr-FR" sz="900" dirty="0" smtClean="0">
                <a:solidFill>
                  <a:schemeClr val="tx1"/>
                </a:solidFill>
                <a:latin typeface="Times New Roman" panose="02020603050405020304" pitchFamily="18" charset="0"/>
                <a:cs typeface="Times New Roman" panose="02020603050405020304" pitchFamily="18" charset="0"/>
              </a:rPr>
              <a:t>Positiv</a:t>
            </a:r>
            <a:r>
              <a:rPr lang="fr-FR" sz="900" dirty="0">
                <a:solidFill>
                  <a:schemeClr val="tx1"/>
                </a:solidFill>
                <a:latin typeface="Times New Roman" panose="02020603050405020304" pitchFamily="18" charset="0"/>
                <a:cs typeface="Times New Roman" panose="02020603050405020304" pitchFamily="18" charset="0"/>
              </a:rPr>
              <a:t>e</a:t>
            </a:r>
            <a:r>
              <a:rPr lang="fr-FR" sz="900" dirty="0" smtClean="0">
                <a:solidFill>
                  <a:schemeClr val="tx1"/>
                </a:solidFill>
                <a:latin typeface="Times New Roman" panose="02020603050405020304" pitchFamily="18" charset="0"/>
                <a:cs typeface="Times New Roman" panose="02020603050405020304" pitchFamily="18" charset="0"/>
              </a:rPr>
              <a:t>: </a:t>
            </a:r>
            <a:r>
              <a:rPr lang="fr-FR" sz="900" dirty="0" smtClean="0">
                <a:solidFill>
                  <a:schemeClr val="tx1"/>
                </a:solidFill>
                <a:latin typeface="Times New Roman" panose="02020603050405020304" pitchFamily="18" charset="0"/>
                <a:cs typeface="Times New Roman" panose="02020603050405020304" pitchFamily="18" charset="0"/>
              </a:rPr>
              <a:t>file </a:t>
            </a:r>
            <a:r>
              <a:rPr lang="fr-FR" sz="900" dirty="0" err="1" smtClean="0">
                <a:solidFill>
                  <a:schemeClr val="tx1"/>
                </a:solidFill>
                <a:latin typeface="Times New Roman" panose="02020603050405020304" pitchFamily="18" charset="0"/>
                <a:cs typeface="Times New Roman" panose="02020603050405020304" pitchFamily="18" charset="0"/>
              </a:rPr>
              <a:t>descriptor</a:t>
            </a:r>
            <a:endParaRPr lang="fr-FR" sz="9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323850" y="1120775"/>
            <a:ext cx="4191000" cy="533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900" dirty="0" smtClean="0">
                <a:solidFill>
                  <a:srgbClr val="FF0000"/>
                </a:solidFill>
                <a:latin typeface="Courier New" panose="02070309020205020404" pitchFamily="49" charset="0"/>
                <a:cs typeface="Courier New" panose="02070309020205020404" pitchFamily="49" charset="0"/>
              </a:rPr>
              <a:t>#</a:t>
            </a:r>
            <a:r>
              <a:rPr lang="fr-FR" sz="900" dirty="0" err="1" smtClean="0">
                <a:solidFill>
                  <a:srgbClr val="FF0000"/>
                </a:solidFill>
                <a:latin typeface="Courier New" panose="02070309020205020404" pitchFamily="49" charset="0"/>
                <a:cs typeface="Courier New" panose="02070309020205020404" pitchFamily="49" charset="0"/>
              </a:rPr>
              <a:t>include</a:t>
            </a:r>
            <a:r>
              <a:rPr lang="fr-FR" sz="900" dirty="0" smtClean="0">
                <a:solidFill>
                  <a:srgbClr val="FF0000"/>
                </a:solidFill>
                <a:latin typeface="Courier New" panose="02070309020205020404" pitchFamily="49" charset="0"/>
                <a:cs typeface="Courier New" panose="02070309020205020404" pitchFamily="49" charset="0"/>
              </a:rPr>
              <a:t>&lt;</a:t>
            </a:r>
            <a:r>
              <a:rPr lang="fr-FR" sz="900" dirty="0" err="1" smtClean="0">
                <a:solidFill>
                  <a:srgbClr val="FF0000"/>
                </a:solidFill>
                <a:latin typeface="Courier New" panose="02070309020205020404" pitchFamily="49" charset="0"/>
                <a:cs typeface="Courier New" panose="02070309020205020404" pitchFamily="49" charset="0"/>
              </a:rPr>
              <a:t>fcntl.h</a:t>
            </a:r>
            <a:r>
              <a:rPr lang="fr-FR" sz="900" dirty="0" smtClean="0">
                <a:solidFill>
                  <a:srgbClr val="FF0000"/>
                </a:solidFill>
                <a:latin typeface="Courier New" panose="02070309020205020404" pitchFamily="49" charset="0"/>
                <a:cs typeface="Courier New" panose="02070309020205020404" pitchFamily="49" charset="0"/>
              </a:rPr>
              <a:t>&gt;</a:t>
            </a:r>
          </a:p>
          <a:p>
            <a:r>
              <a:rPr lang="fr-FR" sz="900" dirty="0" err="1">
                <a:solidFill>
                  <a:srgbClr val="FF0000"/>
                </a:solidFill>
                <a:latin typeface="Courier New" panose="02070309020205020404" pitchFamily="49" charset="0"/>
                <a:cs typeface="Courier New" panose="02070309020205020404" pitchFamily="49" charset="0"/>
              </a:rPr>
              <a:t>i</a:t>
            </a:r>
            <a:r>
              <a:rPr lang="fr-FR" sz="900" dirty="0" err="1" smtClean="0">
                <a:solidFill>
                  <a:srgbClr val="FF0000"/>
                </a:solidFill>
                <a:latin typeface="Courier New" panose="02070309020205020404" pitchFamily="49" charset="0"/>
                <a:cs typeface="Courier New" panose="02070309020205020404" pitchFamily="49" charset="0"/>
              </a:rPr>
              <a:t>nt</a:t>
            </a:r>
            <a:r>
              <a:rPr lang="fr-FR" sz="900" dirty="0" smtClean="0">
                <a:solidFill>
                  <a:srgbClr val="FF0000"/>
                </a:solidFill>
                <a:latin typeface="Courier New" panose="02070309020205020404" pitchFamily="49" charset="0"/>
                <a:cs typeface="Courier New" panose="02070309020205020404" pitchFamily="49" charset="0"/>
              </a:rPr>
              <a:t> </a:t>
            </a:r>
            <a:r>
              <a:rPr lang="fr-FR" sz="900" dirty="0" smtClean="0">
                <a:solidFill>
                  <a:srgbClr val="0070C0"/>
                </a:solidFill>
                <a:latin typeface="Courier New" panose="02070309020205020404" pitchFamily="49" charset="0"/>
                <a:cs typeface="Courier New" panose="02070309020205020404" pitchFamily="49" charset="0"/>
              </a:rPr>
              <a:t>open</a:t>
            </a:r>
            <a:r>
              <a:rPr lang="fr-FR" sz="900" dirty="0" smtClean="0">
                <a:solidFill>
                  <a:schemeClr val="tx1"/>
                </a:solidFill>
                <a:latin typeface="Courier New" panose="02070309020205020404" pitchFamily="49" charset="0"/>
                <a:cs typeface="Courier New" panose="02070309020205020404" pitchFamily="49" charset="0"/>
              </a:rPr>
              <a:t>( </a:t>
            </a:r>
            <a:r>
              <a:rPr lang="fr-FR" sz="900" dirty="0" err="1" smtClean="0">
                <a:solidFill>
                  <a:srgbClr val="FF0000"/>
                </a:solidFill>
                <a:latin typeface="Courier New" panose="02070309020205020404" pitchFamily="49" charset="0"/>
                <a:cs typeface="Courier New" panose="02070309020205020404" pitchFamily="49" charset="0"/>
              </a:rPr>
              <a:t>const</a:t>
            </a:r>
            <a:r>
              <a:rPr lang="fr-FR" sz="900" dirty="0" smtClean="0">
                <a:solidFill>
                  <a:srgbClr val="FF0000"/>
                </a:solidFill>
                <a:latin typeface="Courier New" panose="02070309020205020404" pitchFamily="49" charset="0"/>
                <a:cs typeface="Courier New" panose="02070309020205020404" pitchFamily="49" charset="0"/>
              </a:rPr>
              <a:t> char * </a:t>
            </a:r>
            <a:r>
              <a:rPr lang="fr-FR" sz="900" dirty="0" err="1" smtClean="0">
                <a:solidFill>
                  <a:srgbClr val="00B050"/>
                </a:solidFill>
                <a:latin typeface="Courier New" panose="02070309020205020404" pitchFamily="49" charset="0"/>
                <a:cs typeface="Courier New" panose="02070309020205020404" pitchFamily="49" charset="0"/>
              </a:rPr>
              <a:t>path</a:t>
            </a:r>
            <a:r>
              <a:rPr lang="fr-FR" sz="900" dirty="0" smtClean="0">
                <a:solidFill>
                  <a:schemeClr val="tx1"/>
                </a:solidFill>
                <a:latin typeface="Courier New" panose="02070309020205020404" pitchFamily="49" charset="0"/>
                <a:cs typeface="Courier New" panose="02070309020205020404" pitchFamily="49" charset="0"/>
              </a:rPr>
              <a:t>, </a:t>
            </a:r>
            <a:r>
              <a:rPr lang="fr-FR" sz="900" dirty="0" err="1">
                <a:solidFill>
                  <a:srgbClr val="FF0000"/>
                </a:solidFill>
                <a:latin typeface="Courier New" panose="02070309020205020404" pitchFamily="49" charset="0"/>
                <a:cs typeface="Courier New" panose="02070309020205020404" pitchFamily="49" charset="0"/>
              </a:rPr>
              <a:t>int</a:t>
            </a:r>
            <a:r>
              <a:rPr lang="fr-FR" sz="900" dirty="0" smtClean="0">
                <a:solidFill>
                  <a:schemeClr val="tx1"/>
                </a:solidFill>
                <a:latin typeface="Courier New" panose="02070309020205020404" pitchFamily="49" charset="0"/>
                <a:cs typeface="Courier New" panose="02070309020205020404" pitchFamily="49" charset="0"/>
              </a:rPr>
              <a:t> </a:t>
            </a:r>
            <a:r>
              <a:rPr lang="fr-FR" sz="900" dirty="0" smtClean="0">
                <a:solidFill>
                  <a:srgbClr val="00B050"/>
                </a:solidFill>
                <a:latin typeface="Courier New" panose="02070309020205020404" pitchFamily="49" charset="0"/>
                <a:cs typeface="Courier New" panose="02070309020205020404" pitchFamily="49" charset="0"/>
              </a:rPr>
              <a:t>oflag</a:t>
            </a:r>
            <a:r>
              <a:rPr lang="fr-FR" sz="900" dirty="0" smtClean="0">
                <a:solidFill>
                  <a:schemeClr val="tx1"/>
                </a:solidFill>
                <a:latin typeface="Courier New" panose="02070309020205020404" pitchFamily="49" charset="0"/>
                <a:cs typeface="Courier New" panose="02070309020205020404" pitchFamily="49" charset="0"/>
              </a:rPr>
              <a:t>)</a:t>
            </a:r>
          </a:p>
          <a:p>
            <a:r>
              <a:rPr lang="fr-FR" sz="900" dirty="0" err="1">
                <a:solidFill>
                  <a:srgbClr val="FF0000"/>
                </a:solidFill>
                <a:latin typeface="Courier New" panose="02070309020205020404" pitchFamily="49" charset="0"/>
                <a:cs typeface="Courier New" panose="02070309020205020404" pitchFamily="49" charset="0"/>
              </a:rPr>
              <a:t>int</a:t>
            </a:r>
            <a:r>
              <a:rPr lang="fr-FR" sz="900" dirty="0">
                <a:solidFill>
                  <a:srgbClr val="FF0000"/>
                </a:solidFill>
                <a:latin typeface="Courier New" panose="02070309020205020404" pitchFamily="49" charset="0"/>
                <a:cs typeface="Courier New" panose="02070309020205020404" pitchFamily="49" charset="0"/>
              </a:rPr>
              <a:t> </a:t>
            </a:r>
            <a:r>
              <a:rPr lang="fr-FR" sz="900" dirty="0">
                <a:solidFill>
                  <a:srgbClr val="0070C0"/>
                </a:solidFill>
                <a:latin typeface="Courier New" panose="02070309020205020404" pitchFamily="49" charset="0"/>
                <a:cs typeface="Courier New" panose="02070309020205020404" pitchFamily="49" charset="0"/>
              </a:rPr>
              <a:t>open</a:t>
            </a:r>
            <a:r>
              <a:rPr lang="fr-FR" sz="900" dirty="0" smtClean="0">
                <a:solidFill>
                  <a:schemeClr val="tx1"/>
                </a:solidFill>
                <a:latin typeface="Courier New" panose="02070309020205020404" pitchFamily="49" charset="0"/>
                <a:cs typeface="Courier New" panose="02070309020205020404" pitchFamily="49" charset="0"/>
              </a:rPr>
              <a:t>( </a:t>
            </a:r>
            <a:r>
              <a:rPr lang="fr-FR" sz="900" dirty="0" err="1">
                <a:solidFill>
                  <a:srgbClr val="FF0000"/>
                </a:solidFill>
                <a:latin typeface="Courier New" panose="02070309020205020404" pitchFamily="49" charset="0"/>
                <a:cs typeface="Courier New" panose="02070309020205020404" pitchFamily="49" charset="0"/>
              </a:rPr>
              <a:t>const</a:t>
            </a:r>
            <a:r>
              <a:rPr lang="fr-FR" sz="900" dirty="0">
                <a:solidFill>
                  <a:srgbClr val="FF0000"/>
                </a:solidFill>
                <a:latin typeface="Courier New" panose="02070309020205020404" pitchFamily="49" charset="0"/>
                <a:cs typeface="Courier New" panose="02070309020205020404" pitchFamily="49" charset="0"/>
              </a:rPr>
              <a:t> char * </a:t>
            </a:r>
            <a:r>
              <a:rPr lang="fr-FR" sz="900" dirty="0" err="1">
                <a:solidFill>
                  <a:srgbClr val="00B050"/>
                </a:solidFill>
                <a:latin typeface="Courier New" panose="02070309020205020404" pitchFamily="49" charset="0"/>
                <a:cs typeface="Courier New" panose="02070309020205020404" pitchFamily="49" charset="0"/>
              </a:rPr>
              <a:t>path</a:t>
            </a:r>
            <a:r>
              <a:rPr lang="fr-FR" sz="900" dirty="0" smtClean="0">
                <a:solidFill>
                  <a:schemeClr val="tx1"/>
                </a:solidFill>
                <a:latin typeface="Courier New" panose="02070309020205020404" pitchFamily="49" charset="0"/>
                <a:cs typeface="Courier New" panose="02070309020205020404" pitchFamily="49" charset="0"/>
              </a:rPr>
              <a:t>, </a:t>
            </a:r>
            <a:r>
              <a:rPr lang="fr-FR" sz="900" dirty="0" err="1">
                <a:solidFill>
                  <a:srgbClr val="FF0000"/>
                </a:solidFill>
                <a:latin typeface="Courier New" panose="02070309020205020404" pitchFamily="49" charset="0"/>
                <a:cs typeface="Courier New" panose="02070309020205020404" pitchFamily="49" charset="0"/>
              </a:rPr>
              <a:t>int</a:t>
            </a:r>
            <a:r>
              <a:rPr lang="fr-FR" sz="900" dirty="0" smtClean="0">
                <a:solidFill>
                  <a:schemeClr val="tx1"/>
                </a:solidFill>
                <a:latin typeface="Courier New" panose="02070309020205020404" pitchFamily="49" charset="0"/>
                <a:cs typeface="Courier New" panose="02070309020205020404" pitchFamily="49" charset="0"/>
              </a:rPr>
              <a:t> </a:t>
            </a:r>
            <a:r>
              <a:rPr lang="fr-FR" sz="900" dirty="0" smtClean="0">
                <a:solidFill>
                  <a:srgbClr val="00B050"/>
                </a:solidFill>
                <a:latin typeface="Courier New" panose="02070309020205020404" pitchFamily="49" charset="0"/>
                <a:cs typeface="Courier New" panose="02070309020205020404" pitchFamily="49" charset="0"/>
              </a:rPr>
              <a:t>oflag</a:t>
            </a:r>
            <a:r>
              <a:rPr lang="fr-FR" sz="900" dirty="0" smtClean="0">
                <a:solidFill>
                  <a:schemeClr val="tx1"/>
                </a:solidFill>
                <a:latin typeface="Courier New" panose="02070309020205020404" pitchFamily="49" charset="0"/>
                <a:cs typeface="Courier New" panose="02070309020205020404" pitchFamily="49" charset="0"/>
              </a:rPr>
              <a:t>, </a:t>
            </a:r>
            <a:r>
              <a:rPr lang="fr-FR" sz="900" dirty="0" err="1" smtClean="0">
                <a:solidFill>
                  <a:srgbClr val="FF0000"/>
                </a:solidFill>
                <a:latin typeface="Courier New" panose="02070309020205020404" pitchFamily="49" charset="0"/>
                <a:cs typeface="Courier New" panose="02070309020205020404" pitchFamily="49" charset="0"/>
              </a:rPr>
              <a:t>mode_t</a:t>
            </a:r>
            <a:r>
              <a:rPr lang="fr-FR" sz="900" dirty="0" smtClean="0">
                <a:solidFill>
                  <a:schemeClr val="tx1"/>
                </a:solidFill>
                <a:latin typeface="Courier New" panose="02070309020205020404" pitchFamily="49" charset="0"/>
                <a:cs typeface="Courier New" panose="02070309020205020404" pitchFamily="49" charset="0"/>
              </a:rPr>
              <a:t> </a:t>
            </a:r>
            <a:r>
              <a:rPr lang="fr-FR" sz="900" dirty="0" smtClean="0">
                <a:solidFill>
                  <a:srgbClr val="00B050"/>
                </a:solidFill>
                <a:latin typeface="Courier New" panose="02070309020205020404" pitchFamily="49" charset="0"/>
                <a:cs typeface="Courier New" panose="02070309020205020404" pitchFamily="49" charset="0"/>
              </a:rPr>
              <a:t>mode</a:t>
            </a:r>
            <a:r>
              <a:rPr lang="fr-FR" sz="900" dirty="0" smtClean="0">
                <a:solidFill>
                  <a:schemeClr val="tx1"/>
                </a:solidFill>
                <a:latin typeface="Courier New" panose="02070309020205020404" pitchFamily="49" charset="0"/>
                <a:cs typeface="Courier New" panose="02070309020205020404" pitchFamily="49" charset="0"/>
              </a:rPr>
              <a:t>)</a:t>
            </a:r>
            <a:endParaRPr lang="fr-FR" sz="900" dirty="0">
              <a:solidFill>
                <a:srgbClr val="00B05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197292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latin typeface="Times New Roman" panose="02020603050405020304" pitchFamily="18" charset="0"/>
                <a:cs typeface="Times New Roman" panose="02020603050405020304" pitchFamily="18" charset="0"/>
              </a:rPr>
              <a:t>Open  a file</a:t>
            </a:r>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fr-FR" sz="800" dirty="0" smtClean="0">
                <a:latin typeface="Times New Roman" panose="02020603050405020304" pitchFamily="18" charset="0"/>
                <a:cs typeface="Times New Roman" panose="02020603050405020304" pitchFamily="18" charset="0"/>
              </a:rPr>
              <a:t>KIND:</a:t>
            </a:r>
          </a:p>
          <a:p>
            <a:pPr lvl="1">
              <a:buFont typeface="Wingdings" panose="05000000000000000000" pitchFamily="2" charset="2"/>
              <a:buChar char="Ø"/>
            </a:pPr>
            <a:r>
              <a:rPr lang="fr-FR" sz="800" dirty="0" smtClean="0">
                <a:solidFill>
                  <a:srgbClr val="7030A0"/>
                </a:solidFill>
                <a:latin typeface="Times New Roman" panose="02020603050405020304" pitchFamily="18" charset="0"/>
                <a:cs typeface="Times New Roman" panose="02020603050405020304" pitchFamily="18" charset="0"/>
              </a:rPr>
              <a:t>O_RDONLY</a:t>
            </a:r>
            <a:r>
              <a:rPr lang="fr-FR" sz="800" dirty="0" smtClean="0">
                <a:latin typeface="Times New Roman" panose="02020603050405020304" pitchFamily="18" charset="0"/>
                <a:cs typeface="Times New Roman" panose="02020603050405020304" pitchFamily="18" charset="0"/>
              </a:rPr>
              <a:t> : </a:t>
            </a:r>
            <a:r>
              <a:rPr lang="fr-FR" sz="800" dirty="0" err="1" smtClean="0">
                <a:solidFill>
                  <a:srgbClr val="00B050"/>
                </a:solidFill>
                <a:latin typeface="Times New Roman" panose="02020603050405020304" pitchFamily="18" charset="0"/>
                <a:cs typeface="Times New Roman" panose="02020603050405020304" pitchFamily="18" charset="0"/>
              </a:rPr>
              <a:t>read</a:t>
            </a:r>
            <a:r>
              <a:rPr lang="fr-FR" sz="800" dirty="0" smtClean="0">
                <a:solidFill>
                  <a:srgbClr val="00B050"/>
                </a:solidFill>
                <a:latin typeface="Times New Roman" panose="02020603050405020304" pitchFamily="18" charset="0"/>
                <a:cs typeface="Times New Roman" panose="02020603050405020304" pitchFamily="18" charset="0"/>
              </a:rPr>
              <a:t> </a:t>
            </a:r>
            <a:r>
              <a:rPr lang="fr-FR" sz="800" dirty="0" err="1" smtClean="0">
                <a:solidFill>
                  <a:srgbClr val="00B050"/>
                </a:solidFill>
                <a:latin typeface="Times New Roman" panose="02020603050405020304" pitchFamily="18" charset="0"/>
                <a:cs typeface="Times New Roman" panose="02020603050405020304" pitchFamily="18" charset="0"/>
              </a:rPr>
              <a:t>only</a:t>
            </a:r>
            <a:endParaRPr lang="fr-FR" sz="800" dirty="0" smtClean="0">
              <a:solidFill>
                <a:srgbClr val="FF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fr-FR" sz="800" dirty="0" smtClean="0">
                <a:solidFill>
                  <a:srgbClr val="7030A0"/>
                </a:solidFill>
                <a:latin typeface="Times New Roman" panose="02020603050405020304" pitchFamily="18" charset="0"/>
                <a:cs typeface="Times New Roman" panose="02020603050405020304" pitchFamily="18" charset="0"/>
              </a:rPr>
              <a:t>O_WRONLY</a:t>
            </a:r>
            <a:r>
              <a:rPr lang="fr-FR" sz="800" dirty="0" smtClean="0">
                <a:latin typeface="Times New Roman" panose="02020603050405020304" pitchFamily="18" charset="0"/>
                <a:cs typeface="Times New Roman" panose="02020603050405020304" pitchFamily="18" charset="0"/>
              </a:rPr>
              <a:t> : </a:t>
            </a:r>
            <a:r>
              <a:rPr lang="fr-FR" sz="800" dirty="0" err="1" smtClean="0">
                <a:solidFill>
                  <a:srgbClr val="00B050"/>
                </a:solidFill>
                <a:latin typeface="Times New Roman" panose="02020603050405020304" pitchFamily="18" charset="0"/>
                <a:cs typeface="Times New Roman" panose="02020603050405020304" pitchFamily="18" charset="0"/>
              </a:rPr>
              <a:t>write</a:t>
            </a:r>
            <a:r>
              <a:rPr lang="fr-FR" sz="800" dirty="0" smtClean="0">
                <a:solidFill>
                  <a:srgbClr val="00B050"/>
                </a:solidFill>
                <a:latin typeface="Times New Roman" panose="02020603050405020304" pitchFamily="18" charset="0"/>
                <a:cs typeface="Times New Roman" panose="02020603050405020304" pitchFamily="18" charset="0"/>
              </a:rPr>
              <a:t> </a:t>
            </a:r>
            <a:r>
              <a:rPr lang="fr-FR" sz="800" dirty="0" err="1" smtClean="0">
                <a:solidFill>
                  <a:srgbClr val="00B050"/>
                </a:solidFill>
                <a:latin typeface="Times New Roman" panose="02020603050405020304" pitchFamily="18" charset="0"/>
                <a:cs typeface="Times New Roman" panose="02020603050405020304" pitchFamily="18" charset="0"/>
              </a:rPr>
              <a:t>only</a:t>
            </a:r>
            <a:endParaRPr lang="fr-FR" sz="800" dirty="0" smtClean="0">
              <a:solidFill>
                <a:srgbClr val="FF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fr-FR" sz="800" dirty="0" smtClean="0">
                <a:solidFill>
                  <a:srgbClr val="7030A0"/>
                </a:solidFill>
                <a:latin typeface="Times New Roman" panose="02020603050405020304" pitchFamily="18" charset="0"/>
                <a:cs typeface="Times New Roman" panose="02020603050405020304" pitchFamily="18" charset="0"/>
              </a:rPr>
              <a:t>O_RDWR</a:t>
            </a:r>
            <a:r>
              <a:rPr lang="fr-FR" sz="800" dirty="0" smtClean="0">
                <a:latin typeface="Times New Roman" panose="02020603050405020304" pitchFamily="18" charset="0"/>
                <a:cs typeface="Times New Roman" panose="02020603050405020304" pitchFamily="18" charset="0"/>
              </a:rPr>
              <a:t> : </a:t>
            </a:r>
            <a:r>
              <a:rPr lang="fr-FR" sz="800" dirty="0" err="1" smtClean="0">
                <a:solidFill>
                  <a:srgbClr val="00B050"/>
                </a:solidFill>
                <a:latin typeface="Times New Roman" panose="02020603050405020304" pitchFamily="18" charset="0"/>
                <a:cs typeface="Times New Roman" panose="02020603050405020304" pitchFamily="18" charset="0"/>
              </a:rPr>
              <a:t>read</a:t>
            </a:r>
            <a:r>
              <a:rPr lang="fr-FR" sz="800" dirty="0" smtClean="0">
                <a:solidFill>
                  <a:srgbClr val="00B050"/>
                </a:solidFill>
                <a:latin typeface="Times New Roman" panose="02020603050405020304" pitchFamily="18" charset="0"/>
                <a:cs typeface="Times New Roman" panose="02020603050405020304" pitchFamily="18" charset="0"/>
              </a:rPr>
              <a:t> and /or </a:t>
            </a:r>
            <a:r>
              <a:rPr lang="fr-FR" sz="800" dirty="0" err="1" smtClean="0">
                <a:solidFill>
                  <a:srgbClr val="00B050"/>
                </a:solidFill>
                <a:latin typeface="Times New Roman" panose="02020603050405020304" pitchFamily="18" charset="0"/>
                <a:cs typeface="Times New Roman" panose="02020603050405020304" pitchFamily="18" charset="0"/>
              </a:rPr>
              <a:t>write</a:t>
            </a:r>
            <a:endParaRPr lang="fr-FR" sz="800" dirty="0" smtClean="0">
              <a:solidFill>
                <a:srgbClr val="00B05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sz="800" dirty="0" err="1"/>
              <a:t>Opening</a:t>
            </a:r>
            <a:r>
              <a:rPr lang="fr-FR" sz="800" dirty="0"/>
              <a:t> </a:t>
            </a:r>
            <a:r>
              <a:rPr lang="fr-FR" sz="800" dirty="0" err="1"/>
              <a:t>way</a:t>
            </a:r>
            <a:r>
              <a:rPr lang="fr-FR" sz="800" dirty="0"/>
              <a:t> </a:t>
            </a:r>
            <a:r>
              <a:rPr lang="fr-FR" sz="8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fr-FR" sz="800" dirty="0" smtClean="0">
                <a:solidFill>
                  <a:srgbClr val="7030A0"/>
                </a:solidFill>
                <a:latin typeface="Times New Roman" panose="02020603050405020304" pitchFamily="18" charset="0"/>
                <a:cs typeface="Times New Roman" panose="02020603050405020304" pitchFamily="18" charset="0"/>
              </a:rPr>
              <a:t>O_CREAT</a:t>
            </a:r>
            <a:r>
              <a:rPr lang="fr-FR" sz="800" dirty="0" smtClean="0">
                <a:latin typeface="Times New Roman" panose="02020603050405020304" pitchFamily="18" charset="0"/>
                <a:cs typeface="Times New Roman" panose="02020603050405020304" pitchFamily="18" charset="0"/>
              </a:rPr>
              <a:t> : (écriture :</a:t>
            </a:r>
            <a:r>
              <a:rPr lang="fr-FR" sz="800" dirty="0" smtClean="0">
                <a:solidFill>
                  <a:srgbClr val="7030A0"/>
                </a:solidFill>
                <a:latin typeface="Times New Roman" panose="02020603050405020304" pitchFamily="18" charset="0"/>
                <a:cs typeface="Times New Roman" panose="02020603050405020304" pitchFamily="18" charset="0"/>
              </a:rPr>
              <a:t>O_WRONLY</a:t>
            </a:r>
            <a:r>
              <a:rPr lang="fr-FR" sz="800" dirty="0" smtClean="0">
                <a:latin typeface="Times New Roman" panose="02020603050405020304" pitchFamily="18" charset="0"/>
                <a:cs typeface="Times New Roman" panose="02020603050405020304" pitchFamily="18" charset="0"/>
              </a:rPr>
              <a:t> ou </a:t>
            </a:r>
            <a:r>
              <a:rPr lang="fr-FR" sz="800" dirty="0" smtClean="0">
                <a:solidFill>
                  <a:srgbClr val="7030A0"/>
                </a:solidFill>
                <a:latin typeface="Times New Roman" panose="02020603050405020304" pitchFamily="18" charset="0"/>
                <a:cs typeface="Times New Roman" panose="02020603050405020304" pitchFamily="18" charset="0"/>
              </a:rPr>
              <a:t>O_RDWR</a:t>
            </a:r>
            <a:r>
              <a:rPr lang="fr-FR" sz="800" dirty="0" smtClean="0">
                <a:latin typeface="Times New Roman" panose="02020603050405020304" pitchFamily="18" charset="0"/>
                <a:cs typeface="Times New Roman" panose="02020603050405020304" pitchFamily="18" charset="0"/>
              </a:rPr>
              <a:t>): </a:t>
            </a:r>
            <a:r>
              <a:rPr lang="en-US" sz="800" dirty="0">
                <a:solidFill>
                  <a:srgbClr val="00B050"/>
                </a:solidFill>
                <a:latin typeface="Times New Roman" panose="02020603050405020304" pitchFamily="18" charset="0"/>
                <a:cs typeface="Times New Roman" panose="02020603050405020304" pitchFamily="18" charset="0"/>
              </a:rPr>
              <a:t>create the file when opening if it does not exist (if not specify then failure if it does not exist)</a:t>
            </a:r>
            <a:endParaRPr lang="fr-FR" sz="8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fr-FR" sz="800" dirty="0" smtClean="0">
                <a:solidFill>
                  <a:srgbClr val="7030A0"/>
                </a:solidFill>
                <a:latin typeface="Times New Roman" panose="02020603050405020304" pitchFamily="18" charset="0"/>
                <a:cs typeface="Times New Roman" panose="02020603050405020304" pitchFamily="18" charset="0"/>
              </a:rPr>
              <a:t>O_TRUNC</a:t>
            </a:r>
            <a:r>
              <a:rPr lang="fr-FR" sz="800" dirty="0" smtClean="0">
                <a:latin typeface="Times New Roman" panose="02020603050405020304" pitchFamily="18" charset="0"/>
                <a:cs typeface="Times New Roman" panose="02020603050405020304" pitchFamily="18" charset="0"/>
              </a:rPr>
              <a:t> : (</a:t>
            </a:r>
            <a:r>
              <a:rPr lang="fr-FR" sz="800" dirty="0" err="1" smtClean="0">
                <a:latin typeface="Times New Roman" panose="02020603050405020304" pitchFamily="18" charset="0"/>
                <a:cs typeface="Times New Roman" panose="02020603050405020304" pitchFamily="18" charset="0"/>
              </a:rPr>
              <a:t>write:</a:t>
            </a:r>
            <a:r>
              <a:rPr lang="fr-FR" sz="800" dirty="0" err="1" smtClean="0">
                <a:solidFill>
                  <a:srgbClr val="7030A0"/>
                </a:solidFill>
                <a:latin typeface="Times New Roman" panose="02020603050405020304" pitchFamily="18" charset="0"/>
                <a:cs typeface="Times New Roman" panose="02020603050405020304" pitchFamily="18" charset="0"/>
              </a:rPr>
              <a:t>O_WRONLY</a:t>
            </a:r>
            <a:r>
              <a:rPr lang="fr-FR" sz="800" dirty="0" smtClean="0">
                <a:latin typeface="Times New Roman" panose="02020603050405020304" pitchFamily="18" charset="0"/>
                <a:cs typeface="Times New Roman" panose="02020603050405020304" pitchFamily="18" charset="0"/>
              </a:rPr>
              <a:t> or </a:t>
            </a:r>
            <a:r>
              <a:rPr lang="fr-FR" sz="800" dirty="0" smtClean="0">
                <a:solidFill>
                  <a:srgbClr val="7030A0"/>
                </a:solidFill>
                <a:latin typeface="Times New Roman" panose="02020603050405020304" pitchFamily="18" charset="0"/>
                <a:cs typeface="Times New Roman" panose="02020603050405020304" pitchFamily="18" charset="0"/>
              </a:rPr>
              <a:t>O_RDWR</a:t>
            </a:r>
            <a:r>
              <a:rPr lang="fr-FR" sz="800" dirty="0" smtClean="0">
                <a:latin typeface="Times New Roman" panose="02020603050405020304" pitchFamily="18" charset="0"/>
                <a:cs typeface="Times New Roman" panose="02020603050405020304" pitchFamily="18" charset="0"/>
              </a:rPr>
              <a:t>):</a:t>
            </a:r>
            <a:r>
              <a:rPr lang="fr-FR" sz="800" dirty="0"/>
              <a:t> </a:t>
            </a:r>
            <a:r>
              <a:rPr lang="fr-FR" sz="800" dirty="0" err="1"/>
              <a:t>truncate</a:t>
            </a:r>
            <a:r>
              <a:rPr lang="fr-FR" sz="800" dirty="0"/>
              <a:t> the file</a:t>
            </a:r>
            <a:endParaRPr lang="fr-FR" sz="800" dirty="0" smtClean="0">
              <a:solidFill>
                <a:srgbClr val="00B05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fr-FR" sz="800" dirty="0" err="1" smtClean="0">
                <a:solidFill>
                  <a:srgbClr val="7030A0"/>
                </a:solidFill>
                <a:latin typeface="Times New Roman" panose="02020603050405020304" pitchFamily="18" charset="0"/>
                <a:cs typeface="Times New Roman" panose="02020603050405020304" pitchFamily="18" charset="0"/>
              </a:rPr>
              <a:t>O_EXCL</a:t>
            </a:r>
            <a:r>
              <a:rPr lang="fr-FR" sz="800" dirty="0" err="1" smtClean="0">
                <a:latin typeface="Times New Roman" panose="02020603050405020304" pitchFamily="18" charset="0"/>
                <a:cs typeface="Times New Roman" panose="02020603050405020304" pitchFamily="18" charset="0"/>
              </a:rPr>
              <a:t>:</a:t>
            </a:r>
            <a:r>
              <a:rPr lang="fr-FR" sz="800" dirty="0" err="1"/>
              <a:t>in</a:t>
            </a:r>
            <a:r>
              <a:rPr lang="fr-FR" sz="800" dirty="0"/>
              <a:t> association </a:t>
            </a:r>
            <a:r>
              <a:rPr lang="fr-FR" sz="800" dirty="0" err="1"/>
              <a:t>with</a:t>
            </a:r>
            <a:r>
              <a:rPr lang="fr-FR" sz="800" dirty="0" smtClean="0">
                <a:latin typeface="Times New Roman" panose="02020603050405020304" pitchFamily="18" charset="0"/>
                <a:cs typeface="Times New Roman" panose="02020603050405020304" pitchFamily="18" charset="0"/>
              </a:rPr>
              <a:t> </a:t>
            </a:r>
            <a:r>
              <a:rPr lang="fr-FR" sz="800" dirty="0" smtClean="0">
                <a:solidFill>
                  <a:srgbClr val="7030A0"/>
                </a:solidFill>
                <a:latin typeface="Times New Roman" panose="02020603050405020304" pitchFamily="18" charset="0"/>
                <a:cs typeface="Times New Roman" panose="02020603050405020304" pitchFamily="18" charset="0"/>
              </a:rPr>
              <a:t>O_CREAT</a:t>
            </a:r>
            <a:r>
              <a:rPr lang="fr-FR" sz="800" dirty="0" smtClean="0">
                <a:latin typeface="Times New Roman" panose="02020603050405020304" pitchFamily="18" charset="0"/>
                <a:cs typeface="Times New Roman" panose="02020603050405020304" pitchFamily="18" charset="0"/>
              </a:rPr>
              <a:t> :</a:t>
            </a:r>
            <a:r>
              <a:rPr lang="en-US" sz="800" dirty="0">
                <a:latin typeface="Times New Roman" panose="02020603050405020304" pitchFamily="18" charset="0"/>
                <a:cs typeface="Times New Roman" panose="02020603050405020304" pitchFamily="18" charset="0"/>
              </a:rPr>
              <a:t> create file if it does not exist, otherwise </a:t>
            </a:r>
            <a:r>
              <a:rPr lang="en-US" sz="800" dirty="0" smtClean="0">
                <a:latin typeface="Times New Roman" panose="02020603050405020304" pitchFamily="18" charset="0"/>
                <a:cs typeface="Times New Roman" panose="02020603050405020304" pitchFamily="18" charset="0"/>
              </a:rPr>
              <a:t>fails</a:t>
            </a:r>
            <a:endParaRPr lang="fr-FR" sz="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800" dirty="0">
                <a:solidFill>
                  <a:schemeClr val="tx1"/>
                </a:solidFill>
                <a:latin typeface="Times New Roman" panose="02020603050405020304" pitchFamily="18" charset="0"/>
                <a:cs typeface="Times New Roman" panose="02020603050405020304" pitchFamily="18" charset="0"/>
              </a:rPr>
              <a:t>Behavior of operations dedicated only to certain types of </a:t>
            </a:r>
            <a:r>
              <a:rPr lang="en-US" sz="800" dirty="0" smtClean="0">
                <a:solidFill>
                  <a:schemeClr val="tx1"/>
                </a:solidFill>
                <a:latin typeface="Times New Roman" panose="02020603050405020304" pitchFamily="18" charset="0"/>
                <a:cs typeface="Times New Roman" panose="02020603050405020304" pitchFamily="18" charset="0"/>
              </a:rPr>
              <a:t>files</a:t>
            </a:r>
            <a:r>
              <a:rPr lang="fr-FR" sz="800" dirty="0" smtClean="0">
                <a:solidFill>
                  <a:schemeClr val="tx1"/>
                </a:solidFill>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fr-FR" sz="800" dirty="0" smtClean="0">
                <a:solidFill>
                  <a:srgbClr val="7030A0"/>
                </a:solidFill>
                <a:latin typeface="Times New Roman" panose="02020603050405020304" pitchFamily="18" charset="0"/>
                <a:cs typeface="Times New Roman" panose="02020603050405020304" pitchFamily="18" charset="0"/>
              </a:rPr>
              <a:t>O_APPEND</a:t>
            </a:r>
            <a:r>
              <a:rPr lang="fr-FR" sz="800" dirty="0" smtClean="0">
                <a:latin typeface="Times New Roman" panose="02020603050405020304" pitchFamily="18" charset="0"/>
                <a:cs typeface="Times New Roman" panose="02020603050405020304" pitchFamily="18" charset="0"/>
              </a:rPr>
              <a:t> :</a:t>
            </a:r>
            <a:r>
              <a:rPr lang="fr-FR" sz="800" dirty="0" err="1" smtClean="0">
                <a:latin typeface="Times New Roman" panose="02020603050405020304" pitchFamily="18" charset="0"/>
                <a:cs typeface="Times New Roman" panose="02020603050405020304" pitchFamily="18" charset="0"/>
              </a:rPr>
              <a:t>write</a:t>
            </a:r>
            <a:r>
              <a:rPr lang="fr-FR" sz="800" dirty="0" smtClean="0">
                <a:latin typeface="Times New Roman" panose="02020603050405020304" pitchFamily="18" charset="0"/>
                <a:cs typeface="Times New Roman" panose="02020603050405020304" pitchFamily="18" charset="0"/>
              </a:rPr>
              <a:t> at </a:t>
            </a:r>
            <a:r>
              <a:rPr lang="fr-FR" sz="800" dirty="0" err="1" smtClean="0">
                <a:latin typeface="Times New Roman" panose="02020603050405020304" pitchFamily="18" charset="0"/>
                <a:cs typeface="Times New Roman" panose="02020603050405020304" pitchFamily="18" charset="0"/>
              </a:rPr>
              <a:t>fle</a:t>
            </a:r>
            <a:r>
              <a:rPr lang="fr-FR" sz="800" dirty="0" smtClean="0">
                <a:latin typeface="Times New Roman" panose="02020603050405020304" pitchFamily="18" charset="0"/>
                <a:cs typeface="Times New Roman" panose="02020603050405020304" pitchFamily="18" charset="0"/>
              </a:rPr>
              <a:t> end</a:t>
            </a:r>
            <a:endParaRPr lang="fr-FR" sz="800" dirty="0" smtClean="0">
              <a:solidFill>
                <a:srgbClr val="0070C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fr-FR" sz="800" dirty="0" smtClean="0">
                <a:solidFill>
                  <a:srgbClr val="7030A0"/>
                </a:solidFill>
                <a:latin typeface="Times New Roman" panose="02020603050405020304" pitchFamily="18" charset="0"/>
                <a:cs typeface="Times New Roman" panose="02020603050405020304" pitchFamily="18" charset="0"/>
              </a:rPr>
              <a:t>O_SYNC :</a:t>
            </a:r>
            <a:r>
              <a:rPr lang="fr-FR" sz="800" dirty="0" smtClean="0">
                <a:solidFill>
                  <a:schemeClr val="tx1"/>
                </a:solidFill>
                <a:latin typeface="Times New Roman" panose="02020603050405020304" pitchFamily="18" charset="0"/>
                <a:cs typeface="Times New Roman" panose="02020603050405020304" pitchFamily="18" charset="0"/>
              </a:rPr>
              <a:t> </a:t>
            </a:r>
            <a:r>
              <a:rPr lang="fr-FR" sz="800" dirty="0" err="1" smtClean="0">
                <a:solidFill>
                  <a:schemeClr val="tx1"/>
                </a:solidFill>
                <a:latin typeface="Times New Roman" panose="02020603050405020304" pitchFamily="18" charset="0"/>
                <a:cs typeface="Times New Roman" panose="02020603050405020304" pitchFamily="18" charset="0"/>
              </a:rPr>
              <a:t>immediat</a:t>
            </a:r>
            <a:r>
              <a:rPr lang="fr-FR" sz="800" dirty="0" smtClean="0">
                <a:solidFill>
                  <a:schemeClr val="tx1"/>
                </a:solidFill>
                <a:latin typeface="Times New Roman" panose="02020603050405020304" pitchFamily="18" charset="0"/>
                <a:cs typeface="Times New Roman" panose="02020603050405020304" pitchFamily="18" charset="0"/>
              </a:rPr>
              <a:t> </a:t>
            </a:r>
            <a:r>
              <a:rPr lang="fr-FR" sz="800" dirty="0" err="1" smtClean="0">
                <a:solidFill>
                  <a:schemeClr val="tx1"/>
                </a:solidFill>
                <a:latin typeface="Times New Roman" panose="02020603050405020304" pitchFamily="18" charset="0"/>
                <a:cs typeface="Times New Roman" panose="02020603050405020304" pitchFamily="18" charset="0"/>
              </a:rPr>
              <a:t>write</a:t>
            </a:r>
            <a:r>
              <a:rPr lang="fr-FR" sz="800" dirty="0" smtClean="0">
                <a:solidFill>
                  <a:schemeClr val="tx1"/>
                </a:solidFill>
                <a:latin typeface="Times New Roman" panose="02020603050405020304" pitchFamily="18" charset="0"/>
                <a:cs typeface="Times New Roman" panose="02020603050405020304" pitchFamily="18" charset="0"/>
              </a:rPr>
              <a:t> to </a:t>
            </a:r>
            <a:r>
              <a:rPr lang="fr-FR" sz="800" dirty="0" err="1" smtClean="0">
                <a:solidFill>
                  <a:schemeClr val="tx1"/>
                </a:solidFill>
                <a:latin typeface="Times New Roman" panose="02020603050405020304" pitchFamily="18" charset="0"/>
                <a:cs typeface="Times New Roman" panose="02020603050405020304" pitchFamily="18" charset="0"/>
              </a:rPr>
              <a:t>disk</a:t>
            </a:r>
            <a:r>
              <a:rPr lang="fr-FR" sz="800" dirty="0" smtClean="0">
                <a:solidFill>
                  <a:schemeClr val="tx1"/>
                </a:solidFill>
                <a:latin typeface="Times New Roman" panose="02020603050405020304" pitchFamily="18" charset="0"/>
                <a:cs typeface="Times New Roman" panose="02020603050405020304" pitchFamily="18" charset="0"/>
              </a:rPr>
              <a:t> :</a:t>
            </a:r>
            <a:r>
              <a:rPr lang="fr-FR" sz="800" dirty="0"/>
              <a:t> </a:t>
            </a:r>
            <a:r>
              <a:rPr lang="fr-FR" sz="800" dirty="0" err="1"/>
              <a:t>very</a:t>
            </a:r>
            <a:r>
              <a:rPr lang="fr-FR" sz="800" dirty="0"/>
              <a:t> slow, but sure</a:t>
            </a:r>
            <a:endParaRPr lang="fr-FR" sz="800" dirty="0" smtClean="0">
              <a:solidFill>
                <a:schemeClr val="tx1"/>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fr-FR" sz="800" dirty="0" smtClean="0">
                <a:solidFill>
                  <a:srgbClr val="7030A0"/>
                </a:solidFill>
                <a:latin typeface="Times New Roman" panose="02020603050405020304" pitchFamily="18" charset="0"/>
                <a:cs typeface="Times New Roman" panose="02020603050405020304" pitchFamily="18" charset="0"/>
              </a:rPr>
              <a:t>O_NONBLOCK :</a:t>
            </a:r>
            <a:r>
              <a:rPr lang="fr-FR" sz="800" dirty="0" smtClean="0">
                <a:solidFill>
                  <a:schemeClr val="tx1"/>
                </a:solidFill>
                <a:latin typeface="Times New Roman" panose="02020603050405020304" pitchFamily="18" charset="0"/>
                <a:cs typeface="Times New Roman" panose="02020603050405020304" pitchFamily="18" charset="0"/>
              </a:rPr>
              <a:t> socket and pipe (in future)</a:t>
            </a:r>
          </a:p>
          <a:p>
            <a:pPr>
              <a:buFont typeface="Wingdings" panose="05000000000000000000" pitchFamily="2" charset="2"/>
              <a:buChar char="Ø"/>
            </a:pPr>
            <a:r>
              <a:rPr lang="fr-FR" sz="800" dirty="0" smtClean="0">
                <a:solidFill>
                  <a:schemeClr val="tx1"/>
                </a:solidFill>
                <a:latin typeface="Times New Roman" panose="02020603050405020304" pitchFamily="18" charset="0"/>
                <a:cs typeface="Times New Roman" panose="02020603050405020304" pitchFamily="18" charset="0"/>
              </a:rPr>
              <a:t>If </a:t>
            </a:r>
            <a:r>
              <a:rPr lang="fr-FR" sz="800" dirty="0" err="1" smtClean="0">
                <a:solidFill>
                  <a:schemeClr val="tx1"/>
                </a:solidFill>
                <a:latin typeface="Times New Roman" panose="02020603050405020304" pitchFamily="18" charset="0"/>
                <a:cs typeface="Times New Roman" panose="02020603050405020304" pitchFamily="18" charset="0"/>
              </a:rPr>
              <a:t>many</a:t>
            </a:r>
            <a:r>
              <a:rPr lang="fr-FR" sz="800" dirty="0" smtClean="0">
                <a:solidFill>
                  <a:schemeClr val="tx1"/>
                </a:solidFill>
                <a:latin typeface="Times New Roman" panose="02020603050405020304" pitchFamily="18" charset="0"/>
                <a:cs typeface="Times New Roman" panose="02020603050405020304" pitchFamily="18" charset="0"/>
              </a:rPr>
              <a:t> flags</a:t>
            </a:r>
            <a:r>
              <a:rPr lang="fr-FR" sz="8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fr-FR" sz="800" dirty="0" err="1"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binary</a:t>
            </a:r>
            <a:r>
              <a:rPr lang="fr-FR" sz="80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or</a:t>
            </a:r>
            <a:r>
              <a:rPr lang="fr-FR" sz="800" dirty="0" smtClean="0">
                <a:solidFill>
                  <a:schemeClr val="tx1"/>
                </a:solidFill>
                <a:latin typeface="Times New Roman" panose="02020603050405020304" pitchFamily="18" charset="0"/>
                <a:cs typeface="Times New Roman" panose="02020603050405020304" pitchFamily="18" charset="0"/>
              </a:rPr>
              <a:t>  |</a:t>
            </a:r>
            <a:endParaRPr lang="fr-FR" sz="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82260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2000" dirty="0">
                <a:latin typeface="Times New Roman" panose="02020603050405020304" pitchFamily="18" charset="0"/>
                <a:cs typeface="Times New Roman" panose="02020603050405020304" pitchFamily="18" charset="0"/>
              </a:rPr>
              <a:t>Open  a </a:t>
            </a:r>
            <a:r>
              <a:rPr lang="fr-FR" sz="2000" dirty="0" smtClean="0">
                <a:latin typeface="Times New Roman" panose="02020603050405020304" pitchFamily="18" charset="0"/>
                <a:cs typeface="Times New Roman" panose="02020603050405020304" pitchFamily="18" charset="0"/>
              </a:rPr>
              <a:t>file : </a:t>
            </a:r>
            <a:r>
              <a:rPr lang="en-US" sz="2000" b="1" dirty="0" smtClean="0">
                <a:solidFill>
                  <a:schemeClr val="tx1"/>
                </a:solidFill>
                <a:latin typeface="Times New Roman"/>
              </a:rPr>
              <a:t>Example </a:t>
            </a:r>
            <a:endParaRPr lang="fr-FR" sz="2000" dirty="0">
              <a:solidFill>
                <a:schemeClr val="tx1"/>
              </a:solidFill>
            </a:endParaRPr>
          </a:p>
        </p:txBody>
      </p:sp>
      <p:sp>
        <p:nvSpPr>
          <p:cNvPr id="3" name="Content Placeholder 2"/>
          <p:cNvSpPr>
            <a:spLocks noGrp="1"/>
          </p:cNvSpPr>
          <p:nvPr>
            <p:ph idx="1"/>
          </p:nvPr>
        </p:nvSpPr>
        <p:spPr/>
        <p:txBody>
          <a:bodyPr>
            <a:normAutofit fontScale="25000" lnSpcReduction="20000"/>
          </a:bodyPr>
          <a:lstStyle/>
          <a:p>
            <a:r>
              <a:rPr lang="en-US" sz="3600" b="1" dirty="0" smtClean="0">
                <a:solidFill>
                  <a:srgbClr val="3232D6"/>
                </a:solidFill>
                <a:latin typeface="Times New Roman"/>
                <a:hlinkClick r:id="rId3" action="ppaction://hlinkfile"/>
              </a:rPr>
              <a:t>Exemple open 1</a:t>
            </a:r>
            <a:endParaRPr lang="en-US" sz="3600" b="1" dirty="0" smtClean="0">
              <a:solidFill>
                <a:srgbClr val="3232D6"/>
              </a:solidFill>
              <a:latin typeface="Times New Roman"/>
              <a:hlinkClick r:id="rId4" action="ppaction://hlinkfile"/>
            </a:endParaRPr>
          </a:p>
          <a:p>
            <a:r>
              <a:rPr lang="en-US" sz="3600" b="1" dirty="0" err="1" smtClean="0">
                <a:solidFill>
                  <a:srgbClr val="3232D6"/>
                </a:solidFill>
                <a:latin typeface="Times New Roman"/>
                <a:hlinkClick r:id="rId4" action="ppaction://hlinkfile"/>
              </a:rPr>
              <a:t>Exemple_open.c</a:t>
            </a:r>
            <a:endParaRPr lang="en-US" sz="3600" dirty="0" smtClean="0"/>
          </a:p>
          <a:p>
            <a:r>
              <a:rPr lang="en-US" sz="3200" dirty="0" smtClean="0"/>
              <a:t>$ </a:t>
            </a:r>
            <a:r>
              <a:rPr lang="en-US" sz="3200" b="1" dirty="0"/>
              <a:t>./</a:t>
            </a:r>
            <a:r>
              <a:rPr lang="en-US" sz="3200" b="1" dirty="0" err="1"/>
              <a:t>exemple_open</a:t>
            </a:r>
            <a:endParaRPr lang="en-US" sz="3200" b="1" dirty="0"/>
          </a:p>
          <a:p>
            <a:r>
              <a:rPr lang="en-US" sz="3200" dirty="0"/>
              <a:t>/</a:t>
            </a:r>
            <a:r>
              <a:rPr lang="en-US" sz="3200" dirty="0" err="1"/>
              <a:t>etc</a:t>
            </a:r>
            <a:r>
              <a:rPr lang="en-US" sz="3200" dirty="0"/>
              <a:t>/</a:t>
            </a:r>
            <a:r>
              <a:rPr lang="en-US" sz="3200" dirty="0" err="1"/>
              <a:t>inittab</a:t>
            </a:r>
            <a:r>
              <a:rPr lang="en-US" sz="3200" dirty="0"/>
              <a:t>(O_RDONLY) : Ok</a:t>
            </a:r>
          </a:p>
          <a:p>
            <a:r>
              <a:rPr lang="en-US" sz="3200" dirty="0"/>
              <a:t>/</a:t>
            </a:r>
            <a:r>
              <a:rPr lang="en-US" sz="3200" dirty="0" err="1"/>
              <a:t>etc</a:t>
            </a:r>
            <a:r>
              <a:rPr lang="en-US" sz="3200" dirty="0"/>
              <a:t>/</a:t>
            </a:r>
            <a:r>
              <a:rPr lang="en-US" sz="3200" dirty="0" err="1"/>
              <a:t>inittab</a:t>
            </a:r>
            <a:r>
              <a:rPr lang="en-US" sz="3200" dirty="0"/>
              <a:t>(O_RDWR) : Permission non </a:t>
            </a:r>
            <a:r>
              <a:rPr lang="en-US" sz="3200" dirty="0" err="1"/>
              <a:t>accordée</a:t>
            </a:r>
            <a:endParaRPr lang="en-US" sz="3200" dirty="0"/>
          </a:p>
          <a:p>
            <a:r>
              <a:rPr lang="fr-FR" sz="3200" dirty="0" err="1"/>
              <a:t>essai.open</a:t>
            </a:r>
            <a:r>
              <a:rPr lang="fr-FR" sz="3200" dirty="0"/>
              <a:t>(O_RDONLY) : Aucun fichier ou répertoire de ce type</a:t>
            </a:r>
          </a:p>
          <a:p>
            <a:r>
              <a:rPr lang="fr-FR" sz="3200" dirty="0" err="1"/>
              <a:t>essai.open</a:t>
            </a:r>
            <a:r>
              <a:rPr lang="fr-FR" sz="3200" dirty="0"/>
              <a:t>(O_RDWR) : Aucun fichier ou répertoire de ce type</a:t>
            </a:r>
          </a:p>
          <a:p>
            <a:r>
              <a:rPr lang="en-US" sz="3200" dirty="0" err="1"/>
              <a:t>essai.open</a:t>
            </a:r>
            <a:r>
              <a:rPr lang="en-US" sz="3200" dirty="0"/>
              <a:t>(O_RDONLY | O_CREAT, 0640) : Ok</a:t>
            </a:r>
          </a:p>
          <a:p>
            <a:r>
              <a:rPr lang="en-US" sz="3200" dirty="0" err="1"/>
              <a:t>essai.open</a:t>
            </a:r>
            <a:r>
              <a:rPr lang="en-US" sz="3200" dirty="0"/>
              <a:t>(O_RDWR | O_CREAT | O_EXCL, 0640) : Le fichier </a:t>
            </a:r>
            <a:r>
              <a:rPr lang="en-US" sz="3200" dirty="0" err="1"/>
              <a:t>existe</a:t>
            </a:r>
            <a:r>
              <a:rPr lang="en-US" sz="3200" dirty="0"/>
              <a:t>.</a:t>
            </a:r>
          </a:p>
          <a:p>
            <a:r>
              <a:rPr lang="en-US" sz="3200" dirty="0"/>
              <a:t>$ </a:t>
            </a:r>
            <a:r>
              <a:rPr lang="en-US" sz="3200" b="1" dirty="0"/>
              <a:t>ls -l </a:t>
            </a:r>
            <a:r>
              <a:rPr lang="en-US" sz="3200" b="1" dirty="0" err="1"/>
              <a:t>essai.open</a:t>
            </a:r>
            <a:endParaRPr lang="en-US" sz="3200" b="1" dirty="0"/>
          </a:p>
          <a:p>
            <a:r>
              <a:rPr lang="en-US" sz="3200" dirty="0"/>
              <a:t>-</a:t>
            </a:r>
            <a:r>
              <a:rPr lang="en-US" sz="3200" dirty="0" err="1"/>
              <a:t>rw</a:t>
            </a:r>
            <a:r>
              <a:rPr lang="en-US" sz="3200" dirty="0"/>
              <a:t>-r----- 1 </a:t>
            </a:r>
            <a:r>
              <a:rPr lang="en-US" sz="3200" dirty="0" err="1"/>
              <a:t>ccb</a:t>
            </a:r>
            <a:r>
              <a:rPr lang="en-US" sz="3200" dirty="0"/>
              <a:t> </a:t>
            </a:r>
            <a:r>
              <a:rPr lang="en-US" sz="3200" dirty="0" err="1"/>
              <a:t>ccb</a:t>
            </a:r>
            <a:r>
              <a:rPr lang="en-US" sz="3200" dirty="0"/>
              <a:t> 0 Nov 12 16:19 </a:t>
            </a:r>
            <a:r>
              <a:rPr lang="en-US" sz="3200" dirty="0" err="1"/>
              <a:t>essai.open</a:t>
            </a:r>
            <a:endParaRPr lang="en-US" sz="3200" dirty="0"/>
          </a:p>
          <a:p>
            <a:r>
              <a:rPr lang="en-US" sz="3200" dirty="0"/>
              <a:t>$ </a:t>
            </a:r>
            <a:r>
              <a:rPr lang="en-US" sz="3200" b="1" dirty="0" err="1"/>
              <a:t>rm</a:t>
            </a:r>
            <a:r>
              <a:rPr lang="en-US" sz="3200" b="1" dirty="0"/>
              <a:t> </a:t>
            </a:r>
            <a:r>
              <a:rPr lang="en-US" sz="3200" b="1" dirty="0" err="1"/>
              <a:t>essai.open</a:t>
            </a:r>
            <a:endParaRPr lang="en-US" sz="3200" b="1" dirty="0"/>
          </a:p>
          <a:p>
            <a:r>
              <a:rPr lang="en-US" sz="3200" dirty="0"/>
              <a:t>$</a:t>
            </a:r>
          </a:p>
          <a:p>
            <a:endParaRPr lang="en-US" sz="1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89482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2000" dirty="0">
                <a:latin typeface="Times New Roman" panose="02020603050405020304" pitchFamily="18" charset="0"/>
                <a:cs typeface="Times New Roman" panose="02020603050405020304" pitchFamily="18" charset="0"/>
              </a:rPr>
              <a:t>Open  a file : </a:t>
            </a:r>
            <a:r>
              <a:rPr lang="en-US" sz="2000" b="1" dirty="0">
                <a:solidFill>
                  <a:schemeClr val="tx1"/>
                </a:solidFill>
                <a:latin typeface="Times New Roman"/>
              </a:rPr>
              <a:t>Example </a:t>
            </a:r>
            <a:endParaRPr lang="fr-FR" sz="2000" dirty="0"/>
          </a:p>
        </p:txBody>
      </p:sp>
      <p:sp>
        <p:nvSpPr>
          <p:cNvPr id="3" name="Content Placeholder 2"/>
          <p:cNvSpPr>
            <a:spLocks noGrp="1"/>
          </p:cNvSpPr>
          <p:nvPr>
            <p:ph idx="1"/>
          </p:nvPr>
        </p:nvSpPr>
        <p:spPr/>
        <p:txBody>
          <a:bodyPr>
            <a:normAutofit lnSpcReduction="10000"/>
          </a:bodyPr>
          <a:lstStyle/>
          <a:p>
            <a:r>
              <a:rPr lang="en-US" sz="1050" b="1" dirty="0">
                <a:solidFill>
                  <a:srgbClr val="3232D6"/>
                </a:solidFill>
                <a:latin typeface="Times New Roman"/>
                <a:hlinkClick r:id="rId3" action="ppaction://hlinkfile"/>
              </a:rPr>
              <a:t>Exemple_open2.c</a:t>
            </a:r>
            <a:endParaRPr lang="en-US" sz="800" dirty="0"/>
          </a:p>
          <a:p>
            <a:r>
              <a:rPr lang="en-US" sz="1050" dirty="0"/>
              <a:t>We request the creation of a file with all possible permissions</a:t>
            </a:r>
            <a:endParaRPr lang="en-US" sz="1050" dirty="0" smtClean="0">
              <a:latin typeface="Times New Roman" pitchFamily="18" charset="0"/>
              <a:cs typeface="Times New Roman" pitchFamily="18" charset="0"/>
            </a:endParaRPr>
          </a:p>
          <a:p>
            <a:r>
              <a:rPr lang="en-US" sz="1050" dirty="0" smtClean="0">
                <a:latin typeface="Times New Roman" pitchFamily="18" charset="0"/>
                <a:cs typeface="Times New Roman" pitchFamily="18" charset="0"/>
              </a:rPr>
              <a:t>$ </a:t>
            </a:r>
            <a:r>
              <a:rPr lang="en-US" sz="1050" b="1" dirty="0">
                <a:latin typeface="Times New Roman" pitchFamily="18" charset="0"/>
                <a:cs typeface="Times New Roman" pitchFamily="18" charset="0"/>
              </a:rPr>
              <a:t>./exemple_open_2</a:t>
            </a:r>
          </a:p>
          <a:p>
            <a:r>
              <a:rPr lang="en-US" sz="1050" dirty="0">
                <a:latin typeface="Times New Roman" pitchFamily="18" charset="0"/>
                <a:cs typeface="Times New Roman" pitchFamily="18" charset="0"/>
              </a:rPr>
              <a:t>$ </a:t>
            </a:r>
            <a:r>
              <a:rPr lang="en-US" sz="1050" b="1" dirty="0">
                <a:latin typeface="Times New Roman" pitchFamily="18" charset="0"/>
                <a:cs typeface="Times New Roman" pitchFamily="18" charset="0"/>
              </a:rPr>
              <a:t>ls -l </a:t>
            </a:r>
            <a:r>
              <a:rPr lang="en-US" sz="1050" b="1" dirty="0" err="1">
                <a:latin typeface="Times New Roman" pitchFamily="18" charset="0"/>
                <a:cs typeface="Times New Roman" pitchFamily="18" charset="0"/>
              </a:rPr>
              <a:t>essai.open</a:t>
            </a:r>
            <a:endParaRPr lang="en-US" sz="1050" b="1" dirty="0">
              <a:latin typeface="Times New Roman" pitchFamily="18" charset="0"/>
              <a:cs typeface="Times New Roman" pitchFamily="18" charset="0"/>
            </a:endParaRPr>
          </a:p>
          <a:p>
            <a:r>
              <a:rPr lang="en-US" sz="1050" dirty="0">
                <a:latin typeface="Times New Roman" pitchFamily="18" charset="0"/>
                <a:cs typeface="Times New Roman" pitchFamily="18" charset="0"/>
              </a:rPr>
              <a:t>-</a:t>
            </a:r>
            <a:r>
              <a:rPr lang="en-US" sz="1050" dirty="0" err="1">
                <a:latin typeface="Times New Roman" pitchFamily="18" charset="0"/>
                <a:cs typeface="Times New Roman" pitchFamily="18" charset="0"/>
              </a:rPr>
              <a:t>rwxrwxr</a:t>
            </a:r>
            <a:r>
              <a:rPr lang="en-US" sz="1050" dirty="0">
                <a:latin typeface="Times New Roman" pitchFamily="18" charset="0"/>
                <a:cs typeface="Times New Roman" pitchFamily="18" charset="0"/>
              </a:rPr>
              <a:t>-x 1 </a:t>
            </a:r>
            <a:r>
              <a:rPr lang="en-US" sz="1050" dirty="0" err="1">
                <a:latin typeface="Times New Roman" pitchFamily="18" charset="0"/>
                <a:cs typeface="Times New Roman" pitchFamily="18" charset="0"/>
              </a:rPr>
              <a:t>ccb</a:t>
            </a:r>
            <a:r>
              <a:rPr lang="en-US" sz="1050" dirty="0">
                <a:latin typeface="Times New Roman" pitchFamily="18" charset="0"/>
                <a:cs typeface="Times New Roman" pitchFamily="18" charset="0"/>
              </a:rPr>
              <a:t> </a:t>
            </a:r>
            <a:r>
              <a:rPr lang="en-US" sz="1050" dirty="0" err="1">
                <a:latin typeface="Times New Roman" pitchFamily="18" charset="0"/>
                <a:cs typeface="Times New Roman" pitchFamily="18" charset="0"/>
              </a:rPr>
              <a:t>ccb</a:t>
            </a:r>
            <a:r>
              <a:rPr lang="en-US" sz="1050" dirty="0">
                <a:latin typeface="Times New Roman" pitchFamily="18" charset="0"/>
                <a:cs typeface="Times New Roman" pitchFamily="18" charset="0"/>
              </a:rPr>
              <a:t> 0 Nov 12 16:26 </a:t>
            </a:r>
            <a:r>
              <a:rPr lang="en-US" sz="1050" dirty="0" err="1">
                <a:latin typeface="Times New Roman" pitchFamily="18" charset="0"/>
                <a:cs typeface="Times New Roman" pitchFamily="18" charset="0"/>
              </a:rPr>
              <a:t>essai.open</a:t>
            </a:r>
            <a:endParaRPr lang="en-US" sz="1050" dirty="0">
              <a:latin typeface="Times New Roman" pitchFamily="18" charset="0"/>
              <a:cs typeface="Times New Roman" pitchFamily="18" charset="0"/>
            </a:endParaRPr>
          </a:p>
          <a:p>
            <a:r>
              <a:rPr lang="en-US" sz="1050" dirty="0">
                <a:latin typeface="Times New Roman" pitchFamily="18" charset="0"/>
                <a:cs typeface="Times New Roman" pitchFamily="18" charset="0"/>
              </a:rPr>
              <a:t>$ </a:t>
            </a:r>
            <a:r>
              <a:rPr lang="en-US" sz="1050" b="1" dirty="0" err="1">
                <a:latin typeface="Times New Roman" pitchFamily="18" charset="0"/>
                <a:cs typeface="Times New Roman" pitchFamily="18" charset="0"/>
              </a:rPr>
              <a:t>umas</a:t>
            </a:r>
            <a:r>
              <a:rPr lang="en-US" sz="1050" dirty="0" err="1">
                <a:latin typeface="Times New Roman" pitchFamily="18" charset="0"/>
                <a:cs typeface="Times New Roman" pitchFamily="18" charset="0"/>
              </a:rPr>
              <a:t>k</a:t>
            </a:r>
            <a:endParaRPr lang="en-US" sz="1050" dirty="0">
              <a:latin typeface="Times New Roman" pitchFamily="18" charset="0"/>
              <a:cs typeface="Times New Roman" pitchFamily="18" charset="0"/>
            </a:endParaRPr>
          </a:p>
          <a:p>
            <a:r>
              <a:rPr lang="en-US" sz="1050" dirty="0">
                <a:latin typeface="Times New Roman" pitchFamily="18" charset="0"/>
                <a:cs typeface="Times New Roman" pitchFamily="18" charset="0"/>
              </a:rPr>
              <a:t>002</a:t>
            </a:r>
          </a:p>
          <a:p>
            <a:r>
              <a:rPr lang="en-US" sz="1050" dirty="0">
                <a:latin typeface="Times New Roman" pitchFamily="18" charset="0"/>
                <a:cs typeface="Times New Roman" pitchFamily="18" charset="0"/>
              </a:rPr>
              <a:t>$ </a:t>
            </a:r>
            <a:r>
              <a:rPr lang="en-US" sz="1050" b="1" dirty="0" err="1">
                <a:latin typeface="Times New Roman" pitchFamily="18" charset="0"/>
                <a:cs typeface="Times New Roman" pitchFamily="18" charset="0"/>
              </a:rPr>
              <a:t>rm</a:t>
            </a:r>
            <a:r>
              <a:rPr lang="en-US" sz="1050" b="1" dirty="0">
                <a:latin typeface="Times New Roman" pitchFamily="18" charset="0"/>
                <a:cs typeface="Times New Roman" pitchFamily="18" charset="0"/>
              </a:rPr>
              <a:t> </a:t>
            </a:r>
            <a:r>
              <a:rPr lang="en-US" sz="1050" b="1" dirty="0" err="1">
                <a:latin typeface="Times New Roman" pitchFamily="18" charset="0"/>
                <a:cs typeface="Times New Roman" pitchFamily="18" charset="0"/>
              </a:rPr>
              <a:t>essai.open</a:t>
            </a:r>
            <a:endParaRPr lang="en-US" sz="1050" b="1" dirty="0">
              <a:latin typeface="Times New Roman" pitchFamily="18" charset="0"/>
              <a:cs typeface="Times New Roman" pitchFamily="18" charset="0"/>
            </a:endParaRPr>
          </a:p>
          <a:p>
            <a:r>
              <a:rPr lang="en-US" sz="1050" dirty="0">
                <a:latin typeface="Times New Roman" pitchFamily="18" charset="0"/>
                <a:cs typeface="Times New Roman" pitchFamily="18" charset="0"/>
              </a:rPr>
              <a:t>$</a:t>
            </a:r>
          </a:p>
          <a:p>
            <a:endParaRPr lang="fr-FR" dirty="0"/>
          </a:p>
        </p:txBody>
      </p:sp>
    </p:spTree>
    <p:extLst>
      <p:ext uri="{BB962C8B-B14F-4D97-AF65-F5344CB8AC3E}">
        <p14:creationId xmlns:p14="http://schemas.microsoft.com/office/powerpoint/2010/main" val="2314153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latin typeface="Times New Roman" panose="02020603050405020304" pitchFamily="18" charset="0"/>
                <a:cs typeface="Times New Roman" panose="02020603050405020304" pitchFamily="18" charset="0"/>
              </a:rPr>
              <a:t>Reading </a:t>
            </a:r>
            <a:r>
              <a:rPr lang="fr-FR" dirty="0" err="1">
                <a:latin typeface="Times New Roman" panose="02020603050405020304" pitchFamily="18" charset="0"/>
                <a:cs typeface="Times New Roman" panose="02020603050405020304" pitchFamily="18" charset="0"/>
              </a:rPr>
              <a:t>from</a:t>
            </a:r>
            <a:r>
              <a:rPr lang="fr-FR" dirty="0">
                <a:latin typeface="Times New Roman" panose="02020603050405020304" pitchFamily="18" charset="0"/>
                <a:cs typeface="Times New Roman" panose="02020603050405020304" pitchFamily="18" charset="0"/>
              </a:rPr>
              <a:t> a file</a:t>
            </a:r>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sym typeface="Wingdings" panose="05000000000000000000" pitchFamily="2" charset="2"/>
              </a:rPr>
              <a:t>Read file descriptor: function: read ()</a:t>
            </a:r>
            <a:endParaRPr lang="fr-FR" sz="1200" dirty="0">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endParaRPr lang="fr-FR" sz="1200" dirty="0" smtClean="0">
              <a:latin typeface="Times New Roman" panose="02020603050405020304" pitchFamily="18" charset="0"/>
              <a:cs typeface="Times New Roman" panose="02020603050405020304" pitchFamily="18" charset="0"/>
              <a:sym typeface="Wingdings" panose="05000000000000000000" pitchFamily="2" charset="2"/>
            </a:endParaRPr>
          </a:p>
          <a:p>
            <a:pPr>
              <a:buFont typeface="Wingdings" panose="05000000000000000000" pitchFamily="2" charset="2"/>
              <a:buChar char="Ø"/>
            </a:pPr>
            <a:endParaRPr lang="fr-FR" sz="1200" dirty="0">
              <a:latin typeface="Times New Roman" panose="02020603050405020304" pitchFamily="18" charset="0"/>
              <a:cs typeface="Times New Roman" panose="02020603050405020304" pitchFamily="18" charset="0"/>
              <a:sym typeface="Wingdings" panose="05000000000000000000" pitchFamily="2" charset="2"/>
            </a:endParaRPr>
          </a:p>
          <a:p>
            <a:endParaRPr lang="en-US" dirty="0" smtClean="0">
              <a:sym typeface="Wingdings" panose="05000000000000000000" pitchFamily="2" charset="2"/>
            </a:endParaRPr>
          </a:p>
          <a:p>
            <a:pPr>
              <a:lnSpc>
                <a:spcPct val="100000"/>
              </a:lnSpc>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sym typeface="Wingdings" panose="05000000000000000000" pitchFamily="2" charset="2"/>
              </a:rPr>
              <a:t>read (): tries to read </a:t>
            </a:r>
            <a:r>
              <a:rPr lang="en-US" sz="1200" dirty="0" err="1">
                <a:latin typeface="Times New Roman" panose="02020603050405020304" pitchFamily="18" charset="0"/>
                <a:cs typeface="Times New Roman" panose="02020603050405020304" pitchFamily="18" charset="0"/>
                <a:sym typeface="Wingdings" panose="05000000000000000000" pitchFamily="2" charset="2"/>
              </a:rPr>
              <a:t>NbALire</a:t>
            </a:r>
            <a:r>
              <a:rPr lang="en-US" sz="1200" dirty="0">
                <a:latin typeface="Times New Roman" panose="02020603050405020304" pitchFamily="18" charset="0"/>
                <a:cs typeface="Times New Roman" panose="02020603050405020304" pitchFamily="18" charset="0"/>
                <a:sym typeface="Wingdings" panose="05000000000000000000" pitchFamily="2" charset="2"/>
              </a:rPr>
              <a:t> bytes: file descriptor </a:t>
            </a:r>
            <a:r>
              <a:rPr lang="en-US" sz="1200" dirty="0" err="1">
                <a:latin typeface="Times New Roman" panose="02020603050405020304" pitchFamily="18" charset="0"/>
                <a:cs typeface="Times New Roman" panose="02020603050405020304" pitchFamily="18" charset="0"/>
                <a:sym typeface="Wingdings" panose="05000000000000000000" pitchFamily="2" charset="2"/>
              </a:rPr>
              <a:t>fdwriting</a:t>
            </a:r>
            <a:r>
              <a:rPr lang="en-US" sz="1200" dirty="0">
                <a:latin typeface="Times New Roman" panose="02020603050405020304" pitchFamily="18" charset="0"/>
                <a:cs typeface="Times New Roman" panose="02020603050405020304" pitchFamily="18" charset="0"/>
                <a:sym typeface="Wingdings" panose="05000000000000000000" pitchFamily="2" charset="2"/>
              </a:rPr>
              <a:t> area: memory pointed to by </a:t>
            </a:r>
            <a:r>
              <a:rPr lang="en-US" sz="1200" dirty="0" err="1">
                <a:latin typeface="Times New Roman" panose="02020603050405020304" pitchFamily="18" charset="0"/>
                <a:cs typeface="Times New Roman" panose="02020603050405020304" pitchFamily="18" charset="0"/>
                <a:sym typeface="Wingdings" panose="05000000000000000000" pitchFamily="2" charset="2"/>
              </a:rPr>
              <a:t>buf</a:t>
            </a:r>
            <a:endParaRPr lang="en-US" sz="1200" dirty="0">
              <a:latin typeface="Times New Roman" panose="02020603050405020304" pitchFamily="18" charset="0"/>
              <a:cs typeface="Times New Roman" panose="02020603050405020304" pitchFamily="18" charset="0"/>
              <a:sym typeface="Wingdings" panose="05000000000000000000" pitchFamily="2" charset="2"/>
            </a:endParaRPr>
          </a:p>
          <a:p>
            <a:pPr>
              <a:lnSpc>
                <a:spcPct val="100000"/>
              </a:lnSpc>
              <a:buFont typeface="Wingdings" panose="05000000000000000000" pitchFamily="2" charset="2"/>
              <a:buChar char="Ø"/>
            </a:pPr>
            <a:r>
              <a:rPr lang="en-US" sz="1200" dirty="0" err="1">
                <a:latin typeface="Times New Roman" panose="02020603050405020304" pitchFamily="18" charset="0"/>
                <a:cs typeface="Times New Roman" panose="02020603050405020304" pitchFamily="18" charset="0"/>
                <a:sym typeface="Wingdings" panose="05000000000000000000" pitchFamily="2" charset="2"/>
              </a:rPr>
              <a:t>buf</a:t>
            </a:r>
            <a:r>
              <a:rPr lang="en-US" sz="1200" dirty="0">
                <a:latin typeface="Times New Roman" panose="02020603050405020304" pitchFamily="18" charset="0"/>
                <a:cs typeface="Times New Roman" panose="02020603050405020304" pitchFamily="18" charset="0"/>
                <a:sym typeface="Wingdings" panose="05000000000000000000" pitchFamily="2" charset="2"/>
              </a:rPr>
              <a:t>: pointer to at least </a:t>
            </a:r>
            <a:r>
              <a:rPr lang="en-US" sz="1200" dirty="0" err="1">
                <a:latin typeface="Times New Roman" panose="02020603050405020304" pitchFamily="18" charset="0"/>
                <a:cs typeface="Times New Roman" panose="02020603050405020304" pitchFamily="18" charset="0"/>
                <a:sym typeface="Wingdings" panose="05000000000000000000" pitchFamily="2" charset="2"/>
              </a:rPr>
              <a:t>NBAlire</a:t>
            </a:r>
            <a:r>
              <a:rPr lang="en-US" sz="1200" dirty="0">
                <a:latin typeface="Times New Roman" panose="02020603050405020304" pitchFamily="18" charset="0"/>
                <a:cs typeface="Times New Roman" panose="02020603050405020304" pitchFamily="18" charset="0"/>
                <a:sym typeface="Wingdings" panose="05000000000000000000" pitchFamily="2" charset="2"/>
              </a:rPr>
              <a:t> bytes already reserved</a:t>
            </a:r>
          </a:p>
          <a:p>
            <a:pPr>
              <a:lnSpc>
                <a:spcPct val="100000"/>
              </a:lnSpc>
              <a:buFont typeface="Wingdings" panose="05000000000000000000" pitchFamily="2" charset="2"/>
              <a:buChar char="Ø"/>
            </a:pPr>
            <a:r>
              <a:rPr lang="en-US" sz="1200" dirty="0" err="1">
                <a:latin typeface="Times New Roman" panose="02020603050405020304" pitchFamily="18" charset="0"/>
                <a:cs typeface="Times New Roman" panose="02020603050405020304" pitchFamily="18" charset="0"/>
                <a:sym typeface="Wingdings" panose="05000000000000000000" pitchFamily="2" charset="2"/>
              </a:rPr>
              <a:t>fd</a:t>
            </a:r>
            <a:r>
              <a:rPr lang="en-US" sz="1200" dirty="0">
                <a:latin typeface="Times New Roman" panose="02020603050405020304" pitchFamily="18" charset="0"/>
                <a:cs typeface="Times New Roman" panose="02020603050405020304" pitchFamily="18" charset="0"/>
                <a:sym typeface="Wingdings" panose="05000000000000000000" pitchFamily="2" charset="2"/>
              </a:rPr>
              <a:t>: file descriptor already open for reading.</a:t>
            </a:r>
          </a:p>
          <a:p>
            <a:pPr>
              <a:lnSpc>
                <a:spcPct val="100000"/>
              </a:lnSpc>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sym typeface="Wingdings" panose="05000000000000000000" pitchFamily="2" charset="2"/>
              </a:rPr>
              <a:t>returns number bytes read, 0 if end of file or </a:t>
            </a:r>
            <a:r>
              <a:rPr lang="en-US" sz="1200" dirty="0" smtClean="0">
                <a:latin typeface="Times New Roman" panose="02020603050405020304" pitchFamily="18" charset="0"/>
                <a:cs typeface="Times New Roman" panose="02020603050405020304" pitchFamily="18" charset="0"/>
                <a:sym typeface="Wingdings" panose="05000000000000000000" pitchFamily="2" charset="2"/>
              </a:rPr>
              <a:t>-1 </a:t>
            </a:r>
            <a:r>
              <a:rPr lang="en-US" sz="1200" dirty="0">
                <a:latin typeface="Times New Roman" panose="02020603050405020304" pitchFamily="18" charset="0"/>
                <a:cs typeface="Times New Roman" panose="02020603050405020304" pitchFamily="18" charset="0"/>
                <a:sym typeface="Wingdings" panose="05000000000000000000" pitchFamily="2" charset="2"/>
              </a:rPr>
              <a:t>if error.</a:t>
            </a:r>
            <a:endParaRPr lang="fr-FR" sz="1200" dirty="0">
              <a:latin typeface="Times New Roman" panose="02020603050405020304" pitchFamily="18" charset="0"/>
              <a:cs typeface="Times New Roman" panose="02020603050405020304" pitchFamily="18" charset="0"/>
              <a:sym typeface="Wingdings" panose="05000000000000000000" pitchFamily="2" charset="2"/>
            </a:endParaRPr>
          </a:p>
          <a:p>
            <a:endParaRPr lang="fr-FR" dirty="0"/>
          </a:p>
        </p:txBody>
      </p:sp>
      <p:sp>
        <p:nvSpPr>
          <p:cNvPr id="4" name="Rectangle 3"/>
          <p:cNvSpPr/>
          <p:nvPr/>
        </p:nvSpPr>
        <p:spPr>
          <a:xfrm>
            <a:off x="414909" y="1273175"/>
            <a:ext cx="3947541"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00" dirty="0">
                <a:solidFill>
                  <a:srgbClr val="000000"/>
                </a:solidFill>
                <a:latin typeface="Courier New" panose="02070309020205020404" pitchFamily="49" charset="0"/>
                <a:cs typeface="Courier New" panose="02070309020205020404" pitchFamily="49" charset="0"/>
              </a:rPr>
              <a:t>#include </a:t>
            </a:r>
            <a:r>
              <a:rPr lang="en-US" sz="1000" dirty="0" smtClean="0">
                <a:solidFill>
                  <a:srgbClr val="000000"/>
                </a:solidFill>
                <a:latin typeface="Courier New" panose="02070309020205020404" pitchFamily="49" charset="0"/>
                <a:cs typeface="Courier New" panose="02070309020205020404" pitchFamily="49" charset="0"/>
              </a:rPr>
              <a:t>&lt;</a:t>
            </a:r>
            <a:r>
              <a:rPr lang="en-US" sz="1000" dirty="0" err="1" smtClean="0">
                <a:solidFill>
                  <a:srgbClr val="000000"/>
                </a:solidFill>
                <a:latin typeface="Courier New" panose="02070309020205020404" pitchFamily="49" charset="0"/>
                <a:cs typeface="Courier New" panose="02070309020205020404" pitchFamily="49" charset="0"/>
              </a:rPr>
              <a:t>unistd.h</a:t>
            </a:r>
            <a:r>
              <a:rPr lang="en-US" sz="1000" dirty="0" smtClean="0">
                <a:solidFill>
                  <a:srgbClr val="000000"/>
                </a:solidFill>
                <a:latin typeface="Courier New" panose="02070309020205020404" pitchFamily="49" charset="0"/>
                <a:cs typeface="Courier New" panose="02070309020205020404" pitchFamily="49" charset="0"/>
              </a:rPr>
              <a:t>&gt;</a:t>
            </a:r>
          </a:p>
          <a:p>
            <a:r>
              <a:rPr lang="en-US" sz="1000" dirty="0" err="1" smtClean="0">
                <a:solidFill>
                  <a:srgbClr val="000000"/>
                </a:solidFill>
                <a:latin typeface="Courier New" panose="02070309020205020404" pitchFamily="49" charset="0"/>
                <a:cs typeface="Courier New" panose="02070309020205020404" pitchFamily="49" charset="0"/>
              </a:rPr>
              <a:t>ssize_t</a:t>
            </a:r>
            <a:r>
              <a:rPr lang="en-US" sz="1000" dirty="0" smtClean="0">
                <a:solidFill>
                  <a:srgbClr val="000000"/>
                </a:solidFill>
                <a:latin typeface="Courier New" panose="02070309020205020404" pitchFamily="49" charset="0"/>
                <a:cs typeface="Courier New" panose="02070309020205020404" pitchFamily="49" charset="0"/>
              </a:rPr>
              <a:t> </a:t>
            </a:r>
            <a:r>
              <a:rPr lang="en-US" sz="1000" dirty="0" smtClean="0">
                <a:solidFill>
                  <a:srgbClr val="00B0F0"/>
                </a:solidFill>
                <a:latin typeface="Courier New" panose="02070309020205020404" pitchFamily="49" charset="0"/>
                <a:cs typeface="Courier New" panose="02070309020205020404" pitchFamily="49" charset="0"/>
              </a:rPr>
              <a:t>read</a:t>
            </a:r>
            <a:r>
              <a:rPr lang="en-US" sz="1000" dirty="0" smtClean="0">
                <a:solidFill>
                  <a:srgbClr val="000000"/>
                </a:solidFill>
                <a:latin typeface="Courier New" panose="02070309020205020404" pitchFamily="49" charset="0"/>
                <a:cs typeface="Courier New" panose="02070309020205020404" pitchFamily="49" charset="0"/>
              </a:rPr>
              <a:t> (</a:t>
            </a:r>
            <a:r>
              <a:rPr lang="en-US" sz="1000" dirty="0" err="1" smtClean="0">
                <a:solidFill>
                  <a:srgbClr val="000000"/>
                </a:solidFill>
                <a:latin typeface="Courier New" panose="02070309020205020404" pitchFamily="49" charset="0"/>
                <a:cs typeface="Courier New" panose="02070309020205020404" pitchFamily="49" charset="0"/>
              </a:rPr>
              <a:t>int</a:t>
            </a:r>
            <a:r>
              <a:rPr lang="en-US" sz="1000" dirty="0" smtClean="0">
                <a:solidFill>
                  <a:srgbClr val="000000"/>
                </a:solidFill>
                <a:latin typeface="Courier New" panose="02070309020205020404" pitchFamily="49" charset="0"/>
                <a:cs typeface="Courier New" panose="02070309020205020404" pitchFamily="49" charset="0"/>
              </a:rPr>
              <a:t> </a:t>
            </a:r>
            <a:r>
              <a:rPr lang="en-US" sz="1000" dirty="0" err="1" smtClean="0">
                <a:solidFill>
                  <a:srgbClr val="FF0000"/>
                </a:solidFill>
                <a:latin typeface="Courier New" panose="02070309020205020404" pitchFamily="49" charset="0"/>
                <a:cs typeface="Courier New" panose="02070309020205020404" pitchFamily="49" charset="0"/>
              </a:rPr>
              <a:t>fd</a:t>
            </a:r>
            <a:r>
              <a:rPr lang="en-US" sz="1000" dirty="0" smtClean="0">
                <a:solidFill>
                  <a:srgbClr val="000000"/>
                </a:solidFill>
                <a:latin typeface="Courier New" panose="02070309020205020404" pitchFamily="49" charset="0"/>
                <a:cs typeface="Courier New" panose="02070309020205020404" pitchFamily="49" charset="0"/>
              </a:rPr>
              <a:t>, void* </a:t>
            </a:r>
            <a:r>
              <a:rPr lang="en-US" sz="1000" dirty="0" err="1" smtClean="0">
                <a:solidFill>
                  <a:srgbClr val="FF0000"/>
                </a:solidFill>
                <a:latin typeface="Courier New" panose="02070309020205020404" pitchFamily="49" charset="0"/>
                <a:cs typeface="Courier New" panose="02070309020205020404" pitchFamily="49" charset="0"/>
              </a:rPr>
              <a:t>buf</a:t>
            </a:r>
            <a:r>
              <a:rPr lang="en-US" sz="1000" dirty="0" smtClean="0">
                <a:solidFill>
                  <a:srgbClr val="000000"/>
                </a:solidFill>
                <a:latin typeface="Courier New" panose="02070309020205020404" pitchFamily="49" charset="0"/>
                <a:cs typeface="Courier New" panose="02070309020205020404" pitchFamily="49" charset="0"/>
              </a:rPr>
              <a:t> ,</a:t>
            </a:r>
            <a:r>
              <a:rPr lang="en-US" sz="1000" dirty="0" err="1" smtClean="0">
                <a:solidFill>
                  <a:srgbClr val="000000"/>
                </a:solidFill>
                <a:latin typeface="Courier New" panose="02070309020205020404" pitchFamily="49" charset="0"/>
                <a:cs typeface="Courier New" panose="02070309020205020404" pitchFamily="49" charset="0"/>
              </a:rPr>
              <a:t>size_t</a:t>
            </a:r>
            <a:r>
              <a:rPr lang="en-US" sz="1000" dirty="0" smtClean="0">
                <a:solidFill>
                  <a:srgbClr val="000000"/>
                </a:solidFill>
                <a:latin typeface="Courier New" panose="02070309020205020404" pitchFamily="49" charset="0"/>
                <a:cs typeface="Courier New" panose="02070309020205020404" pitchFamily="49" charset="0"/>
              </a:rPr>
              <a:t> </a:t>
            </a:r>
            <a:r>
              <a:rPr lang="en-US" sz="1000" dirty="0" err="1" smtClean="0">
                <a:solidFill>
                  <a:srgbClr val="FF0000"/>
                </a:solidFill>
                <a:latin typeface="Courier New" panose="02070309020205020404" pitchFamily="49" charset="0"/>
                <a:cs typeface="Courier New" panose="02070309020205020404" pitchFamily="49" charset="0"/>
              </a:rPr>
              <a:t>NbALire</a:t>
            </a:r>
            <a:r>
              <a:rPr lang="en-US" sz="1000" dirty="0" smtClean="0">
                <a:solidFill>
                  <a:srgbClr val="000000"/>
                </a:solidFill>
                <a:latin typeface="Courier New" panose="02070309020205020404" pitchFamily="49" charset="0"/>
                <a:cs typeface="Courier New" panose="02070309020205020404" pitchFamily="49" charset="0"/>
              </a:rPr>
              <a:t>);</a:t>
            </a:r>
            <a:endParaRPr lang="en-US" sz="10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8153424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latin typeface="Times New Roman" panose="02020603050405020304" pitchFamily="18" charset="0"/>
                <a:cs typeface="Times New Roman" panose="02020603050405020304" pitchFamily="18" charset="0"/>
              </a:rPr>
              <a:t>Writing</a:t>
            </a:r>
            <a:r>
              <a:rPr lang="fr-FR" dirty="0">
                <a:latin typeface="Times New Roman" panose="02020603050405020304" pitchFamily="18" charset="0"/>
                <a:cs typeface="Times New Roman" panose="02020603050405020304" pitchFamily="18" charset="0"/>
              </a:rPr>
              <a:t> to a file</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Write to a file descriptor: write () function</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write(): </a:t>
            </a:r>
            <a:r>
              <a:rPr lang="en-US" dirty="0">
                <a:latin typeface="Times New Roman" panose="02020603050405020304" pitchFamily="18" charset="0"/>
                <a:cs typeface="Times New Roman" panose="02020603050405020304" pitchFamily="18" charset="0"/>
              </a:rPr>
              <a:t>tries to write </a:t>
            </a:r>
            <a:r>
              <a:rPr lang="en-US" dirty="0" err="1">
                <a:latin typeface="Times New Roman" panose="02020603050405020304" pitchFamily="18" charset="0"/>
                <a:cs typeface="Times New Roman" panose="02020603050405020304" pitchFamily="18" charset="0"/>
              </a:rPr>
              <a:t>NbALire</a:t>
            </a:r>
            <a:r>
              <a:rPr lang="en-US" dirty="0">
                <a:latin typeface="Times New Roman" panose="02020603050405020304" pitchFamily="18" charset="0"/>
                <a:cs typeface="Times New Roman" panose="02020603050405020304" pitchFamily="18" charset="0"/>
              </a:rPr>
              <a:t> bytes: from the read zone: memory (not modifiable) pointed to by </a:t>
            </a:r>
            <a:r>
              <a:rPr lang="en-US" dirty="0" err="1">
                <a:latin typeface="Times New Roman" panose="02020603050405020304" pitchFamily="18" charset="0"/>
                <a:cs typeface="Times New Roman" panose="02020603050405020304" pitchFamily="18" charset="0"/>
              </a:rPr>
              <a:t>buf</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sym typeface="Wingdings" panose="05000000000000000000" pitchFamily="2" charset="2"/>
              </a:rPr>
              <a:t></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file descriptor.</a:t>
            </a:r>
          </a:p>
          <a:p>
            <a:pPr>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buf</a:t>
            </a:r>
            <a:r>
              <a:rPr lang="en-US" dirty="0">
                <a:latin typeface="Times New Roman" panose="02020603050405020304" pitchFamily="18" charset="0"/>
                <a:cs typeface="Times New Roman" panose="02020603050405020304" pitchFamily="18" charset="0"/>
              </a:rPr>
              <a:t>: pointer to at least </a:t>
            </a:r>
            <a:r>
              <a:rPr lang="en-US" dirty="0" err="1">
                <a:latin typeface="Times New Roman" panose="02020603050405020304" pitchFamily="18" charset="0"/>
                <a:cs typeface="Times New Roman" panose="02020603050405020304" pitchFamily="18" charset="0"/>
              </a:rPr>
              <a:t>NBAlire</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bytes already </a:t>
            </a:r>
            <a:r>
              <a:rPr lang="en-US" dirty="0">
                <a:latin typeface="Times New Roman" panose="02020603050405020304" pitchFamily="18" charset="0"/>
                <a:cs typeface="Times New Roman" panose="02020603050405020304" pitchFamily="18" charset="0"/>
              </a:rPr>
              <a:t>reserved</a:t>
            </a:r>
          </a:p>
          <a:p>
            <a:pPr>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fd</a:t>
            </a:r>
            <a:r>
              <a:rPr lang="en-US" dirty="0">
                <a:latin typeface="Times New Roman" panose="02020603050405020304" pitchFamily="18" charset="0"/>
                <a:cs typeface="Times New Roman" panose="02020603050405020304" pitchFamily="18" charset="0"/>
              </a:rPr>
              <a:t>: file descriptor already open for writing.</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returns number bytes written&gt; = 0 or </a:t>
            </a:r>
            <a:r>
              <a:rPr lang="en-US" dirty="0" smtClean="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if error.</a:t>
            </a:r>
            <a:endParaRPr lang="fr-FR" dirty="0">
              <a:latin typeface="Times New Roman" panose="02020603050405020304" pitchFamily="18" charset="0"/>
              <a:cs typeface="Times New Roman" panose="02020603050405020304" pitchFamily="18" charset="0"/>
            </a:endParaRPr>
          </a:p>
        </p:txBody>
      </p:sp>
      <p:sp>
        <p:nvSpPr>
          <p:cNvPr id="4" name="Rectangle 3"/>
          <p:cNvSpPr/>
          <p:nvPr/>
        </p:nvSpPr>
        <p:spPr>
          <a:xfrm>
            <a:off x="414909" y="1273175"/>
            <a:ext cx="4023741"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00" dirty="0">
                <a:solidFill>
                  <a:srgbClr val="000000"/>
                </a:solidFill>
                <a:latin typeface="Courier New" panose="02070309020205020404" pitchFamily="49" charset="0"/>
                <a:cs typeface="Courier New" panose="02070309020205020404" pitchFamily="49" charset="0"/>
              </a:rPr>
              <a:t>#include </a:t>
            </a:r>
            <a:r>
              <a:rPr lang="en-US" sz="1000" dirty="0" smtClean="0">
                <a:solidFill>
                  <a:srgbClr val="000000"/>
                </a:solidFill>
                <a:latin typeface="Courier New" panose="02070309020205020404" pitchFamily="49" charset="0"/>
                <a:cs typeface="Courier New" panose="02070309020205020404" pitchFamily="49" charset="0"/>
              </a:rPr>
              <a:t>&lt;</a:t>
            </a:r>
            <a:r>
              <a:rPr lang="en-US" sz="1000" dirty="0" err="1" smtClean="0">
                <a:solidFill>
                  <a:srgbClr val="000000"/>
                </a:solidFill>
                <a:latin typeface="Courier New" panose="02070309020205020404" pitchFamily="49" charset="0"/>
                <a:cs typeface="Courier New" panose="02070309020205020404" pitchFamily="49" charset="0"/>
              </a:rPr>
              <a:t>unistd.h</a:t>
            </a:r>
            <a:r>
              <a:rPr lang="en-US" sz="1000" dirty="0" smtClean="0">
                <a:solidFill>
                  <a:srgbClr val="000000"/>
                </a:solidFill>
                <a:latin typeface="Courier New" panose="02070309020205020404" pitchFamily="49" charset="0"/>
                <a:cs typeface="Courier New" panose="02070309020205020404" pitchFamily="49" charset="0"/>
              </a:rPr>
              <a:t>&gt;</a:t>
            </a:r>
          </a:p>
          <a:p>
            <a:r>
              <a:rPr lang="en-US" sz="1000" dirty="0" err="1" smtClean="0">
                <a:solidFill>
                  <a:srgbClr val="000000"/>
                </a:solidFill>
                <a:latin typeface="Courier New" panose="02070309020205020404" pitchFamily="49" charset="0"/>
                <a:cs typeface="Courier New" panose="02070309020205020404" pitchFamily="49" charset="0"/>
              </a:rPr>
              <a:t>ssize_t</a:t>
            </a:r>
            <a:r>
              <a:rPr lang="en-US" sz="1000" dirty="0" smtClean="0">
                <a:solidFill>
                  <a:srgbClr val="000000"/>
                </a:solidFill>
                <a:latin typeface="Courier New" panose="02070309020205020404" pitchFamily="49" charset="0"/>
                <a:cs typeface="Courier New" panose="02070309020205020404" pitchFamily="49" charset="0"/>
              </a:rPr>
              <a:t> </a:t>
            </a:r>
            <a:r>
              <a:rPr lang="en-US" sz="1008" dirty="0">
                <a:solidFill>
                  <a:srgbClr val="00B0F0"/>
                </a:solidFill>
                <a:latin typeface="Times New Roman" panose="02020603050405020304" pitchFamily="18" charset="0"/>
                <a:cs typeface="Times New Roman" panose="02020603050405020304" pitchFamily="18" charset="0"/>
              </a:rPr>
              <a:t>write</a:t>
            </a:r>
            <a:r>
              <a:rPr lang="en-US" sz="1000" dirty="0" smtClean="0">
                <a:solidFill>
                  <a:srgbClr val="000000"/>
                </a:solidFill>
                <a:latin typeface="Courier New" panose="02070309020205020404" pitchFamily="49" charset="0"/>
                <a:cs typeface="Courier New" panose="02070309020205020404" pitchFamily="49" charset="0"/>
              </a:rPr>
              <a:t> (</a:t>
            </a:r>
            <a:r>
              <a:rPr lang="en-US" sz="1000" dirty="0" err="1" smtClean="0">
                <a:solidFill>
                  <a:srgbClr val="000000"/>
                </a:solidFill>
                <a:latin typeface="Courier New" panose="02070309020205020404" pitchFamily="49" charset="0"/>
                <a:cs typeface="Courier New" panose="02070309020205020404" pitchFamily="49" charset="0"/>
              </a:rPr>
              <a:t>int</a:t>
            </a:r>
            <a:r>
              <a:rPr lang="en-US" sz="1000" dirty="0" smtClean="0">
                <a:solidFill>
                  <a:srgbClr val="000000"/>
                </a:solidFill>
                <a:latin typeface="Courier New" panose="02070309020205020404" pitchFamily="49" charset="0"/>
                <a:cs typeface="Courier New" panose="02070309020205020404" pitchFamily="49" charset="0"/>
              </a:rPr>
              <a:t> </a:t>
            </a:r>
            <a:r>
              <a:rPr lang="en-US" sz="1000" dirty="0" err="1" smtClean="0">
                <a:solidFill>
                  <a:srgbClr val="FF0000"/>
                </a:solidFill>
                <a:latin typeface="Courier New" panose="02070309020205020404" pitchFamily="49" charset="0"/>
                <a:cs typeface="Courier New" panose="02070309020205020404" pitchFamily="49" charset="0"/>
              </a:rPr>
              <a:t>fd</a:t>
            </a:r>
            <a:r>
              <a:rPr lang="en-US" sz="1000" dirty="0" smtClean="0">
                <a:solidFill>
                  <a:srgbClr val="000000"/>
                </a:solidFill>
                <a:latin typeface="Courier New" panose="02070309020205020404" pitchFamily="49" charset="0"/>
                <a:cs typeface="Courier New" panose="02070309020205020404" pitchFamily="49" charset="0"/>
              </a:rPr>
              <a:t>, void* </a:t>
            </a:r>
            <a:r>
              <a:rPr lang="en-US" sz="1000" dirty="0" err="1" smtClean="0">
                <a:solidFill>
                  <a:srgbClr val="FF0000"/>
                </a:solidFill>
                <a:latin typeface="Courier New" panose="02070309020205020404" pitchFamily="49" charset="0"/>
                <a:cs typeface="Courier New" panose="02070309020205020404" pitchFamily="49" charset="0"/>
              </a:rPr>
              <a:t>buf</a:t>
            </a:r>
            <a:r>
              <a:rPr lang="en-US" sz="1000" dirty="0" smtClean="0">
                <a:solidFill>
                  <a:srgbClr val="000000"/>
                </a:solidFill>
                <a:latin typeface="Courier New" panose="02070309020205020404" pitchFamily="49" charset="0"/>
                <a:cs typeface="Courier New" panose="02070309020205020404" pitchFamily="49" charset="0"/>
              </a:rPr>
              <a:t> ,</a:t>
            </a:r>
            <a:r>
              <a:rPr lang="en-US" sz="1000" dirty="0" err="1" smtClean="0">
                <a:solidFill>
                  <a:srgbClr val="000000"/>
                </a:solidFill>
                <a:latin typeface="Courier New" panose="02070309020205020404" pitchFamily="49" charset="0"/>
                <a:cs typeface="Courier New" panose="02070309020205020404" pitchFamily="49" charset="0"/>
              </a:rPr>
              <a:t>size_t</a:t>
            </a:r>
            <a:r>
              <a:rPr lang="en-US" sz="1000" dirty="0" smtClean="0">
                <a:solidFill>
                  <a:srgbClr val="000000"/>
                </a:solidFill>
                <a:latin typeface="Courier New" panose="02070309020205020404" pitchFamily="49" charset="0"/>
                <a:cs typeface="Courier New" panose="02070309020205020404" pitchFamily="49" charset="0"/>
              </a:rPr>
              <a:t> </a:t>
            </a:r>
            <a:r>
              <a:rPr lang="en-US" sz="1000" dirty="0" err="1" smtClean="0">
                <a:solidFill>
                  <a:srgbClr val="FF0000"/>
                </a:solidFill>
                <a:latin typeface="Courier New" panose="02070309020205020404" pitchFamily="49" charset="0"/>
                <a:cs typeface="Courier New" panose="02070309020205020404" pitchFamily="49" charset="0"/>
              </a:rPr>
              <a:t>NbALire</a:t>
            </a:r>
            <a:r>
              <a:rPr lang="en-US" sz="1000" dirty="0" smtClean="0">
                <a:solidFill>
                  <a:srgbClr val="000000"/>
                </a:solidFill>
                <a:latin typeface="Courier New" panose="02070309020205020404" pitchFamily="49" charset="0"/>
                <a:cs typeface="Courier New" panose="02070309020205020404" pitchFamily="49" charset="0"/>
              </a:rPr>
              <a:t>);</a:t>
            </a:r>
            <a:endParaRPr lang="en-US" sz="10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756437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Write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how is it used?</a:t>
            </a:r>
            <a:endParaRPr lang="fr-F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dirty="0" err="1"/>
              <a:t>Tampan</a:t>
            </a:r>
            <a:r>
              <a:rPr lang="en-US" dirty="0"/>
              <a:t>: memory reserve - read in - write from</a:t>
            </a:r>
            <a:endParaRPr lang="fr-FR"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t>write () </a:t>
            </a:r>
            <a:r>
              <a:rPr lang="en-US" dirty="0" smtClean="0">
                <a:sym typeface="Wingdings" panose="05000000000000000000" pitchFamily="2" charset="2"/>
              </a:rPr>
              <a:t></a:t>
            </a:r>
            <a:r>
              <a:rPr lang="en-US" dirty="0" smtClean="0"/>
              <a:t> </a:t>
            </a:r>
            <a:r>
              <a:rPr lang="en-US" dirty="0"/>
              <a:t>return value of read () </a:t>
            </a:r>
            <a:endParaRPr lang="en-US" dirty="0" smtClean="0"/>
          </a:p>
          <a:p>
            <a:pPr>
              <a:buFont typeface="Wingdings" panose="05000000000000000000" pitchFamily="2" charset="2"/>
              <a:buChar char="Ø"/>
            </a:pPr>
            <a:r>
              <a:rPr lang="en-US" dirty="0" smtClean="0"/>
              <a:t>loop  </a:t>
            </a:r>
            <a:r>
              <a:rPr lang="en-US" dirty="0" smtClean="0">
                <a:sym typeface="Wingdings" panose="05000000000000000000" pitchFamily="2" charset="2"/>
              </a:rPr>
              <a:t></a:t>
            </a:r>
            <a:r>
              <a:rPr lang="en-US" dirty="0" smtClean="0"/>
              <a:t>end </a:t>
            </a:r>
            <a:r>
              <a:rPr lang="en-US" dirty="0"/>
              <a:t>of file </a:t>
            </a:r>
            <a:r>
              <a:rPr lang="en-US" dirty="0" smtClean="0">
                <a:sym typeface="Wingdings" panose="05000000000000000000" pitchFamily="2" charset="2"/>
              </a:rPr>
              <a:t></a:t>
            </a:r>
            <a:r>
              <a:rPr lang="en-US" dirty="0" smtClean="0"/>
              <a:t> </a:t>
            </a:r>
            <a:r>
              <a:rPr lang="en-US" dirty="0"/>
              <a:t>read () returns 0</a:t>
            </a:r>
            <a:endParaRPr lang="fr-FR" dirty="0">
              <a:latin typeface="Times New Roman" panose="02020603050405020304" pitchFamily="18" charset="0"/>
              <a:cs typeface="Times New Roman" panose="02020603050405020304" pitchFamily="18" charset="0"/>
            </a:endParaRPr>
          </a:p>
        </p:txBody>
      </p:sp>
      <p:sp>
        <p:nvSpPr>
          <p:cNvPr id="4" name="Rectangle 3"/>
          <p:cNvSpPr/>
          <p:nvPr/>
        </p:nvSpPr>
        <p:spPr>
          <a:xfrm>
            <a:off x="414909" y="1196975"/>
            <a:ext cx="4099941" cy="990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100" dirty="0" err="1" smtClean="0">
                <a:solidFill>
                  <a:schemeClr val="tx1"/>
                </a:solidFill>
                <a:latin typeface="Courier New" panose="02070309020205020404" pitchFamily="49" charset="0"/>
                <a:cs typeface="Courier New" panose="02070309020205020404" pitchFamily="49" charset="0"/>
              </a:rPr>
              <a:t>const</a:t>
            </a:r>
            <a:r>
              <a:rPr lang="fr-FR" sz="1100" dirty="0" smtClean="0">
                <a:solidFill>
                  <a:schemeClr val="tx1"/>
                </a:solidFill>
                <a:latin typeface="Courier New" panose="02070309020205020404" pitchFamily="49" charset="0"/>
                <a:cs typeface="Courier New" panose="02070309020205020404" pitchFamily="49" charset="0"/>
              </a:rPr>
              <a:t> </a:t>
            </a:r>
            <a:r>
              <a:rPr lang="fr-FR" sz="1100" dirty="0" err="1" smtClean="0">
                <a:solidFill>
                  <a:schemeClr val="tx1"/>
                </a:solidFill>
                <a:latin typeface="Courier New" panose="02070309020205020404" pitchFamily="49" charset="0"/>
                <a:cs typeface="Courier New" panose="02070309020205020404" pitchFamily="49" charset="0"/>
              </a:rPr>
              <a:t>size_t</a:t>
            </a:r>
            <a:r>
              <a:rPr lang="fr-FR" sz="1100" dirty="0" smtClean="0">
                <a:solidFill>
                  <a:schemeClr val="tx1"/>
                </a:solidFill>
                <a:latin typeface="Courier New" panose="02070309020205020404" pitchFamily="49" charset="0"/>
                <a:cs typeface="Courier New" panose="02070309020205020404" pitchFamily="49" charset="0"/>
              </a:rPr>
              <a:t> </a:t>
            </a:r>
            <a:r>
              <a:rPr lang="fr-FR" sz="1100" dirty="0" err="1" smtClean="0">
                <a:solidFill>
                  <a:schemeClr val="tx1"/>
                </a:solidFill>
                <a:latin typeface="Courier New" panose="02070309020205020404" pitchFamily="49" charset="0"/>
                <a:cs typeface="Courier New" panose="02070309020205020404" pitchFamily="49" charset="0"/>
              </a:rPr>
              <a:t>NbBytes</a:t>
            </a:r>
            <a:r>
              <a:rPr lang="fr-FR" sz="1100" dirty="0" smtClean="0">
                <a:solidFill>
                  <a:schemeClr val="tx1"/>
                </a:solidFill>
                <a:latin typeface="Courier New" panose="02070309020205020404" pitchFamily="49" charset="0"/>
                <a:cs typeface="Courier New" panose="02070309020205020404" pitchFamily="49" charset="0"/>
              </a:rPr>
              <a:t>=512;</a:t>
            </a:r>
          </a:p>
          <a:p>
            <a:r>
              <a:rPr lang="fr-FR" sz="1100" dirty="0" smtClean="0">
                <a:solidFill>
                  <a:schemeClr val="tx1"/>
                </a:solidFill>
                <a:latin typeface="Courier New" panose="02070309020205020404" pitchFamily="49" charset="0"/>
                <a:cs typeface="Courier New" panose="02070309020205020404" pitchFamily="49" charset="0"/>
              </a:rPr>
              <a:t> char </a:t>
            </a:r>
            <a:r>
              <a:rPr lang="fr-FR" sz="1100" dirty="0" err="1">
                <a:solidFill>
                  <a:srgbClr val="00B050"/>
                </a:solidFill>
                <a:latin typeface="Times New Roman" panose="02020603050405020304" pitchFamily="18" charset="0"/>
                <a:cs typeface="Times New Roman" panose="02020603050405020304" pitchFamily="18" charset="0"/>
              </a:rPr>
              <a:t>Tampan</a:t>
            </a:r>
            <a:r>
              <a:rPr lang="fr-FR" sz="1100" dirty="0">
                <a:solidFill>
                  <a:srgbClr val="00B050"/>
                </a:solidFill>
                <a:latin typeface="Times New Roman" panose="02020603050405020304" pitchFamily="18" charset="0"/>
                <a:cs typeface="Times New Roman" panose="02020603050405020304" pitchFamily="18" charset="0"/>
              </a:rPr>
              <a:t> </a:t>
            </a:r>
            <a:r>
              <a:rPr lang="fr-FR" sz="1100" dirty="0" smtClean="0">
                <a:solidFill>
                  <a:schemeClr val="tx1"/>
                </a:solidFill>
                <a:latin typeface="Courier New" panose="02070309020205020404" pitchFamily="49" charset="0"/>
                <a:cs typeface="Courier New" panose="02070309020205020404" pitchFamily="49" charset="0"/>
              </a:rPr>
              <a:t>[</a:t>
            </a:r>
            <a:r>
              <a:rPr lang="fr-FR" sz="1100" dirty="0" err="1" smtClean="0">
                <a:solidFill>
                  <a:schemeClr val="tx1"/>
                </a:solidFill>
                <a:latin typeface="Courier New" panose="02070309020205020404" pitchFamily="49" charset="0"/>
                <a:cs typeface="Courier New" panose="02070309020205020404" pitchFamily="49" charset="0"/>
              </a:rPr>
              <a:t>NbBytes</a:t>
            </a:r>
            <a:r>
              <a:rPr lang="fr-FR" sz="1100" dirty="0" smtClean="0">
                <a:solidFill>
                  <a:schemeClr val="tx1"/>
                </a:solidFill>
                <a:latin typeface="Courier New" panose="02070309020205020404" pitchFamily="49" charset="0"/>
                <a:cs typeface="Courier New" panose="02070309020205020404" pitchFamily="49" charset="0"/>
              </a:rPr>
              <a:t>];</a:t>
            </a:r>
          </a:p>
          <a:p>
            <a:r>
              <a:rPr lang="fr-FR" sz="1100" dirty="0" err="1" smtClean="0">
                <a:solidFill>
                  <a:schemeClr val="tx1"/>
                </a:solidFill>
                <a:latin typeface="Courier New" panose="02070309020205020404" pitchFamily="49" charset="0"/>
                <a:cs typeface="Courier New" panose="02070309020205020404" pitchFamily="49" charset="0"/>
              </a:rPr>
              <a:t>ssize_t</a:t>
            </a:r>
            <a:r>
              <a:rPr lang="fr-FR" sz="1100" dirty="0" smtClean="0">
                <a:solidFill>
                  <a:schemeClr val="tx1"/>
                </a:solidFill>
                <a:latin typeface="Courier New" panose="02070309020205020404" pitchFamily="49" charset="0"/>
                <a:cs typeface="Courier New" panose="02070309020205020404" pitchFamily="49" charset="0"/>
              </a:rPr>
              <a:t> </a:t>
            </a:r>
            <a:r>
              <a:rPr lang="fr-FR" sz="1100" dirty="0" err="1" smtClean="0">
                <a:solidFill>
                  <a:schemeClr val="tx1"/>
                </a:solidFill>
                <a:latin typeface="Courier New" panose="02070309020205020404" pitchFamily="49" charset="0"/>
                <a:cs typeface="Courier New" panose="02070309020205020404" pitchFamily="49" charset="0"/>
              </a:rPr>
              <a:t>nbLus</a:t>
            </a:r>
            <a:r>
              <a:rPr lang="fr-FR" sz="1100" dirty="0" smtClean="0">
                <a:solidFill>
                  <a:schemeClr val="tx1"/>
                </a:solidFill>
                <a:latin typeface="Courier New" panose="02070309020205020404" pitchFamily="49" charset="0"/>
                <a:cs typeface="Courier New" panose="02070309020205020404" pitchFamily="49" charset="0"/>
              </a:rPr>
              <a:t>=0;</a:t>
            </a:r>
          </a:p>
          <a:p>
            <a:r>
              <a:rPr lang="fr-FR" sz="1100" dirty="0" err="1">
                <a:solidFill>
                  <a:schemeClr val="tx1"/>
                </a:solidFill>
                <a:latin typeface="Courier New" panose="02070309020205020404" pitchFamily="49" charset="0"/>
                <a:cs typeface="Courier New" panose="02070309020205020404" pitchFamily="49" charset="0"/>
              </a:rPr>
              <a:t>w</a:t>
            </a:r>
            <a:r>
              <a:rPr lang="fr-FR" sz="1100" dirty="0" err="1" smtClean="0">
                <a:solidFill>
                  <a:schemeClr val="tx1"/>
                </a:solidFill>
                <a:latin typeface="Courier New" panose="02070309020205020404" pitchFamily="49" charset="0"/>
                <a:cs typeface="Courier New" panose="02070309020205020404" pitchFamily="49" charset="0"/>
              </a:rPr>
              <a:t>hile</a:t>
            </a:r>
            <a:r>
              <a:rPr lang="fr-FR" sz="1100" dirty="0" smtClean="0">
                <a:solidFill>
                  <a:schemeClr val="tx1"/>
                </a:solidFill>
                <a:latin typeface="Courier New" panose="02070309020205020404" pitchFamily="49" charset="0"/>
                <a:cs typeface="Courier New" panose="02070309020205020404" pitchFamily="49" charset="0"/>
              </a:rPr>
              <a:t>((</a:t>
            </a:r>
            <a:r>
              <a:rPr lang="fr-FR" sz="1100" dirty="0" err="1" smtClean="0">
                <a:solidFill>
                  <a:schemeClr val="tx1"/>
                </a:solidFill>
                <a:latin typeface="Courier New" panose="02070309020205020404" pitchFamily="49" charset="0"/>
                <a:cs typeface="Courier New" panose="02070309020205020404" pitchFamily="49" charset="0"/>
              </a:rPr>
              <a:t>nbLus</a:t>
            </a:r>
            <a:r>
              <a:rPr lang="fr-FR" sz="1100" dirty="0" smtClean="0">
                <a:solidFill>
                  <a:schemeClr val="tx1"/>
                </a:solidFill>
                <a:latin typeface="Courier New" panose="02070309020205020404" pitchFamily="49" charset="0"/>
                <a:cs typeface="Courier New" panose="02070309020205020404" pitchFamily="49" charset="0"/>
              </a:rPr>
              <a:t>=</a:t>
            </a:r>
            <a:r>
              <a:rPr lang="fr-FR" sz="1100" dirty="0" err="1" smtClean="0">
                <a:solidFill>
                  <a:schemeClr val="tx1"/>
                </a:solidFill>
                <a:latin typeface="Courier New" panose="02070309020205020404" pitchFamily="49" charset="0"/>
                <a:cs typeface="Courier New" panose="02070309020205020404" pitchFamily="49" charset="0"/>
              </a:rPr>
              <a:t>read</a:t>
            </a:r>
            <a:r>
              <a:rPr lang="fr-FR" sz="1100" dirty="0" smtClean="0">
                <a:solidFill>
                  <a:schemeClr val="tx1"/>
                </a:solidFill>
                <a:latin typeface="Courier New" panose="02070309020205020404" pitchFamily="49" charset="0"/>
                <a:cs typeface="Courier New" panose="02070309020205020404" pitchFamily="49" charset="0"/>
              </a:rPr>
              <a:t>(</a:t>
            </a:r>
            <a:r>
              <a:rPr lang="fr-FR" sz="1100" dirty="0" err="1" smtClean="0">
                <a:solidFill>
                  <a:schemeClr val="tx1"/>
                </a:solidFill>
                <a:latin typeface="Courier New" panose="02070309020205020404" pitchFamily="49" charset="0"/>
                <a:cs typeface="Courier New" panose="02070309020205020404" pitchFamily="49" charset="0"/>
              </a:rPr>
              <a:t>fdSource</a:t>
            </a:r>
            <a:r>
              <a:rPr lang="fr-FR" sz="1100" dirty="0" smtClean="0">
                <a:solidFill>
                  <a:schemeClr val="tx1"/>
                </a:solidFill>
                <a:latin typeface="Courier New" panose="02070309020205020404" pitchFamily="49" charset="0"/>
                <a:cs typeface="Courier New" panose="02070309020205020404" pitchFamily="49" charset="0"/>
              </a:rPr>
              <a:t>,</a:t>
            </a:r>
            <a:r>
              <a:rPr lang="fr-FR" sz="1100" dirty="0">
                <a:solidFill>
                  <a:srgbClr val="00B050"/>
                </a:solidFill>
                <a:latin typeface="Times New Roman" panose="02020603050405020304" pitchFamily="18" charset="0"/>
                <a:cs typeface="Times New Roman" panose="02020603050405020304" pitchFamily="18" charset="0"/>
              </a:rPr>
              <a:t> </a:t>
            </a:r>
            <a:r>
              <a:rPr lang="fr-FR" sz="1100" dirty="0" err="1">
                <a:solidFill>
                  <a:srgbClr val="00B050"/>
                </a:solidFill>
                <a:latin typeface="Times New Roman" panose="02020603050405020304" pitchFamily="18" charset="0"/>
                <a:cs typeface="Times New Roman" panose="02020603050405020304" pitchFamily="18" charset="0"/>
              </a:rPr>
              <a:t>Tampan</a:t>
            </a:r>
            <a:r>
              <a:rPr lang="fr-FR" sz="1100" dirty="0">
                <a:solidFill>
                  <a:srgbClr val="00B050"/>
                </a:solidFill>
                <a:latin typeface="Times New Roman" panose="02020603050405020304" pitchFamily="18" charset="0"/>
                <a:cs typeface="Times New Roman" panose="02020603050405020304" pitchFamily="18" charset="0"/>
              </a:rPr>
              <a:t> </a:t>
            </a:r>
            <a:r>
              <a:rPr lang="fr-FR" sz="1100" dirty="0" smtClean="0">
                <a:solidFill>
                  <a:schemeClr val="tx1"/>
                </a:solidFill>
                <a:latin typeface="Courier New" panose="02070309020205020404" pitchFamily="49" charset="0"/>
                <a:cs typeface="Courier New" panose="02070309020205020404" pitchFamily="49" charset="0"/>
              </a:rPr>
              <a:t>,</a:t>
            </a:r>
            <a:r>
              <a:rPr lang="fr-FR" sz="1100" dirty="0" err="1" smtClean="0">
                <a:solidFill>
                  <a:schemeClr val="tx1"/>
                </a:solidFill>
                <a:latin typeface="Courier New" panose="02070309020205020404" pitchFamily="49" charset="0"/>
                <a:cs typeface="Courier New" panose="02070309020205020404" pitchFamily="49" charset="0"/>
              </a:rPr>
              <a:t>NbBytes</a:t>
            </a:r>
            <a:r>
              <a:rPr lang="fr-FR" sz="1100" dirty="0" smtClean="0">
                <a:solidFill>
                  <a:schemeClr val="tx1"/>
                </a:solidFill>
                <a:latin typeface="Courier New" panose="02070309020205020404" pitchFamily="49" charset="0"/>
                <a:cs typeface="Courier New" panose="02070309020205020404" pitchFamily="49" charset="0"/>
              </a:rPr>
              <a:t>))&gt;0)</a:t>
            </a:r>
          </a:p>
          <a:p>
            <a:r>
              <a:rPr lang="fr-FR" sz="1100" dirty="0" err="1">
                <a:solidFill>
                  <a:schemeClr val="tx1"/>
                </a:solidFill>
                <a:latin typeface="Courier New" panose="02070309020205020404" pitchFamily="49" charset="0"/>
                <a:cs typeface="Courier New" panose="02070309020205020404" pitchFamily="49" charset="0"/>
              </a:rPr>
              <a:t>w</a:t>
            </a:r>
            <a:r>
              <a:rPr lang="fr-FR" sz="1100" dirty="0" err="1" smtClean="0">
                <a:solidFill>
                  <a:schemeClr val="tx1"/>
                </a:solidFill>
                <a:latin typeface="Courier New" panose="02070309020205020404" pitchFamily="49" charset="0"/>
                <a:cs typeface="Courier New" panose="02070309020205020404" pitchFamily="49" charset="0"/>
              </a:rPr>
              <a:t>rite</a:t>
            </a:r>
            <a:r>
              <a:rPr lang="fr-FR" sz="1100" dirty="0" smtClean="0">
                <a:solidFill>
                  <a:schemeClr val="tx1"/>
                </a:solidFill>
                <a:latin typeface="Courier New" panose="02070309020205020404" pitchFamily="49" charset="0"/>
                <a:cs typeface="Courier New" panose="02070309020205020404" pitchFamily="49" charset="0"/>
              </a:rPr>
              <a:t>(</a:t>
            </a:r>
            <a:r>
              <a:rPr lang="fr-FR" sz="1100" dirty="0" err="1" smtClean="0">
                <a:solidFill>
                  <a:schemeClr val="tx1"/>
                </a:solidFill>
                <a:latin typeface="Courier New" panose="02070309020205020404" pitchFamily="49" charset="0"/>
                <a:cs typeface="Courier New" panose="02070309020205020404" pitchFamily="49" charset="0"/>
              </a:rPr>
              <a:t>fdDest</a:t>
            </a:r>
            <a:r>
              <a:rPr lang="fr-FR" sz="1100" dirty="0" smtClean="0">
                <a:solidFill>
                  <a:schemeClr val="tx1"/>
                </a:solidFill>
                <a:latin typeface="Courier New" panose="02070309020205020404" pitchFamily="49" charset="0"/>
                <a:cs typeface="Courier New" panose="02070309020205020404" pitchFamily="49" charset="0"/>
              </a:rPr>
              <a:t>,</a:t>
            </a:r>
            <a:r>
              <a:rPr lang="fr-FR" sz="1100" dirty="0">
                <a:solidFill>
                  <a:srgbClr val="00B050"/>
                </a:solidFill>
                <a:latin typeface="Times New Roman" panose="02020603050405020304" pitchFamily="18" charset="0"/>
                <a:cs typeface="Times New Roman" panose="02020603050405020304" pitchFamily="18" charset="0"/>
              </a:rPr>
              <a:t> </a:t>
            </a:r>
            <a:r>
              <a:rPr lang="fr-FR" sz="1100" dirty="0" err="1">
                <a:solidFill>
                  <a:srgbClr val="00B050"/>
                </a:solidFill>
                <a:latin typeface="Times New Roman" panose="02020603050405020304" pitchFamily="18" charset="0"/>
                <a:cs typeface="Times New Roman" panose="02020603050405020304" pitchFamily="18" charset="0"/>
              </a:rPr>
              <a:t>Tampan</a:t>
            </a:r>
            <a:r>
              <a:rPr lang="fr-FR" sz="1100" dirty="0">
                <a:solidFill>
                  <a:srgbClr val="00B050"/>
                </a:solidFill>
                <a:latin typeface="Times New Roman" panose="02020603050405020304" pitchFamily="18" charset="0"/>
                <a:cs typeface="Times New Roman" panose="02020603050405020304" pitchFamily="18" charset="0"/>
              </a:rPr>
              <a:t> </a:t>
            </a:r>
            <a:r>
              <a:rPr lang="fr-FR" sz="1100" dirty="0" smtClean="0">
                <a:solidFill>
                  <a:schemeClr val="tx1"/>
                </a:solidFill>
                <a:latin typeface="Courier New" panose="02070309020205020404" pitchFamily="49" charset="0"/>
                <a:cs typeface="Courier New" panose="02070309020205020404" pitchFamily="49" charset="0"/>
              </a:rPr>
              <a:t>,</a:t>
            </a:r>
            <a:r>
              <a:rPr lang="fr-FR" sz="1100" dirty="0" err="1" smtClean="0">
                <a:solidFill>
                  <a:schemeClr val="tx1"/>
                </a:solidFill>
                <a:latin typeface="Courier New" panose="02070309020205020404" pitchFamily="49" charset="0"/>
                <a:cs typeface="Courier New" panose="02070309020205020404" pitchFamily="49" charset="0"/>
              </a:rPr>
              <a:t>nbLus</a:t>
            </a:r>
            <a:r>
              <a:rPr lang="fr-FR" sz="1100" dirty="0" smtClean="0">
                <a:solidFill>
                  <a:schemeClr val="tx1"/>
                </a:solidFill>
                <a:latin typeface="Courier New" panose="02070309020205020404" pitchFamily="49" charset="0"/>
                <a:cs typeface="Courier New" panose="02070309020205020404" pitchFamily="49" charset="0"/>
              </a:rPr>
              <a:t>);</a:t>
            </a:r>
            <a:endParaRPr lang="fr-FR" sz="1100"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68911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Closing access to a file</a:t>
            </a:r>
            <a:endParaRPr lang="fr-F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14909" y="931412"/>
            <a:ext cx="3871341" cy="2030307"/>
          </a:xfrm>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Closing a file descriptor: close </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close (): close the file descriptor </a:t>
            </a:r>
            <a:r>
              <a:rPr lang="en-US" dirty="0" err="1">
                <a:latin typeface="Times New Roman" panose="02020603050405020304" pitchFamily="18" charset="0"/>
                <a:cs typeface="Times New Roman" panose="02020603050405020304" pitchFamily="18" charset="0"/>
              </a:rPr>
              <a:t>fd</a:t>
            </a:r>
            <a:r>
              <a:rPr lang="en-US" dirty="0">
                <a:latin typeface="Times New Roman" panose="02020603050405020304" pitchFamily="18" charset="0"/>
                <a:cs typeface="Times New Roman" panose="02020603050405020304" pitchFamily="18" charset="0"/>
              </a:rPr>
              <a:t> (reusable: other openings)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Return </a:t>
            </a:r>
            <a:r>
              <a:rPr lang="en-US" dirty="0">
                <a:latin typeface="Times New Roman" panose="02020603050405020304" pitchFamily="18" charset="0"/>
                <a:cs typeface="Times New Roman" panose="02020603050405020304" pitchFamily="18" charset="0"/>
              </a:rPr>
              <a:t>value: 0 if success, -1 if error.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Without O_SYNC</a:t>
            </a:r>
            <a:r>
              <a:rPr lang="en-US" dirty="0" smtClean="0">
                <a:latin typeface="Times New Roman" panose="02020603050405020304" pitchFamily="18" charset="0"/>
                <a:cs typeface="Times New Roman" panose="02020603050405020304" pitchFamily="18" charset="0"/>
                <a:sym typeface="Wingdings" panose="05000000000000000000" pitchFamily="2" charset="2"/>
              </a:rPr>
              <a:t></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buffered writes, and not even the success of close () which indicates the actual write.</a:t>
            </a:r>
            <a:endParaRPr lang="fr-FR"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endParaRPr>
          </a:p>
        </p:txBody>
      </p:sp>
      <p:sp>
        <p:nvSpPr>
          <p:cNvPr id="4" name="Rectangle 3"/>
          <p:cNvSpPr/>
          <p:nvPr/>
        </p:nvSpPr>
        <p:spPr>
          <a:xfrm>
            <a:off x="414909" y="1273175"/>
            <a:ext cx="3803333"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00" dirty="0">
                <a:solidFill>
                  <a:srgbClr val="000000"/>
                </a:solidFill>
                <a:latin typeface="Courier New" panose="02070309020205020404" pitchFamily="49" charset="0"/>
                <a:cs typeface="Courier New" panose="02070309020205020404" pitchFamily="49" charset="0"/>
              </a:rPr>
              <a:t>#include </a:t>
            </a:r>
            <a:r>
              <a:rPr lang="en-US" sz="1000" dirty="0" smtClean="0">
                <a:solidFill>
                  <a:srgbClr val="000000"/>
                </a:solidFill>
                <a:latin typeface="Courier New" panose="02070309020205020404" pitchFamily="49" charset="0"/>
                <a:cs typeface="Courier New" panose="02070309020205020404" pitchFamily="49" charset="0"/>
              </a:rPr>
              <a:t>&lt;</a:t>
            </a:r>
            <a:r>
              <a:rPr lang="en-US" sz="1000" dirty="0" err="1" smtClean="0">
                <a:solidFill>
                  <a:srgbClr val="000000"/>
                </a:solidFill>
                <a:latin typeface="Courier New" panose="02070309020205020404" pitchFamily="49" charset="0"/>
                <a:cs typeface="Courier New" panose="02070309020205020404" pitchFamily="49" charset="0"/>
              </a:rPr>
              <a:t>unistd.h</a:t>
            </a:r>
            <a:r>
              <a:rPr lang="en-US" sz="1000" dirty="0" smtClean="0">
                <a:solidFill>
                  <a:srgbClr val="000000"/>
                </a:solidFill>
                <a:latin typeface="Courier New" panose="02070309020205020404" pitchFamily="49" charset="0"/>
                <a:cs typeface="Courier New" panose="02070309020205020404" pitchFamily="49" charset="0"/>
              </a:rPr>
              <a:t>&gt;</a:t>
            </a:r>
          </a:p>
          <a:p>
            <a:r>
              <a:rPr lang="en-US" sz="1000" dirty="0" err="1" smtClean="0">
                <a:solidFill>
                  <a:srgbClr val="000000"/>
                </a:solidFill>
                <a:latin typeface="Courier New" panose="02070309020205020404" pitchFamily="49" charset="0"/>
                <a:cs typeface="Courier New" panose="02070309020205020404" pitchFamily="49" charset="0"/>
              </a:rPr>
              <a:t>size_t</a:t>
            </a:r>
            <a:r>
              <a:rPr lang="en-US" sz="1000" dirty="0" smtClean="0">
                <a:solidFill>
                  <a:srgbClr val="000000"/>
                </a:solidFill>
                <a:latin typeface="Courier New" panose="02070309020205020404" pitchFamily="49" charset="0"/>
                <a:cs typeface="Courier New" panose="02070309020205020404" pitchFamily="49" charset="0"/>
              </a:rPr>
              <a:t> </a:t>
            </a:r>
            <a:r>
              <a:rPr lang="en-US" sz="1000" dirty="0" smtClean="0">
                <a:solidFill>
                  <a:srgbClr val="00B0F0"/>
                </a:solidFill>
                <a:latin typeface="Courier New" panose="02070309020205020404" pitchFamily="49" charset="0"/>
                <a:cs typeface="Courier New" panose="02070309020205020404" pitchFamily="49" charset="0"/>
              </a:rPr>
              <a:t>close </a:t>
            </a:r>
            <a:r>
              <a:rPr lang="en-US" sz="1000" dirty="0" smtClean="0">
                <a:solidFill>
                  <a:srgbClr val="000000"/>
                </a:solidFill>
                <a:latin typeface="Courier New" panose="02070309020205020404" pitchFamily="49" charset="0"/>
                <a:cs typeface="Courier New" panose="02070309020205020404" pitchFamily="49" charset="0"/>
              </a:rPr>
              <a:t>(</a:t>
            </a:r>
            <a:r>
              <a:rPr lang="en-US" sz="1000" dirty="0" err="1" smtClean="0">
                <a:solidFill>
                  <a:srgbClr val="000000"/>
                </a:solidFill>
                <a:latin typeface="Courier New" panose="02070309020205020404" pitchFamily="49" charset="0"/>
                <a:cs typeface="Courier New" panose="02070309020205020404" pitchFamily="49" charset="0"/>
              </a:rPr>
              <a:t>int</a:t>
            </a:r>
            <a:r>
              <a:rPr lang="en-US" sz="1000" dirty="0" smtClean="0">
                <a:solidFill>
                  <a:srgbClr val="000000"/>
                </a:solidFill>
                <a:latin typeface="Courier New" panose="02070309020205020404" pitchFamily="49" charset="0"/>
                <a:cs typeface="Courier New" panose="02070309020205020404" pitchFamily="49" charset="0"/>
              </a:rPr>
              <a:t> </a:t>
            </a:r>
            <a:r>
              <a:rPr lang="en-US" sz="1000" dirty="0" err="1" smtClean="0">
                <a:solidFill>
                  <a:srgbClr val="00B050"/>
                </a:solidFill>
                <a:latin typeface="Courier New" panose="02070309020205020404" pitchFamily="49" charset="0"/>
                <a:cs typeface="Courier New" panose="02070309020205020404" pitchFamily="49" charset="0"/>
              </a:rPr>
              <a:t>fd</a:t>
            </a:r>
            <a:r>
              <a:rPr lang="en-US" sz="1000" dirty="0" smtClean="0">
                <a:solidFill>
                  <a:srgbClr val="000000"/>
                </a:solidFill>
                <a:latin typeface="Courier New" panose="02070309020205020404" pitchFamily="49" charset="0"/>
                <a:cs typeface="Courier New" panose="02070309020205020404" pitchFamily="49" charset="0"/>
              </a:rPr>
              <a:t>);</a:t>
            </a:r>
            <a:endParaRPr lang="en-US" sz="10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950325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latin typeface="Times New Roman" panose="02020603050405020304" pitchFamily="18" charset="0"/>
                <a:cs typeface="Times New Roman" panose="02020603050405020304" pitchFamily="18" charset="0"/>
              </a:rPr>
              <a:t>Positioning</a:t>
            </a:r>
            <a:r>
              <a:rPr lang="fr-FR" dirty="0">
                <a:latin typeface="Times New Roman" panose="02020603050405020304" pitchFamily="18" charset="0"/>
                <a:cs typeface="Times New Roman" panose="02020603050405020304" pitchFamily="18" charset="0"/>
              </a:rPr>
              <a:t> in a file</a:t>
            </a:r>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en-US" sz="700" dirty="0">
                <a:latin typeface="Times New Roman" panose="02020603050405020304" pitchFamily="18" charset="0"/>
                <a:cs typeface="Times New Roman" panose="02020603050405020304" pitchFamily="18" charset="0"/>
              </a:rPr>
              <a:t>Positioning of the next read or write in a file: </a:t>
            </a:r>
            <a:r>
              <a:rPr lang="en-US" sz="700" dirty="0" err="1">
                <a:latin typeface="Times New Roman" panose="02020603050405020304" pitchFamily="18" charset="0"/>
                <a:cs typeface="Times New Roman" panose="02020603050405020304" pitchFamily="18" charset="0"/>
              </a:rPr>
              <a:t>lseek</a:t>
            </a:r>
            <a:r>
              <a:rPr lang="en-US" sz="700" dirty="0">
                <a:latin typeface="Times New Roman" panose="02020603050405020304" pitchFamily="18" charset="0"/>
                <a:cs typeface="Times New Roman" panose="02020603050405020304" pitchFamily="18" charset="0"/>
              </a:rPr>
              <a:t> (): using its descriptor</a:t>
            </a:r>
            <a:endParaRPr lang="fr-FR" sz="7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sz="7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sz="7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700" dirty="0" err="1" smtClean="0">
                <a:latin typeface="Times New Roman" panose="02020603050405020304" pitchFamily="18" charset="0"/>
                <a:cs typeface="Times New Roman" panose="02020603050405020304" pitchFamily="18" charset="0"/>
              </a:rPr>
              <a:t>lseek</a:t>
            </a:r>
            <a:r>
              <a:rPr lang="en-US" sz="700" dirty="0" smtClean="0">
                <a:latin typeface="Times New Roman" panose="02020603050405020304" pitchFamily="18" charset="0"/>
                <a:cs typeface="Times New Roman" panose="02020603050405020304" pitchFamily="18" charset="0"/>
              </a:rPr>
              <a:t> </a:t>
            </a:r>
            <a:r>
              <a:rPr lang="en-US" sz="700" dirty="0">
                <a:latin typeface="Times New Roman" panose="02020603050405020304" pitchFamily="18" charset="0"/>
                <a:cs typeface="Times New Roman" panose="02020603050405020304" pitchFamily="18" charset="0"/>
              </a:rPr>
              <a:t>(): set the current I / O position for the file descriptor</a:t>
            </a:r>
          </a:p>
          <a:p>
            <a:pPr>
              <a:buFont typeface="Wingdings" panose="05000000000000000000" pitchFamily="2" charset="2"/>
              <a:buChar char="Ø"/>
            </a:pPr>
            <a:r>
              <a:rPr lang="en-US" sz="700" dirty="0">
                <a:latin typeface="Times New Roman" panose="02020603050405020304" pitchFamily="18" charset="0"/>
                <a:cs typeface="Times New Roman" panose="02020603050405020304" pitchFamily="18" charset="0"/>
              </a:rPr>
              <a:t>make the new position relative to the file</a:t>
            </a:r>
          </a:p>
          <a:p>
            <a:pPr>
              <a:buFont typeface="Wingdings" panose="05000000000000000000" pitchFamily="2" charset="2"/>
              <a:buChar char="Ø"/>
            </a:pPr>
            <a:r>
              <a:rPr lang="en-US" sz="700" dirty="0">
                <a:latin typeface="Times New Roman" panose="02020603050405020304" pitchFamily="18" charset="0"/>
                <a:cs typeface="Times New Roman" panose="02020603050405020304" pitchFamily="18" charset="0"/>
              </a:rPr>
              <a:t>Three possible values ​​for direction:</a:t>
            </a:r>
          </a:p>
          <a:p>
            <a:pPr lvl="1">
              <a:buFont typeface="Wingdings" panose="05000000000000000000" pitchFamily="2" charset="2"/>
              <a:buChar char="Ø"/>
            </a:pPr>
            <a:r>
              <a:rPr lang="en-US" sz="600" dirty="0">
                <a:latin typeface="Times New Roman" panose="02020603050405020304" pitchFamily="18" charset="0"/>
                <a:cs typeface="Times New Roman" panose="02020603050405020304" pitchFamily="18" charset="0"/>
              </a:rPr>
              <a:t>SEEK_SET: exactly offset (from the start of the file)</a:t>
            </a:r>
          </a:p>
          <a:p>
            <a:pPr lvl="1">
              <a:buFont typeface="Wingdings" panose="05000000000000000000" pitchFamily="2" charset="2"/>
              <a:buChar char="Ø"/>
            </a:pPr>
            <a:r>
              <a:rPr lang="en-US" sz="600" dirty="0">
                <a:latin typeface="Times New Roman" panose="02020603050405020304" pitchFamily="18" charset="0"/>
                <a:cs typeface="Times New Roman" panose="02020603050405020304" pitchFamily="18" charset="0"/>
              </a:rPr>
              <a:t>SEEK_CUR: current position + offset</a:t>
            </a:r>
          </a:p>
          <a:p>
            <a:pPr lvl="1">
              <a:buFont typeface="Wingdings" panose="05000000000000000000" pitchFamily="2" charset="2"/>
              <a:buChar char="Ø"/>
            </a:pPr>
            <a:r>
              <a:rPr lang="en-US" sz="600" dirty="0">
                <a:latin typeface="Times New Roman" panose="02020603050405020304" pitchFamily="18" charset="0"/>
                <a:cs typeface="Times New Roman" panose="02020603050405020304" pitchFamily="18" charset="0"/>
              </a:rPr>
              <a:t>SEEK_END: ​​file size + offset: from end of file</a:t>
            </a:r>
          </a:p>
          <a:p>
            <a:pPr>
              <a:buFont typeface="Wingdings" panose="05000000000000000000" pitchFamily="2" charset="2"/>
              <a:buChar char="Ø"/>
            </a:pPr>
            <a:r>
              <a:rPr lang="en-US" sz="700" dirty="0">
                <a:latin typeface="Times New Roman" panose="02020603050405020304" pitchFamily="18" charset="0"/>
                <a:cs typeface="Times New Roman" panose="02020603050405020304" pitchFamily="18" charset="0"/>
              </a:rPr>
              <a:t>Positioning beyond the file size (without changing the size) and creation of holes by forced writing.</a:t>
            </a:r>
          </a:p>
          <a:p>
            <a:pPr>
              <a:buFont typeface="Wingdings" panose="05000000000000000000" pitchFamily="2" charset="2"/>
              <a:buChar char="Ø"/>
            </a:pPr>
            <a:r>
              <a:rPr lang="en-US" sz="700" dirty="0" err="1">
                <a:latin typeface="Times New Roman" panose="02020603050405020304" pitchFamily="18" charset="0"/>
                <a:cs typeface="Times New Roman" panose="02020603050405020304" pitchFamily="18" charset="0"/>
              </a:rPr>
              <a:t>off_t</a:t>
            </a:r>
            <a:r>
              <a:rPr lang="en-US" sz="700" dirty="0">
                <a:latin typeface="Times New Roman" panose="02020603050405020304" pitchFamily="18" charset="0"/>
                <a:cs typeface="Times New Roman" panose="02020603050405020304" pitchFamily="18" charset="0"/>
              </a:rPr>
              <a:t> is a subtype of long </a:t>
            </a:r>
            <a:r>
              <a:rPr lang="en-US" sz="700" dirty="0" err="1">
                <a:latin typeface="Times New Roman" panose="02020603050405020304" pitchFamily="18" charset="0"/>
                <a:cs typeface="Times New Roman" panose="02020603050405020304" pitchFamily="18" charset="0"/>
              </a:rPr>
              <a:t>int</a:t>
            </a:r>
            <a:endParaRPr lang="fr-FR" sz="700"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476250" y="1120775"/>
            <a:ext cx="3803333" cy="533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00" dirty="0">
                <a:solidFill>
                  <a:srgbClr val="000000"/>
                </a:solidFill>
                <a:latin typeface="Courier New" panose="02070309020205020404" pitchFamily="49" charset="0"/>
                <a:cs typeface="Courier New" panose="02070309020205020404" pitchFamily="49" charset="0"/>
              </a:rPr>
              <a:t>#include </a:t>
            </a:r>
            <a:r>
              <a:rPr lang="en-US" sz="1000" dirty="0" smtClean="0">
                <a:solidFill>
                  <a:srgbClr val="000000"/>
                </a:solidFill>
                <a:latin typeface="Courier New" panose="02070309020205020404" pitchFamily="49" charset="0"/>
                <a:cs typeface="Courier New" panose="02070309020205020404" pitchFamily="49" charset="0"/>
              </a:rPr>
              <a:t>&lt;</a:t>
            </a:r>
            <a:r>
              <a:rPr lang="en-US" sz="1000" dirty="0" err="1" smtClean="0">
                <a:solidFill>
                  <a:srgbClr val="000000"/>
                </a:solidFill>
                <a:latin typeface="Courier New" panose="02070309020205020404" pitchFamily="49" charset="0"/>
                <a:cs typeface="Courier New" panose="02070309020205020404" pitchFamily="49" charset="0"/>
              </a:rPr>
              <a:t>unistd.h</a:t>
            </a:r>
            <a:r>
              <a:rPr lang="en-US" sz="1000" dirty="0" smtClean="0">
                <a:solidFill>
                  <a:srgbClr val="000000"/>
                </a:solidFill>
                <a:latin typeface="Courier New" panose="02070309020205020404" pitchFamily="49" charset="0"/>
                <a:cs typeface="Courier New" panose="02070309020205020404" pitchFamily="49" charset="0"/>
              </a:rPr>
              <a:t>&gt;</a:t>
            </a:r>
          </a:p>
          <a:p>
            <a:r>
              <a:rPr lang="en-US" sz="1000" dirty="0" smtClean="0">
                <a:solidFill>
                  <a:srgbClr val="000000"/>
                </a:solidFill>
                <a:latin typeface="Courier New" panose="02070309020205020404" pitchFamily="49" charset="0"/>
                <a:cs typeface="Courier New" panose="02070309020205020404" pitchFamily="49" charset="0"/>
              </a:rPr>
              <a:t>#include&lt;sys/</a:t>
            </a:r>
            <a:r>
              <a:rPr lang="en-US" sz="1000" dirty="0" err="1" smtClean="0">
                <a:solidFill>
                  <a:srgbClr val="000000"/>
                </a:solidFill>
                <a:latin typeface="Courier New" panose="02070309020205020404" pitchFamily="49" charset="0"/>
                <a:cs typeface="Courier New" panose="02070309020205020404" pitchFamily="49" charset="0"/>
              </a:rPr>
              <a:t>types.h</a:t>
            </a:r>
            <a:r>
              <a:rPr lang="en-US" sz="1000" dirty="0" smtClean="0">
                <a:solidFill>
                  <a:srgbClr val="000000"/>
                </a:solidFill>
                <a:latin typeface="Courier New" panose="02070309020205020404" pitchFamily="49" charset="0"/>
                <a:cs typeface="Courier New" panose="02070309020205020404" pitchFamily="49" charset="0"/>
              </a:rPr>
              <a:t>&gt;</a:t>
            </a:r>
          </a:p>
          <a:p>
            <a:r>
              <a:rPr lang="en-US" sz="1000" dirty="0" err="1" smtClean="0">
                <a:solidFill>
                  <a:srgbClr val="000000"/>
                </a:solidFill>
                <a:latin typeface="Courier New" panose="02070309020205020404" pitchFamily="49" charset="0"/>
                <a:cs typeface="Courier New" panose="02070309020205020404" pitchFamily="49" charset="0"/>
              </a:rPr>
              <a:t>off_t</a:t>
            </a:r>
            <a:r>
              <a:rPr lang="en-US" sz="1000" dirty="0" smtClean="0">
                <a:solidFill>
                  <a:srgbClr val="000000"/>
                </a:solidFill>
                <a:latin typeface="Courier New" panose="02070309020205020404" pitchFamily="49" charset="0"/>
                <a:cs typeface="Courier New" panose="02070309020205020404" pitchFamily="49" charset="0"/>
              </a:rPr>
              <a:t> </a:t>
            </a:r>
            <a:r>
              <a:rPr lang="en-US" sz="1000" dirty="0" err="1" smtClean="0">
                <a:solidFill>
                  <a:srgbClr val="000000"/>
                </a:solidFill>
                <a:latin typeface="Courier New" panose="02070309020205020404" pitchFamily="49" charset="0"/>
                <a:cs typeface="Courier New" panose="02070309020205020404" pitchFamily="49" charset="0"/>
              </a:rPr>
              <a:t>lseek</a:t>
            </a:r>
            <a:r>
              <a:rPr lang="en-US" sz="1000" dirty="0" smtClean="0">
                <a:solidFill>
                  <a:srgbClr val="000000"/>
                </a:solidFill>
                <a:latin typeface="Courier New" panose="02070309020205020404" pitchFamily="49" charset="0"/>
                <a:cs typeface="Courier New" panose="02070309020205020404" pitchFamily="49" charset="0"/>
              </a:rPr>
              <a:t>(</a:t>
            </a:r>
            <a:r>
              <a:rPr lang="en-US" sz="1000" dirty="0" err="1" smtClean="0">
                <a:solidFill>
                  <a:srgbClr val="000000"/>
                </a:solidFill>
                <a:latin typeface="Courier New" panose="02070309020205020404" pitchFamily="49" charset="0"/>
                <a:cs typeface="Courier New" panose="02070309020205020404" pitchFamily="49" charset="0"/>
              </a:rPr>
              <a:t>int</a:t>
            </a:r>
            <a:r>
              <a:rPr lang="en-US" sz="1000" dirty="0" smtClean="0">
                <a:solidFill>
                  <a:srgbClr val="000000"/>
                </a:solidFill>
                <a:latin typeface="Courier New" panose="02070309020205020404" pitchFamily="49" charset="0"/>
                <a:cs typeface="Courier New" panose="02070309020205020404" pitchFamily="49" charset="0"/>
              </a:rPr>
              <a:t> </a:t>
            </a:r>
            <a:r>
              <a:rPr lang="en-US" sz="1000" dirty="0" err="1" smtClean="0">
                <a:solidFill>
                  <a:srgbClr val="000000"/>
                </a:solidFill>
                <a:latin typeface="Courier New" panose="02070309020205020404" pitchFamily="49" charset="0"/>
                <a:cs typeface="Courier New" panose="02070309020205020404" pitchFamily="49" charset="0"/>
              </a:rPr>
              <a:t>fd,off_t</a:t>
            </a:r>
            <a:r>
              <a:rPr lang="en-US" sz="1000" dirty="0" smtClean="0">
                <a:solidFill>
                  <a:srgbClr val="000000"/>
                </a:solidFill>
                <a:latin typeface="Courier New" panose="02070309020205020404" pitchFamily="49" charset="0"/>
                <a:cs typeface="Courier New" panose="02070309020205020404" pitchFamily="49" charset="0"/>
              </a:rPr>
              <a:t> </a:t>
            </a:r>
            <a:r>
              <a:rPr lang="en-US" sz="1000" dirty="0" err="1" smtClean="0">
                <a:solidFill>
                  <a:srgbClr val="000000"/>
                </a:solidFill>
                <a:latin typeface="Courier New" panose="02070309020205020404" pitchFamily="49" charset="0"/>
                <a:cs typeface="Courier New" panose="02070309020205020404" pitchFamily="49" charset="0"/>
              </a:rPr>
              <a:t>offset,int</a:t>
            </a:r>
            <a:r>
              <a:rPr lang="en-US" sz="1000" dirty="0" smtClean="0">
                <a:solidFill>
                  <a:srgbClr val="000000"/>
                </a:solidFill>
                <a:latin typeface="Courier New" panose="02070309020205020404" pitchFamily="49" charset="0"/>
                <a:cs typeface="Courier New" panose="02070309020205020404" pitchFamily="49" charset="0"/>
              </a:rPr>
              <a:t> direction);</a:t>
            </a:r>
            <a:endParaRPr lang="en-US" sz="10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818940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2400" dirty="0">
                <a:latin typeface="Times New Roman" panose="02020603050405020304" pitchFamily="18" charset="0"/>
                <a:cs typeface="Times New Roman" panose="02020603050405020304" pitchFamily="18" charset="0"/>
              </a:rPr>
              <a:t>File </a:t>
            </a:r>
            <a:r>
              <a:rPr lang="fr-FR" sz="2400" dirty="0" err="1">
                <a:latin typeface="Times New Roman" panose="02020603050405020304" pitchFamily="18" charset="0"/>
                <a:cs typeface="Times New Roman" panose="02020603050405020304" pitchFamily="18" charset="0"/>
              </a:rPr>
              <a:t>creation</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mask</a:t>
            </a:r>
            <a:endParaRPr lang="fr-F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a:bodyPr>
          <a:lstStyle/>
          <a:p>
            <a:pPr>
              <a:buFont typeface="Wingdings" panose="05000000000000000000" pitchFamily="2" charset="2"/>
              <a:buChar char="Ø"/>
            </a:pPr>
            <a:r>
              <a:rPr lang="en-US" sz="1050" dirty="0">
                <a:latin typeface="Times New Roman" pitchFamily="18" charset="0"/>
                <a:cs typeface="Times New Roman" pitchFamily="18" charset="0"/>
              </a:rPr>
              <a:t>When a process creates a file, regardless of its type, the access permissions are filtered by a special mask, which removes permissions. </a:t>
            </a:r>
            <a:endParaRPr lang="en-US" sz="1050" dirty="0" smtClean="0">
              <a:latin typeface="Times New Roman" pitchFamily="18" charset="0"/>
              <a:cs typeface="Times New Roman" pitchFamily="18" charset="0"/>
            </a:endParaRPr>
          </a:p>
          <a:p>
            <a:pPr>
              <a:buFont typeface="Wingdings" panose="05000000000000000000" pitchFamily="2" charset="2"/>
              <a:buChar char="Ø"/>
            </a:pPr>
            <a:r>
              <a:rPr lang="en-US" sz="1050" dirty="0" smtClean="0">
                <a:latin typeface="Times New Roman" pitchFamily="18" charset="0"/>
                <a:cs typeface="Times New Roman" pitchFamily="18" charset="0"/>
              </a:rPr>
              <a:t>This </a:t>
            </a:r>
            <a:r>
              <a:rPr lang="en-US" sz="1050" dirty="0">
                <a:latin typeface="Times New Roman" pitchFamily="18" charset="0"/>
                <a:cs typeface="Times New Roman" pitchFamily="18" charset="0"/>
              </a:rPr>
              <a:t>mask can be changed with the </a:t>
            </a:r>
            <a:r>
              <a:rPr lang="en-US" sz="1050" dirty="0" err="1">
                <a:latin typeface="Times New Roman" pitchFamily="18" charset="0"/>
                <a:cs typeface="Times New Roman" pitchFamily="18" charset="0"/>
              </a:rPr>
              <a:t>umask</a:t>
            </a:r>
            <a:r>
              <a:rPr lang="en-US" sz="1050" dirty="0">
                <a:latin typeface="Times New Roman" pitchFamily="18" charset="0"/>
                <a:cs typeface="Times New Roman" pitchFamily="18" charset="0"/>
              </a:rPr>
              <a:t> () system call, declared in </a:t>
            </a:r>
            <a:r>
              <a:rPr lang="fr-FR" sz="1050" dirty="0" smtClean="0">
                <a:latin typeface="Times New Roman" pitchFamily="18" charset="0"/>
                <a:cs typeface="Times New Roman" pitchFamily="18" charset="0"/>
              </a:rPr>
              <a:t>&lt;</a:t>
            </a:r>
            <a:r>
              <a:rPr lang="fr-FR" sz="1050" dirty="0" err="1">
                <a:latin typeface="Times New Roman" pitchFamily="18" charset="0"/>
                <a:cs typeface="Times New Roman" pitchFamily="18" charset="0"/>
              </a:rPr>
              <a:t>sys</a:t>
            </a:r>
            <a:r>
              <a:rPr lang="fr-FR" sz="1050" dirty="0">
                <a:latin typeface="Times New Roman" pitchFamily="18" charset="0"/>
                <a:cs typeface="Times New Roman" pitchFamily="18" charset="0"/>
              </a:rPr>
              <a:t>/</a:t>
            </a:r>
            <a:r>
              <a:rPr lang="fr-FR" sz="1050" dirty="0" err="1">
                <a:latin typeface="Times New Roman" pitchFamily="18" charset="0"/>
                <a:cs typeface="Times New Roman" pitchFamily="18" charset="0"/>
              </a:rPr>
              <a:t>stat.h</a:t>
            </a:r>
            <a:r>
              <a:rPr lang="fr-FR" sz="1050" dirty="0">
                <a:latin typeface="Times New Roman" pitchFamily="18" charset="0"/>
                <a:cs typeface="Times New Roman" pitchFamily="18" charset="0"/>
              </a:rPr>
              <a:t>&gt; :</a:t>
            </a:r>
          </a:p>
          <a:p>
            <a:pPr>
              <a:lnSpc>
                <a:spcPts val="1737"/>
              </a:lnSpc>
              <a:buFont typeface="Wingdings" panose="05000000000000000000" pitchFamily="2" charset="2"/>
              <a:buChar char="Ø"/>
            </a:pPr>
            <a:r>
              <a:rPr lang="en-US" sz="1050" b="1" dirty="0" err="1">
                <a:solidFill>
                  <a:srgbClr val="9866CC"/>
                </a:solidFill>
                <a:latin typeface="Courier New" panose="02070309020205020404" pitchFamily="49" charset="0"/>
                <a:ea typeface="Arial Unicode MS"/>
                <a:cs typeface="Courier New" panose="02070309020205020404" pitchFamily="49" charset="0"/>
              </a:rPr>
              <a:t>int</a:t>
            </a:r>
            <a:r>
              <a:rPr lang="en-US" sz="1050" b="1" dirty="0">
                <a:solidFill>
                  <a:srgbClr val="9866CC"/>
                </a:solidFill>
                <a:latin typeface="Courier New" panose="02070309020205020404" pitchFamily="49" charset="0"/>
                <a:ea typeface="Arial Unicode MS"/>
                <a:cs typeface="Courier New" panose="02070309020205020404" pitchFamily="49" charset="0"/>
              </a:rPr>
              <a:t> </a:t>
            </a:r>
            <a:r>
              <a:rPr lang="en-US" sz="1050" b="1" dirty="0" err="1">
                <a:solidFill>
                  <a:srgbClr val="9866CC"/>
                </a:solidFill>
                <a:latin typeface="Courier New" panose="02070309020205020404" pitchFamily="49" charset="0"/>
                <a:ea typeface="Arial Unicode MS"/>
                <a:cs typeface="Courier New" panose="02070309020205020404" pitchFamily="49" charset="0"/>
              </a:rPr>
              <a:t>umask</a:t>
            </a:r>
            <a:r>
              <a:rPr lang="en-US" sz="1050" b="1" dirty="0">
                <a:solidFill>
                  <a:srgbClr val="9866CC"/>
                </a:solidFill>
                <a:latin typeface="Courier New" panose="02070309020205020404" pitchFamily="49" charset="0"/>
                <a:ea typeface="Arial Unicode MS"/>
                <a:cs typeface="Courier New" panose="02070309020205020404" pitchFamily="49" charset="0"/>
              </a:rPr>
              <a:t> (</a:t>
            </a:r>
            <a:r>
              <a:rPr lang="en-US" sz="1050" b="1" dirty="0" err="1">
                <a:solidFill>
                  <a:srgbClr val="9866CC"/>
                </a:solidFill>
                <a:latin typeface="Courier New" panose="02070309020205020404" pitchFamily="49" charset="0"/>
                <a:ea typeface="Arial Unicode MS"/>
                <a:cs typeface="Courier New" panose="02070309020205020404" pitchFamily="49" charset="0"/>
              </a:rPr>
              <a:t>int</a:t>
            </a:r>
            <a:r>
              <a:rPr lang="en-US" sz="1050" b="1" dirty="0">
                <a:solidFill>
                  <a:srgbClr val="9866CC"/>
                </a:solidFill>
                <a:latin typeface="Courier New" panose="02070309020205020404" pitchFamily="49" charset="0"/>
                <a:ea typeface="Arial Unicode MS"/>
                <a:cs typeface="Courier New" panose="02070309020205020404" pitchFamily="49" charset="0"/>
              </a:rPr>
              <a:t> masque</a:t>
            </a:r>
            <a:r>
              <a:rPr lang="en-US" sz="1050" b="1" dirty="0" smtClean="0">
                <a:solidFill>
                  <a:srgbClr val="9866CC"/>
                </a:solidFill>
                <a:latin typeface="Courier New" panose="02070309020205020404" pitchFamily="49" charset="0"/>
                <a:ea typeface="Arial Unicode MS"/>
                <a:cs typeface="Courier New" panose="02070309020205020404" pitchFamily="49" charset="0"/>
              </a:rPr>
              <a: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system call configures the new mask and returns its previous value.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a process has for example a 0022 octal mask, even if it creates a file with 0777 permissions (read, write, execute for everyone), the write bits (corresponding to 2) will be deleted for the group and the rest of the users.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file thus created will have the authorization 0755, which is more reasonable</a:t>
            </a: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29517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a:latin typeface="Times New Roman" panose="02020603050405020304" pitchFamily="18" charset="0"/>
                <a:cs typeface="Times New Roman" panose="02020603050405020304" pitchFamily="18" charset="0"/>
              </a:rPr>
              <a:t>File </a:t>
            </a:r>
            <a:r>
              <a:rPr lang="fr-FR" dirty="0" err="1">
                <a:latin typeface="Times New Roman" panose="02020603050405020304" pitchFamily="18" charset="0"/>
                <a:cs typeface="Times New Roman" panose="02020603050405020304" pitchFamily="18" charset="0"/>
              </a:rPr>
              <a:t>creation</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mask</a:t>
            </a:r>
            <a:endParaRPr lang="fr-F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r>
              <a:rPr lang="en-US" sz="1050" dirty="0">
                <a:latin typeface="Times New Roman" pitchFamily="18" charset="0"/>
                <a:cs typeface="Times New Roman" pitchFamily="18" charset="0"/>
                <a:hlinkClick r:id="rId2" action="ppaction://hlinkfile"/>
              </a:rPr>
              <a:t>Exemple </a:t>
            </a:r>
            <a:r>
              <a:rPr lang="en-US" sz="1050" dirty="0" err="1">
                <a:latin typeface="Times New Roman" pitchFamily="18" charset="0"/>
                <a:cs typeface="Times New Roman" pitchFamily="18" charset="0"/>
                <a:hlinkClick r:id="rId2" action="ppaction://hlinkfile"/>
              </a:rPr>
              <a:t>Umask</a:t>
            </a:r>
            <a:endParaRPr lang="fr-FR" sz="1050" dirty="0">
              <a:latin typeface="Times New Roman" pitchFamily="18" charset="0"/>
              <a:cs typeface="Times New Roman" pitchFamily="18" charset="0"/>
            </a:endParaRPr>
          </a:p>
          <a:p>
            <a:r>
              <a:rPr lang="en-US" sz="1050" dirty="0">
                <a:latin typeface="Times New Roman" pitchFamily="18" charset="0"/>
                <a:cs typeface="Times New Roman" pitchFamily="18" charset="0"/>
              </a:rPr>
              <a:t>The </a:t>
            </a:r>
            <a:r>
              <a:rPr lang="en-US" sz="1050" dirty="0" smtClean="0">
                <a:latin typeface="Times New Roman" pitchFamily="18" charset="0"/>
                <a:cs typeface="Times New Roman" pitchFamily="18" charset="0"/>
              </a:rPr>
              <a:t>following execution clearly </a:t>
            </a:r>
            <a:r>
              <a:rPr lang="en-US" sz="1050" dirty="0">
                <a:latin typeface="Times New Roman" pitchFamily="18" charset="0"/>
                <a:cs typeface="Times New Roman" pitchFamily="18" charset="0"/>
              </a:rPr>
              <a:t>shows the difference in modes when creating a file:</a:t>
            </a:r>
            <a:endParaRPr lang="en-US" sz="1050" dirty="0" smtClean="0">
              <a:latin typeface="Times New Roman" pitchFamily="18" charset="0"/>
              <a:cs typeface="Times New Roman" pitchFamily="18" charset="0"/>
            </a:endParaRPr>
          </a:p>
          <a:p>
            <a:r>
              <a:rPr lang="en-US" sz="1050" dirty="0" smtClean="0">
                <a:latin typeface="Times New Roman" pitchFamily="18" charset="0"/>
                <a:cs typeface="Times New Roman" pitchFamily="18" charset="0"/>
              </a:rPr>
              <a:t>$ </a:t>
            </a:r>
            <a:r>
              <a:rPr lang="en-US" sz="1050" b="1" dirty="0">
                <a:latin typeface="Times New Roman" pitchFamily="18" charset="0"/>
                <a:cs typeface="Times New Roman" pitchFamily="18" charset="0"/>
              </a:rPr>
              <a:t>./</a:t>
            </a:r>
            <a:r>
              <a:rPr lang="en-US" sz="1050" b="1" dirty="0" err="1">
                <a:latin typeface="Times New Roman" pitchFamily="18" charset="0"/>
                <a:cs typeface="Times New Roman" pitchFamily="18" charset="0"/>
              </a:rPr>
              <a:t>exemple_umask</a:t>
            </a:r>
            <a:endParaRPr lang="en-US" sz="1050" b="1" dirty="0">
              <a:latin typeface="Times New Roman" pitchFamily="18" charset="0"/>
              <a:cs typeface="Times New Roman" pitchFamily="18" charset="0"/>
            </a:endParaRPr>
          </a:p>
          <a:p>
            <a:r>
              <a:rPr lang="fr-FR" sz="1050" dirty="0">
                <a:latin typeface="Times New Roman" pitchFamily="18" charset="0"/>
                <a:cs typeface="Times New Roman" pitchFamily="18" charset="0"/>
              </a:rPr>
              <a:t>Ancien masque = 22, nouveau = 0</a:t>
            </a:r>
          </a:p>
          <a:p>
            <a:r>
              <a:rPr lang="fr-FR" sz="1050" dirty="0">
                <a:latin typeface="Times New Roman" pitchFamily="18" charset="0"/>
                <a:cs typeface="Times New Roman" pitchFamily="18" charset="0"/>
              </a:rPr>
              <a:t>Tentative de création de </a:t>
            </a:r>
            <a:r>
              <a:rPr lang="fr-FR" sz="1050" dirty="0" err="1">
                <a:latin typeface="Times New Roman" pitchFamily="18" charset="0"/>
                <a:cs typeface="Times New Roman" pitchFamily="18" charset="0"/>
              </a:rPr>
              <a:t>essai.umask</a:t>
            </a:r>
            <a:endParaRPr lang="fr-FR" sz="1050" dirty="0">
              <a:latin typeface="Times New Roman" pitchFamily="18" charset="0"/>
              <a:cs typeface="Times New Roman" pitchFamily="18" charset="0"/>
            </a:endParaRPr>
          </a:p>
          <a:p>
            <a:r>
              <a:rPr lang="en-US" sz="1050" dirty="0">
                <a:latin typeface="Times New Roman" pitchFamily="18" charset="0"/>
                <a:cs typeface="Times New Roman" pitchFamily="18" charset="0"/>
              </a:rPr>
              <a:t>-</a:t>
            </a:r>
            <a:r>
              <a:rPr lang="en-US" sz="1050" dirty="0" err="1">
                <a:latin typeface="Times New Roman" pitchFamily="18" charset="0"/>
                <a:cs typeface="Times New Roman" pitchFamily="18" charset="0"/>
              </a:rPr>
              <a:t>rwxrwxrwx</a:t>
            </a:r>
            <a:r>
              <a:rPr lang="en-US" sz="1050" dirty="0">
                <a:latin typeface="Times New Roman" pitchFamily="18" charset="0"/>
                <a:cs typeface="Times New Roman" pitchFamily="18" charset="0"/>
              </a:rPr>
              <a:t> 1 </a:t>
            </a:r>
            <a:r>
              <a:rPr lang="en-US" sz="1050" dirty="0" err="1">
                <a:latin typeface="Times New Roman" pitchFamily="18" charset="0"/>
                <a:cs typeface="Times New Roman" pitchFamily="18" charset="0"/>
              </a:rPr>
              <a:t>ccb</a:t>
            </a:r>
            <a:r>
              <a:rPr lang="en-US" sz="1050" dirty="0">
                <a:latin typeface="Times New Roman" pitchFamily="18" charset="0"/>
                <a:cs typeface="Times New Roman" pitchFamily="18" charset="0"/>
              </a:rPr>
              <a:t> </a:t>
            </a:r>
            <a:r>
              <a:rPr lang="en-US" sz="1050" dirty="0" err="1">
                <a:latin typeface="Times New Roman" pitchFamily="18" charset="0"/>
                <a:cs typeface="Times New Roman" pitchFamily="18" charset="0"/>
              </a:rPr>
              <a:t>ccb</a:t>
            </a:r>
            <a:r>
              <a:rPr lang="en-US" sz="1050" dirty="0">
                <a:latin typeface="Times New Roman" pitchFamily="18" charset="0"/>
                <a:cs typeface="Times New Roman" pitchFamily="18" charset="0"/>
              </a:rPr>
              <a:t> 0 Jan 3 16:55 </a:t>
            </a:r>
            <a:r>
              <a:rPr lang="en-US" sz="1050" dirty="0" err="1">
                <a:latin typeface="Times New Roman" pitchFamily="18" charset="0"/>
                <a:cs typeface="Times New Roman" pitchFamily="18" charset="0"/>
              </a:rPr>
              <a:t>essai.umask</a:t>
            </a:r>
            <a:endParaRPr lang="en-US" sz="1050" dirty="0">
              <a:latin typeface="Times New Roman" pitchFamily="18" charset="0"/>
              <a:cs typeface="Times New Roman" pitchFamily="18" charset="0"/>
            </a:endParaRPr>
          </a:p>
          <a:p>
            <a:r>
              <a:rPr lang="en-US" sz="1050" dirty="0">
                <a:latin typeface="Times New Roman" pitchFamily="18" charset="0"/>
                <a:cs typeface="Times New Roman" pitchFamily="18" charset="0"/>
              </a:rPr>
              <a:t>Remise masque = 22</a:t>
            </a:r>
          </a:p>
          <a:p>
            <a:r>
              <a:rPr lang="fr-FR" sz="1050" dirty="0">
                <a:latin typeface="Times New Roman" pitchFamily="18" charset="0"/>
                <a:cs typeface="Times New Roman" pitchFamily="18" charset="0"/>
              </a:rPr>
              <a:t>Tentative de création de </a:t>
            </a:r>
            <a:r>
              <a:rPr lang="fr-FR" sz="1050" dirty="0" err="1">
                <a:latin typeface="Times New Roman" pitchFamily="18" charset="0"/>
                <a:cs typeface="Times New Roman" pitchFamily="18" charset="0"/>
              </a:rPr>
              <a:t>essai.umask</a:t>
            </a:r>
            <a:endParaRPr lang="fr-FR" sz="1050" dirty="0">
              <a:latin typeface="Times New Roman" pitchFamily="18" charset="0"/>
              <a:cs typeface="Times New Roman" pitchFamily="18" charset="0"/>
            </a:endParaRPr>
          </a:p>
          <a:p>
            <a:r>
              <a:rPr lang="en-US" sz="1050" dirty="0">
                <a:latin typeface="Times New Roman" pitchFamily="18" charset="0"/>
                <a:cs typeface="Times New Roman" pitchFamily="18" charset="0"/>
              </a:rPr>
              <a:t>-</a:t>
            </a:r>
            <a:r>
              <a:rPr lang="en-US" sz="1050" dirty="0" err="1">
                <a:latin typeface="Times New Roman" pitchFamily="18" charset="0"/>
                <a:cs typeface="Times New Roman" pitchFamily="18" charset="0"/>
              </a:rPr>
              <a:t>rwxr</a:t>
            </a:r>
            <a:r>
              <a:rPr lang="en-US" sz="1050" dirty="0">
                <a:latin typeface="Times New Roman" pitchFamily="18" charset="0"/>
                <a:cs typeface="Times New Roman" pitchFamily="18" charset="0"/>
              </a:rPr>
              <a:t>-</a:t>
            </a:r>
            <a:r>
              <a:rPr lang="en-US" sz="1050" dirty="0" err="1">
                <a:latin typeface="Times New Roman" pitchFamily="18" charset="0"/>
                <a:cs typeface="Times New Roman" pitchFamily="18" charset="0"/>
              </a:rPr>
              <a:t>xr</a:t>
            </a:r>
            <a:r>
              <a:rPr lang="en-US" sz="1050" dirty="0">
                <a:latin typeface="Times New Roman" pitchFamily="18" charset="0"/>
                <a:cs typeface="Times New Roman" pitchFamily="18" charset="0"/>
              </a:rPr>
              <a:t>-x 1 </a:t>
            </a:r>
            <a:r>
              <a:rPr lang="en-US" sz="1050" dirty="0" err="1">
                <a:latin typeface="Times New Roman" pitchFamily="18" charset="0"/>
                <a:cs typeface="Times New Roman" pitchFamily="18" charset="0"/>
              </a:rPr>
              <a:t>ccb</a:t>
            </a:r>
            <a:r>
              <a:rPr lang="en-US" sz="1050" dirty="0">
                <a:latin typeface="Times New Roman" pitchFamily="18" charset="0"/>
                <a:cs typeface="Times New Roman" pitchFamily="18" charset="0"/>
              </a:rPr>
              <a:t> </a:t>
            </a:r>
            <a:r>
              <a:rPr lang="en-US" sz="1050" dirty="0" err="1">
                <a:latin typeface="Times New Roman" pitchFamily="18" charset="0"/>
                <a:cs typeface="Times New Roman" pitchFamily="18" charset="0"/>
              </a:rPr>
              <a:t>ccb</a:t>
            </a:r>
            <a:r>
              <a:rPr lang="en-US" sz="1050" dirty="0">
                <a:latin typeface="Times New Roman" pitchFamily="18" charset="0"/>
                <a:cs typeface="Times New Roman" pitchFamily="18" charset="0"/>
              </a:rPr>
              <a:t> 0 Jan 3 16:55 </a:t>
            </a:r>
            <a:r>
              <a:rPr lang="en-US" sz="1050" dirty="0" err="1">
                <a:latin typeface="Times New Roman" pitchFamily="18" charset="0"/>
                <a:cs typeface="Times New Roman" pitchFamily="18" charset="0"/>
              </a:rPr>
              <a:t>essai.umask</a:t>
            </a:r>
            <a:endParaRPr lang="en-US" sz="1050" dirty="0">
              <a:latin typeface="Times New Roman" pitchFamily="18" charset="0"/>
              <a:cs typeface="Times New Roman" pitchFamily="18" charset="0"/>
            </a:endParaRPr>
          </a:p>
          <a:p>
            <a:r>
              <a:rPr lang="en-US" sz="1050" dirty="0">
                <a:latin typeface="Times New Roman" pitchFamily="18" charset="0"/>
                <a:cs typeface="Times New Roman" pitchFamily="18" charset="0"/>
              </a:rPr>
              <a:t>$</a:t>
            </a:r>
            <a:endParaRPr lang="en-US" sz="1050" b="1" dirty="0">
              <a:solidFill>
                <a:srgbClr val="9866CC"/>
              </a:solidFill>
              <a:latin typeface="Times New Roman" pitchFamily="18" charset="0"/>
              <a:ea typeface="Arial Unicode MS"/>
              <a:cs typeface="Times New Roman" pitchFamily="18" charset="0"/>
            </a:endParaRPr>
          </a:p>
          <a:p>
            <a:endParaRPr lang="fr-FR" dirty="0"/>
          </a:p>
        </p:txBody>
      </p:sp>
    </p:spTree>
    <p:extLst>
      <p:ext uri="{BB962C8B-B14F-4D97-AF65-F5344CB8AC3E}">
        <p14:creationId xmlns:p14="http://schemas.microsoft.com/office/powerpoint/2010/main" val="36048077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nSpc>
                <a:spcPts val="1302"/>
              </a:lnSpc>
            </a:pPr>
            <a:r>
              <a:rPr lang="fr-FR" sz="2500" dirty="0">
                <a:solidFill>
                  <a:schemeClr val="tx1"/>
                </a:solidFill>
                <a:latin typeface="Times New Roman" panose="02020603050405020304" pitchFamily="18" charset="0"/>
                <a:cs typeface="Times New Roman" panose="02020603050405020304" pitchFamily="18" charset="0"/>
              </a:rPr>
              <a:t>Duplications and redirection</a:t>
            </a:r>
          </a:p>
        </p:txBody>
      </p:sp>
      <p:sp>
        <p:nvSpPr>
          <p:cNvPr id="3" name="Content Placeholder 2"/>
          <p:cNvSpPr>
            <a:spLocks noGrp="1"/>
          </p:cNvSpPr>
          <p:nvPr>
            <p:ph idx="1"/>
          </p:nvPr>
        </p:nvSpPr>
        <p:spPr/>
        <p:txBody>
          <a:bodyPr>
            <a:normAutofit/>
          </a:bodyPr>
          <a:lstStyle/>
          <a:p>
            <a:pPr>
              <a:spcBef>
                <a:spcPts val="0"/>
              </a:spcBef>
              <a:buFont typeface="Wingdings" panose="05000000000000000000" pitchFamily="2" charset="2"/>
              <a:buChar char="Ø"/>
            </a:pPr>
            <a:r>
              <a:rPr lang="en-US" sz="950" dirty="0">
                <a:solidFill>
                  <a:srgbClr val="000000"/>
                </a:solidFill>
                <a:latin typeface="Times New Roman"/>
                <a:ea typeface="Arial Unicode MS"/>
                <a:cs typeface="Arial Unicode MS"/>
              </a:rPr>
              <a:t>The purpose of the TFO is to create an indirection, to allow multiple processes to share the same cursor.</a:t>
            </a:r>
          </a:p>
          <a:p>
            <a:pPr>
              <a:spcBef>
                <a:spcPts val="0"/>
              </a:spcBef>
              <a:buFont typeface="Wingdings" panose="05000000000000000000" pitchFamily="2" charset="2"/>
              <a:buChar char="Ø"/>
            </a:pPr>
            <a:r>
              <a:rPr lang="en-US" sz="950" dirty="0">
                <a:solidFill>
                  <a:srgbClr val="000000"/>
                </a:solidFill>
                <a:latin typeface="Times New Roman"/>
                <a:ea typeface="Arial Unicode MS"/>
                <a:cs typeface="Arial Unicode MS"/>
              </a:rPr>
              <a:t> Several ways to create this sharing.</a:t>
            </a:r>
          </a:p>
          <a:p>
            <a:pPr>
              <a:spcBef>
                <a:spcPts val="0"/>
              </a:spcBef>
              <a:buFont typeface="Wingdings" panose="05000000000000000000" pitchFamily="2" charset="2"/>
              <a:buChar char="Ø"/>
            </a:pPr>
            <a:r>
              <a:rPr lang="en-US" sz="950" dirty="0">
                <a:solidFill>
                  <a:srgbClr val="000000"/>
                </a:solidFill>
                <a:latin typeface="Times New Roman"/>
                <a:ea typeface="Arial Unicode MS"/>
                <a:cs typeface="Arial Unicode MS"/>
              </a:rPr>
              <a:t> When a process creates another, it "transmits" its descriptors to it.</a:t>
            </a:r>
          </a:p>
          <a:p>
            <a:pPr>
              <a:spcBef>
                <a:spcPts val="0"/>
              </a:spcBef>
              <a:buFont typeface="Wingdings" panose="05000000000000000000" pitchFamily="2" charset="2"/>
              <a:buChar char="Ø"/>
            </a:pPr>
            <a:r>
              <a:rPr lang="en-US" sz="950" dirty="0">
                <a:solidFill>
                  <a:srgbClr val="000000"/>
                </a:solidFill>
                <a:latin typeface="Times New Roman"/>
                <a:ea typeface="Arial Unicode MS"/>
                <a:cs typeface="Arial Unicode MS"/>
              </a:rPr>
              <a:t> We can explicitly ask to duplicate a descriptor by dup2</a:t>
            </a:r>
            <a:r>
              <a:rPr lang="fr-FR" sz="950" dirty="0" smtClean="0">
                <a:solidFill>
                  <a:srgbClr val="000000"/>
                </a:solidFill>
                <a:latin typeface="Times New Roman"/>
                <a:ea typeface="Arial Unicode MS"/>
                <a:cs typeface="Arial Unicode MS"/>
              </a:rPr>
              <a:t>. </a:t>
            </a:r>
            <a:r>
              <a:rPr lang="fr-FR" sz="950" dirty="0">
                <a:solidFill>
                  <a:srgbClr val="000000"/>
                </a:solidFill>
                <a:latin typeface="Times New Roman"/>
                <a:ea typeface="Arial Unicode MS"/>
                <a:cs typeface="Arial Unicode MS"/>
              </a:rPr>
              <a:t/>
            </a:r>
            <a:br>
              <a:rPr lang="fr-FR" sz="950" dirty="0">
                <a:solidFill>
                  <a:srgbClr val="000000"/>
                </a:solidFill>
                <a:latin typeface="Times New Roman"/>
                <a:ea typeface="Arial Unicode MS"/>
                <a:cs typeface="Arial Unicode MS"/>
              </a:rPr>
            </a:br>
            <a:r>
              <a:rPr lang="en-US" sz="1050" dirty="0" err="1" smtClean="0">
                <a:solidFill>
                  <a:srgbClr val="008C8C"/>
                </a:solidFill>
                <a:latin typeface="Courier New" panose="02070309020205020404" pitchFamily="49" charset="0"/>
                <a:cs typeface="Courier New" panose="02070309020205020404" pitchFamily="49" charset="0"/>
              </a:rPr>
              <a:t>int</a:t>
            </a:r>
            <a:r>
              <a:rPr lang="en-US" sz="1050" dirty="0" smtClean="0">
                <a:solidFill>
                  <a:srgbClr val="000000"/>
                </a:solidFill>
                <a:latin typeface="Courier New" panose="02070309020205020404" pitchFamily="49" charset="0"/>
                <a:cs typeface="Courier New" panose="02070309020205020404" pitchFamily="49" charset="0"/>
              </a:rPr>
              <a:t>   </a:t>
            </a:r>
            <a:r>
              <a:rPr lang="en-US" sz="1050" dirty="0">
                <a:solidFill>
                  <a:srgbClr val="000000"/>
                </a:solidFill>
                <a:latin typeface="Courier New" panose="02070309020205020404" pitchFamily="49" charset="0"/>
                <a:cs typeface="Courier New" panose="02070309020205020404" pitchFamily="49" charset="0"/>
              </a:rPr>
              <a:t>dup2(</a:t>
            </a:r>
            <a:r>
              <a:rPr lang="en-US" sz="1050" dirty="0" err="1">
                <a:solidFill>
                  <a:srgbClr val="008C8C"/>
                </a:solidFill>
                <a:latin typeface="Courier New" panose="02070309020205020404" pitchFamily="49" charset="0"/>
                <a:cs typeface="Courier New" panose="02070309020205020404" pitchFamily="49" charset="0"/>
              </a:rPr>
              <a:t>int</a:t>
            </a:r>
            <a:r>
              <a:rPr lang="en-US" sz="1050" dirty="0">
                <a:solidFill>
                  <a:srgbClr val="000000"/>
                </a:solidFill>
                <a:latin typeface="Courier New" panose="02070309020205020404" pitchFamily="49" charset="0"/>
                <a:cs typeface="Courier New" panose="02070309020205020404" pitchFamily="49" charset="0"/>
              </a:rPr>
              <a:t> </a:t>
            </a:r>
            <a:r>
              <a:rPr lang="en-US" sz="1050" dirty="0" err="1">
                <a:solidFill>
                  <a:srgbClr val="000000"/>
                </a:solidFill>
                <a:latin typeface="Courier New" panose="02070309020205020404" pitchFamily="49" charset="0"/>
                <a:cs typeface="Courier New" panose="02070309020205020404" pitchFamily="49" charset="0"/>
              </a:rPr>
              <a:t>old_descr</a:t>
            </a:r>
            <a:r>
              <a:rPr lang="en-US" sz="1050" dirty="0">
                <a:solidFill>
                  <a:srgbClr val="000000"/>
                </a:solidFill>
                <a:latin typeface="Courier New" panose="02070309020205020404" pitchFamily="49" charset="0"/>
                <a:cs typeface="Courier New" panose="02070309020205020404" pitchFamily="49" charset="0"/>
              </a:rPr>
              <a:t>,</a:t>
            </a:r>
            <a:r>
              <a:rPr lang="en-US" sz="1050" dirty="0">
                <a:solidFill>
                  <a:srgbClr val="008C8C"/>
                </a:solidFill>
                <a:latin typeface="Courier New" panose="02070309020205020404" pitchFamily="49" charset="0"/>
                <a:cs typeface="Courier New" panose="02070309020205020404" pitchFamily="49" charset="0"/>
              </a:rPr>
              <a:t> </a:t>
            </a:r>
            <a:r>
              <a:rPr lang="en-US" sz="1050" dirty="0" err="1">
                <a:solidFill>
                  <a:srgbClr val="008C8C"/>
                </a:solidFill>
                <a:latin typeface="Courier New" panose="02070309020205020404" pitchFamily="49" charset="0"/>
                <a:cs typeface="Courier New" panose="02070309020205020404" pitchFamily="49" charset="0"/>
              </a:rPr>
              <a:t>int</a:t>
            </a:r>
            <a:r>
              <a:rPr lang="en-US" sz="1050" dirty="0">
                <a:solidFill>
                  <a:srgbClr val="000000"/>
                </a:solidFill>
                <a:latin typeface="Courier New" panose="02070309020205020404" pitchFamily="49" charset="0"/>
                <a:cs typeface="Courier New" panose="02070309020205020404" pitchFamily="49" charset="0"/>
              </a:rPr>
              <a:t> </a:t>
            </a:r>
            <a:r>
              <a:rPr lang="en-US" sz="1050" dirty="0" err="1">
                <a:solidFill>
                  <a:srgbClr val="000000"/>
                </a:solidFill>
                <a:latin typeface="Courier New" panose="02070309020205020404" pitchFamily="49" charset="0"/>
                <a:cs typeface="Courier New" panose="02070309020205020404" pitchFamily="49" charset="0"/>
              </a:rPr>
              <a:t>new_descr</a:t>
            </a:r>
            <a:r>
              <a:rPr lang="en-US" sz="1050" dirty="0">
                <a:solidFill>
                  <a:srgbClr val="000000"/>
                </a:solidFill>
                <a:latin typeface="Courier New" panose="02070309020205020404" pitchFamily="49" charset="0"/>
                <a:cs typeface="Courier New" panose="02070309020205020404" pitchFamily="49" charset="0"/>
              </a:rPr>
              <a:t>); </a:t>
            </a:r>
            <a:endParaRPr lang="en-US" sz="1050" dirty="0" smtClean="0">
              <a:solidFill>
                <a:srgbClr val="000000"/>
              </a:solidFill>
              <a:latin typeface="Courier New" panose="02070309020205020404" pitchFamily="49" charset="0"/>
              <a:cs typeface="Courier New" panose="02070309020205020404" pitchFamily="49" charset="0"/>
            </a:endParaRPr>
          </a:p>
          <a:p>
            <a:pPr>
              <a:lnSpc>
                <a:spcPts val="1202"/>
              </a:lnSpc>
              <a:spcBef>
                <a:spcPts val="0"/>
              </a:spcBef>
              <a:buFont typeface="Wingdings" panose="05000000000000000000" pitchFamily="2" charset="2"/>
              <a:buChar char="Ø"/>
            </a:pPr>
            <a:r>
              <a:rPr lang="fr-FR" sz="1050" dirty="0" err="1" smtClean="0">
                <a:solidFill>
                  <a:srgbClr val="000000"/>
                </a:solidFill>
                <a:latin typeface="Times New Roman"/>
                <a:ea typeface="Arial Unicode MS"/>
                <a:cs typeface="Arial Unicode MS"/>
              </a:rPr>
              <a:t>old_descr</a:t>
            </a:r>
            <a:r>
              <a:rPr lang="fr-FR" sz="1050" dirty="0" smtClean="0">
                <a:solidFill>
                  <a:srgbClr val="000000"/>
                </a:solidFill>
                <a:latin typeface="Times New Roman"/>
                <a:ea typeface="Arial Unicode MS"/>
                <a:cs typeface="Arial Unicode MS"/>
              </a:rPr>
              <a:t> </a:t>
            </a:r>
            <a:r>
              <a:rPr lang="en-US" sz="1050" dirty="0">
                <a:solidFill>
                  <a:srgbClr val="000000"/>
                </a:solidFill>
                <a:latin typeface="Times New Roman"/>
                <a:ea typeface="Arial Unicode MS"/>
                <a:cs typeface="Arial Unicode MS"/>
              </a:rPr>
              <a:t>must correspond to an open descriptor. </a:t>
            </a:r>
            <a:endParaRPr lang="en-US" sz="1050" dirty="0" smtClean="0">
              <a:solidFill>
                <a:srgbClr val="000000"/>
              </a:solidFill>
              <a:latin typeface="Times New Roman"/>
              <a:ea typeface="Arial Unicode MS"/>
              <a:cs typeface="Arial Unicode MS"/>
            </a:endParaRPr>
          </a:p>
          <a:p>
            <a:pPr marL="376133" lvl="1" indent="-228600">
              <a:lnSpc>
                <a:spcPts val="1202"/>
              </a:lnSpc>
              <a:spcBef>
                <a:spcPts val="0"/>
              </a:spcBef>
              <a:buFont typeface="+mj-lt"/>
              <a:buAutoNum type="arabicPeriod"/>
            </a:pPr>
            <a:r>
              <a:rPr lang="en-US" sz="950" dirty="0" smtClean="0">
                <a:solidFill>
                  <a:srgbClr val="000000"/>
                </a:solidFill>
                <a:latin typeface="Times New Roman"/>
                <a:ea typeface="Arial Unicode MS"/>
                <a:cs typeface="Arial Unicode MS"/>
              </a:rPr>
              <a:t>The Function close </a:t>
            </a:r>
            <a:r>
              <a:rPr lang="en-US" sz="950" dirty="0">
                <a:solidFill>
                  <a:srgbClr val="000000"/>
                </a:solidFill>
                <a:latin typeface="Times New Roman"/>
                <a:ea typeface="Arial Unicode MS"/>
                <a:cs typeface="Arial Unicode MS"/>
              </a:rPr>
              <a:t>the </a:t>
            </a:r>
            <a:r>
              <a:rPr lang="en-US" sz="950" dirty="0" err="1">
                <a:solidFill>
                  <a:srgbClr val="000000"/>
                </a:solidFill>
                <a:latin typeface="Times New Roman"/>
                <a:ea typeface="Arial Unicode MS"/>
                <a:cs typeface="Arial Unicode MS"/>
              </a:rPr>
              <a:t>new_descr</a:t>
            </a:r>
            <a:r>
              <a:rPr lang="en-US" sz="950" dirty="0">
                <a:solidFill>
                  <a:srgbClr val="000000"/>
                </a:solidFill>
                <a:latin typeface="Times New Roman"/>
                <a:ea typeface="Arial Unicode MS"/>
                <a:cs typeface="Arial Unicode MS"/>
              </a:rPr>
              <a:t> descriptor if it is open,</a:t>
            </a:r>
          </a:p>
          <a:p>
            <a:pPr marL="376133" lvl="1" indent="-228600">
              <a:lnSpc>
                <a:spcPts val="1202"/>
              </a:lnSpc>
              <a:spcBef>
                <a:spcPts val="0"/>
              </a:spcBef>
              <a:buFont typeface="+mj-lt"/>
              <a:buAutoNum type="arabicPeriod"/>
            </a:pPr>
            <a:r>
              <a:rPr lang="en-US" sz="950" dirty="0">
                <a:solidFill>
                  <a:srgbClr val="000000"/>
                </a:solidFill>
                <a:latin typeface="Times New Roman"/>
                <a:ea typeface="Arial Unicode MS"/>
                <a:cs typeface="Arial Unicode MS"/>
              </a:rPr>
              <a:t>M</a:t>
            </a:r>
            <a:r>
              <a:rPr lang="en-US" sz="950" dirty="0" smtClean="0">
                <a:solidFill>
                  <a:srgbClr val="000000"/>
                </a:solidFill>
                <a:latin typeface="Times New Roman"/>
                <a:ea typeface="Arial Unicode MS"/>
                <a:cs typeface="Arial Unicode MS"/>
              </a:rPr>
              <a:t>akes </a:t>
            </a:r>
            <a:r>
              <a:rPr lang="en-US" sz="950" dirty="0">
                <a:solidFill>
                  <a:srgbClr val="000000"/>
                </a:solidFill>
                <a:latin typeface="Times New Roman"/>
                <a:ea typeface="Arial Unicode MS"/>
                <a:cs typeface="Arial Unicode MS"/>
              </a:rPr>
              <a:t>it point to the same TFO entry as </a:t>
            </a:r>
            <a:r>
              <a:rPr lang="en-US" sz="950" dirty="0" err="1">
                <a:solidFill>
                  <a:srgbClr val="000000"/>
                </a:solidFill>
                <a:latin typeface="Times New Roman"/>
                <a:ea typeface="Arial Unicode MS"/>
                <a:cs typeface="Arial Unicode MS"/>
              </a:rPr>
              <a:t>old_descr</a:t>
            </a:r>
            <a:r>
              <a:rPr lang="en-US" sz="950" dirty="0">
                <a:solidFill>
                  <a:srgbClr val="000000"/>
                </a:solidFill>
                <a:latin typeface="Times New Roman"/>
                <a:ea typeface="Arial Unicode MS"/>
                <a:cs typeface="Arial Unicode MS"/>
              </a:rPr>
              <a:t>.</a:t>
            </a:r>
          </a:p>
          <a:p>
            <a:pPr marL="376133" lvl="1" indent="-228600">
              <a:lnSpc>
                <a:spcPts val="1202"/>
              </a:lnSpc>
              <a:spcBef>
                <a:spcPts val="0"/>
              </a:spcBef>
              <a:buFont typeface="+mj-lt"/>
              <a:buAutoNum type="arabicPeriod"/>
            </a:pPr>
            <a:r>
              <a:rPr lang="en-US" sz="950" dirty="0" smtClean="0">
                <a:solidFill>
                  <a:srgbClr val="000000"/>
                </a:solidFill>
                <a:latin typeface="Times New Roman"/>
                <a:ea typeface="Arial Unicode MS"/>
                <a:cs typeface="Arial Unicode MS"/>
              </a:rPr>
              <a:t>Returns </a:t>
            </a:r>
            <a:r>
              <a:rPr lang="en-US" sz="950" dirty="0">
                <a:solidFill>
                  <a:srgbClr val="000000"/>
                </a:solidFill>
                <a:latin typeface="Times New Roman"/>
                <a:ea typeface="Arial Unicode MS"/>
                <a:cs typeface="Arial Unicode MS"/>
              </a:rPr>
              <a:t>the value of </a:t>
            </a:r>
            <a:r>
              <a:rPr lang="en-US" sz="950" dirty="0" err="1">
                <a:solidFill>
                  <a:srgbClr val="000000"/>
                </a:solidFill>
                <a:latin typeface="Times New Roman"/>
                <a:ea typeface="Arial Unicode MS"/>
                <a:cs typeface="Arial Unicode MS"/>
              </a:rPr>
              <a:t>new_descr</a:t>
            </a:r>
            <a:r>
              <a:rPr lang="en-US" sz="950" dirty="0">
                <a:solidFill>
                  <a:srgbClr val="000000"/>
                </a:solidFill>
                <a:latin typeface="Times New Roman"/>
                <a:ea typeface="Arial Unicode MS"/>
                <a:cs typeface="Arial Unicode MS"/>
              </a:rPr>
              <a:t> (−1 if error).</a:t>
            </a:r>
          </a:p>
          <a:p>
            <a:pPr marL="228600" indent="-228600">
              <a:lnSpc>
                <a:spcPts val="1202"/>
              </a:lnSpc>
              <a:spcBef>
                <a:spcPts val="0"/>
              </a:spcBef>
              <a:buFont typeface="+mj-lt"/>
              <a:buAutoNum type="arabicPeriod"/>
            </a:pPr>
            <a:r>
              <a:rPr lang="en-US" sz="1050" dirty="0" smtClean="0">
                <a:solidFill>
                  <a:srgbClr val="000000"/>
                </a:solidFill>
                <a:latin typeface="Times New Roman"/>
                <a:ea typeface="Arial Unicode MS"/>
                <a:cs typeface="Arial Unicode MS"/>
              </a:rPr>
              <a:t>The </a:t>
            </a:r>
            <a:r>
              <a:rPr lang="en-US" sz="1050" dirty="0">
                <a:solidFill>
                  <a:srgbClr val="000000"/>
                </a:solidFill>
                <a:latin typeface="Times New Roman"/>
                <a:ea typeface="Arial Unicode MS"/>
                <a:cs typeface="Arial Unicode MS"/>
              </a:rPr>
              <a:t>dup and </a:t>
            </a:r>
            <a:r>
              <a:rPr lang="en-US" sz="1050" dirty="0" err="1">
                <a:solidFill>
                  <a:srgbClr val="000000"/>
                </a:solidFill>
                <a:latin typeface="Times New Roman"/>
                <a:ea typeface="Arial Unicode MS"/>
                <a:cs typeface="Arial Unicode MS"/>
              </a:rPr>
              <a:t>fcntl</a:t>
            </a:r>
            <a:r>
              <a:rPr lang="en-US" sz="1050" dirty="0">
                <a:solidFill>
                  <a:srgbClr val="000000"/>
                </a:solidFill>
                <a:latin typeface="Times New Roman"/>
                <a:ea typeface="Arial Unicode MS"/>
                <a:cs typeface="Arial Unicode MS"/>
              </a:rPr>
              <a:t> calls also allow duplicating.</a:t>
            </a:r>
            <a:endParaRPr lang="fr-FR" dirty="0"/>
          </a:p>
        </p:txBody>
      </p:sp>
    </p:spTree>
    <p:extLst>
      <p:ext uri="{BB962C8B-B14F-4D97-AF65-F5344CB8AC3E}">
        <p14:creationId xmlns:p14="http://schemas.microsoft.com/office/powerpoint/2010/main" val="19571272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p:cNvSpPr txBox="1">
            <a:spLocks/>
          </p:cNvSpPr>
          <p:nvPr/>
        </p:nvSpPr>
        <p:spPr>
          <a:xfrm>
            <a:off x="458463" y="-1340"/>
            <a:ext cx="3803333" cy="732095"/>
          </a:xfrm>
          <a:prstGeom prst="rect">
            <a:avLst/>
          </a:prstGeom>
        </p:spPr>
        <p:txBody>
          <a:bodyPr vert="horz" lIns="91440" tIns="45720" rIns="91440" bIns="45720" rtlCol="0" anchor="b">
            <a:normAutofit/>
          </a:bodyPr>
          <a:lstStyle>
            <a:lvl1pPr algn="l" defTabSz="461040" rtl="0" eaLnBrk="1" latinLnBrk="0" hangingPunct="1">
              <a:lnSpc>
                <a:spcPct val="85000"/>
              </a:lnSpc>
              <a:spcBef>
                <a:spcPct val="0"/>
              </a:spcBef>
              <a:buNone/>
              <a:defRPr sz="2420" kern="1200" spc="-25" baseline="0">
                <a:solidFill>
                  <a:schemeClr val="tx1">
                    <a:lumMod val="75000"/>
                    <a:lumOff val="25000"/>
                  </a:schemeClr>
                </a:solidFill>
                <a:latin typeface="+mj-lt"/>
                <a:ea typeface="+mj-ea"/>
                <a:cs typeface="+mj-cs"/>
              </a:defRPr>
            </a:lvl1pPr>
          </a:lstStyle>
          <a:p>
            <a:pPr>
              <a:lnSpc>
                <a:spcPts val="1302"/>
              </a:lnSpc>
            </a:pPr>
            <a:r>
              <a:rPr lang="en-US" sz="2500" dirty="0" smtClean="0">
                <a:solidFill>
                  <a:schemeClr val="tx1"/>
                </a:solidFill>
                <a:latin typeface="Times New Roman"/>
              </a:rPr>
              <a:t>Duplications et redirections </a:t>
            </a:r>
            <a:endParaRPr lang="fr-FR" sz="2500" dirty="0">
              <a:solidFill>
                <a:schemeClr val="tx1"/>
              </a:solidFill>
            </a:endParaRPr>
          </a:p>
        </p:txBody>
      </p:sp>
      <p:pic>
        <p:nvPicPr>
          <p:cNvPr id="19" name="Picture 18"/>
          <p:cNvPicPr>
            <a:picLocks/>
          </p:cNvPicPr>
          <p:nvPr/>
        </p:nvPicPr>
        <p:blipFill>
          <a:blip r:embed="rId2">
            <a:extLst>
              <a:ext uri="{28A0092B-C50C-407E-A947-70E740481C1C}">
                <a14:useLocalDpi xmlns:a14="http://schemas.microsoft.com/office/drawing/2010/main" val="0"/>
              </a:ext>
            </a:extLst>
          </a:blip>
          <a:stretch>
            <a:fillRect/>
          </a:stretch>
        </p:blipFill>
        <p:spPr>
          <a:xfrm>
            <a:off x="0" y="-22225"/>
            <a:ext cx="4610100" cy="3454672"/>
          </a:xfrm>
          <a:prstGeom prst="rect">
            <a:avLst/>
          </a:prstGeom>
        </p:spPr>
      </p:pic>
      <p:sp>
        <p:nvSpPr>
          <p:cNvPr id="20" name="TextBox 19"/>
          <p:cNvSpPr txBox="1"/>
          <p:nvPr/>
        </p:nvSpPr>
        <p:spPr>
          <a:xfrm>
            <a:off x="178292" y="752398"/>
            <a:ext cx="2532745" cy="307777"/>
          </a:xfrm>
          <a:prstGeom prst="rect">
            <a:avLst/>
          </a:prstGeom>
          <a:noFill/>
        </p:spPr>
        <p:txBody>
          <a:bodyPr vert="horz" wrap="none" lIns="0" tIns="0" rIns="0" bIns="0" rtlCol="0">
            <a:spAutoFit/>
          </a:bodyPr>
          <a:lstStyle/>
          <a:p>
            <a:pPr>
              <a:lnSpc>
                <a:spcPts val="1202"/>
              </a:lnSpc>
            </a:pPr>
            <a:r>
              <a:rPr lang="en-US" sz="823" dirty="0" smtClean="0">
                <a:latin typeface="Arial Unicode MS"/>
                <a:ea typeface="Arial Unicode MS"/>
                <a:cs typeface="Arial Unicode MS"/>
              </a:rPr>
              <a:t>◮</a:t>
            </a:r>
            <a:r>
              <a:rPr lang="en-US" sz="960" dirty="0" smtClean="0">
                <a:solidFill>
                  <a:srgbClr val="D80026"/>
                </a:solidFill>
                <a:latin typeface="Times New Roman"/>
                <a:ea typeface="Arial Unicode MS"/>
                <a:cs typeface="Arial Unicode MS"/>
              </a:rPr>
              <a:t> </a:t>
            </a:r>
            <a:r>
              <a:rPr lang="en-US" sz="960" dirty="0" err="1" smtClean="0">
                <a:solidFill>
                  <a:srgbClr val="D80026"/>
                </a:solidFill>
                <a:latin typeface="Times New Roman"/>
                <a:ea typeface="Arial Unicode MS"/>
                <a:cs typeface="Arial Unicode MS"/>
              </a:rPr>
              <a:t>Deux</a:t>
            </a:r>
            <a:r>
              <a:rPr lang="en-US" sz="960" dirty="0" smtClean="0">
                <a:solidFill>
                  <a:srgbClr val="D80026"/>
                </a:solidFill>
                <a:latin typeface="Times New Roman"/>
                <a:ea typeface="Arial Unicode MS"/>
                <a:cs typeface="Arial Unicode MS"/>
              </a:rPr>
              <a:t> </a:t>
            </a:r>
            <a:r>
              <a:rPr lang="en-US" sz="960" dirty="0" err="1" smtClean="0">
                <a:solidFill>
                  <a:srgbClr val="D80026"/>
                </a:solidFill>
                <a:latin typeface="Times New Roman"/>
                <a:ea typeface="Arial Unicode MS"/>
                <a:cs typeface="Arial Unicode MS"/>
              </a:rPr>
              <a:t>ouvertures</a:t>
            </a:r>
            <a:r>
              <a:rPr lang="en-US" sz="960" dirty="0" smtClean="0">
                <a:solidFill>
                  <a:srgbClr val="D80026"/>
                </a:solidFill>
                <a:latin typeface="Times New Roman"/>
                <a:ea typeface="Arial Unicode MS"/>
                <a:cs typeface="Arial Unicode MS"/>
              </a:rPr>
              <a:t> </a:t>
            </a:r>
            <a:r>
              <a:rPr lang="en-US" sz="960" dirty="0" err="1" smtClean="0">
                <a:solidFill>
                  <a:srgbClr val="D80026"/>
                </a:solidFill>
                <a:latin typeface="Times New Roman"/>
                <a:ea typeface="Arial Unicode MS"/>
                <a:cs typeface="Arial Unicode MS"/>
              </a:rPr>
              <a:t>indépendantes</a:t>
            </a:r>
            <a:r>
              <a:rPr lang="en-US" sz="960" dirty="0" smtClean="0">
                <a:solidFill>
                  <a:srgbClr val="000000"/>
                </a:solidFill>
                <a:latin typeface="Times New Roman"/>
                <a:ea typeface="Arial Unicode MS"/>
                <a:cs typeface="Arial Unicode MS"/>
              </a:rPr>
              <a:t> du </a:t>
            </a:r>
            <a:r>
              <a:rPr lang="en-US" sz="960" dirty="0" err="1" smtClean="0">
                <a:solidFill>
                  <a:srgbClr val="000000"/>
                </a:solidFill>
                <a:latin typeface="Times New Roman"/>
                <a:ea typeface="Arial Unicode MS"/>
                <a:cs typeface="Arial Unicode MS"/>
              </a:rPr>
              <a:t>même</a:t>
            </a:r>
            <a:r>
              <a:rPr lang="en-US" sz="960" dirty="0" smtClean="0">
                <a:solidFill>
                  <a:srgbClr val="000000"/>
                </a:solidFill>
                <a:latin typeface="Times New Roman"/>
                <a:ea typeface="Arial Unicode MS"/>
                <a:cs typeface="Arial Unicode MS"/>
              </a:rPr>
              <a:t> fichier. </a:t>
            </a:r>
          </a:p>
          <a:p>
            <a:pPr>
              <a:lnSpc>
                <a:spcPts val="1202"/>
              </a:lnSpc>
            </a:pPr>
            <a:endParaRPr lang="en-US" sz="960" dirty="0">
              <a:solidFill>
                <a:srgbClr val="D80026"/>
              </a:solidFill>
              <a:latin typeface="Times New Roman"/>
            </a:endParaRPr>
          </a:p>
        </p:txBody>
      </p:sp>
      <p:sp>
        <p:nvSpPr>
          <p:cNvPr id="21" name="TextBox 20"/>
          <p:cNvSpPr txBox="1"/>
          <p:nvPr/>
        </p:nvSpPr>
        <p:spPr>
          <a:xfrm>
            <a:off x="483934" y="1095326"/>
            <a:ext cx="650819" cy="307777"/>
          </a:xfrm>
          <a:prstGeom prst="rect">
            <a:avLst/>
          </a:prstGeom>
          <a:noFill/>
        </p:spPr>
        <p:txBody>
          <a:bodyPr vert="horz" wrap="none" lIns="0" tIns="0" rIns="0" bIns="0" rtlCol="0">
            <a:spAutoFit/>
          </a:bodyPr>
          <a:lstStyle/>
          <a:p>
            <a:pPr>
              <a:lnSpc>
                <a:spcPts val="1202"/>
              </a:lnSpc>
            </a:pPr>
            <a:r>
              <a:rPr lang="en-US" sz="960">
                <a:solidFill>
                  <a:srgbClr val="FF0000"/>
                </a:solidFill>
                <a:latin typeface="Times New Roman"/>
              </a:rPr>
              <a:t>Descripteurs </a:t>
            </a:r>
          </a:p>
          <a:p>
            <a:pPr>
              <a:lnSpc>
                <a:spcPts val="1202"/>
              </a:lnSpc>
            </a:pPr>
            <a:endParaRPr lang="en-US" sz="823"/>
          </a:p>
        </p:txBody>
      </p:sp>
      <p:sp>
        <p:nvSpPr>
          <p:cNvPr id="22" name="TextBox 21"/>
          <p:cNvSpPr txBox="1"/>
          <p:nvPr/>
        </p:nvSpPr>
        <p:spPr>
          <a:xfrm>
            <a:off x="267437" y="1273139"/>
            <a:ext cx="1029128" cy="307777"/>
          </a:xfrm>
          <a:prstGeom prst="rect">
            <a:avLst/>
          </a:prstGeom>
          <a:noFill/>
        </p:spPr>
        <p:txBody>
          <a:bodyPr vert="horz" wrap="none" lIns="0" tIns="0" rIns="0" bIns="0" rtlCol="0">
            <a:spAutoFit/>
          </a:bodyPr>
          <a:lstStyle/>
          <a:p>
            <a:pPr>
              <a:lnSpc>
                <a:spcPts val="1202"/>
              </a:lnSpc>
            </a:pPr>
            <a:r>
              <a:rPr lang="en-US" sz="960">
                <a:solidFill>
                  <a:srgbClr val="FF0000"/>
                </a:solidFill>
                <a:latin typeface="Times New Roman"/>
              </a:rPr>
              <a:t>(d</a:t>
            </a:r>
            <a:r>
              <a:rPr lang="en-US" sz="960">
                <a:solidFill>
                  <a:srgbClr val="FF0000"/>
                </a:solidFill>
                <a:latin typeface="Times New Roman"/>
                <a:cs typeface="Times New Roman"/>
              </a:rPr>
              <a:t>’1 ou 2 processus) </a:t>
            </a:r>
          </a:p>
          <a:p>
            <a:pPr>
              <a:lnSpc>
                <a:spcPts val="1202"/>
              </a:lnSpc>
            </a:pPr>
            <a:endParaRPr lang="en-US" sz="960">
              <a:solidFill>
                <a:srgbClr val="FF0000"/>
              </a:solidFill>
              <a:latin typeface="Times New Roman"/>
            </a:endParaRPr>
          </a:p>
        </p:txBody>
      </p:sp>
      <p:sp>
        <p:nvSpPr>
          <p:cNvPr id="23" name="TextBox 22"/>
          <p:cNvSpPr txBox="1"/>
          <p:nvPr/>
        </p:nvSpPr>
        <p:spPr>
          <a:xfrm>
            <a:off x="1260773" y="1641469"/>
            <a:ext cx="546625" cy="307777"/>
          </a:xfrm>
          <a:prstGeom prst="rect">
            <a:avLst/>
          </a:prstGeom>
          <a:noFill/>
        </p:spPr>
        <p:txBody>
          <a:bodyPr vert="horz" wrap="none" lIns="0" tIns="0" rIns="0" bIns="0" rtlCol="0">
            <a:spAutoFit/>
          </a:bodyPr>
          <a:lstStyle/>
          <a:p>
            <a:pPr>
              <a:lnSpc>
                <a:spcPts val="1202"/>
              </a:lnSpc>
            </a:pPr>
            <a:r>
              <a:rPr lang="en-US" sz="960">
                <a:solidFill>
                  <a:srgbClr val="000000"/>
                </a:solidFill>
                <a:latin typeface="Times New Roman"/>
              </a:rPr>
              <a:t>O_RDWR </a:t>
            </a:r>
          </a:p>
          <a:p>
            <a:pPr>
              <a:lnSpc>
                <a:spcPts val="1202"/>
              </a:lnSpc>
            </a:pPr>
            <a:endParaRPr lang="en-US" sz="823"/>
          </a:p>
        </p:txBody>
      </p:sp>
      <p:sp>
        <p:nvSpPr>
          <p:cNvPr id="24" name="TextBox 23"/>
          <p:cNvSpPr txBox="1"/>
          <p:nvPr/>
        </p:nvSpPr>
        <p:spPr>
          <a:xfrm>
            <a:off x="1910262" y="1196934"/>
            <a:ext cx="262892" cy="307777"/>
          </a:xfrm>
          <a:prstGeom prst="rect">
            <a:avLst/>
          </a:prstGeom>
          <a:noFill/>
        </p:spPr>
        <p:txBody>
          <a:bodyPr vert="horz" wrap="none" lIns="0" tIns="0" rIns="0" bIns="0" rtlCol="0">
            <a:spAutoFit/>
          </a:bodyPr>
          <a:lstStyle/>
          <a:p>
            <a:pPr>
              <a:lnSpc>
                <a:spcPts val="1202"/>
              </a:lnSpc>
            </a:pPr>
            <a:r>
              <a:rPr lang="en-US" sz="960">
                <a:solidFill>
                  <a:srgbClr val="0000CC"/>
                </a:solidFill>
                <a:latin typeface="Times New Roman"/>
              </a:rPr>
              <a:t>TFO </a:t>
            </a:r>
          </a:p>
          <a:p>
            <a:pPr>
              <a:lnSpc>
                <a:spcPts val="1202"/>
              </a:lnSpc>
            </a:pPr>
            <a:endParaRPr lang="en-US" sz="823"/>
          </a:p>
        </p:txBody>
      </p:sp>
      <p:sp>
        <p:nvSpPr>
          <p:cNvPr id="25" name="TextBox 24"/>
          <p:cNvSpPr txBox="1"/>
          <p:nvPr/>
        </p:nvSpPr>
        <p:spPr>
          <a:xfrm>
            <a:off x="3298388" y="1120728"/>
            <a:ext cx="788677" cy="307777"/>
          </a:xfrm>
          <a:prstGeom prst="rect">
            <a:avLst/>
          </a:prstGeom>
          <a:noFill/>
        </p:spPr>
        <p:txBody>
          <a:bodyPr vert="horz" wrap="none" lIns="0" tIns="0" rIns="0" bIns="0" rtlCol="0">
            <a:spAutoFit/>
          </a:bodyPr>
          <a:lstStyle/>
          <a:p>
            <a:pPr>
              <a:lnSpc>
                <a:spcPts val="1202"/>
              </a:lnSpc>
            </a:pPr>
            <a:r>
              <a:rPr lang="en-US" sz="960">
                <a:solidFill>
                  <a:srgbClr val="00A565"/>
                </a:solidFill>
                <a:latin typeface="Times New Roman"/>
              </a:rPr>
              <a:t>Table v-noeuds </a:t>
            </a:r>
          </a:p>
          <a:p>
            <a:pPr>
              <a:lnSpc>
                <a:spcPts val="1202"/>
              </a:lnSpc>
            </a:pPr>
            <a:endParaRPr lang="en-US" sz="823"/>
          </a:p>
        </p:txBody>
      </p:sp>
      <p:sp>
        <p:nvSpPr>
          <p:cNvPr id="26" name="TextBox 25"/>
          <p:cNvSpPr txBox="1"/>
          <p:nvPr/>
        </p:nvSpPr>
        <p:spPr>
          <a:xfrm>
            <a:off x="3298389" y="1539860"/>
            <a:ext cx="1064062" cy="500137"/>
          </a:xfrm>
          <a:prstGeom prst="rect">
            <a:avLst/>
          </a:prstGeom>
          <a:noFill/>
        </p:spPr>
        <p:txBody>
          <a:bodyPr vert="horz" wrap="square" lIns="0" tIns="0" rIns="0" bIns="0" rtlCol="0">
            <a:spAutoFit/>
          </a:bodyPr>
          <a:lstStyle/>
          <a:p>
            <a:pPr indent="201494">
              <a:lnSpc>
                <a:spcPts val="1302"/>
              </a:lnSpc>
            </a:pPr>
            <a:r>
              <a:rPr lang="en-US" sz="960" dirty="0" err="1">
                <a:solidFill>
                  <a:srgbClr val="000000"/>
                </a:solidFill>
                <a:latin typeface="Times New Roman"/>
              </a:rPr>
              <a:t>i-n</a:t>
            </a:r>
            <a:r>
              <a:rPr lang="en-US" sz="960" dirty="0" err="1">
                <a:solidFill>
                  <a:srgbClr val="000000"/>
                </a:solidFill>
                <a:latin typeface="Times New Roman"/>
                <a:cs typeface="Times New Roman"/>
              </a:rPr>
              <a:t>œud</a:t>
            </a:r>
            <a:r>
              <a:rPr lang="en-US" sz="960" dirty="0">
                <a:solidFill>
                  <a:srgbClr val="000000"/>
                </a:solidFill>
                <a:latin typeface="Times New Roman"/>
                <a:cs typeface="Times New Roman"/>
              </a:rPr>
              <a:t> </a:t>
            </a:r>
            <a:br>
              <a:rPr lang="en-US" sz="960" dirty="0">
                <a:solidFill>
                  <a:srgbClr val="000000"/>
                </a:solidFill>
                <a:latin typeface="Times New Roman"/>
                <a:cs typeface="Times New Roman"/>
              </a:rPr>
            </a:br>
            <a:r>
              <a:rPr lang="en-US" sz="960" dirty="0" err="1">
                <a:solidFill>
                  <a:srgbClr val="000000"/>
                </a:solidFill>
                <a:latin typeface="Times New Roman"/>
                <a:cs typeface="Times New Roman"/>
              </a:rPr>
              <a:t>en</a:t>
            </a:r>
            <a:r>
              <a:rPr lang="en-US" sz="960" dirty="0">
                <a:solidFill>
                  <a:srgbClr val="000000"/>
                </a:solidFill>
                <a:latin typeface="Times New Roman"/>
                <a:cs typeface="Times New Roman"/>
              </a:rPr>
              <a:t> </a:t>
            </a:r>
            <a:r>
              <a:rPr lang="en-US" sz="960" dirty="0" err="1">
                <a:solidFill>
                  <a:srgbClr val="000000"/>
                </a:solidFill>
                <a:latin typeface="Times New Roman"/>
                <a:cs typeface="Times New Roman"/>
              </a:rPr>
              <a:t>mémoire</a:t>
            </a:r>
            <a:r>
              <a:rPr lang="en-US" sz="960" dirty="0">
                <a:solidFill>
                  <a:srgbClr val="000000"/>
                </a:solidFill>
                <a:latin typeface="Times New Roman"/>
                <a:cs typeface="Times New Roman"/>
              </a:rPr>
              <a:t> + </a:t>
            </a:r>
          </a:p>
          <a:p>
            <a:pPr indent="201494">
              <a:lnSpc>
                <a:spcPts val="1302"/>
              </a:lnSpc>
            </a:pPr>
            <a:endParaRPr lang="en-US" sz="960" dirty="0">
              <a:solidFill>
                <a:srgbClr val="000000"/>
              </a:solidFill>
              <a:latin typeface="Times New Roman"/>
            </a:endParaRPr>
          </a:p>
        </p:txBody>
      </p:sp>
      <p:sp>
        <p:nvSpPr>
          <p:cNvPr id="27" name="TextBox 26"/>
          <p:cNvSpPr txBox="1"/>
          <p:nvPr/>
        </p:nvSpPr>
        <p:spPr>
          <a:xfrm>
            <a:off x="458464" y="1857386"/>
            <a:ext cx="1373133" cy="384721"/>
          </a:xfrm>
          <a:prstGeom prst="rect">
            <a:avLst/>
          </a:prstGeom>
          <a:noFill/>
        </p:spPr>
        <p:txBody>
          <a:bodyPr vert="horz" wrap="none" lIns="0" tIns="0" rIns="0" bIns="0" rtlCol="0">
            <a:spAutoFit/>
          </a:bodyPr>
          <a:lstStyle/>
          <a:p>
            <a:pPr indent="809040">
              <a:lnSpc>
                <a:spcPts val="1002"/>
              </a:lnSpc>
            </a:pPr>
            <a:r>
              <a:rPr lang="en-US" sz="960">
                <a:solidFill>
                  <a:srgbClr val="000000"/>
                </a:solidFill>
                <a:latin typeface="Times New Roman"/>
              </a:rPr>
              <a:t>nb desc :</a:t>
            </a:r>
            <a:r>
              <a:rPr lang="en-US" sz="960">
                <a:solidFill>
                  <a:srgbClr val="D80026"/>
                </a:solidFill>
                <a:latin typeface="Times New Roman"/>
              </a:rPr>
              <a:t> 1 </a:t>
            </a:r>
            <a:r>
              <a:rPr lang="en-US" sz="960">
                <a:solidFill>
                  <a:srgbClr val="000000"/>
                </a:solidFill>
                <a:latin typeface="Arial Unicode MS"/>
              </a:rPr>
              <a:t/>
            </a:r>
            <a:br>
              <a:rPr lang="en-US" sz="960">
                <a:solidFill>
                  <a:srgbClr val="000000"/>
                </a:solidFill>
                <a:latin typeface="Arial Unicode MS"/>
              </a:rPr>
            </a:br>
            <a:r>
              <a:rPr lang="en-US" sz="960">
                <a:solidFill>
                  <a:srgbClr val="000000"/>
                </a:solidFill>
                <a:latin typeface="Arial Unicode MS"/>
              </a:rPr>
              <a:t>··· </a:t>
            </a:r>
          </a:p>
          <a:p>
            <a:pPr indent="809040">
              <a:lnSpc>
                <a:spcPts val="1002"/>
              </a:lnSpc>
            </a:pPr>
            <a:endParaRPr lang="en-US" sz="960">
              <a:solidFill>
                <a:srgbClr val="D80026"/>
              </a:solidFill>
              <a:latin typeface="Times New Roman"/>
            </a:endParaRPr>
          </a:p>
        </p:txBody>
      </p:sp>
      <p:sp>
        <p:nvSpPr>
          <p:cNvPr id="28" name="TextBox 27"/>
          <p:cNvSpPr txBox="1"/>
          <p:nvPr/>
        </p:nvSpPr>
        <p:spPr>
          <a:xfrm>
            <a:off x="458464" y="2111406"/>
            <a:ext cx="1536639" cy="564257"/>
          </a:xfrm>
          <a:prstGeom prst="rect">
            <a:avLst/>
          </a:prstGeom>
          <a:noFill/>
        </p:spPr>
        <p:txBody>
          <a:bodyPr vert="horz" wrap="none" lIns="0" tIns="0" rIns="0" bIns="0" rtlCol="0">
            <a:spAutoFit/>
          </a:bodyPr>
          <a:lstStyle/>
          <a:p>
            <a:pPr indent="812095" defTabSz="915894">
              <a:lnSpc>
                <a:spcPts val="1102"/>
              </a:lnSpc>
              <a:tabLst>
                <a:tab pos="814128" algn="l"/>
              </a:tabLst>
            </a:pPr>
            <a:r>
              <a:rPr lang="en-US" sz="960">
                <a:solidFill>
                  <a:srgbClr val="000000"/>
                </a:solidFill>
                <a:latin typeface="Times New Roman"/>
              </a:rPr>
              <a:t>O_WRONLY </a:t>
            </a:r>
            <a:br>
              <a:rPr lang="en-US" sz="960">
                <a:solidFill>
                  <a:srgbClr val="000000"/>
                </a:solidFill>
                <a:latin typeface="Times New Roman"/>
              </a:rPr>
            </a:br>
            <a:r>
              <a:rPr lang="en-US" sz="960">
                <a:solidFill>
                  <a:srgbClr val="000000"/>
                </a:solidFill>
                <a:latin typeface="Times New Roman"/>
              </a:rPr>
              <a:t>	nb desc :</a:t>
            </a:r>
            <a:r>
              <a:rPr lang="en-US" sz="960">
                <a:solidFill>
                  <a:srgbClr val="D80026"/>
                </a:solidFill>
                <a:latin typeface="Times New Roman"/>
              </a:rPr>
              <a:t> 1 </a:t>
            </a:r>
            <a:r>
              <a:rPr lang="en-US" sz="960">
                <a:solidFill>
                  <a:srgbClr val="000000"/>
                </a:solidFill>
                <a:latin typeface="Arial Unicode MS"/>
              </a:rPr>
              <a:t/>
            </a:r>
            <a:br>
              <a:rPr lang="en-US" sz="960">
                <a:solidFill>
                  <a:srgbClr val="000000"/>
                </a:solidFill>
                <a:latin typeface="Arial Unicode MS"/>
              </a:rPr>
            </a:br>
            <a:r>
              <a:rPr lang="en-US" sz="960">
                <a:solidFill>
                  <a:srgbClr val="000000"/>
                </a:solidFill>
                <a:latin typeface="Arial Unicode MS"/>
              </a:rPr>
              <a:t>··· </a:t>
            </a:r>
          </a:p>
          <a:p>
            <a:pPr indent="812095" defTabSz="915894">
              <a:lnSpc>
                <a:spcPts val="1102"/>
              </a:lnSpc>
              <a:tabLst>
                <a:tab pos="814128" algn="l"/>
              </a:tabLst>
            </a:pPr>
            <a:endParaRPr lang="en-US" sz="960">
              <a:solidFill>
                <a:srgbClr val="D80026"/>
              </a:solidFill>
              <a:latin typeface="Times New Roman"/>
            </a:endParaRPr>
          </a:p>
        </p:txBody>
      </p:sp>
      <p:sp>
        <p:nvSpPr>
          <p:cNvPr id="29" name="TextBox 28"/>
          <p:cNvSpPr txBox="1"/>
          <p:nvPr/>
        </p:nvSpPr>
        <p:spPr>
          <a:xfrm>
            <a:off x="2075818" y="1857385"/>
            <a:ext cx="2214549" cy="256480"/>
          </a:xfrm>
          <a:prstGeom prst="rect">
            <a:avLst/>
          </a:prstGeom>
          <a:noFill/>
        </p:spPr>
        <p:txBody>
          <a:bodyPr vert="horz" wrap="square" lIns="0" tIns="0" rIns="0" bIns="0" rtlCol="0">
            <a:spAutoFit/>
          </a:bodyPr>
          <a:lstStyle/>
          <a:p>
            <a:pPr defTabSz="915894">
              <a:lnSpc>
                <a:spcPts val="1002"/>
              </a:lnSpc>
              <a:tabLst>
                <a:tab pos="1628256" algn="l"/>
              </a:tabLst>
            </a:pPr>
            <a:r>
              <a:rPr lang="en-US" sz="960" dirty="0">
                <a:solidFill>
                  <a:srgbClr val="000000"/>
                </a:solidFill>
                <a:latin typeface="Times New Roman"/>
              </a:rPr>
              <a:t>offset : 54321 </a:t>
            </a:r>
            <a:r>
              <a:rPr lang="en-US" sz="960" dirty="0">
                <a:solidFill>
                  <a:srgbClr val="00A565"/>
                </a:solidFill>
                <a:latin typeface="Times New Roman"/>
              </a:rPr>
              <a:t>	</a:t>
            </a:r>
            <a:r>
              <a:rPr lang="en-US" sz="960" dirty="0" err="1">
                <a:solidFill>
                  <a:srgbClr val="00A565"/>
                </a:solidFill>
                <a:latin typeface="Times New Roman"/>
              </a:rPr>
              <a:t>état</a:t>
            </a:r>
            <a:r>
              <a:rPr lang="en-US" sz="960" dirty="0">
                <a:solidFill>
                  <a:srgbClr val="00A565"/>
                </a:solidFill>
                <a:latin typeface="Times New Roman"/>
              </a:rPr>
              <a:t> </a:t>
            </a:r>
          </a:p>
          <a:p>
            <a:pPr defTabSz="915894">
              <a:lnSpc>
                <a:spcPts val="1002"/>
              </a:lnSpc>
              <a:tabLst>
                <a:tab pos="1628256" algn="l"/>
              </a:tabLst>
            </a:pPr>
            <a:endParaRPr lang="en-US" sz="960" dirty="0">
              <a:solidFill>
                <a:srgbClr val="000000"/>
              </a:solidFill>
              <a:latin typeface="Times New Roman"/>
            </a:endParaRPr>
          </a:p>
        </p:txBody>
      </p:sp>
      <p:sp>
        <p:nvSpPr>
          <p:cNvPr id="30" name="TextBox 29"/>
          <p:cNvSpPr txBox="1"/>
          <p:nvPr/>
        </p:nvSpPr>
        <p:spPr>
          <a:xfrm>
            <a:off x="2075820" y="2035199"/>
            <a:ext cx="2123017" cy="615553"/>
          </a:xfrm>
          <a:prstGeom prst="rect">
            <a:avLst/>
          </a:prstGeom>
          <a:noFill/>
        </p:spPr>
        <p:txBody>
          <a:bodyPr vert="horz" wrap="none" lIns="0" tIns="0" rIns="0" bIns="0" rtlCol="0">
            <a:spAutoFit/>
          </a:bodyPr>
          <a:lstStyle/>
          <a:p>
            <a:pPr indent="1254775">
              <a:lnSpc>
                <a:spcPts val="1602"/>
              </a:lnSpc>
            </a:pPr>
            <a:r>
              <a:rPr lang="en-US" sz="960">
                <a:solidFill>
                  <a:srgbClr val="00A565"/>
                </a:solidFill>
                <a:latin typeface="Times New Roman"/>
              </a:rPr>
              <a:t>nb ouvertures</a:t>
            </a:r>
            <a:r>
              <a:rPr lang="en-US" sz="960">
                <a:solidFill>
                  <a:srgbClr val="000000"/>
                </a:solidFill>
                <a:latin typeface="Times New Roman"/>
              </a:rPr>
              <a:t> :</a:t>
            </a:r>
            <a:r>
              <a:rPr lang="en-US" sz="960">
                <a:solidFill>
                  <a:srgbClr val="D80026"/>
                </a:solidFill>
                <a:latin typeface="Times New Roman"/>
              </a:rPr>
              <a:t> 2 </a:t>
            </a:r>
            <a:r>
              <a:rPr lang="en-US" sz="960">
                <a:solidFill>
                  <a:srgbClr val="000000"/>
                </a:solidFill>
                <a:latin typeface="Times New Roman"/>
              </a:rPr>
              <a:t/>
            </a:r>
            <a:br>
              <a:rPr lang="en-US" sz="960">
                <a:solidFill>
                  <a:srgbClr val="000000"/>
                </a:solidFill>
                <a:latin typeface="Times New Roman"/>
              </a:rPr>
            </a:br>
            <a:r>
              <a:rPr lang="en-US" sz="960">
                <a:solidFill>
                  <a:srgbClr val="000000"/>
                </a:solidFill>
                <a:latin typeface="Times New Roman"/>
              </a:rPr>
              <a:t>offset : 0 </a:t>
            </a:r>
          </a:p>
          <a:p>
            <a:pPr indent="1254775">
              <a:lnSpc>
                <a:spcPts val="1602"/>
              </a:lnSpc>
            </a:pPr>
            <a:endParaRPr lang="en-US" sz="960">
              <a:solidFill>
                <a:srgbClr val="D80026"/>
              </a:solidFill>
              <a:latin typeface="Times New Roman"/>
            </a:endParaRPr>
          </a:p>
        </p:txBody>
      </p:sp>
      <p:sp>
        <p:nvSpPr>
          <p:cNvPr id="31" name="Title 1"/>
          <p:cNvSpPr txBox="1">
            <a:spLocks/>
          </p:cNvSpPr>
          <p:nvPr/>
        </p:nvSpPr>
        <p:spPr>
          <a:xfrm>
            <a:off x="487035" y="-54561"/>
            <a:ext cx="3803333" cy="732095"/>
          </a:xfrm>
          <a:prstGeom prst="rect">
            <a:avLst/>
          </a:prstGeom>
        </p:spPr>
        <p:txBody>
          <a:bodyPr vert="horz" lIns="91440" tIns="45720" rIns="91440" bIns="45720" rtlCol="0" anchor="b">
            <a:normAutofit/>
          </a:bodyPr>
          <a:lstStyle>
            <a:lvl1pPr algn="l" defTabSz="461040" rtl="0" eaLnBrk="1" latinLnBrk="0" hangingPunct="1">
              <a:lnSpc>
                <a:spcPct val="85000"/>
              </a:lnSpc>
              <a:spcBef>
                <a:spcPct val="0"/>
              </a:spcBef>
              <a:buNone/>
              <a:defRPr sz="2420" kern="1200" spc="-25" baseline="0">
                <a:solidFill>
                  <a:schemeClr val="tx1">
                    <a:lumMod val="75000"/>
                    <a:lumOff val="25000"/>
                  </a:schemeClr>
                </a:solidFill>
                <a:latin typeface="+mj-lt"/>
                <a:ea typeface="+mj-ea"/>
                <a:cs typeface="+mj-cs"/>
              </a:defRPr>
            </a:lvl1pPr>
          </a:lstStyle>
          <a:p>
            <a:pPr>
              <a:lnSpc>
                <a:spcPts val="1302"/>
              </a:lnSpc>
            </a:pPr>
            <a:r>
              <a:rPr lang="fr-FR" sz="2500" dirty="0">
                <a:solidFill>
                  <a:schemeClr val="tx1"/>
                </a:solidFill>
                <a:latin typeface="Times New Roman" panose="02020603050405020304" pitchFamily="18" charset="0"/>
                <a:cs typeface="Times New Roman" panose="02020603050405020304" pitchFamily="18" charset="0"/>
              </a:rPr>
              <a:t>Duplications and redirection</a:t>
            </a:r>
          </a:p>
        </p:txBody>
      </p:sp>
    </p:spTree>
    <p:extLst>
      <p:ext uri="{BB962C8B-B14F-4D97-AF65-F5344CB8AC3E}">
        <p14:creationId xmlns:p14="http://schemas.microsoft.com/office/powerpoint/2010/main" val="231814835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r-FR"/>
          </a:p>
        </p:txBody>
      </p:sp>
      <p:pic>
        <p:nvPicPr>
          <p:cNvPr id="4" name="Picture 3"/>
          <p:cNvPicPr>
            <a:picLocks/>
          </p:cNvPicPr>
          <p:nvPr/>
        </p:nvPicPr>
        <p:blipFill>
          <a:blip r:embed="rId2">
            <a:extLst>
              <a:ext uri="{28A0092B-C50C-407E-A947-70E740481C1C}">
                <a14:useLocalDpi xmlns:a14="http://schemas.microsoft.com/office/drawing/2010/main" val="0"/>
              </a:ext>
            </a:extLst>
          </a:blip>
          <a:stretch>
            <a:fillRect/>
          </a:stretch>
        </p:blipFill>
        <p:spPr>
          <a:xfrm>
            <a:off x="0" y="3039"/>
            <a:ext cx="4610100" cy="3454672"/>
          </a:xfrm>
          <a:prstGeom prst="rect">
            <a:avLst/>
          </a:prstGeom>
        </p:spPr>
      </p:pic>
      <p:sp>
        <p:nvSpPr>
          <p:cNvPr id="5" name="TextBox 4"/>
          <p:cNvSpPr txBox="1"/>
          <p:nvPr/>
        </p:nvSpPr>
        <p:spPr>
          <a:xfrm>
            <a:off x="178292" y="752398"/>
            <a:ext cx="2577200" cy="144078"/>
          </a:xfrm>
          <a:prstGeom prst="rect">
            <a:avLst/>
          </a:prstGeom>
          <a:noFill/>
        </p:spPr>
        <p:txBody>
          <a:bodyPr vert="horz" wrap="square" lIns="0" tIns="0" rIns="0" bIns="0" rtlCol="0">
            <a:spAutoFit/>
          </a:bodyPr>
          <a:lstStyle/>
          <a:p>
            <a:pPr>
              <a:lnSpc>
                <a:spcPts val="1202"/>
              </a:lnSpc>
            </a:pPr>
            <a:r>
              <a:rPr lang="en-US" sz="960" dirty="0" smtClean="0">
                <a:solidFill>
                  <a:srgbClr val="D80026"/>
                </a:solidFill>
                <a:latin typeface="Times New Roman"/>
              </a:rPr>
              <a:t> </a:t>
            </a:r>
            <a:r>
              <a:rPr lang="en-US" sz="960" dirty="0">
                <a:solidFill>
                  <a:srgbClr val="D80026"/>
                </a:solidFill>
                <a:latin typeface="Times New Roman"/>
              </a:rPr>
              <a:t>An opening and a duplication.</a:t>
            </a:r>
          </a:p>
        </p:txBody>
      </p:sp>
      <p:sp>
        <p:nvSpPr>
          <p:cNvPr id="6" name="TextBox 5"/>
          <p:cNvSpPr txBox="1"/>
          <p:nvPr/>
        </p:nvSpPr>
        <p:spPr>
          <a:xfrm>
            <a:off x="483934" y="1095326"/>
            <a:ext cx="650819" cy="307777"/>
          </a:xfrm>
          <a:prstGeom prst="rect">
            <a:avLst/>
          </a:prstGeom>
          <a:noFill/>
        </p:spPr>
        <p:txBody>
          <a:bodyPr vert="horz" wrap="none" lIns="0" tIns="0" rIns="0" bIns="0" rtlCol="0">
            <a:spAutoFit/>
          </a:bodyPr>
          <a:lstStyle/>
          <a:p>
            <a:pPr>
              <a:lnSpc>
                <a:spcPts val="1202"/>
              </a:lnSpc>
            </a:pPr>
            <a:r>
              <a:rPr lang="en-US" sz="960" dirty="0" err="1">
                <a:solidFill>
                  <a:srgbClr val="FF0000"/>
                </a:solidFill>
                <a:latin typeface="Times New Roman"/>
              </a:rPr>
              <a:t>Descripteurs</a:t>
            </a:r>
            <a:r>
              <a:rPr lang="en-US" sz="960" dirty="0">
                <a:solidFill>
                  <a:srgbClr val="FF0000"/>
                </a:solidFill>
                <a:latin typeface="Times New Roman"/>
              </a:rPr>
              <a:t> </a:t>
            </a:r>
          </a:p>
          <a:p>
            <a:pPr>
              <a:lnSpc>
                <a:spcPts val="1202"/>
              </a:lnSpc>
            </a:pPr>
            <a:endParaRPr lang="en-US" sz="823" dirty="0"/>
          </a:p>
        </p:txBody>
      </p:sp>
      <p:sp>
        <p:nvSpPr>
          <p:cNvPr id="7" name="TextBox 6"/>
          <p:cNvSpPr txBox="1"/>
          <p:nvPr/>
        </p:nvSpPr>
        <p:spPr>
          <a:xfrm>
            <a:off x="267437" y="1273139"/>
            <a:ext cx="1029128" cy="307777"/>
          </a:xfrm>
          <a:prstGeom prst="rect">
            <a:avLst/>
          </a:prstGeom>
          <a:noFill/>
        </p:spPr>
        <p:txBody>
          <a:bodyPr vert="horz" wrap="none" lIns="0" tIns="0" rIns="0" bIns="0" rtlCol="0">
            <a:spAutoFit/>
          </a:bodyPr>
          <a:lstStyle/>
          <a:p>
            <a:pPr>
              <a:lnSpc>
                <a:spcPts val="1202"/>
              </a:lnSpc>
            </a:pPr>
            <a:r>
              <a:rPr lang="en-US" sz="960">
                <a:solidFill>
                  <a:srgbClr val="FF0000"/>
                </a:solidFill>
                <a:latin typeface="Times New Roman"/>
              </a:rPr>
              <a:t>(d</a:t>
            </a:r>
            <a:r>
              <a:rPr lang="en-US" sz="960">
                <a:solidFill>
                  <a:srgbClr val="FF0000"/>
                </a:solidFill>
                <a:latin typeface="Times New Roman"/>
                <a:cs typeface="Times New Roman"/>
              </a:rPr>
              <a:t>’1 ou 2 processus) </a:t>
            </a:r>
          </a:p>
          <a:p>
            <a:pPr>
              <a:lnSpc>
                <a:spcPts val="1202"/>
              </a:lnSpc>
            </a:pPr>
            <a:endParaRPr lang="en-US" sz="960">
              <a:solidFill>
                <a:srgbClr val="FF0000"/>
              </a:solidFill>
              <a:latin typeface="Times New Roman"/>
            </a:endParaRPr>
          </a:p>
        </p:txBody>
      </p:sp>
      <p:sp>
        <p:nvSpPr>
          <p:cNvPr id="8" name="TextBox 7"/>
          <p:cNvSpPr txBox="1"/>
          <p:nvPr/>
        </p:nvSpPr>
        <p:spPr>
          <a:xfrm>
            <a:off x="458463" y="1933591"/>
            <a:ext cx="1355820" cy="307777"/>
          </a:xfrm>
          <a:prstGeom prst="rect">
            <a:avLst/>
          </a:prstGeom>
          <a:noFill/>
        </p:spPr>
        <p:txBody>
          <a:bodyPr vert="horz" wrap="none" lIns="0" tIns="0" rIns="0" bIns="0" rtlCol="0">
            <a:spAutoFit/>
          </a:bodyPr>
          <a:lstStyle/>
          <a:p>
            <a:pPr defTabSz="915894">
              <a:lnSpc>
                <a:spcPts val="1202"/>
              </a:lnSpc>
              <a:tabLst>
                <a:tab pos="801407" algn="l"/>
              </a:tabLst>
            </a:pPr>
            <a:r>
              <a:rPr lang="en-US" sz="960">
                <a:solidFill>
                  <a:srgbClr val="000000"/>
                </a:solidFill>
                <a:latin typeface="Arial Unicode MS"/>
              </a:rPr>
              <a:t>··· </a:t>
            </a:r>
            <a:r>
              <a:rPr lang="en-US" sz="960">
                <a:solidFill>
                  <a:srgbClr val="000000"/>
                </a:solidFill>
                <a:latin typeface="Times New Roman"/>
              </a:rPr>
              <a:t>	O_RDWR </a:t>
            </a:r>
          </a:p>
          <a:p>
            <a:pPr defTabSz="915894">
              <a:lnSpc>
                <a:spcPts val="1202"/>
              </a:lnSpc>
              <a:tabLst>
                <a:tab pos="801407" algn="l"/>
              </a:tabLst>
            </a:pPr>
            <a:endParaRPr lang="en-US" sz="960">
              <a:solidFill>
                <a:srgbClr val="000000"/>
              </a:solidFill>
              <a:latin typeface="Arial Unicode MS"/>
            </a:endParaRPr>
          </a:p>
        </p:txBody>
      </p:sp>
      <p:sp>
        <p:nvSpPr>
          <p:cNvPr id="9" name="TextBox 8"/>
          <p:cNvSpPr txBox="1"/>
          <p:nvPr/>
        </p:nvSpPr>
        <p:spPr>
          <a:xfrm>
            <a:off x="1910262" y="1196934"/>
            <a:ext cx="262892" cy="307777"/>
          </a:xfrm>
          <a:prstGeom prst="rect">
            <a:avLst/>
          </a:prstGeom>
          <a:noFill/>
        </p:spPr>
        <p:txBody>
          <a:bodyPr vert="horz" wrap="none" lIns="0" tIns="0" rIns="0" bIns="0" rtlCol="0">
            <a:spAutoFit/>
          </a:bodyPr>
          <a:lstStyle/>
          <a:p>
            <a:pPr>
              <a:lnSpc>
                <a:spcPts val="1202"/>
              </a:lnSpc>
            </a:pPr>
            <a:r>
              <a:rPr lang="en-US" sz="960">
                <a:solidFill>
                  <a:srgbClr val="0000CC"/>
                </a:solidFill>
                <a:latin typeface="Times New Roman"/>
              </a:rPr>
              <a:t>TFO </a:t>
            </a:r>
          </a:p>
          <a:p>
            <a:pPr>
              <a:lnSpc>
                <a:spcPts val="1202"/>
              </a:lnSpc>
            </a:pPr>
            <a:endParaRPr lang="en-US" sz="823"/>
          </a:p>
        </p:txBody>
      </p:sp>
      <p:sp>
        <p:nvSpPr>
          <p:cNvPr id="10" name="TextBox 9"/>
          <p:cNvSpPr txBox="1"/>
          <p:nvPr/>
        </p:nvSpPr>
        <p:spPr>
          <a:xfrm>
            <a:off x="3298388" y="1120728"/>
            <a:ext cx="788677" cy="307777"/>
          </a:xfrm>
          <a:prstGeom prst="rect">
            <a:avLst/>
          </a:prstGeom>
          <a:noFill/>
        </p:spPr>
        <p:txBody>
          <a:bodyPr vert="horz" wrap="none" lIns="0" tIns="0" rIns="0" bIns="0" rtlCol="0">
            <a:spAutoFit/>
          </a:bodyPr>
          <a:lstStyle/>
          <a:p>
            <a:pPr>
              <a:lnSpc>
                <a:spcPts val="1202"/>
              </a:lnSpc>
            </a:pPr>
            <a:r>
              <a:rPr lang="en-US" sz="960" dirty="0">
                <a:solidFill>
                  <a:srgbClr val="00A565"/>
                </a:solidFill>
                <a:latin typeface="Times New Roman"/>
              </a:rPr>
              <a:t>Table </a:t>
            </a:r>
            <a:r>
              <a:rPr lang="en-US" sz="960" dirty="0" err="1" smtClean="0">
                <a:solidFill>
                  <a:srgbClr val="00A565"/>
                </a:solidFill>
                <a:latin typeface="Times New Roman"/>
              </a:rPr>
              <a:t>i-noeuds</a:t>
            </a:r>
            <a:r>
              <a:rPr lang="en-US" sz="960" dirty="0" smtClean="0">
                <a:solidFill>
                  <a:srgbClr val="00A565"/>
                </a:solidFill>
                <a:latin typeface="Times New Roman"/>
              </a:rPr>
              <a:t> </a:t>
            </a:r>
            <a:endParaRPr lang="en-US" sz="960" dirty="0">
              <a:solidFill>
                <a:srgbClr val="00A565"/>
              </a:solidFill>
              <a:latin typeface="Times New Roman"/>
            </a:endParaRPr>
          </a:p>
          <a:p>
            <a:pPr>
              <a:lnSpc>
                <a:spcPts val="1202"/>
              </a:lnSpc>
            </a:pPr>
            <a:endParaRPr lang="en-US" sz="823" dirty="0"/>
          </a:p>
        </p:txBody>
      </p:sp>
      <p:sp>
        <p:nvSpPr>
          <p:cNvPr id="11" name="TextBox 10"/>
          <p:cNvSpPr txBox="1"/>
          <p:nvPr/>
        </p:nvSpPr>
        <p:spPr>
          <a:xfrm>
            <a:off x="3616764" y="1552561"/>
            <a:ext cx="376706" cy="307777"/>
          </a:xfrm>
          <a:prstGeom prst="rect">
            <a:avLst/>
          </a:prstGeom>
          <a:noFill/>
        </p:spPr>
        <p:txBody>
          <a:bodyPr vert="horz" wrap="none" lIns="0" tIns="0" rIns="0" bIns="0" rtlCol="0">
            <a:spAutoFit/>
          </a:bodyPr>
          <a:lstStyle/>
          <a:p>
            <a:pPr>
              <a:lnSpc>
                <a:spcPts val="1202"/>
              </a:lnSpc>
            </a:pPr>
            <a:r>
              <a:rPr lang="en-US" sz="960">
                <a:solidFill>
                  <a:srgbClr val="000000"/>
                </a:solidFill>
                <a:latin typeface="Times New Roman"/>
              </a:rPr>
              <a:t>i-n</a:t>
            </a:r>
            <a:r>
              <a:rPr lang="en-US" sz="960">
                <a:solidFill>
                  <a:srgbClr val="000000"/>
                </a:solidFill>
                <a:latin typeface="Times New Roman"/>
                <a:cs typeface="Times New Roman"/>
              </a:rPr>
              <a:t>œud </a:t>
            </a:r>
          </a:p>
          <a:p>
            <a:pPr>
              <a:lnSpc>
                <a:spcPts val="1202"/>
              </a:lnSpc>
            </a:pPr>
            <a:endParaRPr lang="en-US" sz="960">
              <a:solidFill>
                <a:srgbClr val="000000"/>
              </a:solidFill>
              <a:latin typeface="Times New Roman"/>
            </a:endParaRPr>
          </a:p>
        </p:txBody>
      </p:sp>
      <p:sp>
        <p:nvSpPr>
          <p:cNvPr id="12" name="TextBox 11"/>
          <p:cNvSpPr txBox="1"/>
          <p:nvPr/>
        </p:nvSpPr>
        <p:spPr>
          <a:xfrm>
            <a:off x="3413003" y="1717675"/>
            <a:ext cx="713337" cy="307777"/>
          </a:xfrm>
          <a:prstGeom prst="rect">
            <a:avLst/>
          </a:prstGeom>
          <a:noFill/>
        </p:spPr>
        <p:txBody>
          <a:bodyPr vert="horz" wrap="none" lIns="0" tIns="0" rIns="0" bIns="0" rtlCol="0">
            <a:spAutoFit/>
          </a:bodyPr>
          <a:lstStyle/>
          <a:p>
            <a:pPr>
              <a:lnSpc>
                <a:spcPts val="1202"/>
              </a:lnSpc>
            </a:pPr>
            <a:r>
              <a:rPr lang="en-US" sz="960">
                <a:solidFill>
                  <a:srgbClr val="000000"/>
                </a:solidFill>
                <a:latin typeface="Times New Roman"/>
              </a:rPr>
              <a:t>en mémoire + </a:t>
            </a:r>
          </a:p>
          <a:p>
            <a:pPr>
              <a:lnSpc>
                <a:spcPts val="1202"/>
              </a:lnSpc>
            </a:pPr>
            <a:endParaRPr lang="en-US" sz="823"/>
          </a:p>
        </p:txBody>
      </p:sp>
      <p:sp>
        <p:nvSpPr>
          <p:cNvPr id="13" name="TextBox 12"/>
          <p:cNvSpPr txBox="1"/>
          <p:nvPr/>
        </p:nvSpPr>
        <p:spPr>
          <a:xfrm>
            <a:off x="3718644" y="1895489"/>
            <a:ext cx="206788" cy="307777"/>
          </a:xfrm>
          <a:prstGeom prst="rect">
            <a:avLst/>
          </a:prstGeom>
          <a:noFill/>
        </p:spPr>
        <p:txBody>
          <a:bodyPr vert="horz" wrap="none" lIns="0" tIns="0" rIns="0" bIns="0" rtlCol="0">
            <a:spAutoFit/>
          </a:bodyPr>
          <a:lstStyle/>
          <a:p>
            <a:pPr>
              <a:lnSpc>
                <a:spcPts val="1202"/>
              </a:lnSpc>
            </a:pPr>
            <a:r>
              <a:rPr lang="en-US" sz="960">
                <a:solidFill>
                  <a:srgbClr val="00A565"/>
                </a:solidFill>
                <a:latin typeface="Times New Roman"/>
              </a:rPr>
              <a:t>état </a:t>
            </a:r>
          </a:p>
          <a:p>
            <a:pPr>
              <a:lnSpc>
                <a:spcPts val="1202"/>
              </a:lnSpc>
            </a:pPr>
            <a:endParaRPr lang="en-US" sz="823"/>
          </a:p>
        </p:txBody>
      </p:sp>
      <p:sp>
        <p:nvSpPr>
          <p:cNvPr id="14" name="TextBox 13"/>
          <p:cNvSpPr txBox="1"/>
          <p:nvPr/>
        </p:nvSpPr>
        <p:spPr>
          <a:xfrm>
            <a:off x="1260773" y="2022499"/>
            <a:ext cx="525785" cy="147733"/>
          </a:xfrm>
          <a:prstGeom prst="rect">
            <a:avLst/>
          </a:prstGeom>
          <a:noFill/>
        </p:spPr>
        <p:txBody>
          <a:bodyPr vert="horz" wrap="none" lIns="0" tIns="0" rIns="0" bIns="0" rtlCol="0">
            <a:spAutoFit/>
          </a:bodyPr>
          <a:lstStyle/>
          <a:p>
            <a:r>
              <a:rPr lang="en-US" sz="960">
                <a:solidFill>
                  <a:srgbClr val="000000"/>
                </a:solidFill>
                <a:latin typeface="Times New Roman"/>
              </a:rPr>
              <a:t>nb desc :</a:t>
            </a:r>
            <a:r>
              <a:rPr lang="en-US" sz="960">
                <a:solidFill>
                  <a:srgbClr val="D80026"/>
                </a:solidFill>
                <a:latin typeface="Times New Roman"/>
              </a:rPr>
              <a:t> 2</a:t>
            </a:r>
          </a:p>
        </p:txBody>
      </p:sp>
      <p:sp>
        <p:nvSpPr>
          <p:cNvPr id="15" name="TextBox 14"/>
          <p:cNvSpPr txBox="1"/>
          <p:nvPr/>
        </p:nvSpPr>
        <p:spPr>
          <a:xfrm>
            <a:off x="2075819" y="2022499"/>
            <a:ext cx="679673" cy="147733"/>
          </a:xfrm>
          <a:prstGeom prst="rect">
            <a:avLst/>
          </a:prstGeom>
          <a:noFill/>
        </p:spPr>
        <p:txBody>
          <a:bodyPr vert="horz" wrap="none" lIns="0" tIns="0" rIns="0" bIns="0" rtlCol="0">
            <a:spAutoFit/>
          </a:bodyPr>
          <a:lstStyle/>
          <a:p>
            <a:r>
              <a:rPr lang="en-US" sz="960">
                <a:solidFill>
                  <a:srgbClr val="000000"/>
                </a:solidFill>
                <a:latin typeface="Times New Roman"/>
              </a:rPr>
              <a:t>offset : 54321</a:t>
            </a:r>
          </a:p>
        </p:txBody>
      </p:sp>
      <p:sp>
        <p:nvSpPr>
          <p:cNvPr id="16" name="TextBox 15"/>
          <p:cNvSpPr txBox="1"/>
          <p:nvPr/>
        </p:nvSpPr>
        <p:spPr>
          <a:xfrm>
            <a:off x="3336592" y="2073303"/>
            <a:ext cx="825547" cy="147733"/>
          </a:xfrm>
          <a:prstGeom prst="rect">
            <a:avLst/>
          </a:prstGeom>
          <a:noFill/>
        </p:spPr>
        <p:txBody>
          <a:bodyPr vert="horz" wrap="none" lIns="0" tIns="0" rIns="0" bIns="0" rtlCol="0">
            <a:spAutoFit/>
          </a:bodyPr>
          <a:lstStyle/>
          <a:p>
            <a:r>
              <a:rPr lang="en-US" sz="960">
                <a:solidFill>
                  <a:srgbClr val="00A565"/>
                </a:solidFill>
                <a:latin typeface="Times New Roman"/>
              </a:rPr>
              <a:t>nb ouvertures</a:t>
            </a:r>
            <a:r>
              <a:rPr lang="en-US" sz="960">
                <a:solidFill>
                  <a:srgbClr val="000000"/>
                </a:solidFill>
                <a:latin typeface="Times New Roman"/>
              </a:rPr>
              <a:t> :</a:t>
            </a:r>
            <a:r>
              <a:rPr lang="en-US" sz="960">
                <a:solidFill>
                  <a:srgbClr val="D80026"/>
                </a:solidFill>
                <a:latin typeface="Times New Roman"/>
              </a:rPr>
              <a:t> 1</a:t>
            </a:r>
          </a:p>
        </p:txBody>
      </p:sp>
      <p:sp>
        <p:nvSpPr>
          <p:cNvPr id="17" name="TextBox 16"/>
          <p:cNvSpPr txBox="1"/>
          <p:nvPr/>
        </p:nvSpPr>
        <p:spPr>
          <a:xfrm>
            <a:off x="458463" y="2441632"/>
            <a:ext cx="134652" cy="307777"/>
          </a:xfrm>
          <a:prstGeom prst="rect">
            <a:avLst/>
          </a:prstGeom>
          <a:noFill/>
        </p:spPr>
        <p:txBody>
          <a:bodyPr vert="horz" wrap="none" lIns="0" tIns="0" rIns="0" bIns="0" rtlCol="0">
            <a:spAutoFit/>
          </a:bodyPr>
          <a:lstStyle/>
          <a:p>
            <a:pPr>
              <a:lnSpc>
                <a:spcPts val="1202"/>
              </a:lnSpc>
            </a:pPr>
            <a:r>
              <a:rPr lang="en-US" sz="960">
                <a:solidFill>
                  <a:srgbClr val="000000"/>
                </a:solidFill>
                <a:latin typeface="Arial Unicode MS"/>
              </a:rPr>
              <a:t>··· </a:t>
            </a:r>
          </a:p>
          <a:p>
            <a:pPr>
              <a:lnSpc>
                <a:spcPts val="1202"/>
              </a:lnSpc>
            </a:pPr>
            <a:endParaRPr lang="en-US" sz="823"/>
          </a:p>
        </p:txBody>
      </p:sp>
      <p:sp>
        <p:nvSpPr>
          <p:cNvPr id="18" name="Title 1"/>
          <p:cNvSpPr txBox="1">
            <a:spLocks/>
          </p:cNvSpPr>
          <p:nvPr/>
        </p:nvSpPr>
        <p:spPr>
          <a:xfrm>
            <a:off x="458463" y="-1340"/>
            <a:ext cx="3803333" cy="732095"/>
          </a:xfrm>
          <a:prstGeom prst="rect">
            <a:avLst/>
          </a:prstGeom>
        </p:spPr>
        <p:txBody>
          <a:bodyPr vert="horz" lIns="91440" tIns="45720" rIns="91440" bIns="45720" rtlCol="0" anchor="b">
            <a:normAutofit/>
          </a:bodyPr>
          <a:lstStyle>
            <a:lvl1pPr algn="l" defTabSz="461040" rtl="0" eaLnBrk="1" latinLnBrk="0" hangingPunct="1">
              <a:lnSpc>
                <a:spcPct val="85000"/>
              </a:lnSpc>
              <a:spcBef>
                <a:spcPct val="0"/>
              </a:spcBef>
              <a:buNone/>
              <a:defRPr sz="2420" kern="1200" spc="-25" baseline="0">
                <a:solidFill>
                  <a:schemeClr val="tx1">
                    <a:lumMod val="75000"/>
                    <a:lumOff val="25000"/>
                  </a:schemeClr>
                </a:solidFill>
                <a:latin typeface="+mj-lt"/>
                <a:ea typeface="+mj-ea"/>
                <a:cs typeface="+mj-cs"/>
              </a:defRPr>
            </a:lvl1pPr>
          </a:lstStyle>
          <a:p>
            <a:pPr>
              <a:lnSpc>
                <a:spcPts val="1302"/>
              </a:lnSpc>
            </a:pPr>
            <a:r>
              <a:rPr lang="fr-FR" sz="2500" dirty="0">
                <a:solidFill>
                  <a:schemeClr val="tx1"/>
                </a:solidFill>
                <a:latin typeface="Times New Roman" panose="02020603050405020304" pitchFamily="18" charset="0"/>
                <a:cs typeface="Times New Roman" panose="02020603050405020304" pitchFamily="18" charset="0"/>
              </a:rPr>
              <a:t>Duplications and redirection</a:t>
            </a:r>
          </a:p>
        </p:txBody>
      </p:sp>
    </p:spTree>
    <p:extLst>
      <p:ext uri="{BB962C8B-B14F-4D97-AF65-F5344CB8AC3E}">
        <p14:creationId xmlns:p14="http://schemas.microsoft.com/office/powerpoint/2010/main" val="1699724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itchFamily="18" charset="0"/>
                <a:cs typeface="Times New Roman" pitchFamily="18" charset="0"/>
              </a:rPr>
              <a:t>S</a:t>
            </a:r>
            <a:r>
              <a:rPr lang="en-US" sz="2800" dirty="0" smtClean="0">
                <a:latin typeface="Times New Roman" pitchFamily="18" charset="0"/>
                <a:cs typeface="Times New Roman" pitchFamily="18" charset="0"/>
              </a:rPr>
              <a:t>ysteme call : dup </a:t>
            </a:r>
            <a:endParaRPr lang="fr-FR"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sz="1050" b="1" dirty="0" smtClean="0">
                <a:solidFill>
                  <a:srgbClr val="9866CC"/>
                </a:solidFill>
                <a:latin typeface="Courier New" panose="02070309020205020404" pitchFamily="49" charset="0"/>
                <a:ea typeface="Arial Unicode MS"/>
                <a:cs typeface="Courier New" panose="02070309020205020404" pitchFamily="49" charset="0"/>
              </a:rPr>
              <a:t> </a:t>
            </a:r>
            <a:r>
              <a:rPr lang="en-US" sz="1050" b="1" dirty="0" err="1">
                <a:solidFill>
                  <a:srgbClr val="9866CC"/>
                </a:solidFill>
                <a:latin typeface="Courier New" panose="02070309020205020404" pitchFamily="49" charset="0"/>
                <a:ea typeface="Arial Unicode MS"/>
                <a:cs typeface="Courier New" panose="02070309020205020404" pitchFamily="49" charset="0"/>
              </a:rPr>
              <a:t>int</a:t>
            </a:r>
            <a:r>
              <a:rPr lang="en-US" sz="1050" b="1" dirty="0">
                <a:solidFill>
                  <a:srgbClr val="9866CC"/>
                </a:solidFill>
                <a:latin typeface="Courier New" panose="02070309020205020404" pitchFamily="49" charset="0"/>
                <a:ea typeface="Arial Unicode MS"/>
                <a:cs typeface="Courier New" panose="02070309020205020404" pitchFamily="49" charset="0"/>
              </a:rPr>
              <a:t>  dup(</a:t>
            </a:r>
            <a:r>
              <a:rPr lang="en-US" sz="1050" b="1" dirty="0" err="1">
                <a:solidFill>
                  <a:srgbClr val="9866CC"/>
                </a:solidFill>
                <a:latin typeface="Courier New" panose="02070309020205020404" pitchFamily="49" charset="0"/>
                <a:ea typeface="Arial Unicode MS"/>
                <a:cs typeface="Courier New" panose="02070309020205020404" pitchFamily="49" charset="0"/>
              </a:rPr>
              <a:t>int</a:t>
            </a:r>
            <a:r>
              <a:rPr lang="en-US" sz="1050" b="1" dirty="0">
                <a:solidFill>
                  <a:srgbClr val="9866CC"/>
                </a:solidFill>
                <a:latin typeface="Courier New" panose="02070309020205020404" pitchFamily="49" charset="0"/>
                <a:ea typeface="Arial Unicode MS"/>
                <a:cs typeface="Courier New" panose="02070309020205020404" pitchFamily="49" charset="0"/>
              </a:rPr>
              <a:t>  </a:t>
            </a:r>
            <a:r>
              <a:rPr lang="en-US" sz="1050" b="1" dirty="0" err="1">
                <a:solidFill>
                  <a:srgbClr val="9866CC"/>
                </a:solidFill>
                <a:latin typeface="Courier New" panose="02070309020205020404" pitchFamily="49" charset="0"/>
                <a:ea typeface="Arial Unicode MS"/>
                <a:cs typeface="Courier New" panose="02070309020205020404" pitchFamily="49" charset="0"/>
              </a:rPr>
              <a:t>oldfd</a:t>
            </a:r>
            <a:r>
              <a:rPr lang="en-US" sz="1050" b="1" dirty="0" smtClean="0">
                <a:solidFill>
                  <a:srgbClr val="9866CC"/>
                </a:solidFill>
                <a:latin typeface="Courier New" panose="02070309020205020404" pitchFamily="49" charset="0"/>
                <a:ea typeface="Arial Unicode MS"/>
                <a:cs typeface="Courier New" panose="02070309020205020404" pitchFamily="49" charset="0"/>
              </a:rPr>
              <a:t>);</a:t>
            </a:r>
          </a:p>
          <a:p>
            <a:pPr>
              <a:buFont typeface="Wingdings" panose="05000000000000000000" pitchFamily="2" charset="2"/>
              <a:buChar char="Ø"/>
            </a:pPr>
            <a:r>
              <a:rPr lang="fr-FR" sz="1050" dirty="0" smtClean="0">
                <a:solidFill>
                  <a:srgbClr val="191919"/>
                </a:solidFill>
                <a:latin typeface="Times New Roman" pitchFamily="18" charset="0"/>
                <a:ea typeface="Arial Unicode MS"/>
                <a:cs typeface="Times New Roman" pitchFamily="18" charset="0"/>
              </a:rPr>
              <a:t> </a:t>
            </a:r>
            <a:r>
              <a:rPr lang="en-US" sz="1050" dirty="0">
                <a:solidFill>
                  <a:srgbClr val="191919"/>
                </a:solidFill>
                <a:latin typeface="Times New Roman" pitchFamily="18" charset="0"/>
                <a:ea typeface="Arial Unicode MS"/>
                <a:cs typeface="Times New Roman" pitchFamily="18" charset="0"/>
              </a:rPr>
              <a:t>duplicate a valid file descriptor</a:t>
            </a:r>
          </a:p>
          <a:p>
            <a:pPr>
              <a:buFont typeface="Wingdings" panose="05000000000000000000" pitchFamily="2" charset="2"/>
              <a:buChar char="Ø"/>
            </a:pPr>
            <a:r>
              <a:rPr lang="en-US" sz="1050" dirty="0">
                <a:solidFill>
                  <a:srgbClr val="191919"/>
                </a:solidFill>
                <a:latin typeface="Times New Roman" pitchFamily="18" charset="0"/>
                <a:ea typeface="Arial Unicode MS"/>
                <a:cs typeface="Times New Roman" pitchFamily="18" charset="0"/>
              </a:rPr>
              <a:t> the copy receives the smallest descriptor number available</a:t>
            </a:r>
          </a:p>
          <a:p>
            <a:pPr>
              <a:buFont typeface="Wingdings" panose="05000000000000000000" pitchFamily="2" charset="2"/>
              <a:buChar char="Ø"/>
            </a:pPr>
            <a:r>
              <a:rPr lang="en-US" sz="1050" dirty="0">
                <a:solidFill>
                  <a:srgbClr val="191919"/>
                </a:solidFill>
                <a:latin typeface="Times New Roman" pitchFamily="18" charset="0"/>
                <a:ea typeface="Arial Unicode MS"/>
                <a:cs typeface="Times New Roman" pitchFamily="18" charset="0"/>
              </a:rPr>
              <a:t> painful when you want a specific number</a:t>
            </a:r>
            <a:r>
              <a:rPr lang="fr-FR" sz="1050" dirty="0">
                <a:solidFill>
                  <a:srgbClr val="191919"/>
                </a:solidFill>
                <a:latin typeface="Times New Roman" pitchFamily="18" charset="0"/>
                <a:ea typeface="Arial Unicode MS"/>
                <a:cs typeface="Times New Roman" pitchFamily="18" charset="0"/>
              </a:rPr>
              <a:t/>
            </a:r>
            <a:br>
              <a:rPr lang="fr-FR" sz="1050" dirty="0">
                <a:solidFill>
                  <a:srgbClr val="191919"/>
                </a:solidFill>
                <a:latin typeface="Times New Roman" pitchFamily="18" charset="0"/>
                <a:ea typeface="Arial Unicode MS"/>
                <a:cs typeface="Times New Roman" pitchFamily="18" charset="0"/>
              </a:rPr>
            </a:br>
            <a:endParaRPr lang="fr-FR" sz="1050" dirty="0" smtClean="0">
              <a:solidFill>
                <a:srgbClr val="191919"/>
              </a:solidFill>
              <a:latin typeface="Times New Roman" pitchFamily="18" charset="0"/>
              <a:ea typeface="Arial Unicode MS"/>
              <a:cs typeface="Times New Roman" pitchFamily="18" charset="0"/>
            </a:endParaRPr>
          </a:p>
          <a:p>
            <a:pPr>
              <a:buFont typeface="Wingdings" panose="05000000000000000000" pitchFamily="2" charset="2"/>
              <a:buChar char="Ø"/>
            </a:pPr>
            <a:r>
              <a:rPr lang="fr-FR" sz="1050" dirty="0" smtClean="0">
                <a:solidFill>
                  <a:srgbClr val="191919"/>
                </a:solidFill>
                <a:latin typeface="Times New Roman" pitchFamily="18" charset="0"/>
                <a:ea typeface="Arial Unicode MS"/>
                <a:cs typeface="Times New Roman" pitchFamily="18" charset="0"/>
                <a:sym typeface="Wingdings" panose="05000000000000000000" pitchFamily="2" charset="2"/>
              </a:rPr>
              <a:t>	</a:t>
            </a:r>
            <a:r>
              <a:rPr lang="fr-FR" sz="1050" dirty="0" smtClean="0">
                <a:solidFill>
                  <a:srgbClr val="191919"/>
                </a:solidFill>
                <a:latin typeface="Times New Roman" pitchFamily="18" charset="0"/>
                <a:ea typeface="Arial Unicode MS"/>
                <a:cs typeface="Times New Roman" pitchFamily="18" charset="0"/>
              </a:rPr>
              <a:t> </a:t>
            </a:r>
            <a:r>
              <a:rPr lang="fr-FR" sz="1050" dirty="0" err="1">
                <a:solidFill>
                  <a:srgbClr val="FF0000"/>
                </a:solidFill>
                <a:latin typeface="Times New Roman" pitchFamily="18" charset="0"/>
                <a:ea typeface="Arial Unicode MS"/>
                <a:cs typeface="Times New Roman" pitchFamily="18" charset="0"/>
              </a:rPr>
              <a:t>deprecated</a:t>
            </a:r>
            <a:r>
              <a:rPr lang="fr-FR" sz="1050" dirty="0" smtClean="0">
                <a:solidFill>
                  <a:srgbClr val="191919"/>
                </a:solidFill>
                <a:latin typeface="Times New Roman" pitchFamily="18" charset="0"/>
                <a:ea typeface="Arial Unicode MS"/>
                <a:cs typeface="Times New Roman" pitchFamily="18" charset="0"/>
              </a:rPr>
              <a:t>!!</a:t>
            </a:r>
            <a:endParaRPr lang="en-US" sz="1050" b="1" dirty="0">
              <a:solidFill>
                <a:srgbClr val="9866CC"/>
              </a:solidFill>
              <a:latin typeface="Times New Roman" pitchFamily="18" charset="0"/>
              <a:ea typeface="Arial Unicode MS"/>
              <a:cs typeface="Times New Roman" pitchFamily="18" charset="0"/>
            </a:endParaRPr>
          </a:p>
          <a:p>
            <a:pPr>
              <a:buFont typeface="Wingdings" panose="05000000000000000000" pitchFamily="2" charset="2"/>
              <a:buChar char="Ø"/>
            </a:pPr>
            <a:endParaRPr lang="fr-FR" dirty="0"/>
          </a:p>
        </p:txBody>
      </p:sp>
    </p:spTree>
    <p:extLst>
      <p:ext uri="{BB962C8B-B14F-4D97-AF65-F5344CB8AC3E}">
        <p14:creationId xmlns:p14="http://schemas.microsoft.com/office/powerpoint/2010/main" val="46490972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latin typeface="Times New Roman" pitchFamily="18" charset="0"/>
                <a:cs typeface="Times New Roman" pitchFamily="18" charset="0"/>
              </a:rPr>
              <a:t>S</a:t>
            </a:r>
            <a:r>
              <a:rPr lang="en-US" sz="2800" dirty="0" smtClean="0">
                <a:latin typeface="Times New Roman" pitchFamily="18" charset="0"/>
                <a:cs typeface="Times New Roman" pitchFamily="18" charset="0"/>
              </a:rPr>
              <a:t>ystem call: </a:t>
            </a:r>
            <a:r>
              <a:rPr lang="en-US" sz="2800" dirty="0">
                <a:latin typeface="Times New Roman" pitchFamily="18" charset="0"/>
                <a:cs typeface="Times New Roman" pitchFamily="18" charset="0"/>
              </a:rPr>
              <a:t>dup2</a:t>
            </a:r>
            <a:endParaRPr lang="fr-FR"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en-US" sz="800" b="1" dirty="0" err="1" smtClean="0">
                <a:solidFill>
                  <a:srgbClr val="9866CC"/>
                </a:solidFill>
                <a:latin typeface="Courier New" panose="02070309020205020404" pitchFamily="49" charset="0"/>
                <a:ea typeface="Arial Unicode MS"/>
                <a:cs typeface="Courier New" panose="02070309020205020404" pitchFamily="49" charset="0"/>
              </a:rPr>
              <a:t>int</a:t>
            </a:r>
            <a:r>
              <a:rPr lang="en-US" sz="800" b="1" dirty="0">
                <a:solidFill>
                  <a:srgbClr val="9866CC"/>
                </a:solidFill>
                <a:latin typeface="Courier New" panose="02070309020205020404" pitchFamily="49" charset="0"/>
                <a:ea typeface="Arial Unicode MS"/>
                <a:cs typeface="Courier New" panose="02070309020205020404" pitchFamily="49" charset="0"/>
              </a:rPr>
              <a:t>  dup2(</a:t>
            </a:r>
            <a:r>
              <a:rPr lang="en-US" sz="800" b="1" dirty="0" err="1">
                <a:solidFill>
                  <a:srgbClr val="9866CC"/>
                </a:solidFill>
                <a:latin typeface="Courier New" panose="02070309020205020404" pitchFamily="49" charset="0"/>
                <a:ea typeface="Arial Unicode MS"/>
                <a:cs typeface="Courier New" panose="02070309020205020404" pitchFamily="49" charset="0"/>
              </a:rPr>
              <a:t>int</a:t>
            </a:r>
            <a:r>
              <a:rPr lang="en-US" sz="800" b="1" dirty="0">
                <a:solidFill>
                  <a:srgbClr val="9866CC"/>
                </a:solidFill>
                <a:latin typeface="Courier New" panose="02070309020205020404" pitchFamily="49" charset="0"/>
                <a:ea typeface="Arial Unicode MS"/>
                <a:cs typeface="Courier New" panose="02070309020205020404" pitchFamily="49" charset="0"/>
              </a:rPr>
              <a:t>  </a:t>
            </a:r>
            <a:r>
              <a:rPr lang="en-US" sz="800" b="1" dirty="0" err="1">
                <a:solidFill>
                  <a:srgbClr val="9866CC"/>
                </a:solidFill>
                <a:latin typeface="Courier New" panose="02070309020205020404" pitchFamily="49" charset="0"/>
                <a:ea typeface="Arial Unicode MS"/>
                <a:cs typeface="Courier New" panose="02070309020205020404" pitchFamily="49" charset="0"/>
              </a:rPr>
              <a:t>oldfd</a:t>
            </a:r>
            <a:r>
              <a:rPr lang="en-US" sz="800" b="1" dirty="0">
                <a:solidFill>
                  <a:srgbClr val="9866CC"/>
                </a:solidFill>
                <a:latin typeface="Courier New" panose="02070309020205020404" pitchFamily="49" charset="0"/>
                <a:ea typeface="Arial Unicode MS"/>
                <a:cs typeface="Courier New" panose="02070309020205020404" pitchFamily="49" charset="0"/>
              </a:rPr>
              <a:t>,  </a:t>
            </a:r>
            <a:r>
              <a:rPr lang="en-US" sz="800" b="1" dirty="0" err="1">
                <a:solidFill>
                  <a:srgbClr val="9866CC"/>
                </a:solidFill>
                <a:latin typeface="Courier New" panose="02070309020205020404" pitchFamily="49" charset="0"/>
                <a:ea typeface="Arial Unicode MS"/>
                <a:cs typeface="Courier New" panose="02070309020205020404" pitchFamily="49" charset="0"/>
              </a:rPr>
              <a:t>int</a:t>
            </a:r>
            <a:r>
              <a:rPr lang="en-US" sz="800" b="1" dirty="0">
                <a:solidFill>
                  <a:srgbClr val="9866CC"/>
                </a:solidFill>
                <a:latin typeface="Courier New" panose="02070309020205020404" pitchFamily="49" charset="0"/>
                <a:ea typeface="Arial Unicode MS"/>
                <a:cs typeface="Courier New" panose="02070309020205020404" pitchFamily="49" charset="0"/>
              </a:rPr>
              <a:t>  </a:t>
            </a:r>
            <a:r>
              <a:rPr lang="en-US" sz="800" b="1" dirty="0" err="1">
                <a:solidFill>
                  <a:srgbClr val="9866CC"/>
                </a:solidFill>
                <a:latin typeface="Courier New" panose="02070309020205020404" pitchFamily="49" charset="0"/>
                <a:ea typeface="Arial Unicode MS"/>
                <a:cs typeface="Courier New" panose="02070309020205020404" pitchFamily="49" charset="0"/>
              </a:rPr>
              <a:t>newfd</a:t>
            </a:r>
            <a:r>
              <a:rPr lang="en-US" sz="800" b="1" dirty="0">
                <a:solidFill>
                  <a:srgbClr val="9866CC"/>
                </a:solidFill>
                <a:latin typeface="Courier New" panose="02070309020205020404" pitchFamily="49" charset="0"/>
                <a:ea typeface="Arial Unicode MS"/>
                <a:cs typeface="Courier New" panose="02070309020205020404" pitchFamily="49" charset="0"/>
              </a:rPr>
              <a:t>); </a:t>
            </a:r>
            <a:endParaRPr lang="en-US" sz="800" b="1" dirty="0" smtClean="0">
              <a:solidFill>
                <a:srgbClr val="9866CC"/>
              </a:solidFill>
              <a:latin typeface="Courier New" panose="02070309020205020404" pitchFamily="49" charset="0"/>
              <a:ea typeface="Arial Unicode MS"/>
              <a:cs typeface="Courier New" panose="02070309020205020404" pitchFamily="49" charset="0"/>
            </a:endParaRPr>
          </a:p>
          <a:p>
            <a:pPr>
              <a:lnSpc>
                <a:spcPct val="120000"/>
              </a:lnSpc>
              <a:spcBef>
                <a:spcPts val="0"/>
              </a:spcBef>
              <a:buFont typeface="Wingdings" panose="05000000000000000000" pitchFamily="2" charset="2"/>
              <a:buChar char="Ø"/>
            </a:pPr>
            <a:r>
              <a:rPr lang="en-US" sz="800" dirty="0">
                <a:solidFill>
                  <a:srgbClr val="000000"/>
                </a:solidFill>
                <a:latin typeface="Times New Roman" panose="02020603050405020304" pitchFamily="18" charset="0"/>
                <a:cs typeface="Times New Roman" panose="02020603050405020304" pitchFamily="18" charset="0"/>
              </a:rPr>
              <a:t>duplicate a valid file descriptor</a:t>
            </a:r>
          </a:p>
          <a:p>
            <a:pPr>
              <a:lnSpc>
                <a:spcPct val="120000"/>
              </a:lnSpc>
              <a:spcBef>
                <a:spcPts val="0"/>
              </a:spcBef>
              <a:buFont typeface="Wingdings" panose="05000000000000000000" pitchFamily="2" charset="2"/>
              <a:buChar char="Ø"/>
            </a:pPr>
            <a:r>
              <a:rPr lang="en-US" sz="800" dirty="0">
                <a:solidFill>
                  <a:srgbClr val="000000"/>
                </a:solidFill>
                <a:latin typeface="Times New Roman" panose="02020603050405020304" pitchFamily="18" charset="0"/>
                <a:cs typeface="Times New Roman" panose="02020603050405020304" pitchFamily="18" charset="0"/>
              </a:rPr>
              <a:t> the copy receives the </a:t>
            </a:r>
            <a:r>
              <a:rPr lang="en-US" sz="800" dirty="0" err="1">
                <a:solidFill>
                  <a:srgbClr val="000000"/>
                </a:solidFill>
                <a:latin typeface="Times New Roman" panose="02020603050405020304" pitchFamily="18" charset="0"/>
                <a:cs typeface="Times New Roman" panose="02020603050405020304" pitchFamily="18" charset="0"/>
              </a:rPr>
              <a:t>newfd</a:t>
            </a:r>
            <a:r>
              <a:rPr lang="en-US" sz="800" dirty="0">
                <a:solidFill>
                  <a:srgbClr val="000000"/>
                </a:solidFill>
                <a:latin typeface="Times New Roman" panose="02020603050405020304" pitchFamily="18" charset="0"/>
                <a:cs typeface="Times New Roman" panose="02020603050405020304" pitchFamily="18" charset="0"/>
              </a:rPr>
              <a:t> number</a:t>
            </a:r>
          </a:p>
          <a:p>
            <a:pPr>
              <a:lnSpc>
                <a:spcPct val="120000"/>
              </a:lnSpc>
              <a:spcBef>
                <a:spcPts val="0"/>
              </a:spcBef>
              <a:buFont typeface="Wingdings" panose="05000000000000000000" pitchFamily="2" charset="2"/>
              <a:buChar char="Ø"/>
            </a:pPr>
            <a:r>
              <a:rPr lang="en-US" sz="800" dirty="0">
                <a:solidFill>
                  <a:srgbClr val="000000"/>
                </a:solidFill>
                <a:latin typeface="Times New Roman" panose="02020603050405020304" pitchFamily="18" charset="0"/>
                <a:cs typeface="Times New Roman" panose="02020603050405020304" pitchFamily="18" charset="0"/>
              </a:rPr>
              <a:t> if </a:t>
            </a:r>
            <a:r>
              <a:rPr lang="en-US" sz="800" dirty="0" err="1">
                <a:solidFill>
                  <a:srgbClr val="000000"/>
                </a:solidFill>
                <a:latin typeface="Times New Roman" panose="02020603050405020304" pitchFamily="18" charset="0"/>
                <a:cs typeface="Times New Roman" panose="02020603050405020304" pitchFamily="18" charset="0"/>
              </a:rPr>
              <a:t>newfd</a:t>
            </a:r>
            <a:r>
              <a:rPr lang="en-US" sz="800" dirty="0">
                <a:solidFill>
                  <a:srgbClr val="000000"/>
                </a:solidFill>
                <a:latin typeface="Times New Roman" panose="02020603050405020304" pitchFamily="18" charset="0"/>
                <a:cs typeface="Times New Roman" panose="02020603050405020304" pitchFamily="18" charset="0"/>
              </a:rPr>
              <a:t> was open, it is closed automatically</a:t>
            </a:r>
          </a:p>
          <a:p>
            <a:pPr>
              <a:lnSpc>
                <a:spcPct val="120000"/>
              </a:lnSpc>
              <a:spcBef>
                <a:spcPts val="0"/>
              </a:spcBef>
              <a:buFont typeface="Wingdings" panose="05000000000000000000" pitchFamily="2" charset="2"/>
              <a:buChar char="Ø"/>
            </a:pPr>
            <a:r>
              <a:rPr lang="en-US" sz="800" dirty="0">
                <a:solidFill>
                  <a:srgbClr val="000000"/>
                </a:solidFill>
                <a:latin typeface="Times New Roman" panose="02020603050405020304" pitchFamily="18" charset="0"/>
                <a:cs typeface="Times New Roman" panose="02020603050405020304" pitchFamily="18" charset="0"/>
              </a:rPr>
              <a:t> very useful for redirects:</a:t>
            </a:r>
          </a:p>
          <a:p>
            <a:pPr>
              <a:lnSpc>
                <a:spcPct val="120000"/>
              </a:lnSpc>
              <a:spcBef>
                <a:spcPts val="0"/>
              </a:spcBef>
              <a:buFont typeface="Wingdings" panose="05000000000000000000" pitchFamily="2" charset="2"/>
              <a:buChar char="Ø"/>
            </a:pPr>
            <a:r>
              <a:rPr lang="en-US" sz="800" dirty="0" err="1" smtClean="0">
                <a:solidFill>
                  <a:srgbClr val="000000"/>
                </a:solidFill>
                <a:latin typeface="Courier"/>
                <a:cs typeface="Times New Roman" pitchFamily="18" charset="0"/>
              </a:rPr>
              <a:t>int</a:t>
            </a:r>
            <a:r>
              <a:rPr lang="en-US" sz="800" dirty="0" smtClean="0">
                <a:solidFill>
                  <a:srgbClr val="000000"/>
                </a:solidFill>
                <a:latin typeface="Courier"/>
                <a:cs typeface="Times New Roman" pitchFamily="18" charset="0"/>
              </a:rPr>
              <a:t> </a:t>
            </a:r>
            <a:r>
              <a:rPr lang="en-US" sz="800" dirty="0" err="1">
                <a:solidFill>
                  <a:srgbClr val="000000"/>
                </a:solidFill>
                <a:latin typeface="Courier"/>
                <a:cs typeface="Times New Roman" pitchFamily="18" charset="0"/>
              </a:rPr>
              <a:t>fd</a:t>
            </a:r>
            <a:r>
              <a:rPr lang="en-US" sz="800" dirty="0">
                <a:solidFill>
                  <a:srgbClr val="000000"/>
                </a:solidFill>
                <a:latin typeface="Courier"/>
                <a:cs typeface="Times New Roman" pitchFamily="18" charset="0"/>
              </a:rPr>
              <a:t>=open("</a:t>
            </a:r>
            <a:r>
              <a:rPr lang="en-US" sz="800" dirty="0" err="1">
                <a:solidFill>
                  <a:srgbClr val="000000"/>
                </a:solidFill>
                <a:latin typeface="Courier"/>
                <a:cs typeface="Times New Roman" pitchFamily="18" charset="0"/>
              </a:rPr>
              <a:t>toto</a:t>
            </a:r>
            <a:r>
              <a:rPr lang="en-US" sz="800" dirty="0">
                <a:solidFill>
                  <a:srgbClr val="000000"/>
                </a:solidFill>
                <a:latin typeface="Courier"/>
                <a:cs typeface="Times New Roman" pitchFamily="18" charset="0"/>
              </a:rPr>
              <a:t>",O_RDONLY); </a:t>
            </a:r>
            <a:endParaRPr lang="en-US" sz="800" dirty="0" smtClean="0">
              <a:solidFill>
                <a:srgbClr val="000000"/>
              </a:solidFill>
              <a:latin typeface="Courier"/>
              <a:cs typeface="Times New Roman" pitchFamily="18" charset="0"/>
            </a:endParaRPr>
          </a:p>
          <a:p>
            <a:pPr>
              <a:lnSpc>
                <a:spcPct val="120000"/>
              </a:lnSpc>
              <a:spcBef>
                <a:spcPts val="0"/>
              </a:spcBef>
              <a:buFont typeface="Wingdings" panose="05000000000000000000" pitchFamily="2" charset="2"/>
              <a:buChar char="Ø"/>
            </a:pPr>
            <a:r>
              <a:rPr lang="en-US" sz="800" dirty="0">
                <a:solidFill>
                  <a:srgbClr val="000000"/>
                </a:solidFill>
                <a:latin typeface="Courier"/>
                <a:cs typeface="Times New Roman" pitchFamily="18" charset="0"/>
              </a:rPr>
              <a:t>if (</a:t>
            </a:r>
            <a:r>
              <a:rPr lang="en-US" sz="800" dirty="0" err="1">
                <a:solidFill>
                  <a:srgbClr val="000000"/>
                </a:solidFill>
                <a:latin typeface="Courier"/>
                <a:cs typeface="Times New Roman" pitchFamily="18" charset="0"/>
              </a:rPr>
              <a:t>fd</a:t>
            </a:r>
            <a:r>
              <a:rPr lang="en-US" sz="800" dirty="0">
                <a:solidFill>
                  <a:srgbClr val="000000"/>
                </a:solidFill>
                <a:latin typeface="Courier"/>
                <a:cs typeface="Times New Roman" pitchFamily="18" charset="0"/>
              </a:rPr>
              <a:t>!=-1) { </a:t>
            </a:r>
            <a:endParaRPr lang="en-US" sz="800" dirty="0" smtClean="0">
              <a:solidFill>
                <a:srgbClr val="000000"/>
              </a:solidFill>
              <a:latin typeface="Courier"/>
              <a:cs typeface="Times New Roman" pitchFamily="18" charset="0"/>
            </a:endParaRPr>
          </a:p>
          <a:p>
            <a:pPr>
              <a:lnSpc>
                <a:spcPct val="120000"/>
              </a:lnSpc>
              <a:spcBef>
                <a:spcPts val="0"/>
              </a:spcBef>
              <a:buFont typeface="Wingdings" panose="05000000000000000000" pitchFamily="2" charset="2"/>
              <a:buChar char="Ø"/>
            </a:pPr>
            <a:r>
              <a:rPr lang="fr-FR" sz="800" dirty="0">
                <a:solidFill>
                  <a:srgbClr val="000000"/>
                </a:solidFill>
                <a:latin typeface="Courier"/>
                <a:cs typeface="Times New Roman" pitchFamily="18" charset="0"/>
              </a:rPr>
              <a:t>dup2(fd,0); /* utilise "toto" comme entrée standard */</a:t>
            </a:r>
            <a:endParaRPr lang="en-US" sz="800" dirty="0">
              <a:solidFill>
                <a:srgbClr val="000000"/>
              </a:solidFill>
              <a:latin typeface="Courier"/>
              <a:cs typeface="Times New Roman" pitchFamily="18" charset="0"/>
            </a:endParaRPr>
          </a:p>
          <a:p>
            <a:pPr>
              <a:lnSpc>
                <a:spcPct val="120000"/>
              </a:lnSpc>
              <a:spcBef>
                <a:spcPts val="0"/>
              </a:spcBef>
              <a:buFont typeface="Wingdings" panose="05000000000000000000" pitchFamily="2" charset="2"/>
              <a:buChar char="Ø"/>
            </a:pPr>
            <a:r>
              <a:rPr lang="en-US" sz="800" dirty="0" smtClean="0">
                <a:solidFill>
                  <a:srgbClr val="000000"/>
                </a:solidFill>
                <a:latin typeface="Courier"/>
                <a:cs typeface="Times New Roman" pitchFamily="18" charset="0"/>
              </a:rPr>
              <a:t>}</a:t>
            </a:r>
          </a:p>
          <a:p>
            <a:pPr>
              <a:lnSpc>
                <a:spcPct val="120000"/>
              </a:lnSpc>
              <a:spcBef>
                <a:spcPts val="0"/>
              </a:spcBef>
              <a:buFont typeface="Wingdings" panose="05000000000000000000" pitchFamily="2" charset="2"/>
              <a:buChar char="Ø"/>
            </a:pPr>
            <a:r>
              <a:rPr lang="en-US" sz="800" dirty="0">
                <a:solidFill>
                  <a:srgbClr val="000000"/>
                </a:solidFill>
                <a:latin typeface="Times New Roman" panose="02020603050405020304" pitchFamily="18" charset="0"/>
                <a:cs typeface="Times New Roman" panose="02020603050405020304" pitchFamily="18" charset="0"/>
              </a:rPr>
              <a:t>the descriptor and its copy share the position modifiable by </a:t>
            </a:r>
            <a:r>
              <a:rPr lang="en-US" sz="800" dirty="0" err="1">
                <a:solidFill>
                  <a:srgbClr val="000000"/>
                </a:solidFill>
                <a:latin typeface="Times New Roman" panose="02020603050405020304" pitchFamily="18" charset="0"/>
                <a:cs typeface="Times New Roman" panose="02020603050405020304" pitchFamily="18" charset="0"/>
              </a:rPr>
              <a:t>lseek</a:t>
            </a:r>
            <a:endParaRPr lang="en-US" sz="800" dirty="0">
              <a:solidFill>
                <a:srgbClr val="000000"/>
              </a:solidFill>
              <a:latin typeface="Times New Roman" panose="02020603050405020304" pitchFamily="18" charset="0"/>
              <a:cs typeface="Times New Roman" panose="02020603050405020304" pitchFamily="18" charset="0"/>
            </a:endParaRPr>
          </a:p>
          <a:p>
            <a:pPr>
              <a:lnSpc>
                <a:spcPct val="120000"/>
              </a:lnSpc>
              <a:spcBef>
                <a:spcPts val="0"/>
              </a:spcBef>
              <a:buFont typeface="Wingdings" panose="05000000000000000000" pitchFamily="2" charset="2"/>
              <a:buChar char="Ø"/>
            </a:pPr>
            <a:r>
              <a:rPr lang="en-US" sz="800" dirty="0">
                <a:solidFill>
                  <a:srgbClr val="000000"/>
                </a:solidFill>
                <a:latin typeface="Times New Roman" panose="02020603050405020304" pitchFamily="18" charset="0"/>
                <a:cs typeface="Times New Roman" panose="02020603050405020304" pitchFamily="18" charset="0"/>
              </a:rPr>
              <a:t>- risk of competition concerns</a:t>
            </a:r>
          </a:p>
          <a:p>
            <a:pPr>
              <a:lnSpc>
                <a:spcPct val="120000"/>
              </a:lnSpc>
              <a:spcBef>
                <a:spcPts val="0"/>
              </a:spcBef>
              <a:buFont typeface="Wingdings" panose="05000000000000000000" pitchFamily="2" charset="2"/>
              <a:buChar char="Ø"/>
            </a:pPr>
            <a:r>
              <a:rPr lang="en-US" sz="800" dirty="0">
                <a:solidFill>
                  <a:srgbClr val="000000"/>
                </a:solidFill>
                <a:latin typeface="Times New Roman" panose="02020603050405020304" pitchFamily="18" charset="0"/>
                <a:cs typeface="Times New Roman" panose="02020603050405020304" pitchFamily="18" charset="0"/>
              </a:rPr>
              <a:t>after a duplication, you must close the descriptor twice to close complement</a:t>
            </a:r>
          </a:p>
        </p:txBody>
      </p:sp>
    </p:spTree>
    <p:extLst>
      <p:ext uri="{BB962C8B-B14F-4D97-AF65-F5344CB8AC3E}">
        <p14:creationId xmlns:p14="http://schemas.microsoft.com/office/powerpoint/2010/main" val="10723202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ts val="1302"/>
              </a:lnSpc>
            </a:pPr>
            <a:r>
              <a:rPr lang="fr-FR" dirty="0">
                <a:latin typeface="Times New Roman" panose="02020603050405020304" pitchFamily="18" charset="0"/>
                <a:cs typeface="Times New Roman" panose="02020603050405020304" pitchFamily="18" charset="0"/>
              </a:rPr>
              <a:t>Back to </a:t>
            </a:r>
            <a:r>
              <a:rPr lang="fr-FR" dirty="0" err="1">
                <a:latin typeface="Times New Roman" panose="02020603050405020304" pitchFamily="18" charset="0"/>
                <a:cs typeface="Times New Roman" panose="02020603050405020304" pitchFamily="18" charset="0"/>
              </a:rPr>
              <a:t>Descriptors</a:t>
            </a:r>
            <a:endParaRPr lang="fr-F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lvl="1">
              <a:buFont typeface="Wingdings" panose="05000000000000000000" pitchFamily="2" charset="2"/>
              <a:buChar char="Ø"/>
            </a:pPr>
            <a:r>
              <a:rPr lang="en-US" sz="1000" dirty="0">
                <a:solidFill>
                  <a:srgbClr val="0000CC"/>
                </a:solidFill>
                <a:latin typeface="Times New Roman"/>
                <a:ea typeface="Arial Unicode MS"/>
                <a:cs typeface="Arial Unicode MS"/>
              </a:rPr>
              <a:t>A descriptor obtained by a </a:t>
            </a:r>
            <a:r>
              <a:rPr lang="en-US" sz="1000" dirty="0" smtClean="0">
                <a:solidFill>
                  <a:srgbClr val="0000CC"/>
                </a:solidFill>
                <a:latin typeface="Times New Roman"/>
                <a:ea typeface="Arial Unicode MS"/>
                <a:cs typeface="Arial Unicode MS"/>
              </a:rPr>
              <a:t>process, </a:t>
            </a:r>
            <a:r>
              <a:rPr lang="en-US" sz="1000" dirty="0">
                <a:solidFill>
                  <a:srgbClr val="0000CC"/>
                </a:solidFill>
                <a:latin typeface="Times New Roman"/>
                <a:ea typeface="Arial Unicode MS"/>
                <a:cs typeface="Arial Unicode MS"/>
              </a:rPr>
              <a:t>is its own.</a:t>
            </a:r>
          </a:p>
          <a:p>
            <a:pPr lvl="1">
              <a:buFont typeface="Wingdings" panose="05000000000000000000" pitchFamily="2" charset="2"/>
              <a:buChar char="Ø"/>
            </a:pPr>
            <a:r>
              <a:rPr lang="en-US" sz="1000" dirty="0">
                <a:solidFill>
                  <a:srgbClr val="0000CC"/>
                </a:solidFill>
                <a:latin typeface="Times New Roman"/>
                <a:ea typeface="Arial Unicode MS"/>
                <a:cs typeface="Arial Unicode MS"/>
              </a:rPr>
              <a:t>It gives the process the right to access an entry in an "open files table" (TFO).</a:t>
            </a:r>
          </a:p>
          <a:p>
            <a:pPr lvl="1">
              <a:buFont typeface="Wingdings" panose="05000000000000000000" pitchFamily="2" charset="2"/>
              <a:buChar char="Ø"/>
            </a:pPr>
            <a:r>
              <a:rPr lang="en-US" sz="1000" dirty="0">
                <a:solidFill>
                  <a:srgbClr val="0000CC"/>
                </a:solidFill>
                <a:latin typeface="Times New Roman"/>
                <a:ea typeface="Arial Unicode MS"/>
                <a:cs typeface="Arial Unicode MS"/>
              </a:rPr>
              <a:t>The same file can be opened several times (in possibly different modes) by one or more processes.</a:t>
            </a:r>
          </a:p>
          <a:p>
            <a:pPr lvl="1">
              <a:buFont typeface="Wingdings" panose="05000000000000000000" pitchFamily="2" charset="2"/>
              <a:buChar char="Ø"/>
            </a:pPr>
            <a:r>
              <a:rPr lang="en-US" sz="1000" dirty="0">
                <a:solidFill>
                  <a:srgbClr val="0000CC"/>
                </a:solidFill>
                <a:latin typeface="Times New Roman"/>
                <a:ea typeface="Arial Unicode MS"/>
                <a:cs typeface="Arial Unicode MS"/>
              </a:rPr>
              <a:t>3 special descriptors:</a:t>
            </a:r>
          </a:p>
          <a:p>
            <a:pPr lvl="1">
              <a:buFont typeface="Wingdings" panose="05000000000000000000" pitchFamily="2" charset="2"/>
              <a:buChar char="Ø"/>
            </a:pPr>
            <a:r>
              <a:rPr lang="en-US" sz="1000" dirty="0" smtClean="0">
                <a:solidFill>
                  <a:srgbClr val="0000CC"/>
                </a:solidFill>
                <a:latin typeface="Times New Roman"/>
                <a:ea typeface="Arial Unicode MS"/>
                <a:cs typeface="Arial Unicode MS"/>
              </a:rPr>
              <a:t>STDIN_FILENO </a:t>
            </a:r>
            <a:r>
              <a:rPr lang="en-US" sz="1000" dirty="0">
                <a:solidFill>
                  <a:srgbClr val="0000CC"/>
                </a:solidFill>
                <a:latin typeface="Times New Roman"/>
                <a:ea typeface="Arial Unicode MS"/>
                <a:cs typeface="Arial Unicode MS"/>
              </a:rPr>
              <a:t>(0)</a:t>
            </a:r>
            <a:r>
              <a:rPr lang="en-US" sz="1000" dirty="0">
                <a:solidFill>
                  <a:srgbClr val="000000"/>
                </a:solidFill>
                <a:latin typeface="Times New Roman"/>
                <a:ea typeface="Arial Unicode MS"/>
                <a:cs typeface="Arial Unicode MS"/>
              </a:rPr>
              <a:t>, </a:t>
            </a:r>
            <a:r>
              <a:rPr lang="en-US" sz="1000" dirty="0" smtClean="0">
                <a:solidFill>
                  <a:srgbClr val="000000"/>
                </a:solidFill>
                <a:latin typeface="Times New Roman"/>
                <a:ea typeface="Arial Unicode MS"/>
                <a:cs typeface="Arial Unicode MS"/>
              </a:rPr>
              <a:t>standard input, </a:t>
            </a:r>
          </a:p>
          <a:p>
            <a:pPr lvl="1">
              <a:lnSpc>
                <a:spcPts val="1302"/>
              </a:lnSpc>
              <a:buFont typeface="Wingdings" panose="05000000000000000000" pitchFamily="2" charset="2"/>
              <a:buChar char="Ø"/>
            </a:pPr>
            <a:r>
              <a:rPr lang="en-US" sz="997" dirty="0" smtClean="0">
                <a:solidFill>
                  <a:srgbClr val="0000CC"/>
                </a:solidFill>
                <a:latin typeface="Times New Roman"/>
                <a:ea typeface="Arial Unicode MS"/>
                <a:cs typeface="Arial Unicode MS"/>
              </a:rPr>
              <a:t>STDOUT_FILENO </a:t>
            </a:r>
            <a:r>
              <a:rPr lang="en-US" sz="997" dirty="0">
                <a:solidFill>
                  <a:srgbClr val="0000CC"/>
                </a:solidFill>
                <a:latin typeface="Times New Roman"/>
                <a:ea typeface="Arial Unicode MS"/>
                <a:cs typeface="Arial Unicode MS"/>
              </a:rPr>
              <a:t>(1)</a:t>
            </a:r>
            <a:r>
              <a:rPr lang="en-US" sz="997" dirty="0">
                <a:solidFill>
                  <a:srgbClr val="000000"/>
                </a:solidFill>
                <a:latin typeface="Times New Roman"/>
                <a:ea typeface="Arial Unicode MS"/>
                <a:cs typeface="Arial Unicode MS"/>
              </a:rPr>
              <a:t>,  </a:t>
            </a:r>
            <a:r>
              <a:rPr lang="en-US" sz="997" dirty="0" smtClean="0">
                <a:solidFill>
                  <a:srgbClr val="000000"/>
                </a:solidFill>
                <a:latin typeface="Times New Roman"/>
                <a:ea typeface="Arial Unicode MS"/>
                <a:cs typeface="Arial Unicode MS"/>
              </a:rPr>
              <a:t>standard output,</a:t>
            </a:r>
          </a:p>
          <a:p>
            <a:pPr lvl="1">
              <a:lnSpc>
                <a:spcPts val="1302"/>
              </a:lnSpc>
              <a:buFont typeface="Wingdings" panose="05000000000000000000" pitchFamily="2" charset="2"/>
              <a:buChar char="Ø"/>
            </a:pPr>
            <a:r>
              <a:rPr lang="en-US" sz="1000" dirty="0" smtClean="0">
                <a:solidFill>
                  <a:srgbClr val="0000CC"/>
                </a:solidFill>
                <a:latin typeface="Times New Roman"/>
                <a:ea typeface="Arial Unicode MS"/>
                <a:cs typeface="Arial Unicode MS"/>
              </a:rPr>
              <a:t>STDERR_FILENO </a:t>
            </a:r>
            <a:r>
              <a:rPr lang="en-US" sz="1000" dirty="0">
                <a:solidFill>
                  <a:srgbClr val="0000CC"/>
                </a:solidFill>
                <a:latin typeface="Times New Roman"/>
                <a:ea typeface="Arial Unicode MS"/>
                <a:cs typeface="Arial Unicode MS"/>
              </a:rPr>
              <a:t>(2)</a:t>
            </a:r>
            <a:r>
              <a:rPr lang="en-US" sz="1000" dirty="0">
                <a:solidFill>
                  <a:srgbClr val="000000"/>
                </a:solidFill>
                <a:latin typeface="Times New Roman"/>
                <a:ea typeface="Arial Unicode MS"/>
                <a:cs typeface="Arial Unicode MS"/>
              </a:rPr>
              <a:t>,   </a:t>
            </a:r>
            <a:r>
              <a:rPr lang="en-US" sz="1000" dirty="0" smtClean="0">
                <a:solidFill>
                  <a:srgbClr val="000000"/>
                </a:solidFill>
                <a:latin typeface="Times New Roman"/>
                <a:ea typeface="Arial Unicode MS"/>
                <a:cs typeface="Arial Unicode MS"/>
              </a:rPr>
              <a:t>standard error output.</a:t>
            </a:r>
            <a:endParaRPr lang="en-US" sz="1000" dirty="0">
              <a:solidFill>
                <a:srgbClr val="000000"/>
              </a:solidFill>
              <a:latin typeface="Times New Roman"/>
              <a:ea typeface="Arial Unicode MS"/>
              <a:cs typeface="Arial Unicode MS"/>
            </a:endParaRPr>
          </a:p>
        </p:txBody>
      </p:sp>
    </p:spTree>
    <p:extLst>
      <p:ext uri="{BB962C8B-B14F-4D97-AF65-F5344CB8AC3E}">
        <p14:creationId xmlns:p14="http://schemas.microsoft.com/office/powerpoint/2010/main" val="363644602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solidFill>
                  <a:schemeClr val="tx1"/>
                </a:solidFill>
                <a:latin typeface="Times New Roman" panose="02020603050405020304" pitchFamily="18" charset="0"/>
                <a:cs typeface="Times New Roman" panose="02020603050405020304" pitchFamily="18" charset="0"/>
              </a:rPr>
              <a:t>Redirection </a:t>
            </a:r>
            <a:r>
              <a:rPr lang="fr-FR" dirty="0" err="1">
                <a:solidFill>
                  <a:schemeClr val="tx1"/>
                </a:solidFill>
                <a:latin typeface="Times New Roman" panose="02020603050405020304" pitchFamily="18" charset="0"/>
                <a:cs typeface="Times New Roman" panose="02020603050405020304" pitchFamily="18" charset="0"/>
              </a:rPr>
              <a:t>Example</a:t>
            </a:r>
            <a:r>
              <a:rPr lang="fr-FR" dirty="0">
                <a:solidFill>
                  <a:schemeClr val="tx1"/>
                </a:solidFill>
                <a:latin typeface="Times New Roman" panose="02020603050405020304" pitchFamily="18" charset="0"/>
                <a:cs typeface="Times New Roman" panose="02020603050405020304" pitchFamily="18" charset="0"/>
              </a:rPr>
              <a:t> of </a:t>
            </a:r>
            <a:r>
              <a:rPr lang="fr-FR" dirty="0" err="1" smtClean="0">
                <a:solidFill>
                  <a:schemeClr val="tx1"/>
                </a:solidFill>
                <a:latin typeface="Times New Roman" panose="02020603050405020304" pitchFamily="18" charset="0"/>
                <a:cs typeface="Times New Roman" panose="02020603050405020304" pitchFamily="18" charset="0"/>
              </a:rPr>
              <a:t>stdout</a:t>
            </a:r>
            <a:endParaRPr lang="fr-FR"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indent="0">
              <a:buNone/>
            </a:pPr>
            <a:r>
              <a:rPr lang="en-US" sz="1050" dirty="0">
                <a:solidFill>
                  <a:srgbClr val="C00000"/>
                </a:solidFill>
                <a:latin typeface="Courier New" panose="02070309020205020404" pitchFamily="49" charset="0"/>
                <a:cs typeface="Courier New" panose="02070309020205020404" pitchFamily="49" charset="0"/>
              </a:rPr>
              <a:t>f = open("</a:t>
            </a:r>
            <a:r>
              <a:rPr lang="en-US" sz="1050" dirty="0" err="1">
                <a:solidFill>
                  <a:srgbClr val="C00000"/>
                </a:solidFill>
                <a:latin typeface="Courier New" panose="02070309020205020404" pitchFamily="49" charset="0"/>
                <a:cs typeface="Courier New" panose="02070309020205020404" pitchFamily="49" charset="0"/>
              </a:rPr>
              <a:t>fichier",O_WRONLY|O_CREAT</a:t>
            </a:r>
            <a:r>
              <a:rPr lang="en-US" sz="1050" dirty="0">
                <a:solidFill>
                  <a:srgbClr val="C00000"/>
                </a:solidFill>
                <a:latin typeface="Courier New" panose="02070309020205020404" pitchFamily="49" charset="0"/>
                <a:cs typeface="Courier New" panose="02070309020205020404" pitchFamily="49" charset="0"/>
              </a:rPr>
              <a:t>);</a:t>
            </a:r>
          </a:p>
          <a:p>
            <a:pPr indent="0">
              <a:buNone/>
            </a:pPr>
            <a:r>
              <a:rPr lang="en-US" sz="1050" dirty="0">
                <a:solidFill>
                  <a:srgbClr val="C00000"/>
                </a:solidFill>
                <a:latin typeface="Courier New" panose="02070309020205020404" pitchFamily="49" charset="0"/>
                <a:cs typeface="Courier New" panose="02070309020205020404" pitchFamily="49" charset="0"/>
              </a:rPr>
              <a:t>close(1);</a:t>
            </a:r>
          </a:p>
          <a:p>
            <a:pPr indent="0">
              <a:buNone/>
            </a:pPr>
            <a:r>
              <a:rPr lang="en-US" sz="1050" dirty="0">
                <a:solidFill>
                  <a:srgbClr val="C00000"/>
                </a:solidFill>
                <a:latin typeface="Courier New" panose="02070309020205020404" pitchFamily="49" charset="0"/>
                <a:cs typeface="Courier New" panose="02070309020205020404" pitchFamily="49" charset="0"/>
              </a:rPr>
              <a:t>dup(f);</a:t>
            </a:r>
          </a:p>
          <a:p>
            <a:pPr indent="0">
              <a:buNone/>
            </a:pPr>
            <a:r>
              <a:rPr lang="fr-FR" sz="1050" dirty="0">
                <a:solidFill>
                  <a:srgbClr val="C00000"/>
                </a:solidFill>
                <a:latin typeface="Courier New" panose="02070309020205020404" pitchFamily="49" charset="0"/>
                <a:cs typeface="Courier New" panose="02070309020205020404" pitchFamily="49" charset="0"/>
              </a:rPr>
              <a:t>close(f); </a:t>
            </a:r>
            <a:r>
              <a:rPr lang="fr-FR" sz="1050" b="1" i="1" dirty="0">
                <a:solidFill>
                  <a:srgbClr val="C00000"/>
                </a:solidFill>
                <a:latin typeface="Courier New" panose="02070309020205020404" pitchFamily="49" charset="0"/>
                <a:cs typeface="Courier New" panose="02070309020205020404" pitchFamily="49" charset="0"/>
              </a:rPr>
              <a:t>/* close(f) car f n'est plus utilisé */</a:t>
            </a:r>
          </a:p>
          <a:p>
            <a:pPr indent="0">
              <a:buNone/>
            </a:pPr>
            <a:r>
              <a:rPr lang="fr-FR" sz="1050" dirty="0" err="1">
                <a:solidFill>
                  <a:srgbClr val="C00000"/>
                </a:solidFill>
                <a:latin typeface="Courier New" panose="02070309020205020404" pitchFamily="49" charset="0"/>
                <a:cs typeface="Courier New" panose="02070309020205020404" pitchFamily="49" charset="0"/>
              </a:rPr>
              <a:t>printf</a:t>
            </a:r>
            <a:r>
              <a:rPr lang="fr-FR" sz="1050" dirty="0">
                <a:solidFill>
                  <a:srgbClr val="C00000"/>
                </a:solidFill>
                <a:latin typeface="Courier New" panose="02070309020205020404" pitchFamily="49" charset="0"/>
                <a:cs typeface="Courier New" panose="02070309020205020404" pitchFamily="49" charset="0"/>
              </a:rPr>
              <a:t>("Ceci a été écrit par la fonction </a:t>
            </a:r>
            <a:r>
              <a:rPr lang="fr-FR" sz="1050" dirty="0" err="1">
                <a:solidFill>
                  <a:srgbClr val="C00000"/>
                </a:solidFill>
                <a:latin typeface="Courier New" panose="02070309020205020404" pitchFamily="49" charset="0"/>
                <a:cs typeface="Courier New" panose="02070309020205020404" pitchFamily="49" charset="0"/>
              </a:rPr>
              <a:t>printf</a:t>
            </a:r>
            <a:r>
              <a:rPr lang="fr-FR" sz="1050" dirty="0" smtClean="0">
                <a:solidFill>
                  <a:srgbClr val="C00000"/>
                </a:solidFill>
                <a:latin typeface="Courier New" panose="02070309020205020404" pitchFamily="49" charset="0"/>
                <a:cs typeface="Courier New" panose="02070309020205020404" pitchFamily="49" charset="0"/>
              </a:rPr>
              <a:t>");</a:t>
            </a:r>
            <a:endParaRPr lang="fr-FR"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0156471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smtClean="0">
                <a:solidFill>
                  <a:schemeClr val="tx1"/>
                </a:solidFill>
                <a:latin typeface="Times New Roman" panose="02020603050405020304" pitchFamily="18" charset="0"/>
                <a:cs typeface="Times New Roman" panose="02020603050405020304" pitchFamily="18" charset="0"/>
              </a:rPr>
              <a:t>Redirection </a:t>
            </a:r>
            <a:r>
              <a:rPr lang="fr-FR" dirty="0" err="1">
                <a:solidFill>
                  <a:schemeClr val="tx1"/>
                </a:solidFill>
                <a:latin typeface="Times New Roman" panose="02020603050405020304" pitchFamily="18" charset="0"/>
                <a:cs typeface="Times New Roman" panose="02020603050405020304" pitchFamily="18" charset="0"/>
              </a:rPr>
              <a:t>Example</a:t>
            </a:r>
            <a:r>
              <a:rPr lang="fr-FR" dirty="0">
                <a:solidFill>
                  <a:schemeClr val="tx1"/>
                </a:solidFill>
                <a:latin typeface="Times New Roman" panose="02020603050405020304" pitchFamily="18" charset="0"/>
                <a:cs typeface="Times New Roman" panose="02020603050405020304" pitchFamily="18" charset="0"/>
              </a:rPr>
              <a:t> </a:t>
            </a:r>
            <a:r>
              <a:rPr lang="fr-FR" dirty="0" smtClean="0">
                <a:solidFill>
                  <a:schemeClr val="tx1"/>
                </a:solidFill>
                <a:latin typeface="Times New Roman" panose="02020603050405020304" pitchFamily="18" charset="0"/>
                <a:cs typeface="Times New Roman" panose="02020603050405020304" pitchFamily="18" charset="0"/>
              </a:rPr>
              <a:t>of </a:t>
            </a:r>
            <a:r>
              <a:rPr lang="fr-FR" dirty="0" err="1" smtClean="0">
                <a:solidFill>
                  <a:schemeClr val="tx1"/>
                </a:solidFill>
                <a:latin typeface="Times New Roman" panose="02020603050405020304" pitchFamily="18" charset="0"/>
                <a:cs typeface="Times New Roman" panose="02020603050405020304" pitchFamily="18" charset="0"/>
              </a:rPr>
              <a:t>stdin</a:t>
            </a:r>
            <a:endParaRPr lang="fr-FR"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indent="0">
              <a:buNone/>
            </a:pPr>
            <a:r>
              <a:rPr lang="en-US" sz="1050" dirty="0">
                <a:solidFill>
                  <a:srgbClr val="C00000"/>
                </a:solidFill>
                <a:latin typeface="Courier New" panose="02070309020205020404" pitchFamily="49" charset="0"/>
                <a:cs typeface="Courier New" panose="02070309020205020404" pitchFamily="49" charset="0"/>
              </a:rPr>
              <a:t>f = open("</a:t>
            </a:r>
            <a:r>
              <a:rPr lang="en-US" sz="1050" dirty="0" err="1">
                <a:solidFill>
                  <a:srgbClr val="C00000"/>
                </a:solidFill>
                <a:latin typeface="Courier New" panose="02070309020205020404" pitchFamily="49" charset="0"/>
                <a:cs typeface="Courier New" panose="02070309020205020404" pitchFamily="49" charset="0"/>
              </a:rPr>
              <a:t>fichier",O_RDONLY</a:t>
            </a:r>
            <a:r>
              <a:rPr lang="en-US" sz="1050" dirty="0">
                <a:solidFill>
                  <a:srgbClr val="C00000"/>
                </a:solidFill>
                <a:latin typeface="Courier New" panose="02070309020205020404" pitchFamily="49" charset="0"/>
                <a:cs typeface="Courier New" panose="02070309020205020404" pitchFamily="49" charset="0"/>
              </a:rPr>
              <a:t>);</a:t>
            </a:r>
          </a:p>
          <a:p>
            <a:pPr indent="0">
              <a:buNone/>
            </a:pPr>
            <a:r>
              <a:rPr lang="en-US" sz="1050" dirty="0">
                <a:solidFill>
                  <a:srgbClr val="C00000"/>
                </a:solidFill>
                <a:latin typeface="Courier New" panose="02070309020205020404" pitchFamily="49" charset="0"/>
                <a:cs typeface="Courier New" panose="02070309020205020404" pitchFamily="49" charset="0"/>
              </a:rPr>
              <a:t>close(0);</a:t>
            </a:r>
          </a:p>
          <a:p>
            <a:pPr indent="0">
              <a:buNone/>
            </a:pPr>
            <a:r>
              <a:rPr lang="en-US" sz="1050" dirty="0">
                <a:solidFill>
                  <a:srgbClr val="C00000"/>
                </a:solidFill>
                <a:latin typeface="Courier New" panose="02070309020205020404" pitchFamily="49" charset="0"/>
                <a:cs typeface="Courier New" panose="02070309020205020404" pitchFamily="49" charset="0"/>
              </a:rPr>
              <a:t>dup(f);</a:t>
            </a:r>
          </a:p>
          <a:p>
            <a:pPr indent="0">
              <a:buNone/>
            </a:pPr>
            <a:r>
              <a:rPr lang="en-US" sz="1050" dirty="0">
                <a:solidFill>
                  <a:srgbClr val="C00000"/>
                </a:solidFill>
                <a:latin typeface="Courier New" panose="02070309020205020404" pitchFamily="49" charset="0"/>
                <a:cs typeface="Courier New" panose="02070309020205020404" pitchFamily="49" charset="0"/>
              </a:rPr>
              <a:t>close(f);</a:t>
            </a:r>
          </a:p>
          <a:p>
            <a:pPr indent="0">
              <a:buNone/>
            </a:pPr>
            <a:r>
              <a:rPr lang="fr-FR" sz="1050" b="1" i="1" dirty="0">
                <a:solidFill>
                  <a:srgbClr val="C00000"/>
                </a:solidFill>
                <a:latin typeface="Courier New" panose="02070309020205020404" pitchFamily="49" charset="0"/>
                <a:cs typeface="Courier New" panose="02070309020205020404" pitchFamily="49" charset="0"/>
              </a:rPr>
              <a:t>/* le %[^\n] lit tous les caractères dans </a:t>
            </a:r>
            <a:r>
              <a:rPr lang="fr-FR" sz="1050" b="1" i="1" dirty="0" err="1">
                <a:solidFill>
                  <a:srgbClr val="C00000"/>
                </a:solidFill>
                <a:latin typeface="Courier New" panose="02070309020205020404" pitchFamily="49" charset="0"/>
                <a:cs typeface="Courier New" panose="02070309020205020404" pitchFamily="49" charset="0"/>
              </a:rPr>
              <a:t>buf</a:t>
            </a:r>
            <a:r>
              <a:rPr lang="fr-FR" sz="1050" b="1" i="1" dirty="0">
                <a:solidFill>
                  <a:srgbClr val="C00000"/>
                </a:solidFill>
                <a:latin typeface="Courier New" panose="02070309020205020404" pitchFamily="49" charset="0"/>
                <a:cs typeface="Courier New" panose="02070309020205020404" pitchFamily="49" charset="0"/>
              </a:rPr>
              <a:t> jusqu'a la fin de la ligne */</a:t>
            </a:r>
          </a:p>
          <a:p>
            <a:pPr indent="0">
              <a:buNone/>
            </a:pPr>
            <a:r>
              <a:rPr lang="en-US" sz="1050" dirty="0" err="1">
                <a:solidFill>
                  <a:srgbClr val="C00000"/>
                </a:solidFill>
                <a:latin typeface="Courier New" panose="02070309020205020404" pitchFamily="49" charset="0"/>
                <a:cs typeface="Courier New" panose="02070309020205020404" pitchFamily="49" charset="0"/>
              </a:rPr>
              <a:t>scanf</a:t>
            </a:r>
            <a:r>
              <a:rPr lang="en-US" sz="1050" dirty="0">
                <a:solidFill>
                  <a:srgbClr val="C00000"/>
                </a:solidFill>
                <a:latin typeface="Courier New" panose="02070309020205020404" pitchFamily="49" charset="0"/>
                <a:cs typeface="Courier New" panose="02070309020205020404" pitchFamily="49" charset="0"/>
              </a:rPr>
              <a:t>("%[^\n]",</a:t>
            </a:r>
            <a:r>
              <a:rPr lang="en-US" sz="1050" dirty="0" err="1">
                <a:solidFill>
                  <a:srgbClr val="C00000"/>
                </a:solidFill>
                <a:latin typeface="Courier New" panose="02070309020205020404" pitchFamily="49" charset="0"/>
                <a:cs typeface="Courier New" panose="02070309020205020404" pitchFamily="49" charset="0"/>
              </a:rPr>
              <a:t>buf</a:t>
            </a:r>
            <a:r>
              <a:rPr lang="en-US" sz="1050" dirty="0">
                <a:solidFill>
                  <a:srgbClr val="C00000"/>
                </a:solidFill>
                <a:latin typeface="Courier New" panose="02070309020205020404" pitchFamily="49" charset="0"/>
                <a:cs typeface="Courier New" panose="02070309020205020404" pitchFamily="49" charset="0"/>
              </a:rPr>
              <a:t>);</a:t>
            </a:r>
          </a:p>
          <a:p>
            <a:pPr indent="0">
              <a:buNone/>
            </a:pPr>
            <a:r>
              <a:rPr lang="fr-FR" sz="1050" dirty="0" err="1">
                <a:solidFill>
                  <a:srgbClr val="C00000"/>
                </a:solidFill>
                <a:latin typeface="Courier New" panose="02070309020205020404" pitchFamily="49" charset="0"/>
                <a:cs typeface="Courier New" panose="02070309020205020404" pitchFamily="49" charset="0"/>
              </a:rPr>
              <a:t>printf</a:t>
            </a:r>
            <a:r>
              <a:rPr lang="fr-FR" sz="1050" dirty="0">
                <a:solidFill>
                  <a:srgbClr val="C00000"/>
                </a:solidFill>
                <a:latin typeface="Courier New" panose="02070309020205020404" pitchFamily="49" charset="0"/>
                <a:cs typeface="Courier New" panose="02070309020205020404" pitchFamily="49" charset="0"/>
              </a:rPr>
              <a:t>("\n j'ai lu du fichier le texte : %s\n",</a:t>
            </a:r>
            <a:r>
              <a:rPr lang="fr-FR" sz="1050" dirty="0" err="1">
                <a:solidFill>
                  <a:srgbClr val="C00000"/>
                </a:solidFill>
                <a:latin typeface="Courier New" panose="02070309020205020404" pitchFamily="49" charset="0"/>
                <a:cs typeface="Courier New" panose="02070309020205020404" pitchFamily="49" charset="0"/>
              </a:rPr>
              <a:t>buf</a:t>
            </a:r>
            <a:r>
              <a:rPr lang="fr-FR" sz="1050" dirty="0">
                <a:solidFill>
                  <a:srgbClr val="C00000"/>
                </a:solidFill>
                <a:latin typeface="Courier New" panose="02070309020205020404" pitchFamily="49" charset="0"/>
                <a:cs typeface="Courier New" panose="02070309020205020404" pitchFamily="49" charset="0"/>
              </a:rPr>
              <a:t>);</a:t>
            </a:r>
            <a:endParaRPr lang="en-US" sz="1050" dirty="0">
              <a:solidFill>
                <a:srgbClr val="C00000"/>
              </a:solidFill>
              <a:latin typeface="Courier New" panose="02070309020205020404" pitchFamily="49" charset="0"/>
              <a:cs typeface="Courier New" panose="02070309020205020404" pitchFamily="49" charset="0"/>
            </a:endParaRPr>
          </a:p>
          <a:p>
            <a:endParaRPr lang="fr-FR"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3240499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latin typeface="Times New Roman" panose="02020603050405020304" pitchFamily="18" charset="0"/>
                <a:cs typeface="Times New Roman" panose="02020603050405020304" pitchFamily="18" charset="0"/>
              </a:rPr>
              <a:t>Rename</a:t>
            </a:r>
            <a:r>
              <a:rPr lang="fr-FR" dirty="0">
                <a:latin typeface="Times New Roman" panose="02020603050405020304" pitchFamily="18" charset="0"/>
                <a:cs typeface="Times New Roman" panose="02020603050405020304" pitchFamily="18" charset="0"/>
              </a:rPr>
              <a:t> / move</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fr-FR" dirty="0" err="1" smtClean="0">
                <a:solidFill>
                  <a:srgbClr val="00B0F0"/>
                </a:solidFill>
                <a:latin typeface="Times New Roman" panose="02020603050405020304" pitchFamily="18" charset="0"/>
                <a:cs typeface="Times New Roman" panose="02020603050405020304" pitchFamily="18" charset="0"/>
              </a:rPr>
              <a:t>rename</a:t>
            </a:r>
            <a:r>
              <a:rPr lang="fr-FR"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change the name of the directory to the file ..., the change of location from the initial directory to the destination directory</a:t>
            </a:r>
            <a:endParaRPr lang="fr-FR"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dirty="0" smtClean="0">
                <a:latin typeface="Times New Roman" panose="02020603050405020304" pitchFamily="18" charset="0"/>
                <a:cs typeface="Times New Roman" panose="02020603050405020304" pitchFamily="18" charset="0"/>
              </a:rPr>
              <a:t>Return 0 if succès, -1 if </a:t>
            </a:r>
            <a:r>
              <a:rPr lang="fr-FR" dirty="0" err="1" smtClean="0">
                <a:latin typeface="Times New Roman" panose="02020603050405020304" pitchFamily="18" charset="0"/>
                <a:cs typeface="Times New Roman" panose="02020603050405020304" pitchFamily="18" charset="0"/>
              </a:rPr>
              <a:t>failure</a:t>
            </a:r>
            <a:r>
              <a:rPr lang="fr-FR" dirty="0" smtClean="0">
                <a:latin typeface="Times New Roman" panose="02020603050405020304" pitchFamily="18" charset="0"/>
                <a:cs typeface="Times New Roman" panose="02020603050405020304" pitchFamily="18" charset="0"/>
              </a:rPr>
              <a:t> </a:t>
            </a:r>
            <a:endParaRPr lang="fr-FR" dirty="0">
              <a:latin typeface="Times New Roman" panose="02020603050405020304" pitchFamily="18" charset="0"/>
              <a:cs typeface="Times New Roman" panose="02020603050405020304" pitchFamily="18" charset="0"/>
            </a:endParaRPr>
          </a:p>
        </p:txBody>
      </p:sp>
      <p:sp>
        <p:nvSpPr>
          <p:cNvPr id="4" name="Rectangle 3"/>
          <p:cNvSpPr/>
          <p:nvPr/>
        </p:nvSpPr>
        <p:spPr>
          <a:xfrm>
            <a:off x="95250" y="1425575"/>
            <a:ext cx="4514849"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100" dirty="0" smtClean="0">
                <a:solidFill>
                  <a:schemeClr val="tx1"/>
                </a:solidFill>
                <a:latin typeface="Courier New" panose="02070309020205020404" pitchFamily="49" charset="0"/>
                <a:cs typeface="Courier New" panose="02070309020205020404" pitchFamily="49" charset="0"/>
              </a:rPr>
              <a:t>#</a:t>
            </a:r>
            <a:r>
              <a:rPr lang="fr-FR" sz="1100" dirty="0" err="1" smtClean="0">
                <a:solidFill>
                  <a:schemeClr val="tx1"/>
                </a:solidFill>
                <a:latin typeface="Courier New" panose="02070309020205020404" pitchFamily="49" charset="0"/>
                <a:cs typeface="Courier New" panose="02070309020205020404" pitchFamily="49" charset="0"/>
              </a:rPr>
              <a:t>include</a:t>
            </a:r>
            <a:r>
              <a:rPr lang="fr-FR" sz="1100" dirty="0" smtClean="0">
                <a:solidFill>
                  <a:schemeClr val="tx1"/>
                </a:solidFill>
                <a:latin typeface="Courier New" panose="02070309020205020404" pitchFamily="49" charset="0"/>
                <a:cs typeface="Courier New" panose="02070309020205020404" pitchFamily="49" charset="0"/>
              </a:rPr>
              <a:t> &lt;</a:t>
            </a:r>
            <a:r>
              <a:rPr lang="fr-FR" sz="1100" dirty="0" err="1" smtClean="0">
                <a:solidFill>
                  <a:schemeClr val="tx1"/>
                </a:solidFill>
                <a:latin typeface="Courier New" panose="02070309020205020404" pitchFamily="49" charset="0"/>
                <a:cs typeface="Courier New" panose="02070309020205020404" pitchFamily="49" charset="0"/>
              </a:rPr>
              <a:t>unistd.h</a:t>
            </a:r>
            <a:r>
              <a:rPr lang="fr-FR" sz="1100" dirty="0" smtClean="0">
                <a:solidFill>
                  <a:schemeClr val="tx1"/>
                </a:solidFill>
                <a:latin typeface="Courier New" panose="02070309020205020404" pitchFamily="49" charset="0"/>
                <a:cs typeface="Courier New" panose="02070309020205020404" pitchFamily="49" charset="0"/>
              </a:rPr>
              <a:t>&gt;</a:t>
            </a:r>
          </a:p>
          <a:p>
            <a:r>
              <a:rPr lang="fr-FR" sz="1100" dirty="0" err="1" smtClean="0">
                <a:solidFill>
                  <a:schemeClr val="tx1"/>
                </a:solidFill>
                <a:latin typeface="Courier New" panose="02070309020205020404" pitchFamily="49" charset="0"/>
                <a:cs typeface="Courier New" panose="02070309020205020404" pitchFamily="49" charset="0"/>
              </a:rPr>
              <a:t>int</a:t>
            </a:r>
            <a:r>
              <a:rPr lang="fr-FR" sz="1100" dirty="0" smtClean="0">
                <a:solidFill>
                  <a:schemeClr val="tx1"/>
                </a:solidFill>
                <a:latin typeface="Courier New" panose="02070309020205020404" pitchFamily="49" charset="0"/>
                <a:cs typeface="Courier New" panose="02070309020205020404" pitchFamily="49" charset="0"/>
              </a:rPr>
              <a:t> </a:t>
            </a:r>
            <a:r>
              <a:rPr lang="fr-FR" sz="1100" dirty="0" err="1" smtClean="0">
                <a:solidFill>
                  <a:schemeClr val="tx1"/>
                </a:solidFill>
                <a:latin typeface="Courier New" panose="02070309020205020404" pitchFamily="49" charset="0"/>
                <a:cs typeface="Courier New" panose="02070309020205020404" pitchFamily="49" charset="0"/>
              </a:rPr>
              <a:t>rename</a:t>
            </a:r>
            <a:r>
              <a:rPr lang="fr-FR" sz="1100" dirty="0" smtClean="0">
                <a:solidFill>
                  <a:schemeClr val="tx1"/>
                </a:solidFill>
                <a:latin typeface="Courier New" panose="02070309020205020404" pitchFamily="49" charset="0"/>
                <a:cs typeface="Courier New" panose="02070309020205020404" pitchFamily="49" charset="0"/>
              </a:rPr>
              <a:t>(</a:t>
            </a:r>
            <a:r>
              <a:rPr lang="fr-FR" sz="1100" dirty="0" err="1" smtClean="0">
                <a:solidFill>
                  <a:schemeClr val="tx1"/>
                </a:solidFill>
                <a:latin typeface="Courier New" panose="02070309020205020404" pitchFamily="49" charset="0"/>
                <a:cs typeface="Courier New" panose="02070309020205020404" pitchFamily="49" charset="0"/>
              </a:rPr>
              <a:t>const</a:t>
            </a:r>
            <a:r>
              <a:rPr lang="fr-FR" sz="1100" dirty="0" smtClean="0">
                <a:solidFill>
                  <a:schemeClr val="tx1"/>
                </a:solidFill>
                <a:latin typeface="Courier New" panose="02070309020205020404" pitchFamily="49" charset="0"/>
                <a:cs typeface="Courier New" panose="02070309020205020404" pitchFamily="49" charset="0"/>
              </a:rPr>
              <a:t> char*</a:t>
            </a:r>
            <a:r>
              <a:rPr lang="fr-FR" sz="1100" dirty="0" err="1" smtClean="0">
                <a:solidFill>
                  <a:schemeClr val="tx1"/>
                </a:solidFill>
                <a:latin typeface="Courier New" panose="02070309020205020404" pitchFamily="49" charset="0"/>
                <a:cs typeface="Courier New" panose="02070309020205020404" pitchFamily="49" charset="0"/>
              </a:rPr>
              <a:t>ancName</a:t>
            </a:r>
            <a:r>
              <a:rPr lang="fr-FR" sz="1100" dirty="0" smtClean="0">
                <a:solidFill>
                  <a:schemeClr val="tx1"/>
                </a:solidFill>
                <a:latin typeface="Courier New" panose="02070309020205020404" pitchFamily="49" charset="0"/>
                <a:cs typeface="Courier New" panose="02070309020205020404" pitchFamily="49" charset="0"/>
              </a:rPr>
              <a:t>, </a:t>
            </a:r>
            <a:r>
              <a:rPr lang="fr-FR" sz="1100" dirty="0" err="1" smtClean="0">
                <a:solidFill>
                  <a:schemeClr val="tx1"/>
                </a:solidFill>
                <a:latin typeface="Courier New" panose="02070309020205020404" pitchFamily="49" charset="0"/>
                <a:cs typeface="Courier New" panose="02070309020205020404" pitchFamily="49" charset="0"/>
              </a:rPr>
              <a:t>const</a:t>
            </a:r>
            <a:r>
              <a:rPr lang="fr-FR" sz="1100" dirty="0" smtClean="0">
                <a:solidFill>
                  <a:schemeClr val="tx1"/>
                </a:solidFill>
                <a:latin typeface="Courier New" panose="02070309020205020404" pitchFamily="49" charset="0"/>
                <a:cs typeface="Courier New" panose="02070309020205020404" pitchFamily="49" charset="0"/>
              </a:rPr>
              <a:t> char* </a:t>
            </a:r>
            <a:r>
              <a:rPr lang="fr-FR" sz="1100" dirty="0" err="1" smtClean="0">
                <a:solidFill>
                  <a:schemeClr val="tx1"/>
                </a:solidFill>
                <a:latin typeface="Courier New" panose="02070309020205020404" pitchFamily="49" charset="0"/>
                <a:cs typeface="Courier New" panose="02070309020205020404" pitchFamily="49" charset="0"/>
              </a:rPr>
              <a:t>newName</a:t>
            </a:r>
            <a:r>
              <a:rPr lang="fr-FR" sz="1100" dirty="0" smtClean="0">
                <a:solidFill>
                  <a:schemeClr val="tx1"/>
                </a:solidFill>
                <a:latin typeface="Courier New" panose="02070309020205020404" pitchFamily="49" charset="0"/>
                <a:cs typeface="Courier New" panose="02070309020205020404" pitchFamily="49" charset="0"/>
              </a:rPr>
              <a:t>)</a:t>
            </a:r>
            <a:endParaRPr lang="fr-FR" sz="1100"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9096969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2400" dirty="0" smtClean="0">
                <a:latin typeface="Times New Roman" panose="02020603050405020304" pitchFamily="18" charset="0"/>
                <a:cs typeface="Times New Roman" panose="02020603050405020304" pitchFamily="18" charset="0"/>
              </a:rPr>
              <a:t>Destruction : </a:t>
            </a:r>
            <a:r>
              <a:rPr lang="fr-FR" sz="2400" dirty="0" err="1" smtClean="0">
                <a:latin typeface="Times New Roman" panose="02020603050405020304" pitchFamily="18" charset="0"/>
                <a:cs typeface="Times New Roman" panose="02020603050405020304" pitchFamily="18" charset="0"/>
              </a:rPr>
              <a:t>unlink</a:t>
            </a:r>
            <a:r>
              <a:rPr lang="fr-FR" sz="2400" dirty="0" smtClean="0">
                <a:latin typeface="Times New Roman" panose="02020603050405020304" pitchFamily="18" charset="0"/>
                <a:cs typeface="Times New Roman" panose="02020603050405020304" pitchFamily="18" charset="0"/>
              </a:rPr>
              <a:t/>
            </a:r>
            <a:br>
              <a:rPr lang="fr-FR" sz="2400" dirty="0" smtClean="0">
                <a:latin typeface="Times New Roman" panose="02020603050405020304" pitchFamily="18" charset="0"/>
                <a:cs typeface="Times New Roman" panose="02020603050405020304" pitchFamily="18" charset="0"/>
              </a:rPr>
            </a:br>
            <a:endParaRPr lang="fr-FR" dirty="0"/>
          </a:p>
        </p:txBody>
      </p:sp>
      <p:sp>
        <p:nvSpPr>
          <p:cNvPr id="3" name="Content Placeholder 2"/>
          <p:cNvSpPr>
            <a:spLocks noGrp="1"/>
          </p:cNvSpPr>
          <p:nvPr>
            <p:ph idx="1"/>
          </p:nvPr>
        </p:nvSpPr>
        <p:spPr/>
        <p:txBody>
          <a:bodyPr>
            <a:noAutofit/>
          </a:bodyPr>
          <a:lstStyle/>
          <a:p>
            <a:pPr>
              <a:lnSpc>
                <a:spcPct val="120000"/>
              </a:lnSpc>
              <a:buFont typeface="Wingdings" panose="05000000000000000000" pitchFamily="2" charset="2"/>
              <a:buChar char="Ø"/>
            </a:pPr>
            <a:endParaRPr lang="fr-FR" sz="900" dirty="0" smtClean="0">
              <a:solidFill>
                <a:srgbClr val="191919"/>
              </a:solidFill>
              <a:latin typeface="Times New Roman" pitchFamily="18" charset="0"/>
              <a:ea typeface="Arial Unicode MS"/>
              <a:cs typeface="Times New Roman" pitchFamily="18" charset="0"/>
            </a:endParaRPr>
          </a:p>
          <a:p>
            <a:pPr>
              <a:lnSpc>
                <a:spcPct val="120000"/>
              </a:lnSpc>
              <a:buFont typeface="Wingdings" panose="05000000000000000000" pitchFamily="2" charset="2"/>
              <a:buChar char="Ø"/>
            </a:pPr>
            <a:endParaRPr lang="fr-FR" sz="900" dirty="0" smtClean="0">
              <a:solidFill>
                <a:srgbClr val="191919"/>
              </a:solidFill>
              <a:latin typeface="Times New Roman" pitchFamily="18" charset="0"/>
              <a:ea typeface="Arial Unicode MS"/>
              <a:cs typeface="Times New Roman" pitchFamily="18" charset="0"/>
            </a:endParaRPr>
          </a:p>
          <a:p>
            <a:pPr>
              <a:lnSpc>
                <a:spcPct val="120000"/>
              </a:lnSpc>
              <a:buFont typeface="Wingdings" panose="05000000000000000000" pitchFamily="2" charset="2"/>
              <a:buChar char="Ø"/>
            </a:pPr>
            <a:r>
              <a:rPr lang="en-US" sz="900" dirty="0">
                <a:solidFill>
                  <a:srgbClr val="191919"/>
                </a:solidFill>
                <a:latin typeface="Times New Roman" pitchFamily="18" charset="0"/>
                <a:ea typeface="Arial Unicode MS"/>
                <a:cs typeface="Times New Roman" pitchFamily="18" charset="0"/>
              </a:rPr>
              <a:t>decrements the </a:t>
            </a:r>
            <a:r>
              <a:rPr lang="en-US" sz="900" dirty="0" smtClean="0">
                <a:solidFill>
                  <a:srgbClr val="191919"/>
                </a:solidFill>
                <a:latin typeface="Times New Roman" pitchFamily="18" charset="0"/>
                <a:ea typeface="Arial Unicode MS"/>
                <a:cs typeface="Times New Roman" pitchFamily="18" charset="0"/>
              </a:rPr>
              <a:t>physical link </a:t>
            </a:r>
            <a:r>
              <a:rPr lang="en-US" sz="900" dirty="0">
                <a:solidFill>
                  <a:srgbClr val="191919"/>
                </a:solidFill>
                <a:latin typeface="Times New Roman" pitchFamily="18" charset="0"/>
                <a:ea typeface="Arial Unicode MS"/>
                <a:cs typeface="Times New Roman" pitchFamily="18" charset="0"/>
              </a:rPr>
              <a:t>counter</a:t>
            </a:r>
          </a:p>
          <a:p>
            <a:pPr>
              <a:lnSpc>
                <a:spcPct val="120000"/>
              </a:lnSpc>
              <a:buFont typeface="Wingdings" panose="05000000000000000000" pitchFamily="2" charset="2"/>
              <a:buChar char="Ø"/>
            </a:pPr>
            <a:r>
              <a:rPr lang="en-US" sz="900" dirty="0">
                <a:solidFill>
                  <a:srgbClr val="191919"/>
                </a:solidFill>
                <a:latin typeface="Times New Roman" pitchFamily="18" charset="0"/>
                <a:ea typeface="Arial Unicode MS"/>
                <a:cs typeface="Times New Roman" pitchFamily="18" charset="0"/>
              </a:rPr>
              <a:t> if it drops to zero, the file will be destroyed </a:t>
            </a:r>
            <a:r>
              <a:rPr lang="en-US" sz="900" dirty="0">
                <a:solidFill>
                  <a:srgbClr val="FF0000"/>
                </a:solidFill>
                <a:latin typeface="Times New Roman" pitchFamily="18" charset="0"/>
                <a:ea typeface="Arial Unicode MS"/>
                <a:cs typeface="Times New Roman" pitchFamily="18" charset="0"/>
              </a:rPr>
              <a:t>as soon as no more process has an open descriptor</a:t>
            </a:r>
          </a:p>
          <a:p>
            <a:pPr>
              <a:lnSpc>
                <a:spcPct val="120000"/>
              </a:lnSpc>
              <a:buFont typeface="Wingdings" panose="05000000000000000000" pitchFamily="2" charset="2"/>
              <a:buChar char="Ø"/>
            </a:pPr>
            <a:r>
              <a:rPr lang="en-US" sz="900" dirty="0">
                <a:solidFill>
                  <a:srgbClr val="191919"/>
                </a:solidFill>
                <a:latin typeface="Times New Roman" pitchFamily="18" charset="0"/>
                <a:ea typeface="Arial Unicode MS"/>
                <a:cs typeface="Times New Roman" pitchFamily="18" charset="0"/>
              </a:rPr>
              <a:t>If file is a symbolic link it is deleted.</a:t>
            </a:r>
          </a:p>
          <a:p>
            <a:pPr>
              <a:lnSpc>
                <a:spcPct val="120000"/>
              </a:lnSpc>
              <a:buFont typeface="Wingdings" panose="05000000000000000000" pitchFamily="2" charset="2"/>
              <a:buChar char="Ø"/>
            </a:pPr>
            <a:r>
              <a:rPr lang="en-US" sz="900" dirty="0">
                <a:solidFill>
                  <a:srgbClr val="191919"/>
                </a:solidFill>
                <a:latin typeface="Times New Roman" pitchFamily="18" charset="0"/>
                <a:ea typeface="Arial Unicode MS"/>
                <a:cs typeface="Times New Roman" pitchFamily="18" charset="0"/>
              </a:rPr>
              <a:t>The system call to delete a file is therefore named </a:t>
            </a:r>
            <a:r>
              <a:rPr lang="en-US" sz="900" dirty="0">
                <a:solidFill>
                  <a:srgbClr val="FF0000"/>
                </a:solidFill>
                <a:latin typeface="Times New Roman" pitchFamily="18" charset="0"/>
                <a:ea typeface="Arial Unicode MS"/>
                <a:cs typeface="Times New Roman" pitchFamily="18" charset="0"/>
              </a:rPr>
              <a:t>unlink ()</a:t>
            </a:r>
            <a:r>
              <a:rPr lang="en-US" sz="900" dirty="0">
                <a:solidFill>
                  <a:srgbClr val="191919"/>
                </a:solidFill>
                <a:latin typeface="Times New Roman" pitchFamily="18" charset="0"/>
                <a:ea typeface="Arial Unicode MS"/>
                <a:cs typeface="Times New Roman" pitchFamily="18" charset="0"/>
              </a:rPr>
              <a:t>, and not erase (), delete () or something like that, because it is only used to remove the link between a file name (a directory entry) and the </a:t>
            </a:r>
            <a:r>
              <a:rPr lang="en-US" sz="900" dirty="0" err="1">
                <a:solidFill>
                  <a:srgbClr val="191919"/>
                </a:solidFill>
                <a:latin typeface="Times New Roman" pitchFamily="18" charset="0"/>
                <a:ea typeface="Arial Unicode MS"/>
                <a:cs typeface="Times New Roman" pitchFamily="18" charset="0"/>
              </a:rPr>
              <a:t>inode</a:t>
            </a:r>
            <a:r>
              <a:rPr lang="en-US" sz="900" dirty="0">
                <a:solidFill>
                  <a:srgbClr val="191919"/>
                </a:solidFill>
                <a:latin typeface="Times New Roman" pitchFamily="18" charset="0"/>
                <a:ea typeface="Arial Unicode MS"/>
                <a:cs typeface="Times New Roman" pitchFamily="18" charset="0"/>
              </a:rPr>
              <a:t> corresponding to the contents of the file</a:t>
            </a:r>
            <a:r>
              <a:rPr lang="en-US" sz="900" dirty="0" smtClean="0">
                <a:solidFill>
                  <a:srgbClr val="191919"/>
                </a:solidFill>
                <a:latin typeface="Times New Roman" pitchFamily="18" charset="0"/>
                <a:ea typeface="Arial Unicode MS"/>
                <a:cs typeface="Times New Roman" pitchFamily="18" charset="0"/>
              </a:rPr>
              <a:t>. </a:t>
            </a:r>
            <a:r>
              <a:rPr lang="fr-FR" sz="900" dirty="0" smtClean="0">
                <a:latin typeface="Times New Roman" pitchFamily="18" charset="0"/>
                <a:ea typeface="Arial Unicode MS"/>
                <a:cs typeface="Times New Roman" pitchFamily="18" charset="0"/>
                <a:hlinkClick r:id="rId2" action="ppaction://hlinkfile"/>
              </a:rPr>
              <a:t>exemple </a:t>
            </a:r>
            <a:endParaRPr lang="en-US" sz="900" b="1" dirty="0">
              <a:solidFill>
                <a:srgbClr val="9866CC"/>
              </a:solidFill>
              <a:latin typeface="Times New Roman" pitchFamily="18" charset="0"/>
              <a:ea typeface="Arial Unicode MS"/>
              <a:cs typeface="Times New Roman" pitchFamily="18" charset="0"/>
            </a:endParaRPr>
          </a:p>
        </p:txBody>
      </p:sp>
      <p:sp>
        <p:nvSpPr>
          <p:cNvPr id="4" name="Rectangle 3"/>
          <p:cNvSpPr/>
          <p:nvPr/>
        </p:nvSpPr>
        <p:spPr>
          <a:xfrm>
            <a:off x="444592" y="931412"/>
            <a:ext cx="3962400"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100" dirty="0" smtClean="0">
                <a:solidFill>
                  <a:schemeClr val="tx1"/>
                </a:solidFill>
                <a:latin typeface="Courier New" panose="02070309020205020404" pitchFamily="49" charset="0"/>
                <a:cs typeface="Courier New" panose="02070309020205020404" pitchFamily="49" charset="0"/>
              </a:rPr>
              <a:t>#</a:t>
            </a:r>
            <a:r>
              <a:rPr lang="fr-FR" sz="1100" dirty="0" err="1" smtClean="0">
                <a:solidFill>
                  <a:schemeClr val="tx1"/>
                </a:solidFill>
                <a:latin typeface="Courier New" panose="02070309020205020404" pitchFamily="49" charset="0"/>
                <a:cs typeface="Courier New" panose="02070309020205020404" pitchFamily="49" charset="0"/>
              </a:rPr>
              <a:t>include</a:t>
            </a:r>
            <a:r>
              <a:rPr lang="fr-FR" sz="1100" dirty="0" smtClean="0">
                <a:solidFill>
                  <a:schemeClr val="tx1"/>
                </a:solidFill>
                <a:latin typeface="Courier New" panose="02070309020205020404" pitchFamily="49" charset="0"/>
                <a:cs typeface="Courier New" panose="02070309020205020404" pitchFamily="49" charset="0"/>
              </a:rPr>
              <a:t> &lt;</a:t>
            </a:r>
            <a:r>
              <a:rPr lang="fr-FR" sz="1100" dirty="0" err="1" smtClean="0">
                <a:solidFill>
                  <a:schemeClr val="tx1"/>
                </a:solidFill>
                <a:latin typeface="Courier New" panose="02070309020205020404" pitchFamily="49" charset="0"/>
                <a:cs typeface="Courier New" panose="02070309020205020404" pitchFamily="49" charset="0"/>
              </a:rPr>
              <a:t>unistd.h</a:t>
            </a:r>
            <a:r>
              <a:rPr lang="fr-FR" sz="1100" dirty="0" smtClean="0">
                <a:solidFill>
                  <a:schemeClr val="tx1"/>
                </a:solidFill>
                <a:latin typeface="Courier New" panose="02070309020205020404" pitchFamily="49" charset="0"/>
                <a:cs typeface="Courier New" panose="02070309020205020404" pitchFamily="49" charset="0"/>
              </a:rPr>
              <a:t>&gt;</a:t>
            </a:r>
          </a:p>
          <a:p>
            <a:r>
              <a:rPr lang="fr-FR" sz="1100" dirty="0" err="1" smtClean="0">
                <a:solidFill>
                  <a:schemeClr val="tx1"/>
                </a:solidFill>
                <a:latin typeface="Courier New" panose="02070309020205020404" pitchFamily="49" charset="0"/>
                <a:cs typeface="Courier New" panose="02070309020205020404" pitchFamily="49" charset="0"/>
              </a:rPr>
              <a:t>int</a:t>
            </a:r>
            <a:r>
              <a:rPr lang="fr-FR" sz="1100" dirty="0" smtClean="0">
                <a:solidFill>
                  <a:schemeClr val="tx1"/>
                </a:solidFill>
                <a:latin typeface="Courier New" panose="02070309020205020404" pitchFamily="49" charset="0"/>
                <a:cs typeface="Courier New" panose="02070309020205020404" pitchFamily="49" charset="0"/>
              </a:rPr>
              <a:t> </a:t>
            </a:r>
            <a:r>
              <a:rPr lang="fr-FR" sz="1100" dirty="0" err="1" smtClean="0">
                <a:solidFill>
                  <a:srgbClr val="00B0F0"/>
                </a:solidFill>
                <a:latin typeface="Courier New" panose="02070309020205020404" pitchFamily="49" charset="0"/>
                <a:cs typeface="Courier New" panose="02070309020205020404" pitchFamily="49" charset="0"/>
              </a:rPr>
              <a:t>unlink</a:t>
            </a:r>
            <a:r>
              <a:rPr lang="fr-FR" sz="1100" dirty="0" smtClean="0">
                <a:solidFill>
                  <a:srgbClr val="00B0F0"/>
                </a:solidFill>
                <a:latin typeface="Courier New" panose="02070309020205020404" pitchFamily="49" charset="0"/>
                <a:cs typeface="Courier New" panose="02070309020205020404" pitchFamily="49" charset="0"/>
              </a:rPr>
              <a:t> </a:t>
            </a:r>
            <a:r>
              <a:rPr lang="fr-FR" sz="1100" dirty="0" smtClean="0">
                <a:solidFill>
                  <a:schemeClr val="tx1"/>
                </a:solidFill>
                <a:latin typeface="Courier New" panose="02070309020205020404" pitchFamily="49" charset="0"/>
                <a:cs typeface="Courier New" panose="02070309020205020404" pitchFamily="49" charset="0"/>
              </a:rPr>
              <a:t>( </a:t>
            </a:r>
            <a:r>
              <a:rPr lang="fr-FR" sz="1100" dirty="0" err="1" smtClean="0">
                <a:solidFill>
                  <a:schemeClr val="tx1"/>
                </a:solidFill>
                <a:latin typeface="Courier New" panose="02070309020205020404" pitchFamily="49" charset="0"/>
                <a:cs typeface="Courier New" panose="02070309020205020404" pitchFamily="49" charset="0"/>
              </a:rPr>
              <a:t>const</a:t>
            </a:r>
            <a:r>
              <a:rPr lang="fr-FR" sz="1100" dirty="0" smtClean="0">
                <a:solidFill>
                  <a:schemeClr val="tx1"/>
                </a:solidFill>
                <a:latin typeface="Courier New" panose="02070309020205020404" pitchFamily="49" charset="0"/>
                <a:cs typeface="Courier New" panose="02070309020205020404" pitchFamily="49" charset="0"/>
              </a:rPr>
              <a:t> char* </a:t>
            </a:r>
            <a:r>
              <a:rPr lang="fr-FR" sz="1100" dirty="0" err="1" smtClean="0">
                <a:solidFill>
                  <a:srgbClr val="FF0000"/>
                </a:solidFill>
                <a:latin typeface="Courier New" panose="02070309020205020404" pitchFamily="49" charset="0"/>
                <a:cs typeface="Courier New" panose="02070309020205020404" pitchFamily="49" charset="0"/>
              </a:rPr>
              <a:t>nomFic</a:t>
            </a:r>
            <a:r>
              <a:rPr lang="fr-FR" sz="1100" dirty="0" smtClean="0">
                <a:solidFill>
                  <a:schemeClr val="tx1"/>
                </a:solidFill>
                <a:latin typeface="Courier New" panose="02070309020205020404" pitchFamily="49" charset="0"/>
                <a:cs typeface="Courier New" panose="02070309020205020404" pitchFamily="49" charset="0"/>
              </a:rPr>
              <a:t>);</a:t>
            </a:r>
            <a:endParaRPr lang="fr-FR" sz="1100"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3550133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sz="2800" dirty="0">
                <a:latin typeface="Times New Roman" panose="02020603050405020304" pitchFamily="18" charset="0"/>
                <a:cs typeface="Times New Roman" panose="02020603050405020304" pitchFamily="18" charset="0"/>
              </a:rPr>
              <a:t>Destruction : </a:t>
            </a:r>
            <a:r>
              <a:rPr lang="fr-FR" sz="2800" dirty="0" err="1">
                <a:latin typeface="Times New Roman" panose="02020603050405020304" pitchFamily="18" charset="0"/>
                <a:cs typeface="Times New Roman" panose="02020603050405020304" pitchFamily="18" charset="0"/>
              </a:rPr>
              <a:t>unlink</a:t>
            </a:r>
            <a:r>
              <a:rPr lang="fr-FR" sz="2800" dirty="0">
                <a:latin typeface="Times New Roman" panose="02020603050405020304" pitchFamily="18" charset="0"/>
                <a:cs typeface="Times New Roman" panose="02020603050405020304" pitchFamily="18" charset="0"/>
              </a:rPr>
              <a:t/>
            </a:r>
            <a:br>
              <a:rPr lang="fr-FR" sz="2800" dirty="0">
                <a:latin typeface="Times New Roman" panose="02020603050405020304" pitchFamily="18" charset="0"/>
                <a:cs typeface="Times New Roman" panose="02020603050405020304" pitchFamily="18" charset="0"/>
              </a:rPr>
            </a:br>
            <a:endParaRPr lang="fr-FR" dirty="0"/>
          </a:p>
        </p:txBody>
      </p:sp>
      <p:sp>
        <p:nvSpPr>
          <p:cNvPr id="3" name="Content Placeholder 2"/>
          <p:cNvSpPr>
            <a:spLocks noGrp="1"/>
          </p:cNvSpPr>
          <p:nvPr>
            <p:ph idx="1"/>
          </p:nvPr>
        </p:nvSpPr>
        <p:spPr/>
        <p:txBody>
          <a:bodyPr>
            <a:normAutofit fontScale="77500" lnSpcReduction="20000"/>
          </a:bodyPr>
          <a:lstStyle/>
          <a:p>
            <a:r>
              <a:rPr lang="en-US" sz="1050" dirty="0"/>
              <a:t>The execution confirms our expectations, the file </a:t>
            </a:r>
            <a:r>
              <a:rPr lang="en-US" sz="1050" dirty="0" smtClean="0"/>
              <a:t>disappear </a:t>
            </a:r>
            <a:r>
              <a:rPr lang="en-US" sz="1050" dirty="0"/>
              <a:t>from the directory </a:t>
            </a:r>
            <a:r>
              <a:rPr lang="en-US" sz="1050" dirty="0" smtClean="0"/>
              <a:t> at the </a:t>
            </a:r>
            <a:r>
              <a:rPr lang="en-US" sz="1050" dirty="0"/>
              <a:t>second time ls was called, but we can continue to read its contents until we close it</a:t>
            </a:r>
            <a:r>
              <a:rPr lang="en-US" sz="1050" dirty="0" smtClean="0"/>
              <a:t>.</a:t>
            </a:r>
          </a:p>
          <a:p>
            <a:r>
              <a:rPr lang="en-US" sz="1050" dirty="0" smtClean="0"/>
              <a:t>$ </a:t>
            </a:r>
            <a:r>
              <a:rPr lang="en-US" sz="1050" b="1" dirty="0"/>
              <a:t>./</a:t>
            </a:r>
            <a:r>
              <a:rPr lang="en-US" sz="1050" b="1" dirty="0" err="1"/>
              <a:t>exemple_unlink</a:t>
            </a:r>
            <a:endParaRPr lang="en-US" sz="1050" b="1" dirty="0"/>
          </a:p>
          <a:p>
            <a:r>
              <a:rPr lang="en-US" sz="1050" dirty="0" err="1"/>
              <a:t>Création</a:t>
            </a:r>
            <a:r>
              <a:rPr lang="en-US" sz="1050" dirty="0"/>
              <a:t> fichier</a:t>
            </a:r>
          </a:p>
          <a:p>
            <a:r>
              <a:rPr lang="en-US" sz="1050" dirty="0"/>
              <a:t>-</a:t>
            </a:r>
            <a:r>
              <a:rPr lang="en-US" sz="1050" dirty="0" err="1"/>
              <a:t>rw</a:t>
            </a:r>
            <a:r>
              <a:rPr lang="en-US" sz="1050" dirty="0"/>
              <a:t>-</a:t>
            </a:r>
            <a:r>
              <a:rPr lang="en-US" sz="1050" dirty="0" err="1"/>
              <a:t>rw</a:t>
            </a:r>
            <a:r>
              <a:rPr lang="en-US" sz="1050" dirty="0"/>
              <a:t>-r-- 1 </a:t>
            </a:r>
            <a:r>
              <a:rPr lang="en-US" sz="1050" dirty="0" err="1"/>
              <a:t>ccb</a:t>
            </a:r>
            <a:r>
              <a:rPr lang="en-US" sz="1050" dirty="0"/>
              <a:t> </a:t>
            </a:r>
            <a:r>
              <a:rPr lang="en-US" sz="1050" dirty="0" err="1"/>
              <a:t>ccb</a:t>
            </a:r>
            <a:r>
              <a:rPr lang="en-US" sz="1050" dirty="0"/>
              <a:t> 26 Dec 1 14:24 </a:t>
            </a:r>
            <a:r>
              <a:rPr lang="en-US" sz="1050" dirty="0" err="1"/>
              <a:t>essai.unlink</a:t>
            </a:r>
            <a:endParaRPr lang="en-US" sz="1050" dirty="0"/>
          </a:p>
          <a:p>
            <a:r>
              <a:rPr lang="en-US" sz="1050" dirty="0"/>
              <a:t>Effacement fichier</a:t>
            </a:r>
          </a:p>
          <a:p>
            <a:r>
              <a:rPr lang="fr-FR" sz="1050" dirty="0" err="1"/>
              <a:t>ls</a:t>
            </a:r>
            <a:r>
              <a:rPr lang="fr-FR" sz="1050" dirty="0"/>
              <a:t>: </a:t>
            </a:r>
            <a:r>
              <a:rPr lang="fr-FR" sz="1050" dirty="0" err="1"/>
              <a:t>essai.unlink</a:t>
            </a:r>
            <a:r>
              <a:rPr lang="fr-FR" sz="1050" dirty="0"/>
              <a:t>: Aucun fichier ou répertoire de ce type</a:t>
            </a:r>
          </a:p>
          <a:p>
            <a:r>
              <a:rPr lang="fr-FR" sz="1050" dirty="0"/>
              <a:t>Relecture du contenu du fichier</a:t>
            </a:r>
          </a:p>
          <a:p>
            <a:r>
              <a:rPr lang="en-US" sz="1050" dirty="0"/>
              <a:t>Lu : ABCDEFGHIJKLMNOPQRSTUVWXYZ</a:t>
            </a:r>
          </a:p>
          <a:p>
            <a:r>
              <a:rPr lang="en-US" sz="1050" dirty="0" err="1"/>
              <a:t>Fermeture</a:t>
            </a:r>
            <a:r>
              <a:rPr lang="en-US" sz="1050" dirty="0"/>
              <a:t> fichier</a:t>
            </a:r>
          </a:p>
          <a:p>
            <a:r>
              <a:rPr lang="en-US" sz="1050" dirty="0"/>
              <a:t>$</a:t>
            </a:r>
          </a:p>
          <a:p>
            <a:endParaRPr lang="fr-FR" dirty="0"/>
          </a:p>
        </p:txBody>
      </p:sp>
    </p:spTree>
    <p:extLst>
      <p:ext uri="{BB962C8B-B14F-4D97-AF65-F5344CB8AC3E}">
        <p14:creationId xmlns:p14="http://schemas.microsoft.com/office/powerpoint/2010/main" val="342844377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2800" dirty="0">
                <a:latin typeface="Times New Roman" panose="02020603050405020304" pitchFamily="18" charset="0"/>
                <a:cs typeface="Times New Roman" panose="02020603050405020304" pitchFamily="18" charset="0"/>
              </a:rPr>
              <a:t>Destruction </a:t>
            </a:r>
            <a:r>
              <a:rPr lang="fr-FR" sz="2800" dirty="0" smtClean="0">
                <a:latin typeface="Times New Roman" panose="02020603050405020304" pitchFamily="18" charset="0"/>
                <a:cs typeface="Times New Roman" panose="02020603050405020304" pitchFamily="18" charset="0"/>
              </a:rPr>
              <a:t>:</a:t>
            </a:r>
            <a:r>
              <a:rPr lang="fr-FR" sz="2800" dirty="0" err="1" smtClean="0">
                <a:latin typeface="Times New Roman" panose="02020603050405020304" pitchFamily="18" charset="0"/>
                <a:cs typeface="Times New Roman" panose="02020603050405020304" pitchFamily="18" charset="0"/>
              </a:rPr>
              <a:t>Remove</a:t>
            </a:r>
            <a:endParaRPr lang="fr-F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nSpc>
                <a:spcPct val="120000"/>
              </a:lnSpc>
              <a:spcBef>
                <a:spcPts val="0"/>
              </a:spcBef>
              <a:spcAft>
                <a:spcPts val="0"/>
              </a:spcAft>
              <a:buFont typeface="Wingdings" panose="05000000000000000000" pitchFamily="2" charset="2"/>
              <a:buChar char="Ø"/>
            </a:pPr>
            <a:r>
              <a:rPr lang="en-US" sz="1000" dirty="0">
                <a:latin typeface="Times New Roman" pitchFamily="18" charset="0"/>
                <a:cs typeface="Times New Roman" pitchFamily="18" charset="0"/>
              </a:rPr>
              <a:t>There is a function from the C library called remove () which serves as their front-end by invoking the system call corresponding to the type of object concerned.</a:t>
            </a:r>
          </a:p>
          <a:p>
            <a:pPr>
              <a:lnSpc>
                <a:spcPct val="120000"/>
              </a:lnSpc>
              <a:spcBef>
                <a:spcPts val="0"/>
              </a:spcBef>
              <a:spcAft>
                <a:spcPts val="0"/>
              </a:spcAft>
              <a:buFont typeface="Wingdings" panose="05000000000000000000" pitchFamily="2" charset="2"/>
              <a:buChar char="Ø"/>
            </a:pPr>
            <a:r>
              <a:rPr lang="en-US" sz="1000" dirty="0">
                <a:latin typeface="Times New Roman" pitchFamily="18" charset="0"/>
                <a:cs typeface="Times New Roman" pitchFamily="18" charset="0"/>
              </a:rPr>
              <a:t>It is declared in &lt;</a:t>
            </a:r>
            <a:r>
              <a:rPr lang="en-US" sz="1000" dirty="0" err="1">
                <a:solidFill>
                  <a:srgbClr val="FF0000"/>
                </a:solidFill>
                <a:latin typeface="Times New Roman" pitchFamily="18" charset="0"/>
                <a:cs typeface="Times New Roman" pitchFamily="18" charset="0"/>
              </a:rPr>
              <a:t>stdio.h</a:t>
            </a:r>
            <a:r>
              <a:rPr lang="en-US" sz="1000" dirty="0">
                <a:latin typeface="Times New Roman" pitchFamily="18" charset="0"/>
                <a:cs typeface="Times New Roman" pitchFamily="18" charset="0"/>
              </a:rPr>
              <a:t>&gt; :</a:t>
            </a:r>
          </a:p>
          <a:p>
            <a:pPr>
              <a:lnSpc>
                <a:spcPct val="120000"/>
              </a:lnSpc>
              <a:spcBef>
                <a:spcPts val="0"/>
              </a:spcBef>
              <a:spcAft>
                <a:spcPts val="0"/>
              </a:spcAft>
              <a:buFont typeface="Wingdings" panose="05000000000000000000" pitchFamily="2" charset="2"/>
              <a:buChar char="Ø"/>
            </a:pPr>
            <a:r>
              <a:rPr lang="fr-FR" sz="1000" dirty="0" err="1">
                <a:solidFill>
                  <a:srgbClr val="FF0000"/>
                </a:solidFill>
                <a:latin typeface="Times New Roman" pitchFamily="18" charset="0"/>
                <a:cs typeface="Times New Roman" pitchFamily="18" charset="0"/>
              </a:rPr>
              <a:t>int</a:t>
            </a:r>
            <a:r>
              <a:rPr lang="fr-FR" sz="1000" dirty="0">
                <a:solidFill>
                  <a:srgbClr val="FF0000"/>
                </a:solidFill>
                <a:latin typeface="Times New Roman" pitchFamily="18" charset="0"/>
                <a:cs typeface="Times New Roman" pitchFamily="18" charset="0"/>
              </a:rPr>
              <a:t> </a:t>
            </a:r>
            <a:r>
              <a:rPr lang="fr-FR" sz="1000" dirty="0" err="1">
                <a:solidFill>
                  <a:srgbClr val="FF0000"/>
                </a:solidFill>
                <a:latin typeface="Times New Roman" pitchFamily="18" charset="0"/>
                <a:cs typeface="Times New Roman" pitchFamily="18" charset="0"/>
              </a:rPr>
              <a:t>remove</a:t>
            </a:r>
            <a:r>
              <a:rPr lang="fr-FR" sz="1000" dirty="0">
                <a:solidFill>
                  <a:srgbClr val="FF0000"/>
                </a:solidFill>
                <a:latin typeface="Times New Roman" pitchFamily="18" charset="0"/>
                <a:cs typeface="Times New Roman" pitchFamily="18" charset="0"/>
              </a:rPr>
              <a:t> (</a:t>
            </a:r>
            <a:r>
              <a:rPr lang="fr-FR" sz="1000" dirty="0" err="1">
                <a:solidFill>
                  <a:srgbClr val="FF0000"/>
                </a:solidFill>
                <a:latin typeface="Times New Roman" pitchFamily="18" charset="0"/>
                <a:cs typeface="Times New Roman" pitchFamily="18" charset="0"/>
              </a:rPr>
              <a:t>const</a:t>
            </a:r>
            <a:r>
              <a:rPr lang="fr-FR" sz="1000" dirty="0">
                <a:solidFill>
                  <a:srgbClr val="FF0000"/>
                </a:solidFill>
                <a:latin typeface="Times New Roman" pitchFamily="18" charset="0"/>
                <a:cs typeface="Times New Roman" pitchFamily="18" charset="0"/>
              </a:rPr>
              <a:t> char * nom</a:t>
            </a:r>
            <a:r>
              <a:rPr lang="fr-FR" sz="1000" dirty="0" smtClean="0">
                <a:solidFill>
                  <a:srgbClr val="FF0000"/>
                </a:solidFill>
                <a:latin typeface="Times New Roman" pitchFamily="18" charset="0"/>
                <a:cs typeface="Times New Roman" pitchFamily="18" charset="0"/>
              </a:rPr>
              <a:t>)</a:t>
            </a:r>
          </a:p>
          <a:p>
            <a:pPr>
              <a:lnSpc>
                <a:spcPct val="120000"/>
              </a:lnSpc>
              <a:spcBef>
                <a:spcPts val="0"/>
              </a:spcBef>
              <a:spcAft>
                <a:spcPts val="0"/>
              </a:spcAft>
              <a:buFont typeface="Wingdings" panose="05000000000000000000" pitchFamily="2" charset="2"/>
              <a:buChar char="Ø"/>
            </a:pPr>
            <a:r>
              <a:rPr lang="en-US" sz="1000" dirty="0">
                <a:solidFill>
                  <a:srgbClr val="FF0000"/>
                </a:solidFill>
                <a:latin typeface="Times New Roman" pitchFamily="18" charset="0"/>
                <a:cs typeface="Times New Roman" pitchFamily="18" charset="0"/>
              </a:rPr>
              <a:t>Its use is very simple, the following program </a:t>
            </a:r>
            <a:r>
              <a:rPr lang="en-US" sz="1000" dirty="0" smtClean="0">
                <a:solidFill>
                  <a:srgbClr val="FF0000"/>
                </a:solidFill>
                <a:latin typeface="Times New Roman" pitchFamily="18" charset="0"/>
                <a:cs typeface="Times New Roman" pitchFamily="18" charset="0"/>
              </a:rPr>
              <a:t>(next slide) erases </a:t>
            </a:r>
            <a:r>
              <a:rPr lang="en-US" sz="1000" dirty="0">
                <a:solidFill>
                  <a:srgbClr val="FF0000"/>
                </a:solidFill>
                <a:latin typeface="Times New Roman" pitchFamily="18" charset="0"/>
                <a:cs typeface="Times New Roman" pitchFamily="18" charset="0"/>
              </a:rPr>
              <a:t>the files and directories whose names are transmitted as arguments.</a:t>
            </a:r>
            <a:endParaRPr lang="fr-FR" sz="10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2600669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2800" dirty="0">
                <a:latin typeface="Times New Roman" panose="02020603050405020304" pitchFamily="18" charset="0"/>
                <a:cs typeface="Times New Roman" panose="02020603050405020304" pitchFamily="18" charset="0"/>
              </a:rPr>
              <a:t>Destruction : </a:t>
            </a:r>
            <a:r>
              <a:rPr lang="fr-FR" sz="2800" dirty="0" err="1">
                <a:latin typeface="Times New Roman" panose="02020603050405020304" pitchFamily="18" charset="0"/>
                <a:cs typeface="Times New Roman" panose="02020603050405020304" pitchFamily="18" charset="0"/>
              </a:rPr>
              <a:t>Remove</a:t>
            </a:r>
            <a:endParaRPr lang="fr-F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nSpc>
                <a:spcPct val="120000"/>
              </a:lnSpc>
              <a:spcBef>
                <a:spcPts val="0"/>
              </a:spcBef>
              <a:spcAft>
                <a:spcPts val="0"/>
              </a:spcAft>
            </a:pPr>
            <a:r>
              <a:rPr lang="en-US" sz="1000" dirty="0" smtClean="0">
                <a:latin typeface="Times New Roman" pitchFamily="18" charset="0"/>
                <a:cs typeface="Times New Roman" pitchFamily="18" charset="0"/>
                <a:hlinkClick r:id="rId2" action="ppaction://hlinkfile"/>
              </a:rPr>
              <a:t>Exemple</a:t>
            </a:r>
            <a:endParaRPr lang="en-US" sz="1000" dirty="0">
              <a:latin typeface="Times New Roman" pitchFamily="18" charset="0"/>
              <a:cs typeface="Times New Roman" pitchFamily="18" charset="0"/>
            </a:endParaRPr>
          </a:p>
          <a:p>
            <a:pPr>
              <a:lnSpc>
                <a:spcPct val="120000"/>
              </a:lnSpc>
              <a:spcBef>
                <a:spcPts val="0"/>
              </a:spcBef>
              <a:spcAft>
                <a:spcPts val="0"/>
              </a:spcAft>
            </a:pPr>
            <a:r>
              <a:rPr lang="en-US" sz="1000" dirty="0">
                <a:latin typeface="Times New Roman" pitchFamily="18" charset="0"/>
                <a:cs typeface="Times New Roman" pitchFamily="18" charset="0"/>
              </a:rPr>
              <a:t>The following example execution proceeds as expected:$ </a:t>
            </a:r>
            <a:r>
              <a:rPr lang="en-US" sz="1000" b="1" dirty="0">
                <a:latin typeface="Times New Roman" pitchFamily="18" charset="0"/>
                <a:cs typeface="Times New Roman" pitchFamily="18" charset="0"/>
              </a:rPr>
              <a:t>touch </a:t>
            </a:r>
            <a:r>
              <a:rPr lang="en-US" sz="1000" b="1" dirty="0" err="1">
                <a:latin typeface="Times New Roman" pitchFamily="18" charset="0"/>
                <a:cs typeface="Times New Roman" pitchFamily="18" charset="0"/>
              </a:rPr>
              <a:t>essai.remove.fichier</a:t>
            </a:r>
            <a:endParaRPr lang="en-US" sz="1000" b="1" dirty="0">
              <a:latin typeface="Times New Roman" pitchFamily="18" charset="0"/>
              <a:cs typeface="Times New Roman" pitchFamily="18" charset="0"/>
            </a:endParaRPr>
          </a:p>
          <a:p>
            <a:pPr>
              <a:lnSpc>
                <a:spcPct val="120000"/>
              </a:lnSpc>
              <a:spcBef>
                <a:spcPts val="0"/>
              </a:spcBef>
              <a:spcAft>
                <a:spcPts val="0"/>
              </a:spcAft>
            </a:pPr>
            <a:r>
              <a:rPr lang="en-US" sz="1000" dirty="0">
                <a:latin typeface="Times New Roman" pitchFamily="18" charset="0"/>
                <a:cs typeface="Times New Roman" pitchFamily="18" charset="0"/>
              </a:rPr>
              <a:t>$ </a:t>
            </a:r>
            <a:r>
              <a:rPr lang="en-US" sz="1000" b="1" dirty="0" err="1">
                <a:latin typeface="Times New Roman" pitchFamily="18" charset="0"/>
                <a:cs typeface="Times New Roman" pitchFamily="18" charset="0"/>
              </a:rPr>
              <a:t>mkdir</a:t>
            </a:r>
            <a:r>
              <a:rPr lang="en-US" sz="1000" b="1" dirty="0">
                <a:latin typeface="Times New Roman" pitchFamily="18" charset="0"/>
                <a:cs typeface="Times New Roman" pitchFamily="18" charset="0"/>
              </a:rPr>
              <a:t> </a:t>
            </a:r>
            <a:r>
              <a:rPr lang="en-US" sz="1000" b="1" dirty="0" err="1">
                <a:latin typeface="Times New Roman" pitchFamily="18" charset="0"/>
                <a:cs typeface="Times New Roman" pitchFamily="18" charset="0"/>
              </a:rPr>
              <a:t>essai.remove.repertoire</a:t>
            </a:r>
            <a:endParaRPr lang="en-US" sz="1000" b="1" dirty="0">
              <a:latin typeface="Times New Roman" pitchFamily="18" charset="0"/>
              <a:cs typeface="Times New Roman" pitchFamily="18" charset="0"/>
            </a:endParaRPr>
          </a:p>
          <a:p>
            <a:pPr>
              <a:lnSpc>
                <a:spcPct val="120000"/>
              </a:lnSpc>
              <a:spcBef>
                <a:spcPts val="0"/>
              </a:spcBef>
              <a:spcAft>
                <a:spcPts val="0"/>
              </a:spcAft>
            </a:pPr>
            <a:r>
              <a:rPr lang="en-US" sz="1000" dirty="0">
                <a:latin typeface="Times New Roman" pitchFamily="18" charset="0"/>
                <a:cs typeface="Times New Roman" pitchFamily="18" charset="0"/>
              </a:rPr>
              <a:t>$ </a:t>
            </a:r>
            <a:r>
              <a:rPr lang="en-US" sz="1000" b="1" dirty="0">
                <a:latin typeface="Times New Roman" pitchFamily="18" charset="0"/>
                <a:cs typeface="Times New Roman" pitchFamily="18" charset="0"/>
              </a:rPr>
              <a:t>ls -</a:t>
            </a:r>
            <a:r>
              <a:rPr lang="en-US" sz="1000" b="1" dirty="0" err="1">
                <a:latin typeface="Times New Roman" pitchFamily="18" charset="0"/>
                <a:cs typeface="Times New Roman" pitchFamily="18" charset="0"/>
              </a:rPr>
              <a:t>dF</a:t>
            </a:r>
            <a:r>
              <a:rPr lang="en-US" sz="1000" b="1" dirty="0">
                <a:latin typeface="Times New Roman" pitchFamily="18" charset="0"/>
                <a:cs typeface="Times New Roman" pitchFamily="18" charset="0"/>
              </a:rPr>
              <a:t> essai.remove.*</a:t>
            </a:r>
          </a:p>
          <a:p>
            <a:pPr>
              <a:lnSpc>
                <a:spcPct val="120000"/>
              </a:lnSpc>
              <a:spcBef>
                <a:spcPts val="0"/>
              </a:spcBef>
              <a:spcAft>
                <a:spcPts val="0"/>
              </a:spcAft>
            </a:pPr>
            <a:r>
              <a:rPr lang="en-US" sz="1000" dirty="0" err="1">
                <a:latin typeface="Times New Roman" pitchFamily="18" charset="0"/>
                <a:cs typeface="Times New Roman" pitchFamily="18" charset="0"/>
              </a:rPr>
              <a:t>essai.remove.fichier</a:t>
            </a:r>
            <a:r>
              <a:rPr lang="en-US" sz="1000" dirty="0">
                <a:latin typeface="Times New Roman" pitchFamily="18" charset="0"/>
                <a:cs typeface="Times New Roman" pitchFamily="18" charset="0"/>
              </a:rPr>
              <a:t> </a:t>
            </a:r>
            <a:r>
              <a:rPr lang="en-US" sz="1000" dirty="0" err="1">
                <a:latin typeface="Times New Roman" pitchFamily="18" charset="0"/>
                <a:cs typeface="Times New Roman" pitchFamily="18" charset="0"/>
              </a:rPr>
              <a:t>essai.remove.repertoire</a:t>
            </a:r>
            <a:r>
              <a:rPr lang="en-US" sz="1000" dirty="0">
                <a:latin typeface="Times New Roman" pitchFamily="18" charset="0"/>
                <a:cs typeface="Times New Roman" pitchFamily="18" charset="0"/>
              </a:rPr>
              <a:t>/</a:t>
            </a:r>
          </a:p>
          <a:p>
            <a:pPr>
              <a:lnSpc>
                <a:spcPct val="120000"/>
              </a:lnSpc>
              <a:spcBef>
                <a:spcPts val="0"/>
              </a:spcBef>
              <a:spcAft>
                <a:spcPts val="0"/>
              </a:spcAft>
            </a:pPr>
            <a:r>
              <a:rPr lang="en-US" sz="1000" dirty="0">
                <a:latin typeface="Times New Roman" pitchFamily="18" charset="0"/>
                <a:cs typeface="Times New Roman" pitchFamily="18" charset="0"/>
              </a:rPr>
              <a:t>$ </a:t>
            </a:r>
            <a:r>
              <a:rPr lang="en-US" sz="1000" b="1" dirty="0">
                <a:latin typeface="Times New Roman" pitchFamily="18" charset="0"/>
                <a:cs typeface="Times New Roman" pitchFamily="18" charset="0"/>
              </a:rPr>
              <a:t>./</a:t>
            </a:r>
            <a:r>
              <a:rPr lang="en-US" sz="1000" b="1" dirty="0" err="1">
                <a:latin typeface="Times New Roman" pitchFamily="18" charset="0"/>
                <a:cs typeface="Times New Roman" pitchFamily="18" charset="0"/>
              </a:rPr>
              <a:t>exemple_remove</a:t>
            </a:r>
            <a:r>
              <a:rPr lang="en-US" sz="1000" b="1" dirty="0">
                <a:latin typeface="Times New Roman" pitchFamily="18" charset="0"/>
                <a:cs typeface="Times New Roman" pitchFamily="18" charset="0"/>
              </a:rPr>
              <a:t> essai.remove.*</a:t>
            </a:r>
          </a:p>
          <a:p>
            <a:pPr>
              <a:lnSpc>
                <a:spcPct val="120000"/>
              </a:lnSpc>
              <a:spcBef>
                <a:spcPts val="0"/>
              </a:spcBef>
              <a:spcAft>
                <a:spcPts val="0"/>
              </a:spcAft>
            </a:pPr>
            <a:r>
              <a:rPr lang="en-US" sz="1000" dirty="0">
                <a:latin typeface="Times New Roman" pitchFamily="18" charset="0"/>
                <a:cs typeface="Times New Roman" pitchFamily="18" charset="0"/>
              </a:rPr>
              <a:t>Effacer </a:t>
            </a:r>
            <a:r>
              <a:rPr lang="en-US" sz="1000" dirty="0" err="1">
                <a:latin typeface="Times New Roman" pitchFamily="18" charset="0"/>
                <a:cs typeface="Times New Roman" pitchFamily="18" charset="0"/>
              </a:rPr>
              <a:t>essai.remove.fichier</a:t>
            </a:r>
            <a:r>
              <a:rPr lang="en-US" sz="1000" dirty="0">
                <a:latin typeface="Times New Roman" pitchFamily="18" charset="0"/>
                <a:cs typeface="Times New Roman" pitchFamily="18" charset="0"/>
              </a:rPr>
              <a:t> ? o</a:t>
            </a:r>
          </a:p>
          <a:p>
            <a:pPr>
              <a:lnSpc>
                <a:spcPct val="120000"/>
              </a:lnSpc>
              <a:spcBef>
                <a:spcPts val="0"/>
              </a:spcBef>
              <a:spcAft>
                <a:spcPts val="0"/>
              </a:spcAft>
            </a:pPr>
            <a:r>
              <a:rPr lang="en-US" sz="1000" dirty="0">
                <a:latin typeface="Times New Roman" pitchFamily="18" charset="0"/>
                <a:cs typeface="Times New Roman" pitchFamily="18" charset="0"/>
              </a:rPr>
              <a:t>Effacer </a:t>
            </a:r>
            <a:r>
              <a:rPr lang="en-US" sz="1000" dirty="0" err="1">
                <a:latin typeface="Times New Roman" pitchFamily="18" charset="0"/>
                <a:cs typeface="Times New Roman" pitchFamily="18" charset="0"/>
              </a:rPr>
              <a:t>essai.remove.repertoire</a:t>
            </a:r>
            <a:r>
              <a:rPr lang="en-US" sz="1000" dirty="0">
                <a:latin typeface="Times New Roman" pitchFamily="18" charset="0"/>
                <a:cs typeface="Times New Roman" pitchFamily="18" charset="0"/>
              </a:rPr>
              <a:t> ? o</a:t>
            </a:r>
          </a:p>
          <a:p>
            <a:pPr>
              <a:lnSpc>
                <a:spcPct val="120000"/>
              </a:lnSpc>
              <a:spcBef>
                <a:spcPts val="0"/>
              </a:spcBef>
              <a:spcAft>
                <a:spcPts val="0"/>
              </a:spcAft>
            </a:pPr>
            <a:r>
              <a:rPr lang="en-US" sz="1000" dirty="0">
                <a:latin typeface="Times New Roman" pitchFamily="18" charset="0"/>
                <a:cs typeface="Times New Roman" pitchFamily="18" charset="0"/>
              </a:rPr>
              <a:t>$ </a:t>
            </a:r>
            <a:r>
              <a:rPr lang="en-US" sz="1000" b="1" dirty="0">
                <a:latin typeface="Times New Roman" pitchFamily="18" charset="0"/>
                <a:cs typeface="Times New Roman" pitchFamily="18" charset="0"/>
              </a:rPr>
              <a:t>ls -</a:t>
            </a:r>
            <a:r>
              <a:rPr lang="en-US" sz="1000" b="1" dirty="0" err="1">
                <a:latin typeface="Times New Roman" pitchFamily="18" charset="0"/>
                <a:cs typeface="Times New Roman" pitchFamily="18" charset="0"/>
              </a:rPr>
              <a:t>dF</a:t>
            </a:r>
            <a:r>
              <a:rPr lang="en-US" sz="1000" b="1" dirty="0">
                <a:latin typeface="Times New Roman" pitchFamily="18" charset="0"/>
                <a:cs typeface="Times New Roman" pitchFamily="18" charset="0"/>
              </a:rPr>
              <a:t> essai.remove.*</a:t>
            </a:r>
          </a:p>
          <a:p>
            <a:pPr>
              <a:lnSpc>
                <a:spcPct val="120000"/>
              </a:lnSpc>
              <a:spcBef>
                <a:spcPts val="0"/>
              </a:spcBef>
              <a:spcAft>
                <a:spcPts val="0"/>
              </a:spcAft>
            </a:pPr>
            <a:r>
              <a:rPr lang="fr-FR" sz="1000" dirty="0" err="1">
                <a:latin typeface="Times New Roman" pitchFamily="18" charset="0"/>
                <a:cs typeface="Times New Roman" pitchFamily="18" charset="0"/>
              </a:rPr>
              <a:t>ls</a:t>
            </a:r>
            <a:r>
              <a:rPr lang="fr-FR" sz="1000" dirty="0">
                <a:latin typeface="Times New Roman" pitchFamily="18" charset="0"/>
                <a:cs typeface="Times New Roman" pitchFamily="18" charset="0"/>
              </a:rPr>
              <a:t>: </a:t>
            </a:r>
            <a:r>
              <a:rPr lang="fr-FR" sz="1000" dirty="0" err="1">
                <a:latin typeface="Times New Roman" pitchFamily="18" charset="0"/>
                <a:cs typeface="Times New Roman" pitchFamily="18" charset="0"/>
              </a:rPr>
              <a:t>essai.remove</a:t>
            </a:r>
            <a:r>
              <a:rPr lang="fr-FR" sz="1000" dirty="0">
                <a:latin typeface="Times New Roman" pitchFamily="18" charset="0"/>
                <a:cs typeface="Times New Roman" pitchFamily="18" charset="0"/>
              </a:rPr>
              <a:t>.*: Aucun fichier ou répertoire de ce type</a:t>
            </a:r>
          </a:p>
          <a:p>
            <a:pPr>
              <a:lnSpc>
                <a:spcPct val="120000"/>
              </a:lnSpc>
              <a:spcBef>
                <a:spcPts val="0"/>
              </a:spcBef>
              <a:spcAft>
                <a:spcPts val="0"/>
              </a:spcAft>
            </a:pPr>
            <a:r>
              <a:rPr lang="en-US" sz="1000" dirty="0" smtClean="0">
                <a:latin typeface="Times New Roman" pitchFamily="18" charset="0"/>
                <a:cs typeface="Times New Roman" pitchFamily="18" charset="0"/>
              </a:rPr>
              <a:t>$</a:t>
            </a:r>
            <a:endParaRPr lang="fr-FR" sz="1000" dirty="0"/>
          </a:p>
        </p:txBody>
      </p:sp>
    </p:spTree>
    <p:extLst>
      <p:ext uri="{BB962C8B-B14F-4D97-AF65-F5344CB8AC3E}">
        <p14:creationId xmlns:p14="http://schemas.microsoft.com/office/powerpoint/2010/main" val="3793894408"/>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FECE13F748774489199EDB80C7ECAED" ma:contentTypeVersion="8" ma:contentTypeDescription="Create a new document." ma:contentTypeScope="" ma:versionID="37c1f23fd20dce6592cf1b2dbe7bd39b">
  <xsd:schema xmlns:xsd="http://www.w3.org/2001/XMLSchema" xmlns:xs="http://www.w3.org/2001/XMLSchema" xmlns:p="http://schemas.microsoft.com/office/2006/metadata/properties" xmlns:ns2="08f3b302-e7b2-4b26-998e-7c93f5dae48d" targetNamespace="http://schemas.microsoft.com/office/2006/metadata/properties" ma:root="true" ma:fieldsID="cb495b3fe2b6e119e8bc79b02fe4ead9" ns2:_="">
    <xsd:import namespace="08f3b302-e7b2-4b26-998e-7c93f5dae4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f3b302-e7b2-4b26-998e-7c93f5dae4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4FFF5E5-0133-4FF3-A9BE-47560E476364}"/>
</file>

<file path=customXml/itemProps2.xml><?xml version="1.0" encoding="utf-8"?>
<ds:datastoreItem xmlns:ds="http://schemas.openxmlformats.org/officeDocument/2006/customXml" ds:itemID="{F44EDFA4-278E-4A7C-8DEB-557A32C18F1A}"/>
</file>

<file path=customXml/itemProps3.xml><?xml version="1.0" encoding="utf-8"?>
<ds:datastoreItem xmlns:ds="http://schemas.openxmlformats.org/officeDocument/2006/customXml" ds:itemID="{994F70B3-172A-4A25-88A4-7A0B5E48CA72}"/>
</file>

<file path=docProps/app.xml><?xml version="1.0" encoding="utf-8"?>
<Properties xmlns="http://schemas.openxmlformats.org/officeDocument/2006/extended-properties" xmlns:vt="http://schemas.openxmlformats.org/officeDocument/2006/docPropsVTypes">
  <Template>Retrospect</Template>
  <TotalTime>2030</TotalTime>
  <Words>3155</Words>
  <Application>Microsoft Office PowerPoint</Application>
  <PresentationFormat>Custom</PresentationFormat>
  <Paragraphs>450</Paragraphs>
  <Slides>43</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 Unicode MS</vt:lpstr>
      <vt:lpstr>Calibri</vt:lpstr>
      <vt:lpstr>Calibri Light</vt:lpstr>
      <vt:lpstr>Courier</vt:lpstr>
      <vt:lpstr>Courier New</vt:lpstr>
      <vt:lpstr>Symbol</vt:lpstr>
      <vt:lpstr>Times New Roman</vt:lpstr>
      <vt:lpstr>Wingdings</vt:lpstr>
      <vt:lpstr>Retrospect</vt:lpstr>
      <vt:lpstr>Système de Gestion de Fichiers SGF</vt:lpstr>
      <vt:lpstr>Unix- Vision unifié E/S</vt:lpstr>
      <vt:lpstr>File descriptor</vt:lpstr>
      <vt:lpstr>Descriptor Table Location</vt:lpstr>
      <vt:lpstr>Descriptor-i-node</vt:lpstr>
      <vt:lpstr>What information goes where?</vt:lpstr>
      <vt:lpstr>I-node block table</vt:lpstr>
      <vt:lpstr>Block table</vt:lpstr>
      <vt:lpstr>Information on a file according to the i-node</vt:lpstr>
      <vt:lpstr>PowerPoint Presentation</vt:lpstr>
      <vt:lpstr>PowerPoint Presentation</vt:lpstr>
      <vt:lpstr>Information on a file according to the i-node</vt:lpstr>
      <vt:lpstr>Information on a file according to the i-node</vt:lpstr>
      <vt:lpstr>Example of stat usage:</vt:lpstr>
      <vt:lpstr>Example of stat usage:</vt:lpstr>
      <vt:lpstr>Error handling, errno values</vt:lpstr>
      <vt:lpstr>File creation</vt:lpstr>
      <vt:lpstr>Copy a file</vt:lpstr>
      <vt:lpstr>Comment on the program : copy of a file</vt:lpstr>
      <vt:lpstr>Open  a file</vt:lpstr>
      <vt:lpstr>Open  a file</vt:lpstr>
      <vt:lpstr>Open  a file : Example </vt:lpstr>
      <vt:lpstr>Open  a file : Example </vt:lpstr>
      <vt:lpstr>Reading from a file</vt:lpstr>
      <vt:lpstr>Writing to a file</vt:lpstr>
      <vt:lpstr>Write : how is it used?</vt:lpstr>
      <vt:lpstr>Closing access to a file</vt:lpstr>
      <vt:lpstr>Positioning in a file</vt:lpstr>
      <vt:lpstr>File creation mask</vt:lpstr>
      <vt:lpstr>File creation mask</vt:lpstr>
      <vt:lpstr>Duplications and redirection</vt:lpstr>
      <vt:lpstr>PowerPoint Presentation</vt:lpstr>
      <vt:lpstr>PowerPoint Presentation</vt:lpstr>
      <vt:lpstr>Systeme call : dup </vt:lpstr>
      <vt:lpstr>System call: dup2</vt:lpstr>
      <vt:lpstr>Back to Descriptors</vt:lpstr>
      <vt:lpstr>Redirection Example of stdout</vt:lpstr>
      <vt:lpstr>Redirection Example of stdin</vt:lpstr>
      <vt:lpstr>Rename / move</vt:lpstr>
      <vt:lpstr>Destruction : unlink </vt:lpstr>
      <vt:lpstr>Destruction : unlink </vt:lpstr>
      <vt:lpstr>Destruction :Remove</vt:lpstr>
      <vt:lpstr>Destruction : Remove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de S.E. – le Système de Gestion des Fichiers</dc:title>
  <dc:creator>Andreea Dragut</dc:creator>
  <cp:lastModifiedBy>Mouhammad SAADE</cp:lastModifiedBy>
  <cp:revision>125</cp:revision>
  <dcterms:created xsi:type="dcterms:W3CDTF">2017-10-09T20:13:37Z</dcterms:created>
  <dcterms:modified xsi:type="dcterms:W3CDTF">2022-01-14T06:14:05Z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2012-10-08T00:00:00Z</vt:filetime>
  </property>
  <property fmtid="{D5CDD505-2E9C-101B-9397-08002B2CF9AE}" pid="3" name="Creator">
    <vt:lpwstr>LaTeX with beamer class version 3.07</vt:lpwstr>
  </property>
  <property fmtid="{D5CDD505-2E9C-101B-9397-08002B2CF9AE}" pid="4" name="LastSaved">
    <vt:filetime>2017-10-09T00:00:00Z</vt:filetime>
  </property>
  <property fmtid="{D5CDD505-2E9C-101B-9397-08002B2CF9AE}" pid="5" name="ContentTypeId">
    <vt:lpwstr>0x0101008FECE13F748774489199EDB80C7ECAED</vt:lpwstr>
  </property>
</Properties>
</file>