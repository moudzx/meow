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7.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16.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1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8" r:id="rId4"/>
    <p:sldId id="261" r:id="rId5"/>
    <p:sldId id="262" r:id="rId6"/>
    <p:sldId id="260"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69" autoAdjust="0"/>
    <p:restoredTop sz="94660"/>
  </p:normalViewPr>
  <p:slideViewPr>
    <p:cSldViewPr snapToGrid="0">
      <p:cViewPr varScale="1">
        <p:scale>
          <a:sx n="69" d="100"/>
          <a:sy n="69" d="100"/>
        </p:scale>
        <p:origin x="22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fr-F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fr-FR"/>
          </a:p>
        </p:txBody>
      </p:sp>
      <p:sp>
        <p:nvSpPr>
          <p:cNvPr id="4" name="Date Placeholder 3"/>
          <p:cNvSpPr>
            <a:spLocks noGrp="1"/>
          </p:cNvSpPr>
          <p:nvPr>
            <p:ph type="dt" sz="half" idx="10"/>
          </p:nvPr>
        </p:nvSpPr>
        <p:spPr/>
        <p:txBody>
          <a:bodyPr/>
          <a:lstStyle/>
          <a:p>
            <a:fld id="{8C2B968E-B3D5-4104-A60E-E62A0241AA90}" type="datetimeFigureOut">
              <a:rPr lang="fr-FR" smtClean="0"/>
              <a:t>20/01/2021</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BA9AD30-9D88-49AB-9D39-2150A83072A2}" type="slidenum">
              <a:rPr lang="fr-FR" smtClean="0"/>
              <a:t>‹#›</a:t>
            </a:fld>
            <a:endParaRPr lang="fr-FR"/>
          </a:p>
        </p:txBody>
      </p:sp>
    </p:spTree>
    <p:extLst>
      <p:ext uri="{BB962C8B-B14F-4D97-AF65-F5344CB8AC3E}">
        <p14:creationId xmlns:p14="http://schemas.microsoft.com/office/powerpoint/2010/main" val="3415443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8C2B968E-B3D5-4104-A60E-E62A0241AA90}" type="datetimeFigureOut">
              <a:rPr lang="fr-FR" smtClean="0"/>
              <a:t>20/01/2021</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BA9AD30-9D88-49AB-9D39-2150A83072A2}" type="slidenum">
              <a:rPr lang="fr-FR" smtClean="0"/>
              <a:t>‹#›</a:t>
            </a:fld>
            <a:endParaRPr lang="fr-FR"/>
          </a:p>
        </p:txBody>
      </p:sp>
    </p:spTree>
    <p:extLst>
      <p:ext uri="{BB962C8B-B14F-4D97-AF65-F5344CB8AC3E}">
        <p14:creationId xmlns:p14="http://schemas.microsoft.com/office/powerpoint/2010/main" val="534444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fr-F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2B968E-B3D5-4104-A60E-E62A0241AA90}" type="datetimeFigureOut">
              <a:rPr lang="fr-FR" smtClean="0"/>
              <a:t>20/01/2021</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BA9AD30-9D88-49AB-9D39-2150A83072A2}" type="slidenum">
              <a:rPr lang="fr-FR" smtClean="0"/>
              <a:t>‹#›</a:t>
            </a:fld>
            <a:endParaRPr lang="fr-FR"/>
          </a:p>
        </p:txBody>
      </p:sp>
    </p:spTree>
    <p:extLst>
      <p:ext uri="{BB962C8B-B14F-4D97-AF65-F5344CB8AC3E}">
        <p14:creationId xmlns:p14="http://schemas.microsoft.com/office/powerpoint/2010/main" val="3875694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Date Placeholder 4"/>
          <p:cNvSpPr>
            <a:spLocks noGrp="1"/>
          </p:cNvSpPr>
          <p:nvPr>
            <p:ph type="dt" sz="half" idx="10"/>
          </p:nvPr>
        </p:nvSpPr>
        <p:spPr/>
        <p:txBody>
          <a:bodyPr/>
          <a:lstStyle/>
          <a:p>
            <a:fld id="{8C2B968E-B3D5-4104-A60E-E62A0241AA90}" type="datetimeFigureOut">
              <a:rPr lang="fr-FR" smtClean="0"/>
              <a:t>20/01/2021</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BA9AD30-9D88-49AB-9D39-2150A83072A2}" type="slidenum">
              <a:rPr lang="fr-FR" smtClean="0"/>
              <a:t>‹#›</a:t>
            </a:fld>
            <a:endParaRPr lang="fr-FR"/>
          </a:p>
        </p:txBody>
      </p:sp>
    </p:spTree>
    <p:extLst>
      <p:ext uri="{BB962C8B-B14F-4D97-AF65-F5344CB8AC3E}">
        <p14:creationId xmlns:p14="http://schemas.microsoft.com/office/powerpoint/2010/main" val="2789319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fr-F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Date Placeholder 6"/>
          <p:cNvSpPr>
            <a:spLocks noGrp="1"/>
          </p:cNvSpPr>
          <p:nvPr>
            <p:ph type="dt" sz="half" idx="10"/>
          </p:nvPr>
        </p:nvSpPr>
        <p:spPr/>
        <p:txBody>
          <a:bodyPr/>
          <a:lstStyle/>
          <a:p>
            <a:fld id="{8C2B968E-B3D5-4104-A60E-E62A0241AA90}" type="datetimeFigureOut">
              <a:rPr lang="fr-FR" smtClean="0"/>
              <a:t>20/01/2021</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8BA9AD30-9D88-49AB-9D39-2150A83072A2}" type="slidenum">
              <a:rPr lang="fr-FR" smtClean="0"/>
              <a:t>‹#›</a:t>
            </a:fld>
            <a:endParaRPr lang="fr-FR"/>
          </a:p>
        </p:txBody>
      </p:sp>
    </p:spTree>
    <p:extLst>
      <p:ext uri="{BB962C8B-B14F-4D97-AF65-F5344CB8AC3E}">
        <p14:creationId xmlns:p14="http://schemas.microsoft.com/office/powerpoint/2010/main" val="3955195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Date Placeholder 2"/>
          <p:cNvSpPr>
            <a:spLocks noGrp="1"/>
          </p:cNvSpPr>
          <p:nvPr>
            <p:ph type="dt" sz="half" idx="10"/>
          </p:nvPr>
        </p:nvSpPr>
        <p:spPr/>
        <p:txBody>
          <a:bodyPr/>
          <a:lstStyle/>
          <a:p>
            <a:fld id="{8C2B968E-B3D5-4104-A60E-E62A0241AA90}" type="datetimeFigureOut">
              <a:rPr lang="fr-FR" smtClean="0"/>
              <a:t>20/01/2021</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8BA9AD30-9D88-49AB-9D39-2150A83072A2}" type="slidenum">
              <a:rPr lang="fr-FR" smtClean="0"/>
              <a:t>‹#›</a:t>
            </a:fld>
            <a:endParaRPr lang="fr-FR"/>
          </a:p>
        </p:txBody>
      </p:sp>
    </p:spTree>
    <p:extLst>
      <p:ext uri="{BB962C8B-B14F-4D97-AF65-F5344CB8AC3E}">
        <p14:creationId xmlns:p14="http://schemas.microsoft.com/office/powerpoint/2010/main" val="3725722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2B968E-B3D5-4104-A60E-E62A0241AA90}" type="datetimeFigureOut">
              <a:rPr lang="fr-FR" smtClean="0"/>
              <a:t>20/01/2021</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8BA9AD30-9D88-49AB-9D39-2150A83072A2}" type="slidenum">
              <a:rPr lang="fr-FR" smtClean="0"/>
              <a:t>‹#›</a:t>
            </a:fld>
            <a:endParaRPr lang="fr-FR"/>
          </a:p>
        </p:txBody>
      </p:sp>
    </p:spTree>
    <p:extLst>
      <p:ext uri="{BB962C8B-B14F-4D97-AF65-F5344CB8AC3E}">
        <p14:creationId xmlns:p14="http://schemas.microsoft.com/office/powerpoint/2010/main" val="3406774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fr-F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C2B968E-B3D5-4104-A60E-E62A0241AA90}" type="datetimeFigureOut">
              <a:rPr lang="fr-FR" smtClean="0"/>
              <a:t>20/01/2021</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BA9AD30-9D88-49AB-9D39-2150A83072A2}" type="slidenum">
              <a:rPr lang="fr-FR" smtClean="0"/>
              <a:t>‹#›</a:t>
            </a:fld>
            <a:endParaRPr lang="fr-FR"/>
          </a:p>
        </p:txBody>
      </p:sp>
    </p:spTree>
    <p:extLst>
      <p:ext uri="{BB962C8B-B14F-4D97-AF65-F5344CB8AC3E}">
        <p14:creationId xmlns:p14="http://schemas.microsoft.com/office/powerpoint/2010/main" val="893554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fr-F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C2B968E-B3D5-4104-A60E-E62A0241AA90}" type="datetimeFigureOut">
              <a:rPr lang="fr-FR" smtClean="0"/>
              <a:t>20/01/2021</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BA9AD30-9D88-49AB-9D39-2150A83072A2}" type="slidenum">
              <a:rPr lang="fr-FR" smtClean="0"/>
              <a:t>‹#›</a:t>
            </a:fld>
            <a:endParaRPr lang="fr-FR"/>
          </a:p>
        </p:txBody>
      </p:sp>
    </p:spTree>
    <p:extLst>
      <p:ext uri="{BB962C8B-B14F-4D97-AF65-F5344CB8AC3E}">
        <p14:creationId xmlns:p14="http://schemas.microsoft.com/office/powerpoint/2010/main" val="2649047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8C2B968E-B3D5-4104-A60E-E62A0241AA90}" type="datetimeFigureOut">
              <a:rPr lang="fr-FR" smtClean="0"/>
              <a:t>20/01/2021</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BA9AD30-9D88-49AB-9D39-2150A83072A2}" type="slidenum">
              <a:rPr lang="fr-FR" smtClean="0"/>
              <a:t>‹#›</a:t>
            </a:fld>
            <a:endParaRPr lang="fr-FR"/>
          </a:p>
        </p:txBody>
      </p:sp>
    </p:spTree>
    <p:extLst>
      <p:ext uri="{BB962C8B-B14F-4D97-AF65-F5344CB8AC3E}">
        <p14:creationId xmlns:p14="http://schemas.microsoft.com/office/powerpoint/2010/main" val="2253455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fr-F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8C2B968E-B3D5-4104-A60E-E62A0241AA90}" type="datetimeFigureOut">
              <a:rPr lang="fr-FR" smtClean="0"/>
              <a:t>20/01/2021</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BA9AD30-9D88-49AB-9D39-2150A83072A2}" type="slidenum">
              <a:rPr lang="fr-FR" smtClean="0"/>
              <a:t>‹#›</a:t>
            </a:fld>
            <a:endParaRPr lang="fr-FR"/>
          </a:p>
        </p:txBody>
      </p:sp>
    </p:spTree>
    <p:extLst>
      <p:ext uri="{BB962C8B-B14F-4D97-AF65-F5344CB8AC3E}">
        <p14:creationId xmlns:p14="http://schemas.microsoft.com/office/powerpoint/2010/main" val="286388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fr-F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2B968E-B3D5-4104-A60E-E62A0241AA90}" type="datetimeFigureOut">
              <a:rPr lang="fr-FR" smtClean="0"/>
              <a:t>20/01/2021</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A9AD30-9D88-49AB-9D39-2150A83072A2}" type="slidenum">
              <a:rPr lang="fr-FR" smtClean="0"/>
              <a:t>‹#›</a:t>
            </a:fld>
            <a:endParaRPr lang="fr-FR"/>
          </a:p>
        </p:txBody>
      </p:sp>
    </p:spTree>
    <p:extLst>
      <p:ext uri="{BB962C8B-B14F-4D97-AF65-F5344CB8AC3E}">
        <p14:creationId xmlns:p14="http://schemas.microsoft.com/office/powerpoint/2010/main" val="29524517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signalq.c" TargetMode="External"/><Relationship Id="rId2" Type="http://schemas.openxmlformats.org/officeDocument/2006/relationships/hyperlink" Target="signal.c"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signalq.c" TargetMode="External"/><Relationship Id="rId2" Type="http://schemas.openxmlformats.org/officeDocument/2006/relationships/hyperlink" Target="signal.c"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signal_no_masking.cpp" TargetMode="External"/><Relationship Id="rId2" Type="http://schemas.openxmlformats.org/officeDocument/2006/relationships/hyperlink" Target="signal_timer.cpp" TargetMode="External"/><Relationship Id="rId1" Type="http://schemas.openxmlformats.org/officeDocument/2006/relationships/slideLayout" Target="../slideLayouts/slideLayout2.xml"/><Relationship Id="rId6" Type="http://schemas.openxmlformats.org/officeDocument/2006/relationships/hyperlink" Target="sigaction1.c" TargetMode="External"/><Relationship Id="rId5" Type="http://schemas.openxmlformats.org/officeDocument/2006/relationships/hyperlink" Target="sigaction.c" TargetMode="External"/><Relationship Id="rId4" Type="http://schemas.openxmlformats.org/officeDocument/2006/relationships/hyperlink" Target="signal_masking.cpp"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signal_count.cpp" TargetMode="External"/><Relationship Id="rId2" Type="http://schemas.openxmlformats.org/officeDocument/2006/relationships/hyperlink" Target="signal_count_bug.cpp" TargetMode="External"/><Relationship Id="rId1" Type="http://schemas.openxmlformats.org/officeDocument/2006/relationships/slideLayout" Target="../slideLayouts/slideLayout2.xml"/><Relationship Id="rId4" Type="http://schemas.openxmlformats.org/officeDocument/2006/relationships/hyperlink" Target="signal_count2.cpp"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signal_sigwait.cpp" TargetMode="External"/><Relationship Id="rId2" Type="http://schemas.openxmlformats.org/officeDocument/2006/relationships/hyperlink" Target="signal_pause.cpp"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r-FR" cap="all" spc="272" dirty="0">
                <a:solidFill>
                  <a:prstClr val="black"/>
                </a:solidFill>
                <a:latin typeface="Times New Roman" panose="02020603050405020304" pitchFamily="18" charset="0"/>
                <a:cs typeface="Times New Roman" panose="02020603050405020304" pitchFamily="18" charset="0"/>
              </a:rPr>
              <a:t>Signal handling in Linux</a:t>
            </a:r>
            <a:endParaRPr lang="fr-FR" dirty="0"/>
          </a:p>
        </p:txBody>
      </p:sp>
      <p:sp>
        <p:nvSpPr>
          <p:cNvPr id="3" name="Subtitle 2"/>
          <p:cNvSpPr>
            <a:spLocks noGrp="1"/>
          </p:cNvSpPr>
          <p:nvPr>
            <p:ph type="subTitle" idx="1"/>
          </p:nvPr>
        </p:nvSpPr>
        <p:spPr/>
        <p:txBody>
          <a:bodyPr/>
          <a:lstStyle/>
          <a:p>
            <a:endParaRPr lang="fr-FR"/>
          </a:p>
        </p:txBody>
      </p:sp>
    </p:spTree>
    <p:extLst>
      <p:ext uri="{BB962C8B-B14F-4D97-AF65-F5344CB8AC3E}">
        <p14:creationId xmlns:p14="http://schemas.microsoft.com/office/powerpoint/2010/main" val="33293548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z="3267" cap="all" spc="272" dirty="0">
                <a:solidFill>
                  <a:prstClr val="black"/>
                </a:solidFill>
                <a:latin typeface="Times New Roman" panose="02020603050405020304" pitchFamily="18" charset="0"/>
                <a:cs typeface="Times New Roman" panose="02020603050405020304" pitchFamily="18" charset="0"/>
              </a:rPr>
              <a:t>Goals</a:t>
            </a:r>
            <a:endParaRPr lang="fr-FR"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p:txBody>
          <a:bodyPr>
            <a:normAutofit/>
          </a:bodyPr>
          <a:lstStyle/>
          <a:p>
            <a:pPr>
              <a:lnSpc>
                <a:spcPct val="150000"/>
              </a:lnSpc>
            </a:pPr>
            <a:r>
              <a:rPr lang="en-US" sz="2541" dirty="0">
                <a:solidFill>
                  <a:prstClr val="black"/>
                </a:solidFill>
                <a:latin typeface="Garamond"/>
              </a:rPr>
              <a:t>Present Unix signals and their usefulness,</a:t>
            </a:r>
          </a:p>
          <a:p>
            <a:pPr>
              <a:lnSpc>
                <a:spcPct val="150000"/>
              </a:lnSpc>
            </a:pPr>
            <a:r>
              <a:rPr lang="en-US" sz="2541" dirty="0">
                <a:solidFill>
                  <a:prstClr val="black"/>
                </a:solidFill>
                <a:latin typeface="Garamond"/>
              </a:rPr>
              <a:t>Show how processes can initiate and intercept signals.</a:t>
            </a:r>
          </a:p>
          <a:p>
            <a:pPr>
              <a:lnSpc>
                <a:spcPct val="150000"/>
              </a:lnSpc>
            </a:pPr>
            <a:r>
              <a:rPr lang="en-US" sz="2541" dirty="0">
                <a:solidFill>
                  <a:prstClr val="black"/>
                </a:solidFill>
                <a:latin typeface="Garamond"/>
              </a:rPr>
              <a:t>Show how a process can wait for a signal or the expiration of a fixed time.</a:t>
            </a:r>
          </a:p>
          <a:p>
            <a:pPr>
              <a:lnSpc>
                <a:spcPct val="150000"/>
              </a:lnSpc>
            </a:pPr>
            <a:r>
              <a:rPr lang="en-US" sz="2541" dirty="0">
                <a:solidFill>
                  <a:prstClr val="black"/>
                </a:solidFill>
                <a:latin typeface="Garamond"/>
              </a:rPr>
              <a:t>We will see the following functions: </a:t>
            </a:r>
            <a:r>
              <a:rPr lang="en-US" sz="2541" dirty="0">
                <a:solidFill>
                  <a:srgbClr val="FF0000"/>
                </a:solidFill>
                <a:latin typeface="Garamond"/>
              </a:rPr>
              <a:t>kill, signal, </a:t>
            </a:r>
            <a:r>
              <a:rPr lang="en-US" sz="2541" dirty="0" err="1">
                <a:solidFill>
                  <a:srgbClr val="FF0000"/>
                </a:solidFill>
                <a:latin typeface="Garamond"/>
              </a:rPr>
              <a:t>sigaction</a:t>
            </a:r>
            <a:r>
              <a:rPr lang="en-US" sz="2541" dirty="0">
                <a:solidFill>
                  <a:srgbClr val="FF0000"/>
                </a:solidFill>
                <a:latin typeface="Garamond"/>
              </a:rPr>
              <a:t>, pause, alarm.</a:t>
            </a:r>
            <a:endParaRPr lang="fr-FR" sz="2541" dirty="0">
              <a:solidFill>
                <a:srgbClr val="FF0000"/>
              </a:solidFill>
            </a:endParaRPr>
          </a:p>
        </p:txBody>
      </p:sp>
    </p:spTree>
    <p:extLst>
      <p:ext uri="{BB962C8B-B14F-4D97-AF65-F5344CB8AC3E}">
        <p14:creationId xmlns:p14="http://schemas.microsoft.com/office/powerpoint/2010/main" val="4811950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67" cap="all" spc="272" dirty="0">
                <a:solidFill>
                  <a:prstClr val="black"/>
                </a:solidFill>
                <a:latin typeface="Times New Roman" panose="02020603050405020304" pitchFamily="18" charset="0"/>
                <a:cs typeface="Times New Roman" panose="02020603050405020304" pitchFamily="18" charset="0"/>
              </a:rPr>
              <a:t>Signal processing by the </a:t>
            </a:r>
            <a:r>
              <a:rPr lang="en-US" sz="3600" dirty="0">
                <a:latin typeface="Times New Roman" panose="02020603050405020304" pitchFamily="18" charset="0"/>
                <a:cs typeface="Times New Roman" panose="02020603050405020304" pitchFamily="18" charset="0"/>
              </a:rPr>
              <a:t>kernel</a:t>
            </a:r>
            <a:endParaRPr lang="fr-FR" sz="3267" cap="all" spc="272" dirty="0">
              <a:solidFill>
                <a:prstClr val="black"/>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0000" lnSpcReduction="20000"/>
          </a:bodyPr>
          <a:lstStyle/>
          <a:p>
            <a:r>
              <a:rPr lang="en-US" dirty="0">
                <a:latin typeface="Garamond" panose="02020404030301010803" pitchFamily="18" charset="0"/>
                <a:cs typeface="Times New Roman" panose="02020603050405020304" pitchFamily="18" charset="0"/>
              </a:rPr>
              <a:t>A signal is:</a:t>
            </a:r>
          </a:p>
          <a:p>
            <a:pPr lvl="1"/>
            <a:r>
              <a:rPr lang="en-US" dirty="0">
                <a:solidFill>
                  <a:srgbClr val="0000FF"/>
                </a:solidFill>
                <a:latin typeface="Garamond" panose="02020404030301010803" pitchFamily="18" charset="0"/>
                <a:cs typeface="Times New Roman" panose="02020603050405020304" pitchFamily="18" charset="0"/>
              </a:rPr>
              <a:t>software interrupt </a:t>
            </a:r>
            <a:r>
              <a:rPr lang="en-US" dirty="0">
                <a:latin typeface="Garamond" panose="02020404030301010803" pitchFamily="18" charset="0"/>
                <a:cs typeface="Times New Roman" panose="02020603050405020304" pitchFamily="18" charset="0"/>
              </a:rPr>
              <a:t>generated following an event</a:t>
            </a:r>
          </a:p>
          <a:p>
            <a:pPr lvl="1"/>
            <a:r>
              <a:rPr lang="en-US" dirty="0">
                <a:solidFill>
                  <a:srgbClr val="0000FF"/>
                </a:solidFill>
                <a:latin typeface="Garamond" panose="02020404030301010803" pitchFamily="18" charset="0"/>
                <a:cs typeface="Times New Roman" panose="02020603050405020304" pitchFamily="18" charset="0"/>
              </a:rPr>
              <a:t>a message </a:t>
            </a:r>
            <a:r>
              <a:rPr lang="en-US" dirty="0">
                <a:latin typeface="Garamond" panose="02020404030301010803" pitchFamily="18" charset="0"/>
                <a:cs typeface="Times New Roman" panose="02020603050405020304" pitchFamily="18" charset="0"/>
              </a:rPr>
              <a:t>sent by the kernel to:</a:t>
            </a:r>
          </a:p>
          <a:p>
            <a:pPr lvl="2"/>
            <a:r>
              <a:rPr lang="en-US" dirty="0">
                <a:latin typeface="Garamond" panose="02020404030301010803" pitchFamily="18" charset="0"/>
                <a:cs typeface="Times New Roman" panose="02020603050405020304" pitchFamily="18" charset="0"/>
              </a:rPr>
              <a:t>a process ; or</a:t>
            </a:r>
          </a:p>
          <a:p>
            <a:pPr lvl="2"/>
            <a:r>
              <a:rPr lang="en-US" dirty="0">
                <a:latin typeface="Garamond" panose="02020404030301010803" pitchFamily="18" charset="0"/>
                <a:cs typeface="Times New Roman" panose="02020603050405020304" pitchFamily="18" charset="0"/>
              </a:rPr>
              <a:t>a group of processes</a:t>
            </a:r>
          </a:p>
          <a:p>
            <a:pPr lvl="1"/>
            <a:r>
              <a:rPr lang="en-US" dirty="0">
                <a:latin typeface="Garamond" panose="02020404030301010803" pitchFamily="18" charset="0"/>
                <a:cs typeface="Times New Roman" panose="02020603050405020304" pitchFamily="18" charset="0"/>
              </a:rPr>
              <a:t>to indicate an occurrence of a system event</a:t>
            </a:r>
          </a:p>
          <a:p>
            <a:r>
              <a:rPr lang="en-US" dirty="0">
                <a:latin typeface="Garamond" panose="02020404030301010803" pitchFamily="18" charset="0"/>
                <a:cs typeface="Times New Roman" panose="02020603050405020304" pitchFamily="18" charset="0"/>
              </a:rPr>
              <a:t>Signal handler function: </a:t>
            </a:r>
            <a:r>
              <a:rPr lang="en-US" dirty="0">
                <a:solidFill>
                  <a:srgbClr val="0000FF"/>
                </a:solidFill>
                <a:latin typeface="Garamond" panose="02020404030301010803" pitchFamily="18" charset="0"/>
                <a:cs typeface="Times New Roman" panose="02020603050405020304" pitchFamily="18" charset="0"/>
              </a:rPr>
              <a:t>signal handler</a:t>
            </a:r>
          </a:p>
          <a:p>
            <a:r>
              <a:rPr lang="en-US" dirty="0">
                <a:latin typeface="Garamond" panose="02020404030301010803" pitchFamily="18" charset="0"/>
                <a:cs typeface="Times New Roman" panose="02020603050405020304" pitchFamily="18" charset="0"/>
              </a:rPr>
              <a:t>Each signal has a symbolic </a:t>
            </a:r>
            <a:r>
              <a:rPr lang="en-US" dirty="0" smtClean="0">
                <a:latin typeface="Garamond" panose="02020404030301010803" pitchFamily="18" charset="0"/>
                <a:cs typeface="Times New Roman" panose="02020603050405020304" pitchFamily="18" charset="0"/>
              </a:rPr>
              <a:t>name starts with </a:t>
            </a:r>
            <a:r>
              <a:rPr lang="en-US" dirty="0" smtClean="0">
                <a:latin typeface="Garamond" panose="02020404030301010803" pitchFamily="18" charset="0"/>
                <a:cs typeface="Times New Roman" panose="02020603050405020304" pitchFamily="18" charset="0"/>
              </a:rPr>
              <a:t>prefix SIG </a:t>
            </a:r>
            <a:endParaRPr lang="en-US" dirty="0">
              <a:latin typeface="Garamond" panose="02020404030301010803" pitchFamily="18" charset="0"/>
              <a:cs typeface="Times New Roman" panose="02020603050405020304" pitchFamily="18" charset="0"/>
            </a:endParaRPr>
          </a:p>
          <a:p>
            <a:pPr lvl="1"/>
            <a:r>
              <a:rPr lang="en-US" dirty="0">
                <a:latin typeface="Garamond" panose="02020404030301010803" pitchFamily="18" charset="0"/>
                <a:cs typeface="Times New Roman" panose="02020603050405020304" pitchFamily="18" charset="0"/>
              </a:rPr>
              <a:t>Definition in &lt;</a:t>
            </a:r>
            <a:r>
              <a:rPr lang="en-US" dirty="0" err="1">
                <a:latin typeface="Garamond" panose="02020404030301010803" pitchFamily="18" charset="0"/>
                <a:cs typeface="Times New Roman" panose="02020603050405020304" pitchFamily="18" charset="0"/>
              </a:rPr>
              <a:t>signal.h</a:t>
            </a:r>
            <a:r>
              <a:rPr lang="en-US" dirty="0">
                <a:latin typeface="Garamond" panose="02020404030301010803" pitchFamily="18" charset="0"/>
                <a:cs typeface="Times New Roman" panose="02020603050405020304" pitchFamily="18" charset="0"/>
              </a:rPr>
              <a:t>&gt;</a:t>
            </a:r>
          </a:p>
          <a:p>
            <a:r>
              <a:rPr lang="en-US" dirty="0">
                <a:latin typeface="Garamond" panose="02020404030301010803" pitchFamily="18" charset="0"/>
                <a:cs typeface="Times New Roman" panose="02020603050405020304" pitchFamily="18" charset="0"/>
              </a:rPr>
              <a:t>Each signal has a number </a:t>
            </a:r>
            <a:r>
              <a:rPr lang="fr-FR" dirty="0">
                <a:latin typeface="Garamond" panose="02020404030301010803" pitchFamily="18" charset="0"/>
                <a:cs typeface="Times New Roman" panose="02020603050405020304" pitchFamily="18" charset="0"/>
                <a:sym typeface="Symbol" panose="05050102010706020507" pitchFamily="18" charset="2"/>
              </a:rPr>
              <a:t></a:t>
            </a:r>
            <a:r>
              <a:rPr lang="en-US" dirty="0" smtClean="0">
                <a:latin typeface="Garamond" panose="02020404030301010803" pitchFamily="18" charset="0"/>
                <a:cs typeface="Times New Roman" panose="02020603050405020304" pitchFamily="18" charset="0"/>
              </a:rPr>
              <a:t> </a:t>
            </a:r>
            <a:r>
              <a:rPr lang="en-US" dirty="0">
                <a:latin typeface="Garamond" panose="02020404030301010803" pitchFamily="18" charset="0"/>
                <a:cs typeface="Times New Roman" panose="02020603050405020304" pitchFamily="18" charset="0"/>
              </a:rPr>
              <a:t>[1..NSIG]</a:t>
            </a:r>
          </a:p>
          <a:p>
            <a:r>
              <a:rPr lang="en-US" dirty="0">
                <a:latin typeface="Garamond" panose="02020404030301010803" pitchFamily="18" charset="0"/>
                <a:cs typeface="Times New Roman" panose="02020603050405020304" pitchFamily="18" charset="0"/>
              </a:rPr>
              <a:t>The value 0 is reserved for a special use of the kill function</a:t>
            </a:r>
          </a:p>
          <a:p>
            <a:r>
              <a:rPr lang="en-US" dirty="0">
                <a:latin typeface="Garamond" panose="02020404030301010803" pitchFamily="18" charset="0"/>
                <a:cs typeface="Times New Roman" panose="02020603050405020304" pitchFamily="18" charset="0"/>
              </a:rPr>
              <a:t>Examples:</a:t>
            </a:r>
          </a:p>
          <a:p>
            <a:pPr lvl="1"/>
            <a:r>
              <a:rPr lang="en-US" dirty="0">
                <a:latin typeface="Garamond" panose="02020404030301010803" pitchFamily="18" charset="0"/>
                <a:cs typeface="Times New Roman" panose="02020603050405020304" pitchFamily="18" charset="0"/>
              </a:rPr>
              <a:t>SIGCHLD allows the kernel to notify a father process of the death of its son</a:t>
            </a:r>
          </a:p>
          <a:p>
            <a:pPr lvl="1"/>
            <a:r>
              <a:rPr lang="en-US" dirty="0">
                <a:latin typeface="Garamond" panose="02020404030301010803" pitchFamily="18" charset="0"/>
                <a:cs typeface="Times New Roman" panose="02020603050405020304" pitchFamily="18" charset="0"/>
              </a:rPr>
              <a:t>SIGSEGV is associated with the trap raised in the event of a memory violation, and terminates the faulty process</a:t>
            </a:r>
            <a:endParaRPr lang="fr-FR" dirty="0">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36516850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Signal processing by the </a:t>
            </a:r>
            <a:r>
              <a:rPr lang="en-US" dirty="0" smtClean="0">
                <a:latin typeface="Times New Roman" panose="02020603050405020304" pitchFamily="18" charset="0"/>
                <a:cs typeface="Times New Roman" panose="02020603050405020304" pitchFamily="18" charset="0"/>
              </a:rPr>
              <a:t>kernel</a:t>
            </a:r>
            <a:endParaRPr lang="fr-F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a:latin typeface="Garamond" panose="02020404030301010803" pitchFamily="18" charset="0"/>
                <a:cs typeface="Times New Roman" panose="02020603050405020304" pitchFamily="18" charset="0"/>
              </a:rPr>
              <a:t>List of signals (kill –l)</a:t>
            </a:r>
          </a:p>
          <a:p>
            <a:pPr lvl="1"/>
            <a:r>
              <a:rPr lang="en-US" dirty="0">
                <a:latin typeface="Garamond" panose="02020404030301010803" pitchFamily="18" charset="0"/>
                <a:cs typeface="Times New Roman" panose="02020603050405020304" pitchFamily="18" charset="0"/>
              </a:rPr>
              <a:t>The Linux 2.2 kernel accepts 64 different signals and has a different number and name.</a:t>
            </a:r>
          </a:p>
          <a:p>
            <a:pPr lvl="1"/>
            <a:r>
              <a:rPr lang="en-US" dirty="0">
                <a:latin typeface="Garamond" panose="02020404030301010803" pitchFamily="18" charset="0"/>
                <a:cs typeface="Times New Roman" panose="02020603050405020304" pitchFamily="18" charset="0"/>
              </a:rPr>
              <a:t>0: only signal which has no name</a:t>
            </a:r>
          </a:p>
          <a:p>
            <a:pPr lvl="1"/>
            <a:r>
              <a:rPr lang="en-US" dirty="0">
                <a:latin typeface="Garamond" panose="02020404030301010803" pitchFamily="18" charset="0"/>
                <a:cs typeface="Times New Roman" panose="02020603050405020304" pitchFamily="18" charset="0"/>
              </a:rPr>
              <a:t>1 to 31: classic signals</a:t>
            </a:r>
          </a:p>
          <a:p>
            <a:pPr lvl="1"/>
            <a:r>
              <a:rPr lang="en-US" dirty="0">
                <a:latin typeface="Garamond" panose="02020404030301010803" pitchFamily="18" charset="0"/>
                <a:cs typeface="Times New Roman" panose="02020603050405020304" pitchFamily="18" charset="0"/>
              </a:rPr>
              <a:t>32 to 63: "real time" signals</a:t>
            </a:r>
            <a:endParaRPr lang="fr-FR" dirty="0">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42878996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73421"/>
            <a:ext cx="12192000" cy="6186309"/>
          </a:xfrm>
          <a:prstGeom prst="rect">
            <a:avLst/>
          </a:prstGeom>
        </p:spPr>
        <p:txBody>
          <a:bodyPr wrap="square">
            <a:spAutoFit/>
          </a:bodyPr>
          <a:lstStyle/>
          <a:p>
            <a:r>
              <a:rPr lang="fr-FR" sz="1200" b="1" i="0" u="none" strike="noStrike" baseline="0" dirty="0" smtClean="0">
                <a:solidFill>
                  <a:srgbClr val="000081"/>
                </a:solidFill>
                <a:latin typeface="CourierNewPS-BoldMT"/>
              </a:rPr>
              <a:t>SIGHUP </a:t>
            </a:r>
            <a:r>
              <a:rPr lang="fr-FR" sz="1200" b="0" i="0" u="none" strike="noStrike" baseline="0" dirty="0" smtClean="0">
                <a:solidFill>
                  <a:srgbClr val="000081"/>
                </a:solidFill>
                <a:latin typeface="CourierNewPSMT"/>
              </a:rPr>
              <a:t>(1) Connexion physique interrompue ou terminaison du processus leader de la session</a:t>
            </a:r>
          </a:p>
          <a:p>
            <a:r>
              <a:rPr lang="fr-FR" sz="1200" b="1" i="0" u="none" strike="noStrike" baseline="0" dirty="0" smtClean="0">
                <a:solidFill>
                  <a:srgbClr val="000081"/>
                </a:solidFill>
                <a:latin typeface="CourierNewPS-BoldMT"/>
              </a:rPr>
              <a:t>SIGINT </a:t>
            </a:r>
            <a:r>
              <a:rPr lang="fr-FR" sz="1200" b="0" i="0" u="none" strike="noStrike" baseline="0" dirty="0" smtClean="0">
                <a:solidFill>
                  <a:srgbClr val="000081"/>
                </a:solidFill>
                <a:latin typeface="CourierNewPSMT"/>
              </a:rPr>
              <a:t>(2) frappe du caractère </a:t>
            </a:r>
            <a:r>
              <a:rPr lang="fr-FR" sz="1200" b="0" i="0" u="none" strike="noStrike" baseline="0" dirty="0" err="1" smtClean="0">
                <a:solidFill>
                  <a:srgbClr val="000081"/>
                </a:solidFill>
                <a:latin typeface="CourierNewPSMT"/>
              </a:rPr>
              <a:t>intr</a:t>
            </a:r>
            <a:r>
              <a:rPr lang="fr-FR" sz="1200" b="0" i="0" u="none" strike="noStrike" baseline="0" dirty="0" smtClean="0">
                <a:solidFill>
                  <a:srgbClr val="000081"/>
                </a:solidFill>
                <a:latin typeface="CourierNewPSMT"/>
              </a:rPr>
              <a:t> (interruption clavier : Ctrl C)</a:t>
            </a:r>
          </a:p>
          <a:p>
            <a:r>
              <a:rPr lang="fr-FR" sz="1200" b="1" i="0" u="none" strike="noStrike" baseline="0" dirty="0" smtClean="0">
                <a:solidFill>
                  <a:srgbClr val="000081"/>
                </a:solidFill>
                <a:latin typeface="CourierNewPS-BoldMT"/>
              </a:rPr>
              <a:t>SIGQUIT </a:t>
            </a:r>
            <a:r>
              <a:rPr lang="fr-FR" sz="1200" b="0" i="0" u="none" strike="noStrike" baseline="0" dirty="0" smtClean="0">
                <a:solidFill>
                  <a:srgbClr val="000081"/>
                </a:solidFill>
                <a:latin typeface="CourierNewPSMT"/>
              </a:rPr>
              <a:t>(3) frappe du caractère </a:t>
            </a:r>
            <a:r>
              <a:rPr lang="fr-FR" sz="1200" b="0" i="0" u="none" strike="noStrike" baseline="0" dirty="0" err="1" smtClean="0">
                <a:solidFill>
                  <a:srgbClr val="000081"/>
                </a:solidFill>
                <a:latin typeface="CourierNewPSMT"/>
              </a:rPr>
              <a:t>quit</a:t>
            </a:r>
            <a:r>
              <a:rPr lang="fr-FR" sz="1200" b="0" i="0" u="none" strike="noStrike" baseline="0" dirty="0" smtClean="0">
                <a:solidFill>
                  <a:srgbClr val="000081"/>
                </a:solidFill>
                <a:latin typeface="CourierNewPSMT"/>
              </a:rPr>
              <a:t> (interruption clavier avec sauvegarde de l’image mémoire dans le fichier de nom </a:t>
            </a:r>
            <a:r>
              <a:rPr lang="fr-FR" sz="1200" b="0" i="0" u="none" strike="noStrike" baseline="0" dirty="0" err="1" smtClean="0">
                <a:solidFill>
                  <a:srgbClr val="000081"/>
                </a:solidFill>
                <a:latin typeface="CourierNewPSMT"/>
              </a:rPr>
              <a:t>core</a:t>
            </a:r>
            <a:r>
              <a:rPr lang="fr-FR" sz="1200" b="0" i="0" u="none" strike="noStrike" baseline="0" dirty="0" smtClean="0">
                <a:solidFill>
                  <a:srgbClr val="000081"/>
                </a:solidFill>
                <a:latin typeface="CourierNewPSMT"/>
              </a:rPr>
              <a:t>) sur le clavier du terminal de contrôle (Ctrl \);</a:t>
            </a:r>
          </a:p>
          <a:p>
            <a:r>
              <a:rPr lang="fr-FR" sz="1200" b="1" i="0" u="none" strike="noStrike" baseline="0" dirty="0" smtClean="0">
                <a:solidFill>
                  <a:srgbClr val="000081"/>
                </a:solidFill>
                <a:latin typeface="CourierNewPS-BoldMT"/>
              </a:rPr>
              <a:t>SIGILL </a:t>
            </a:r>
            <a:r>
              <a:rPr lang="fr-FR" sz="1200" b="0" i="0" u="none" strike="noStrike" baseline="0" dirty="0" smtClean="0">
                <a:solidFill>
                  <a:srgbClr val="000081"/>
                </a:solidFill>
                <a:latin typeface="CourierNewPSMT"/>
              </a:rPr>
              <a:t>(4) Instruction illégale</a:t>
            </a:r>
          </a:p>
          <a:p>
            <a:r>
              <a:rPr lang="fr-FR" sz="1200" b="1" i="0" u="none" strike="noStrike" baseline="0" dirty="0" smtClean="0">
                <a:solidFill>
                  <a:srgbClr val="000081"/>
                </a:solidFill>
                <a:latin typeface="CourierNewPS-BoldMT"/>
              </a:rPr>
              <a:t>SIGTRAP </a:t>
            </a:r>
            <a:r>
              <a:rPr lang="fr-FR" sz="1200" b="0" i="0" u="none" strike="noStrike" baseline="0" dirty="0" smtClean="0">
                <a:solidFill>
                  <a:srgbClr val="000081"/>
                </a:solidFill>
                <a:latin typeface="CourierNewPSMT"/>
              </a:rPr>
              <a:t>(5) Point d'arrêt pour le </a:t>
            </a:r>
            <a:r>
              <a:rPr lang="fr-FR" sz="1200" b="0" i="0" u="none" strike="noStrike" baseline="0" dirty="0" err="1" smtClean="0">
                <a:solidFill>
                  <a:srgbClr val="000081"/>
                </a:solidFill>
                <a:latin typeface="CourierNewPSMT"/>
              </a:rPr>
              <a:t>debug</a:t>
            </a:r>
            <a:r>
              <a:rPr lang="fr-FR" sz="1200" b="0" i="0" u="none" strike="noStrike" baseline="0" dirty="0" smtClean="0">
                <a:solidFill>
                  <a:srgbClr val="000081"/>
                </a:solidFill>
                <a:latin typeface="CourierNewPSMT"/>
              </a:rPr>
              <a:t> mode (non POSIX)</a:t>
            </a:r>
          </a:p>
          <a:p>
            <a:r>
              <a:rPr lang="fr-FR" sz="1200" b="1" i="0" u="none" strike="noStrike" baseline="0" dirty="0" smtClean="0">
                <a:solidFill>
                  <a:srgbClr val="000081"/>
                </a:solidFill>
                <a:latin typeface="CourierNewPS-BoldMT"/>
              </a:rPr>
              <a:t>SIGIOT</a:t>
            </a:r>
            <a:r>
              <a:rPr lang="fr-FR" sz="1200" b="0" i="0" u="none" strike="noStrike" baseline="0" dirty="0" smtClean="0">
                <a:solidFill>
                  <a:srgbClr val="000081"/>
                </a:solidFill>
                <a:latin typeface="CourierNewPSMT"/>
              </a:rPr>
              <a:t>/</a:t>
            </a:r>
            <a:r>
              <a:rPr lang="fr-FR" sz="1200" b="1" i="0" u="none" strike="noStrike" baseline="0" dirty="0" smtClean="0">
                <a:solidFill>
                  <a:srgbClr val="000081"/>
                </a:solidFill>
                <a:latin typeface="CourierNewPS-BoldMT"/>
              </a:rPr>
              <a:t>SIGABRT </a:t>
            </a:r>
            <a:r>
              <a:rPr lang="fr-FR" sz="1200" b="0" i="0" u="none" strike="noStrike" baseline="0" dirty="0" smtClean="0">
                <a:solidFill>
                  <a:srgbClr val="000081"/>
                </a:solidFill>
                <a:latin typeface="CourierNewPSMT"/>
              </a:rPr>
              <a:t>(6) Terminaison anormale</a:t>
            </a:r>
          </a:p>
          <a:p>
            <a:r>
              <a:rPr lang="fr-FR" sz="1200" b="1" i="0" u="none" strike="noStrike" baseline="0" dirty="0" smtClean="0">
                <a:solidFill>
                  <a:srgbClr val="000081"/>
                </a:solidFill>
                <a:latin typeface="CourierNewPS-BoldMT"/>
              </a:rPr>
              <a:t>SIGBUS </a:t>
            </a:r>
            <a:r>
              <a:rPr lang="fr-FR" sz="1200" b="0" i="0" u="none" strike="noStrike" baseline="0" dirty="0" smtClean="0">
                <a:solidFill>
                  <a:srgbClr val="000081"/>
                </a:solidFill>
                <a:latin typeface="CourierNewPSMT"/>
              </a:rPr>
              <a:t>(7) Erreur de bus</a:t>
            </a:r>
          </a:p>
          <a:p>
            <a:r>
              <a:rPr lang="fr-FR" sz="1200" b="1" i="0" u="none" strike="noStrike" baseline="0" dirty="0" smtClean="0">
                <a:solidFill>
                  <a:srgbClr val="000081"/>
                </a:solidFill>
                <a:latin typeface="CourierNewPS-BoldMT"/>
              </a:rPr>
              <a:t>SIGFPE </a:t>
            </a:r>
            <a:r>
              <a:rPr lang="fr-FR" sz="1200" b="0" i="0" u="none" strike="noStrike" baseline="0" dirty="0" smtClean="0">
                <a:solidFill>
                  <a:srgbClr val="000081"/>
                </a:solidFill>
                <a:latin typeface="CourierNewPSMT"/>
              </a:rPr>
              <a:t>(8) Erreur arithmétique</a:t>
            </a:r>
          </a:p>
          <a:p>
            <a:r>
              <a:rPr lang="fr-FR" sz="1200" b="1" i="0" u="none" strike="noStrike" baseline="0" dirty="0" smtClean="0">
                <a:solidFill>
                  <a:srgbClr val="000081"/>
                </a:solidFill>
                <a:latin typeface="CourierNewPS-BoldMT"/>
              </a:rPr>
              <a:t>SIGKILL </a:t>
            </a:r>
            <a:r>
              <a:rPr lang="fr-FR" sz="1200" b="0" i="0" u="none" strike="noStrike" baseline="0" dirty="0" smtClean="0">
                <a:solidFill>
                  <a:srgbClr val="000081"/>
                </a:solidFill>
                <a:latin typeface="CourierNewPSMT"/>
              </a:rPr>
              <a:t>(9) signal de terminaison non </a:t>
            </a:r>
            <a:r>
              <a:rPr lang="fr-FR" sz="1200" b="0" i="0" u="none" strike="noStrike" baseline="0" dirty="0" err="1" smtClean="0">
                <a:solidFill>
                  <a:srgbClr val="000081"/>
                </a:solidFill>
                <a:latin typeface="CourierNewPSMT"/>
              </a:rPr>
              <a:t>déroutable</a:t>
            </a:r>
            <a:endParaRPr lang="fr-FR" sz="1200" b="0" i="0" u="none" strike="noStrike" baseline="0" dirty="0" smtClean="0">
              <a:solidFill>
                <a:srgbClr val="000081"/>
              </a:solidFill>
              <a:latin typeface="CourierNewPSMT"/>
            </a:endParaRPr>
          </a:p>
          <a:p>
            <a:r>
              <a:rPr lang="fr-FR" sz="1200" b="1" i="0" u="none" strike="noStrike" baseline="0" dirty="0" smtClean="0">
                <a:solidFill>
                  <a:srgbClr val="000081"/>
                </a:solidFill>
                <a:latin typeface="CourierNewPS-BoldMT"/>
              </a:rPr>
              <a:t>SIGUSR1 </a:t>
            </a:r>
            <a:r>
              <a:rPr lang="fr-FR" sz="1200" b="0" i="0" u="none" strike="noStrike" baseline="0" dirty="0" smtClean="0">
                <a:solidFill>
                  <a:srgbClr val="000081"/>
                </a:solidFill>
                <a:latin typeface="CourierNewPSMT"/>
              </a:rPr>
              <a:t>(10) Signal 1 défini par l’utilisateur</a:t>
            </a:r>
          </a:p>
          <a:p>
            <a:r>
              <a:rPr lang="fr-FR" sz="1200" b="1" i="0" u="none" strike="noStrike" baseline="0" dirty="0" smtClean="0">
                <a:solidFill>
                  <a:srgbClr val="000081"/>
                </a:solidFill>
                <a:latin typeface="CourierNewPS-BoldMT"/>
              </a:rPr>
              <a:t>SIGSEGV </a:t>
            </a:r>
            <a:r>
              <a:rPr lang="fr-FR" sz="1200" b="0" i="0" u="none" strike="noStrike" baseline="0" dirty="0" smtClean="0">
                <a:solidFill>
                  <a:srgbClr val="000081"/>
                </a:solidFill>
                <a:latin typeface="CourierNewPSMT"/>
              </a:rPr>
              <a:t>(11) Adressage mémoire invalide</a:t>
            </a:r>
          </a:p>
          <a:p>
            <a:r>
              <a:rPr lang="fr-FR" sz="1200" b="1" i="0" u="none" strike="noStrike" baseline="0" dirty="0" smtClean="0">
                <a:solidFill>
                  <a:srgbClr val="000081"/>
                </a:solidFill>
                <a:latin typeface="CourierNewPS-BoldMT"/>
              </a:rPr>
              <a:t>SIGUSR2 </a:t>
            </a:r>
            <a:r>
              <a:rPr lang="fr-FR" sz="1200" b="0" i="0" u="none" strike="noStrike" baseline="0" dirty="0" smtClean="0">
                <a:solidFill>
                  <a:srgbClr val="000081"/>
                </a:solidFill>
                <a:latin typeface="CourierNewPSMT"/>
              </a:rPr>
              <a:t>(12) Signal 2 défini par l’utilisateur</a:t>
            </a:r>
          </a:p>
          <a:p>
            <a:r>
              <a:rPr lang="fr-FR" sz="1200" b="1" i="0" u="none" strike="noStrike" baseline="0" dirty="0" smtClean="0">
                <a:solidFill>
                  <a:srgbClr val="000081"/>
                </a:solidFill>
                <a:latin typeface="CourierNewPS-BoldMT"/>
              </a:rPr>
              <a:t>SIGPIPE </a:t>
            </a:r>
            <a:r>
              <a:rPr lang="fr-FR" sz="1200" b="0" i="0" u="none" strike="noStrike" baseline="0" dirty="0" smtClean="0">
                <a:solidFill>
                  <a:srgbClr val="000081"/>
                </a:solidFill>
                <a:latin typeface="CourierNewPSMT"/>
              </a:rPr>
              <a:t>(13) </a:t>
            </a:r>
            <a:r>
              <a:rPr lang="en-US" sz="1200" dirty="0" smtClean="0">
                <a:solidFill>
                  <a:srgbClr val="000081"/>
                </a:solidFill>
                <a:latin typeface="CourierNewPSMT"/>
              </a:rPr>
              <a:t>é</a:t>
            </a:r>
            <a:r>
              <a:rPr lang="fr-FR" sz="1200" b="0" i="0" u="none" strike="noStrike" baseline="0" dirty="0" err="1" smtClean="0">
                <a:solidFill>
                  <a:srgbClr val="000081"/>
                </a:solidFill>
                <a:latin typeface="CourierNewPSMT"/>
              </a:rPr>
              <a:t>criture</a:t>
            </a:r>
            <a:r>
              <a:rPr lang="fr-FR" sz="1200" b="0" i="0" u="none" strike="noStrike" baseline="0" dirty="0" smtClean="0">
                <a:solidFill>
                  <a:srgbClr val="000081"/>
                </a:solidFill>
                <a:latin typeface="CourierNewPSMT"/>
              </a:rPr>
              <a:t> sur un tube sans lecteur</a:t>
            </a:r>
          </a:p>
          <a:p>
            <a:r>
              <a:rPr lang="fr-FR" sz="1200" b="1" i="0" u="none" strike="noStrike" baseline="0" dirty="0" smtClean="0">
                <a:solidFill>
                  <a:srgbClr val="000081"/>
                </a:solidFill>
                <a:latin typeface="CourierNewPS-BoldMT"/>
              </a:rPr>
              <a:t>SIGALRM </a:t>
            </a:r>
            <a:r>
              <a:rPr lang="fr-FR" sz="1200" b="0" i="0" u="none" strike="noStrike" baseline="0" dirty="0" smtClean="0">
                <a:solidFill>
                  <a:srgbClr val="000081"/>
                </a:solidFill>
                <a:latin typeface="CourierNewPSMT"/>
              </a:rPr>
              <a:t>(14) Alarme</a:t>
            </a:r>
          </a:p>
          <a:p>
            <a:r>
              <a:rPr lang="fr-FR" sz="1200" b="1" i="0" u="none" strike="noStrike" baseline="0" dirty="0" smtClean="0">
                <a:solidFill>
                  <a:srgbClr val="000081"/>
                </a:solidFill>
                <a:latin typeface="CourierNewPS-BoldMT"/>
              </a:rPr>
              <a:t>SIGTERM </a:t>
            </a:r>
            <a:r>
              <a:rPr lang="fr-FR" sz="1200" b="0" i="0" u="none" strike="noStrike" baseline="0" dirty="0" smtClean="0">
                <a:solidFill>
                  <a:srgbClr val="000081"/>
                </a:solidFill>
                <a:latin typeface="CourierNewPSMT"/>
              </a:rPr>
              <a:t>(15) Signal de terminaison, il est envoyé à tous les processus actifs par le </a:t>
            </a:r>
            <a:r>
              <a:rPr lang="fr-FR" sz="1200" dirty="0"/>
              <a:t>Liste des signaux « classiques »</a:t>
            </a:r>
            <a:r>
              <a:rPr lang="fr-FR" sz="1200" b="0" i="0" u="none" strike="noStrike" baseline="0" dirty="0" smtClean="0">
                <a:solidFill>
                  <a:srgbClr val="000081"/>
                </a:solidFill>
                <a:latin typeface="CourierNewPSMT"/>
              </a:rPr>
              <a:t>programme </a:t>
            </a:r>
            <a:r>
              <a:rPr lang="fr-FR" sz="1200" b="0" i="0" u="none" strike="noStrike" baseline="0" dirty="0" err="1" smtClean="0">
                <a:solidFill>
                  <a:srgbClr val="000081"/>
                </a:solidFill>
                <a:latin typeface="CourierNewPSMT"/>
              </a:rPr>
              <a:t>shutdown</a:t>
            </a:r>
            <a:r>
              <a:rPr lang="fr-FR" sz="1200" b="0" i="0" u="none" strike="noStrike" baseline="0" dirty="0" smtClean="0">
                <a:solidFill>
                  <a:srgbClr val="000081"/>
                </a:solidFill>
                <a:latin typeface="CourierNewPSMT"/>
              </a:rPr>
              <a:t>, qui permet d’arrêter proprement un système UNIX. Terminaison normale.</a:t>
            </a:r>
          </a:p>
          <a:p>
            <a:r>
              <a:rPr lang="fr-FR" sz="1200" b="1" i="0" u="none" strike="noStrike" baseline="0" dirty="0" smtClean="0">
                <a:solidFill>
                  <a:srgbClr val="000081"/>
                </a:solidFill>
                <a:latin typeface="CourierNewPS-BoldMT"/>
              </a:rPr>
              <a:t>SIGSTKFLT </a:t>
            </a:r>
            <a:r>
              <a:rPr lang="fr-FR" sz="1200" b="0" i="0" u="none" strike="noStrike" baseline="0" dirty="0" smtClean="0">
                <a:solidFill>
                  <a:srgbClr val="000081"/>
                </a:solidFill>
                <a:latin typeface="CourierNewPSMT"/>
              </a:rPr>
              <a:t>(16) Erreur de pile du coprocesseur</a:t>
            </a:r>
          </a:p>
          <a:p>
            <a:r>
              <a:rPr lang="fr-FR" sz="1200" b="1" i="0" u="none" strike="noStrike" baseline="0" dirty="0" smtClean="0">
                <a:solidFill>
                  <a:srgbClr val="000081"/>
                </a:solidFill>
                <a:latin typeface="CourierNewPS-BoldMT"/>
              </a:rPr>
              <a:t>SIGCHLD </a:t>
            </a:r>
            <a:r>
              <a:rPr lang="fr-FR" sz="1200" b="0" i="0" u="none" strike="noStrike" baseline="0" dirty="0" smtClean="0">
                <a:solidFill>
                  <a:srgbClr val="000081"/>
                </a:solidFill>
                <a:latin typeface="CourierNewPSMT"/>
              </a:rPr>
              <a:t>(17) Terminaison d’un fils.</a:t>
            </a:r>
          </a:p>
          <a:p>
            <a:r>
              <a:rPr lang="fr-FR" sz="1200" b="1" i="0" u="none" strike="noStrike" baseline="0" dirty="0" smtClean="0">
                <a:solidFill>
                  <a:srgbClr val="000081"/>
                </a:solidFill>
                <a:latin typeface="CourierNewPS-BoldMT"/>
              </a:rPr>
              <a:t>SIGCONT </a:t>
            </a:r>
            <a:r>
              <a:rPr lang="fr-FR" sz="1200" b="0" i="0" u="none" strike="noStrike" baseline="0" dirty="0" smtClean="0">
                <a:solidFill>
                  <a:srgbClr val="000081"/>
                </a:solidFill>
                <a:latin typeface="CourierNewPSMT"/>
              </a:rPr>
              <a:t>(18) Reprise du processus.</a:t>
            </a:r>
          </a:p>
          <a:p>
            <a:r>
              <a:rPr lang="fr-FR" sz="1200" b="1" i="0" u="none" strike="noStrike" baseline="0" dirty="0" smtClean="0">
                <a:solidFill>
                  <a:srgbClr val="000081"/>
                </a:solidFill>
                <a:latin typeface="CourierNewPS-BoldMT"/>
              </a:rPr>
              <a:t>SIGSTOP </a:t>
            </a:r>
            <a:r>
              <a:rPr lang="fr-FR" sz="1200" b="0" i="0" u="none" strike="noStrike" baseline="0" dirty="0" smtClean="0">
                <a:solidFill>
                  <a:srgbClr val="000081"/>
                </a:solidFill>
                <a:latin typeface="CourierNewPSMT"/>
              </a:rPr>
              <a:t>(19) Suspension du processus (non </a:t>
            </a:r>
            <a:r>
              <a:rPr lang="fr-FR" sz="1200" b="0" i="0" u="none" strike="noStrike" baseline="0" dirty="0" err="1" smtClean="0">
                <a:solidFill>
                  <a:srgbClr val="000081"/>
                </a:solidFill>
                <a:latin typeface="CourierNewPSMT"/>
              </a:rPr>
              <a:t>déroutable</a:t>
            </a:r>
            <a:r>
              <a:rPr lang="fr-FR" sz="1200" b="0" i="0" u="none" strike="noStrike" baseline="0" dirty="0" smtClean="0">
                <a:solidFill>
                  <a:srgbClr val="000081"/>
                </a:solidFill>
                <a:latin typeface="CourierNewPSMT"/>
              </a:rPr>
              <a:t>).</a:t>
            </a:r>
          </a:p>
          <a:p>
            <a:r>
              <a:rPr lang="fr-FR" sz="1200" b="1" i="0" u="none" strike="noStrike" baseline="0" dirty="0" smtClean="0">
                <a:solidFill>
                  <a:srgbClr val="000081"/>
                </a:solidFill>
                <a:latin typeface="CourierNewPS-BoldMT"/>
              </a:rPr>
              <a:t>SIGTSTP </a:t>
            </a:r>
            <a:r>
              <a:rPr lang="fr-FR" sz="1200" b="0" i="0" u="none" strike="noStrike" baseline="0" dirty="0" smtClean="0">
                <a:solidFill>
                  <a:srgbClr val="000081"/>
                </a:solidFill>
                <a:latin typeface="CourierNewPSMT"/>
              </a:rPr>
              <a:t>(20) </a:t>
            </a:r>
            <a:r>
              <a:rPr lang="ar-LB" sz="1200" b="0" i="0" u="none" strike="noStrike" baseline="0" dirty="0" smtClean="0">
                <a:solidFill>
                  <a:srgbClr val="000081"/>
                </a:solidFill>
                <a:latin typeface="CourierNewPSMT"/>
              </a:rPr>
              <a:t>ة</a:t>
            </a:r>
            <a:r>
              <a:rPr lang="fr-FR" sz="1200" b="0" i="0" u="none" strike="noStrike" baseline="0" dirty="0" smtClean="0">
                <a:solidFill>
                  <a:srgbClr val="000081"/>
                </a:solidFill>
                <a:latin typeface="CourierNewPSMT"/>
              </a:rPr>
              <a:t>mission vers le terminal du caractère de suspension (Ctrl Z).</a:t>
            </a:r>
          </a:p>
          <a:p>
            <a:r>
              <a:rPr lang="fr-FR" sz="1200" b="1" i="0" u="none" strike="noStrike" baseline="0" dirty="0" smtClean="0">
                <a:solidFill>
                  <a:srgbClr val="000081"/>
                </a:solidFill>
                <a:latin typeface="CourierNewPS-BoldMT"/>
              </a:rPr>
              <a:t>SIGTTIN </a:t>
            </a:r>
            <a:r>
              <a:rPr lang="fr-FR" sz="1200" b="0" i="0" u="none" strike="noStrike" baseline="0" dirty="0" smtClean="0">
                <a:solidFill>
                  <a:srgbClr val="000081"/>
                </a:solidFill>
                <a:latin typeface="CourierNewPSMT"/>
              </a:rPr>
              <a:t>(21) Lecture du terminal pour un processus d’arrière-plan.</a:t>
            </a:r>
          </a:p>
          <a:p>
            <a:r>
              <a:rPr lang="fr-FR" sz="1200" b="1" i="0" u="none" strike="noStrike" baseline="0" dirty="0" smtClean="0">
                <a:solidFill>
                  <a:srgbClr val="000081"/>
                </a:solidFill>
                <a:latin typeface="CourierNewPS-BoldMT"/>
              </a:rPr>
              <a:t>SIGTTOU </a:t>
            </a:r>
            <a:r>
              <a:rPr lang="fr-FR" sz="1200" b="0" i="0" u="none" strike="noStrike" baseline="0" dirty="0" smtClean="0">
                <a:solidFill>
                  <a:srgbClr val="000081"/>
                </a:solidFill>
                <a:latin typeface="CourierNewPSMT"/>
              </a:rPr>
              <a:t>(22) </a:t>
            </a:r>
            <a:r>
              <a:rPr lang="ar-LB" sz="1200" b="0" i="0" u="none" strike="noStrike" baseline="0" dirty="0" smtClean="0">
                <a:solidFill>
                  <a:srgbClr val="000081"/>
                </a:solidFill>
                <a:latin typeface="CourierNewPSMT"/>
              </a:rPr>
              <a:t>ة</a:t>
            </a:r>
            <a:r>
              <a:rPr lang="fr-FR" sz="1200" b="0" i="0" u="none" strike="noStrike" baseline="0" dirty="0" err="1" smtClean="0">
                <a:solidFill>
                  <a:srgbClr val="000081"/>
                </a:solidFill>
                <a:latin typeface="CourierNewPSMT"/>
              </a:rPr>
              <a:t>criture</a:t>
            </a:r>
            <a:r>
              <a:rPr lang="fr-FR" sz="1200" b="0" i="0" u="none" strike="noStrike" baseline="0" dirty="0" smtClean="0">
                <a:solidFill>
                  <a:srgbClr val="000081"/>
                </a:solidFill>
                <a:latin typeface="CourierNewPSMT"/>
              </a:rPr>
              <a:t> vers le terminal pour un processus d’arrière-plan.</a:t>
            </a:r>
          </a:p>
          <a:p>
            <a:r>
              <a:rPr lang="fr-FR" sz="1200" b="1" i="0" u="none" strike="noStrike" baseline="0" dirty="0" smtClean="0">
                <a:solidFill>
                  <a:srgbClr val="000081"/>
                </a:solidFill>
                <a:latin typeface="CourierNewPS-BoldMT"/>
              </a:rPr>
              <a:t>SIGURG </a:t>
            </a:r>
            <a:r>
              <a:rPr lang="fr-FR" sz="1200" b="0" i="0" u="none" strike="noStrike" baseline="0" dirty="0" smtClean="0">
                <a:solidFill>
                  <a:srgbClr val="000081"/>
                </a:solidFill>
                <a:latin typeface="CourierNewPSMT"/>
              </a:rPr>
              <a:t>(23) Données urgentes sur une socket</a:t>
            </a:r>
          </a:p>
          <a:p>
            <a:r>
              <a:rPr lang="fr-FR" sz="1200" b="1" i="0" u="none" strike="noStrike" baseline="0" dirty="0" smtClean="0">
                <a:solidFill>
                  <a:srgbClr val="000081"/>
                </a:solidFill>
                <a:latin typeface="CourierNewPS-BoldMT"/>
              </a:rPr>
              <a:t>SIGXCPU </a:t>
            </a:r>
            <a:r>
              <a:rPr lang="fr-FR" sz="1200" b="0" i="0" u="none" strike="noStrike" baseline="0" dirty="0" smtClean="0">
                <a:solidFill>
                  <a:srgbClr val="000081"/>
                </a:solidFill>
                <a:latin typeface="CourierNewPSMT"/>
              </a:rPr>
              <a:t>(24) Limite de temps CPU dépassé</a:t>
            </a:r>
          </a:p>
          <a:p>
            <a:r>
              <a:rPr lang="fr-FR" sz="1200" b="1" i="0" u="none" strike="noStrike" baseline="0" dirty="0" smtClean="0">
                <a:solidFill>
                  <a:srgbClr val="000081"/>
                </a:solidFill>
                <a:latin typeface="CourierNewPS-BoldMT"/>
              </a:rPr>
              <a:t>SIGXFSZ </a:t>
            </a:r>
            <a:r>
              <a:rPr lang="fr-FR" sz="1200" b="0" i="0" u="none" strike="noStrike" baseline="0" dirty="0" smtClean="0">
                <a:solidFill>
                  <a:srgbClr val="000081"/>
                </a:solidFill>
                <a:latin typeface="CourierNewPSMT"/>
              </a:rPr>
              <a:t>(25) Limite de taille de fichier dépassé</a:t>
            </a:r>
          </a:p>
          <a:p>
            <a:r>
              <a:rPr lang="fr-FR" sz="1200" b="1" i="0" u="none" strike="noStrike" baseline="0" dirty="0" smtClean="0">
                <a:solidFill>
                  <a:srgbClr val="000081"/>
                </a:solidFill>
                <a:latin typeface="CourierNewPS-BoldMT"/>
              </a:rPr>
              <a:t>SIGVTALARM </a:t>
            </a:r>
            <a:r>
              <a:rPr lang="fr-FR" sz="1200" b="0" i="0" u="none" strike="noStrike" baseline="0" dirty="0" smtClean="0">
                <a:solidFill>
                  <a:srgbClr val="000081"/>
                </a:solidFill>
                <a:latin typeface="CourierNewPSMT"/>
              </a:rPr>
              <a:t>(26) Alarme virtuelle (non POSIX)</a:t>
            </a:r>
          </a:p>
          <a:p>
            <a:r>
              <a:rPr lang="fr-FR" sz="1200" b="1" i="0" u="none" strike="noStrike" baseline="0" dirty="0" smtClean="0">
                <a:solidFill>
                  <a:srgbClr val="000081"/>
                </a:solidFill>
                <a:latin typeface="CourierNewPS-BoldMT"/>
              </a:rPr>
              <a:t>SIGPROF </a:t>
            </a:r>
            <a:r>
              <a:rPr lang="fr-FR" sz="1200" b="0" i="0" u="none" strike="noStrike" baseline="0" dirty="0" smtClean="0">
                <a:solidFill>
                  <a:srgbClr val="000081"/>
                </a:solidFill>
                <a:latin typeface="CourierNewPSMT"/>
              </a:rPr>
              <a:t>(27) Alarme du profileur (non POSIX)</a:t>
            </a:r>
          </a:p>
          <a:p>
            <a:r>
              <a:rPr lang="fr-FR" sz="1200" b="1" i="0" u="none" strike="noStrike" baseline="0" dirty="0" smtClean="0">
                <a:solidFill>
                  <a:srgbClr val="000081"/>
                </a:solidFill>
                <a:latin typeface="CourierNewPS-BoldMT"/>
              </a:rPr>
              <a:t>SIGWINCH </a:t>
            </a:r>
            <a:r>
              <a:rPr lang="fr-FR" sz="1200" b="0" i="0" u="none" strike="noStrike" baseline="0" dirty="0" smtClean="0">
                <a:solidFill>
                  <a:srgbClr val="000081"/>
                </a:solidFill>
                <a:latin typeface="CourierNewPSMT"/>
              </a:rPr>
              <a:t>(28) Fenêtre redimensionnée (non POSIX)</a:t>
            </a:r>
          </a:p>
          <a:p>
            <a:r>
              <a:rPr lang="fr-FR" sz="1200" b="1" i="0" u="none" strike="noStrike" baseline="0" dirty="0" smtClean="0">
                <a:solidFill>
                  <a:srgbClr val="000081"/>
                </a:solidFill>
                <a:latin typeface="CourierNewPS-BoldMT"/>
              </a:rPr>
              <a:t>SIGIO </a:t>
            </a:r>
            <a:r>
              <a:rPr lang="fr-FR" sz="1200" b="0" i="0" u="none" strike="noStrike" baseline="0" dirty="0" smtClean="0">
                <a:solidFill>
                  <a:srgbClr val="000081"/>
                </a:solidFill>
                <a:latin typeface="CourierNewPSMT"/>
              </a:rPr>
              <a:t>(29) Arrivée de caractère à lire (non POSIX)</a:t>
            </a:r>
          </a:p>
          <a:p>
            <a:r>
              <a:rPr lang="fr-FR" sz="1200" b="1" i="0" u="none" strike="noStrike" baseline="0" dirty="0" smtClean="0">
                <a:solidFill>
                  <a:srgbClr val="000081"/>
                </a:solidFill>
                <a:latin typeface="CourierNewPS-BoldMT"/>
              </a:rPr>
              <a:t>SIGPOLL </a:t>
            </a:r>
            <a:r>
              <a:rPr lang="fr-FR" sz="1200" b="0" i="0" u="none" strike="noStrike" baseline="0" dirty="0" smtClean="0">
                <a:solidFill>
                  <a:srgbClr val="000081"/>
                </a:solidFill>
                <a:latin typeface="CourierNewPSMT"/>
              </a:rPr>
              <a:t>(30) Equivalent à SIGIO (non POSIX)</a:t>
            </a:r>
          </a:p>
          <a:p>
            <a:r>
              <a:rPr lang="fr-FR" sz="1200" b="1" i="0" u="none" strike="noStrike" baseline="0" dirty="0" smtClean="0">
                <a:solidFill>
                  <a:srgbClr val="000081"/>
                </a:solidFill>
                <a:latin typeface="CourierNewPS-BoldMT"/>
              </a:rPr>
              <a:t>SIGPWR </a:t>
            </a:r>
            <a:r>
              <a:rPr lang="fr-FR" sz="1200" b="0" i="0" u="none" strike="noStrike" baseline="0" dirty="0" smtClean="0">
                <a:solidFill>
                  <a:srgbClr val="000081"/>
                </a:solidFill>
                <a:latin typeface="CourierNewPSMT"/>
              </a:rPr>
              <a:t>(31) Chute d'alimentation (non POSIX)</a:t>
            </a:r>
          </a:p>
          <a:p>
            <a:r>
              <a:rPr lang="fr-FR" sz="1200" b="1" i="0" u="none" strike="noStrike" baseline="0" dirty="0" smtClean="0">
                <a:solidFill>
                  <a:srgbClr val="000081"/>
                </a:solidFill>
                <a:latin typeface="CourierNewPS-BoldMT"/>
              </a:rPr>
              <a:t>SIGUNUSED </a:t>
            </a:r>
            <a:r>
              <a:rPr lang="fr-FR" sz="1200" b="0" i="0" u="none" strike="noStrike" baseline="0" dirty="0" smtClean="0">
                <a:solidFill>
                  <a:srgbClr val="000081"/>
                </a:solidFill>
                <a:latin typeface="CourierNewPSMT"/>
              </a:rPr>
              <a:t>(32) Non utilisé</a:t>
            </a:r>
            <a:endParaRPr lang="fr-FR" sz="1200" dirty="0"/>
          </a:p>
        </p:txBody>
      </p:sp>
      <p:sp>
        <p:nvSpPr>
          <p:cNvPr id="3" name="Rectangle 2"/>
          <p:cNvSpPr/>
          <p:nvPr/>
        </p:nvSpPr>
        <p:spPr>
          <a:xfrm>
            <a:off x="0" y="81786"/>
            <a:ext cx="7916974" cy="477054"/>
          </a:xfrm>
          <a:prstGeom prst="rect">
            <a:avLst/>
          </a:prstGeom>
        </p:spPr>
        <p:txBody>
          <a:bodyPr wrap="square">
            <a:spAutoFit/>
          </a:bodyPr>
          <a:lstStyle/>
          <a:p>
            <a:r>
              <a:rPr lang="fr-FR" sz="2500" b="0" i="0" u="none" strike="noStrike" baseline="0" dirty="0" smtClean="0">
                <a:solidFill>
                  <a:srgbClr val="FF0000"/>
                </a:solidFill>
                <a:latin typeface="ArialMT"/>
              </a:rPr>
              <a:t>Liste des signaux « classiques »</a:t>
            </a:r>
            <a:endParaRPr lang="fr-FR" sz="2500" dirty="0">
              <a:solidFill>
                <a:srgbClr val="FF0000"/>
              </a:solidFill>
            </a:endParaRPr>
          </a:p>
        </p:txBody>
      </p:sp>
    </p:spTree>
    <p:extLst>
      <p:ext uri="{BB962C8B-B14F-4D97-AF65-F5344CB8AC3E}">
        <p14:creationId xmlns:p14="http://schemas.microsoft.com/office/powerpoint/2010/main" val="42685437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latin typeface="Garamond" panose="02020404030301010803" pitchFamily="18" charset="0"/>
              </a:rPr>
              <a:t>Signal sources</a:t>
            </a:r>
            <a:endParaRPr lang="fr-FR" dirty="0"/>
          </a:p>
        </p:txBody>
      </p:sp>
      <p:sp>
        <p:nvSpPr>
          <p:cNvPr id="3" name="Content Placeholder 2"/>
          <p:cNvSpPr>
            <a:spLocks noGrp="1"/>
          </p:cNvSpPr>
          <p:nvPr>
            <p:ph idx="1"/>
          </p:nvPr>
        </p:nvSpPr>
        <p:spPr>
          <a:xfrm>
            <a:off x="182597" y="1832479"/>
            <a:ext cx="4759712" cy="4351338"/>
          </a:xfrm>
        </p:spPr>
        <p:txBody>
          <a:bodyPr/>
          <a:lstStyle/>
          <a:p>
            <a:r>
              <a:rPr lang="en-US" dirty="0">
                <a:latin typeface="Garamond" panose="02020404030301010803" pitchFamily="18" charset="0"/>
              </a:rPr>
              <a:t>The kernel learns of the event, generates and routes the signal</a:t>
            </a:r>
            <a:endParaRPr lang="fr-FR" dirty="0"/>
          </a:p>
        </p:txBody>
      </p:sp>
      <p:pic>
        <p:nvPicPr>
          <p:cNvPr id="5" name="Picture 4"/>
          <p:cNvPicPr>
            <a:picLocks noChangeAspect="1"/>
          </p:cNvPicPr>
          <p:nvPr/>
        </p:nvPicPr>
        <p:blipFill>
          <a:blip r:embed="rId2"/>
          <a:stretch>
            <a:fillRect/>
          </a:stretch>
        </p:blipFill>
        <p:spPr>
          <a:xfrm>
            <a:off x="182597" y="3100122"/>
            <a:ext cx="5119290" cy="3600000"/>
          </a:xfrm>
          <a:prstGeom prst="rect">
            <a:avLst/>
          </a:prstGeom>
        </p:spPr>
      </p:pic>
      <p:sp>
        <p:nvSpPr>
          <p:cNvPr id="6" name="Content Placeholder 2"/>
          <p:cNvSpPr txBox="1">
            <a:spLocks/>
          </p:cNvSpPr>
          <p:nvPr/>
        </p:nvSpPr>
        <p:spPr>
          <a:xfrm>
            <a:off x="5597912" y="1843630"/>
            <a:ext cx="475971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Garamond" panose="02020404030301010803" pitchFamily="18" charset="0"/>
              </a:rPr>
              <a:t>another process, using the kill () system call, sends the signal.</a:t>
            </a:r>
            <a:endParaRPr lang="fr-FR" dirty="0"/>
          </a:p>
        </p:txBody>
      </p:sp>
      <p:pic>
        <p:nvPicPr>
          <p:cNvPr id="8" name="Picture 7"/>
          <p:cNvPicPr>
            <a:picLocks noChangeAspect="1"/>
          </p:cNvPicPr>
          <p:nvPr/>
        </p:nvPicPr>
        <p:blipFill>
          <a:blip r:embed="rId3"/>
          <a:stretch>
            <a:fillRect/>
          </a:stretch>
        </p:blipFill>
        <p:spPr>
          <a:xfrm>
            <a:off x="5872055" y="3188722"/>
            <a:ext cx="4632394" cy="3422800"/>
          </a:xfrm>
          <a:prstGeom prst="rect">
            <a:avLst/>
          </a:prstGeom>
        </p:spPr>
      </p:pic>
    </p:spTree>
    <p:extLst>
      <p:ext uri="{BB962C8B-B14F-4D97-AF65-F5344CB8AC3E}">
        <p14:creationId xmlns:p14="http://schemas.microsoft.com/office/powerpoint/2010/main" val="426855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latin typeface="Garamond" panose="02020404030301010803" pitchFamily="18" charset="0"/>
                <a:cs typeface="Times New Roman" panose="02020603050405020304" pitchFamily="18" charset="0"/>
              </a:rPr>
              <a:t>Signal </a:t>
            </a:r>
            <a:r>
              <a:rPr lang="fr-FR" dirty="0" err="1">
                <a:latin typeface="Garamond" panose="02020404030301010803" pitchFamily="18" charset="0"/>
                <a:cs typeface="Times New Roman" panose="02020603050405020304" pitchFamily="18" charset="0"/>
              </a:rPr>
              <a:t>generation</a:t>
            </a:r>
            <a:endParaRPr lang="fr-FR" dirty="0"/>
          </a:p>
        </p:txBody>
      </p:sp>
      <p:sp>
        <p:nvSpPr>
          <p:cNvPr id="3" name="Content Placeholder 2"/>
          <p:cNvSpPr>
            <a:spLocks noGrp="1"/>
          </p:cNvSpPr>
          <p:nvPr>
            <p:ph idx="1"/>
          </p:nvPr>
        </p:nvSpPr>
        <p:spPr/>
        <p:txBody>
          <a:bodyPr>
            <a:normAutofit/>
          </a:bodyPr>
          <a:lstStyle/>
          <a:p>
            <a:pPr marL="342900" lvl="0" indent="-342900">
              <a:lnSpc>
                <a:spcPct val="100000"/>
              </a:lnSpc>
              <a:spcBef>
                <a:spcPct val="20000"/>
              </a:spcBef>
            </a:pPr>
            <a:r>
              <a:rPr lang="en-US" sz="2500" dirty="0">
                <a:solidFill>
                  <a:prstClr val="black"/>
                </a:solidFill>
                <a:latin typeface="Garamond" panose="02020404030301010803" pitchFamily="18" charset="0"/>
                <a:cs typeface="Times New Roman" panose="02020603050405020304" pitchFamily="18" charset="0"/>
              </a:rPr>
              <a:t>A signal can be generated as a result of</a:t>
            </a:r>
          </a:p>
          <a:p>
            <a:pPr marL="800100" lvl="1" indent="-342900">
              <a:lnSpc>
                <a:spcPct val="100000"/>
              </a:lnSpc>
              <a:spcBef>
                <a:spcPct val="20000"/>
              </a:spcBef>
            </a:pPr>
            <a:r>
              <a:rPr lang="en-US" sz="2100" dirty="0">
                <a:solidFill>
                  <a:prstClr val="black"/>
                </a:solidFill>
                <a:latin typeface="Garamond" panose="02020404030301010803" pitchFamily="18" charset="0"/>
                <a:cs typeface="Times New Roman" panose="02020603050405020304" pitchFamily="18" charset="0"/>
              </a:rPr>
              <a:t>a har</a:t>
            </a:r>
            <a:r>
              <a:rPr lang="en-US" sz="2100" dirty="0">
                <a:solidFill>
                  <a:srgbClr val="FF0000"/>
                </a:solidFill>
                <a:latin typeface="Garamond" panose="02020404030301010803" pitchFamily="18" charset="0"/>
                <a:cs typeface="Times New Roman" panose="02020603050405020304" pitchFamily="18" charset="0"/>
              </a:rPr>
              <a:t>dware problem</a:t>
            </a:r>
            <a:r>
              <a:rPr lang="en-US" sz="2100" dirty="0">
                <a:solidFill>
                  <a:prstClr val="black"/>
                </a:solidFill>
                <a:latin typeface="Garamond" panose="02020404030301010803" pitchFamily="18" charset="0"/>
                <a:cs typeface="Times New Roman" panose="02020603050405020304" pitchFamily="18" charset="0"/>
              </a:rPr>
              <a:t>: division by zero, addressing problem, power supply failure, etc.</a:t>
            </a:r>
          </a:p>
          <a:p>
            <a:pPr marL="800100" lvl="1" indent="-342900">
              <a:lnSpc>
                <a:spcPct val="100000"/>
              </a:lnSpc>
              <a:spcBef>
                <a:spcPct val="20000"/>
              </a:spcBef>
            </a:pPr>
            <a:r>
              <a:rPr lang="en-US" sz="2100" dirty="0">
                <a:solidFill>
                  <a:srgbClr val="FF0000"/>
                </a:solidFill>
                <a:latin typeface="Garamond" panose="02020404030301010803" pitchFamily="18" charset="0"/>
                <a:cs typeface="Times New Roman" panose="02020603050405020304" pitchFamily="18" charset="0"/>
              </a:rPr>
              <a:t>pressing the keys on the terminal keypad</a:t>
            </a:r>
            <a:r>
              <a:rPr lang="en-US" sz="2100" dirty="0">
                <a:solidFill>
                  <a:prstClr val="black"/>
                </a:solidFill>
                <a:latin typeface="Garamond" panose="02020404030301010803" pitchFamily="18" charset="0"/>
                <a:cs typeface="Times New Roman" panose="02020603050405020304" pitchFamily="18" charset="0"/>
              </a:rPr>
              <a:t>:</a:t>
            </a:r>
          </a:p>
          <a:p>
            <a:pPr marL="1257300" lvl="2" indent="-342900">
              <a:lnSpc>
                <a:spcPct val="100000"/>
              </a:lnSpc>
              <a:spcBef>
                <a:spcPct val="20000"/>
              </a:spcBef>
            </a:pPr>
            <a:r>
              <a:rPr lang="en-US" sz="1700" dirty="0">
                <a:solidFill>
                  <a:prstClr val="black"/>
                </a:solidFill>
                <a:latin typeface="Garamond" panose="02020404030301010803" pitchFamily="18" charset="0"/>
                <a:cs typeface="Times New Roman" panose="02020603050405020304" pitchFamily="18" charset="0"/>
              </a:rPr>
              <a:t>Ctrl C (send SIGINT),</a:t>
            </a:r>
          </a:p>
          <a:p>
            <a:pPr marL="1257300" lvl="2" indent="-342900">
              <a:lnSpc>
                <a:spcPct val="100000"/>
              </a:lnSpc>
              <a:spcBef>
                <a:spcPct val="20000"/>
              </a:spcBef>
            </a:pPr>
            <a:r>
              <a:rPr lang="en-US" sz="1700" dirty="0">
                <a:solidFill>
                  <a:prstClr val="black"/>
                </a:solidFill>
                <a:latin typeface="Garamond" panose="02020404030301010803" pitchFamily="18" charset="0"/>
                <a:cs typeface="Times New Roman" panose="02020603050405020304" pitchFamily="18" charset="0"/>
              </a:rPr>
              <a:t>Ctrl Z (send SIGTSTP),</a:t>
            </a:r>
          </a:p>
          <a:p>
            <a:pPr marL="1257300" lvl="2" indent="-342900">
              <a:lnSpc>
                <a:spcPct val="100000"/>
              </a:lnSpc>
              <a:spcBef>
                <a:spcPct val="20000"/>
              </a:spcBef>
            </a:pPr>
            <a:r>
              <a:rPr lang="en-US" sz="1700" dirty="0">
                <a:solidFill>
                  <a:prstClr val="black"/>
                </a:solidFill>
                <a:latin typeface="Garamond" panose="02020404030301010803" pitchFamily="18" charset="0"/>
                <a:cs typeface="Times New Roman" panose="02020603050405020304" pitchFamily="18" charset="0"/>
              </a:rPr>
              <a:t>Ctrl \ (send from SIGQUIT), etc.</a:t>
            </a:r>
          </a:p>
          <a:p>
            <a:pPr marL="800100" lvl="1" indent="-342900">
              <a:lnSpc>
                <a:spcPct val="100000"/>
              </a:lnSpc>
              <a:spcBef>
                <a:spcPct val="20000"/>
              </a:spcBef>
            </a:pPr>
            <a:r>
              <a:rPr lang="en-US" sz="2100" dirty="0">
                <a:solidFill>
                  <a:prstClr val="black"/>
                </a:solidFill>
                <a:latin typeface="Garamond" panose="02020404030301010803" pitchFamily="18" charset="0"/>
                <a:cs typeface="Times New Roman" panose="02020603050405020304" pitchFamily="18" charset="0"/>
              </a:rPr>
              <a:t>the expiration of the preprogrammed delay (alarm () function)</a:t>
            </a:r>
          </a:p>
          <a:p>
            <a:pPr marL="800100" lvl="1" indent="-342900">
              <a:lnSpc>
                <a:spcPct val="100000"/>
              </a:lnSpc>
              <a:spcBef>
                <a:spcPct val="20000"/>
              </a:spcBef>
            </a:pPr>
            <a:r>
              <a:rPr lang="en-US" sz="2100" dirty="0">
                <a:solidFill>
                  <a:prstClr val="black"/>
                </a:solidFill>
                <a:latin typeface="Garamond" panose="02020404030301010803" pitchFamily="18" charset="0"/>
                <a:cs typeface="Times New Roman" panose="02020603050405020304" pitchFamily="18" charset="0"/>
              </a:rPr>
              <a:t>a software event of the partner processes (reader absent on pipe, ls process terminates or stops, etc.)</a:t>
            </a:r>
          </a:p>
          <a:p>
            <a:pPr marL="800100" lvl="1" indent="-342900">
              <a:lnSpc>
                <a:spcPct val="100000"/>
              </a:lnSpc>
              <a:spcBef>
                <a:spcPct val="20000"/>
              </a:spcBef>
            </a:pPr>
            <a:r>
              <a:rPr lang="en-US" sz="2100" dirty="0">
                <a:solidFill>
                  <a:prstClr val="black"/>
                </a:solidFill>
                <a:latin typeface="Garamond" panose="02020404030301010803" pitchFamily="18" charset="0"/>
                <a:cs typeface="Times New Roman" panose="02020603050405020304" pitchFamily="18" charset="0"/>
              </a:rPr>
              <a:t>a need to stop or end (more or less abruptly) the process</a:t>
            </a:r>
          </a:p>
          <a:p>
            <a:pPr marL="342900" lvl="0" indent="-342900">
              <a:lnSpc>
                <a:spcPct val="100000"/>
              </a:lnSpc>
              <a:spcBef>
                <a:spcPct val="20000"/>
              </a:spcBef>
            </a:pPr>
            <a:r>
              <a:rPr lang="en-US" sz="2500" dirty="0">
                <a:solidFill>
                  <a:prstClr val="black"/>
                </a:solidFill>
                <a:latin typeface="Garamond" panose="02020404030301010803" pitchFamily="18" charset="0"/>
                <a:cs typeface="Times New Roman" panose="02020603050405020304" pitchFamily="18" charset="0"/>
              </a:rPr>
              <a:t>It is the kernel which carries the signal to the processes (identified by their </a:t>
            </a:r>
            <a:r>
              <a:rPr lang="en-US" sz="2500" dirty="0" err="1">
                <a:solidFill>
                  <a:prstClr val="black"/>
                </a:solidFill>
                <a:latin typeface="Garamond" panose="02020404030301010803" pitchFamily="18" charset="0"/>
                <a:cs typeface="Times New Roman" panose="02020603050405020304" pitchFamily="18" charset="0"/>
              </a:rPr>
              <a:t>pid</a:t>
            </a:r>
            <a:r>
              <a:rPr lang="en-US" sz="2500" dirty="0">
                <a:solidFill>
                  <a:prstClr val="black"/>
                </a:solidFill>
                <a:latin typeface="Garamond" panose="02020404030301010803" pitchFamily="18" charset="0"/>
                <a:cs typeface="Times New Roman" panose="02020603050405020304" pitchFamily="18" charset="0"/>
              </a:rPr>
              <a:t>).</a:t>
            </a:r>
            <a:endParaRPr lang="fr-FR" dirty="0"/>
          </a:p>
        </p:txBody>
      </p:sp>
    </p:spTree>
    <p:extLst>
      <p:ext uri="{BB962C8B-B14F-4D97-AF65-F5344CB8AC3E}">
        <p14:creationId xmlns:p14="http://schemas.microsoft.com/office/powerpoint/2010/main" val="40785059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Garamond" panose="02020404030301010803" pitchFamily="18" charset="0"/>
                <a:cs typeface="Times New Roman" panose="02020603050405020304" pitchFamily="18" charset="0"/>
              </a:rPr>
              <a:t>PCB fields associated with signals</a:t>
            </a:r>
            <a:endParaRPr lang="fr-FR" dirty="0">
              <a:latin typeface="Garamond" panose="02020404030301010803"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a:solidFill>
                  <a:srgbClr val="000000"/>
                </a:solidFill>
                <a:latin typeface="Garamond" panose="02020404030301010803" pitchFamily="18" charset="0"/>
                <a:cs typeface="Times New Roman" panose="02020603050405020304" pitchFamily="18" charset="0"/>
              </a:rPr>
              <a:t>Contains several fields allowing it to manage signals:</a:t>
            </a:r>
          </a:p>
          <a:p>
            <a:pPr lvl="1"/>
            <a:r>
              <a:rPr lang="en-US" dirty="0">
                <a:solidFill>
                  <a:srgbClr val="0000FF"/>
                </a:solidFill>
                <a:latin typeface="Garamond" panose="02020404030301010803" pitchFamily="18" charset="0"/>
                <a:cs typeface="Times New Roman" panose="02020603050405020304" pitchFamily="18" charset="0"/>
              </a:rPr>
              <a:t>signal</a:t>
            </a:r>
            <a:r>
              <a:rPr lang="en-US" dirty="0">
                <a:solidFill>
                  <a:srgbClr val="000000"/>
                </a:solidFill>
                <a:latin typeface="Garamond" panose="02020404030301010803" pitchFamily="18" charset="0"/>
                <a:cs typeface="Times New Roman" panose="02020603050405020304" pitchFamily="18" charset="0"/>
              </a:rPr>
              <a:t>: Stores the signals sent to the process. Two 32-bit integers (</a:t>
            </a:r>
            <a:r>
              <a:rPr lang="en-US" dirty="0" err="1">
                <a:solidFill>
                  <a:srgbClr val="0000FF"/>
                </a:solidFill>
                <a:latin typeface="Garamond" panose="02020404030301010803" pitchFamily="18" charset="0"/>
                <a:cs typeface="Times New Roman" panose="02020603050405020304" pitchFamily="18" charset="0"/>
              </a:rPr>
              <a:t>sigset_t</a:t>
            </a:r>
            <a:r>
              <a:rPr lang="en-US" dirty="0">
                <a:solidFill>
                  <a:srgbClr val="0000FF"/>
                </a:solidFill>
                <a:latin typeface="Garamond" panose="02020404030301010803" pitchFamily="18" charset="0"/>
                <a:cs typeface="Times New Roman" panose="02020603050405020304" pitchFamily="18" charset="0"/>
              </a:rPr>
              <a:t> </a:t>
            </a:r>
            <a:r>
              <a:rPr lang="en-US" dirty="0">
                <a:solidFill>
                  <a:srgbClr val="000000"/>
                </a:solidFill>
                <a:latin typeface="Garamond" panose="02020404030301010803" pitchFamily="18" charset="0"/>
                <a:cs typeface="Times New Roman" panose="02020603050405020304" pitchFamily="18" charset="0"/>
              </a:rPr>
              <a:t>structure), each bit represents a signal. "1 = received".</a:t>
            </a:r>
          </a:p>
          <a:p>
            <a:pPr lvl="1"/>
            <a:r>
              <a:rPr lang="en-US" dirty="0">
                <a:solidFill>
                  <a:srgbClr val="0000FF"/>
                </a:solidFill>
                <a:latin typeface="Garamond" panose="02020404030301010803" pitchFamily="18" charset="0"/>
                <a:cs typeface="Times New Roman" panose="02020603050405020304" pitchFamily="18" charset="0"/>
              </a:rPr>
              <a:t>blocked</a:t>
            </a:r>
            <a:r>
              <a:rPr lang="en-US" dirty="0">
                <a:solidFill>
                  <a:srgbClr val="000000"/>
                </a:solidFill>
                <a:latin typeface="Garamond" panose="02020404030301010803" pitchFamily="18" charset="0"/>
                <a:cs typeface="Times New Roman" panose="02020603050405020304" pitchFamily="18" charset="0"/>
              </a:rPr>
              <a:t>: same, but stores blocked (delayed) signals.</a:t>
            </a:r>
          </a:p>
          <a:p>
            <a:pPr lvl="1"/>
            <a:r>
              <a:rPr lang="en-US" dirty="0" err="1">
                <a:solidFill>
                  <a:srgbClr val="0000FF"/>
                </a:solidFill>
                <a:latin typeface="Garamond" panose="02020404030301010803" pitchFamily="18" charset="0"/>
                <a:cs typeface="Times New Roman" panose="02020603050405020304" pitchFamily="18" charset="0"/>
              </a:rPr>
              <a:t>sigpending</a:t>
            </a:r>
            <a:r>
              <a:rPr lang="en-US" dirty="0">
                <a:solidFill>
                  <a:srgbClr val="000000"/>
                </a:solidFill>
                <a:latin typeface="Garamond" panose="02020404030301010803" pitchFamily="18" charset="0"/>
                <a:cs typeface="Times New Roman" panose="02020603050405020304" pitchFamily="18" charset="0"/>
              </a:rPr>
              <a:t>: indicates if at least one unblocked signal is pending</a:t>
            </a:r>
          </a:p>
          <a:p>
            <a:pPr lvl="1"/>
            <a:r>
              <a:rPr lang="en-US" dirty="0" err="1">
                <a:solidFill>
                  <a:srgbClr val="0000FF"/>
                </a:solidFill>
                <a:latin typeface="Garamond" panose="02020404030301010803" pitchFamily="18" charset="0"/>
                <a:cs typeface="Times New Roman" panose="02020603050405020304" pitchFamily="18" charset="0"/>
              </a:rPr>
              <a:t>gsig</a:t>
            </a:r>
            <a:r>
              <a:rPr lang="en-US" dirty="0">
                <a:solidFill>
                  <a:srgbClr val="000000"/>
                </a:solidFill>
                <a:latin typeface="Garamond" panose="02020404030301010803" pitchFamily="18" charset="0"/>
                <a:cs typeface="Times New Roman" panose="02020603050405020304" pitchFamily="18" charset="0"/>
              </a:rPr>
              <a:t>: pointer to the action associated with each signal</a:t>
            </a:r>
            <a:endParaRPr lang="fr-FR" dirty="0">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27342587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dirty="0">
                <a:latin typeface="Garamond" panose="02020404030301010803" pitchFamily="18" charset="0"/>
                <a:cs typeface="Times New Roman" panose="02020603050405020304" pitchFamily="18" charset="0"/>
              </a:rPr>
              <a:t>Signal state</a:t>
            </a:r>
          </a:p>
        </p:txBody>
      </p:sp>
      <p:sp>
        <p:nvSpPr>
          <p:cNvPr id="3" name="Content Placeholder 2"/>
          <p:cNvSpPr>
            <a:spLocks noGrp="1"/>
          </p:cNvSpPr>
          <p:nvPr>
            <p:ph idx="1"/>
          </p:nvPr>
        </p:nvSpPr>
        <p:spPr/>
        <p:txBody>
          <a:bodyPr>
            <a:normAutofit lnSpcReduction="10000"/>
          </a:bodyPr>
          <a:lstStyle/>
          <a:p>
            <a:r>
              <a:rPr lang="en-US" dirty="0">
                <a:latin typeface="Garamond" panose="02020404030301010803" pitchFamily="18" charset="0"/>
                <a:cs typeface="Times New Roman" panose="02020603050405020304" pitchFamily="18" charset="0"/>
              </a:rPr>
              <a:t>Signal </a:t>
            </a:r>
            <a:r>
              <a:rPr lang="en-US" dirty="0">
                <a:solidFill>
                  <a:srgbClr val="0000FF"/>
                </a:solidFill>
                <a:latin typeface="Garamond" panose="02020404030301010803" pitchFamily="18" charset="0"/>
                <a:cs typeface="Times New Roman" panose="02020603050405020304" pitchFamily="18" charset="0"/>
              </a:rPr>
              <a:t>generated</a:t>
            </a:r>
            <a:r>
              <a:rPr lang="en-US" dirty="0">
                <a:latin typeface="Garamond" panose="02020404030301010803" pitchFamily="18" charset="0"/>
                <a:cs typeface="Times New Roman" panose="02020603050405020304" pitchFamily="18" charset="0"/>
              </a:rPr>
              <a:t> or </a:t>
            </a:r>
            <a:r>
              <a:rPr lang="en-US" dirty="0">
                <a:solidFill>
                  <a:srgbClr val="0000FF"/>
                </a:solidFill>
                <a:latin typeface="Garamond" panose="02020404030301010803" pitchFamily="18" charset="0"/>
                <a:cs typeface="Times New Roman" panose="02020603050405020304" pitchFamily="18" charset="0"/>
              </a:rPr>
              <a:t>sent</a:t>
            </a:r>
            <a:r>
              <a:rPr lang="en-US" dirty="0">
                <a:latin typeface="Garamond" panose="02020404030301010803" pitchFamily="18" charset="0"/>
                <a:cs typeface="Times New Roman" panose="02020603050405020304" pitchFamily="18" charset="0"/>
              </a:rPr>
              <a:t> / </a:t>
            </a:r>
            <a:r>
              <a:rPr lang="en-US" dirty="0">
                <a:solidFill>
                  <a:srgbClr val="0000FF"/>
                </a:solidFill>
                <a:latin typeface="Garamond" panose="02020404030301010803" pitchFamily="18" charset="0"/>
                <a:cs typeface="Times New Roman" panose="02020603050405020304" pitchFamily="18" charset="0"/>
              </a:rPr>
              <a:t>emitted</a:t>
            </a:r>
          </a:p>
          <a:p>
            <a:pPr lvl="1"/>
            <a:r>
              <a:rPr lang="en-US" dirty="0">
                <a:latin typeface="Garamond" panose="02020404030301010803" pitchFamily="18" charset="0"/>
                <a:cs typeface="Times New Roman" panose="02020603050405020304" pitchFamily="18" charset="0"/>
              </a:rPr>
              <a:t>The event associated with the signal has occurred</a:t>
            </a:r>
          </a:p>
          <a:p>
            <a:r>
              <a:rPr lang="en-US" dirty="0">
                <a:latin typeface="Garamond" panose="02020404030301010803" pitchFamily="18" charset="0"/>
                <a:cs typeface="Times New Roman" panose="02020603050405020304" pitchFamily="18" charset="0"/>
              </a:rPr>
              <a:t>Signal </a:t>
            </a:r>
            <a:r>
              <a:rPr lang="en-US" dirty="0">
                <a:solidFill>
                  <a:srgbClr val="0000FF"/>
                </a:solidFill>
                <a:latin typeface="Garamond" panose="02020404030301010803" pitchFamily="18" charset="0"/>
                <a:cs typeface="Times New Roman" panose="02020603050405020304" pitchFamily="18" charset="0"/>
              </a:rPr>
              <a:t>delivered</a:t>
            </a:r>
            <a:r>
              <a:rPr lang="en-US" dirty="0">
                <a:latin typeface="Garamond" panose="02020404030301010803" pitchFamily="18" charset="0"/>
                <a:cs typeface="Times New Roman" panose="02020603050405020304" pitchFamily="18" charset="0"/>
              </a:rPr>
              <a:t> or taken into account</a:t>
            </a:r>
          </a:p>
          <a:p>
            <a:pPr lvl="1"/>
            <a:r>
              <a:rPr lang="en-US" dirty="0">
                <a:latin typeface="Garamond" panose="02020404030301010803" pitchFamily="18" charset="0"/>
                <a:cs typeface="Times New Roman" panose="02020603050405020304" pitchFamily="18" charset="0"/>
              </a:rPr>
              <a:t>The action associated with the signal has been performed</a:t>
            </a:r>
          </a:p>
          <a:p>
            <a:r>
              <a:rPr lang="en-US" dirty="0">
                <a:latin typeface="Garamond" panose="02020404030301010803" pitchFamily="18" charset="0"/>
                <a:cs typeface="Times New Roman" panose="02020603050405020304" pitchFamily="18" charset="0"/>
              </a:rPr>
              <a:t>Signal </a:t>
            </a:r>
            <a:r>
              <a:rPr lang="en-US" dirty="0" smtClean="0">
                <a:solidFill>
                  <a:srgbClr val="0000FF"/>
                </a:solidFill>
                <a:latin typeface="Garamond" panose="02020404030301010803" pitchFamily="18" charset="0"/>
                <a:cs typeface="Times New Roman" panose="02020603050405020304" pitchFamily="18" charset="0"/>
              </a:rPr>
              <a:t>pending</a:t>
            </a:r>
            <a:endParaRPr lang="en-US" dirty="0">
              <a:solidFill>
                <a:srgbClr val="0000FF"/>
              </a:solidFill>
              <a:latin typeface="Garamond" panose="02020404030301010803" pitchFamily="18" charset="0"/>
              <a:cs typeface="Times New Roman" panose="02020603050405020304" pitchFamily="18" charset="0"/>
            </a:endParaRPr>
          </a:p>
          <a:p>
            <a:pPr lvl="1"/>
            <a:r>
              <a:rPr lang="en-US" dirty="0">
                <a:latin typeface="Garamond" panose="02020404030301010803" pitchFamily="18" charset="0"/>
                <a:cs typeface="Times New Roman" panose="02020603050405020304" pitchFamily="18" charset="0"/>
              </a:rPr>
              <a:t>The signal sent has not yet been taken into account</a:t>
            </a:r>
          </a:p>
          <a:p>
            <a:pPr lvl="1"/>
            <a:r>
              <a:rPr lang="en-US" dirty="0">
                <a:latin typeface="Garamond" panose="02020404030301010803" pitchFamily="18" charset="0"/>
                <a:cs typeface="Times New Roman" panose="02020603050405020304" pitchFamily="18" charset="0"/>
              </a:rPr>
              <a:t>A single occurrence of the same type of signal can be pending</a:t>
            </a:r>
          </a:p>
          <a:p>
            <a:r>
              <a:rPr lang="en-US" dirty="0">
                <a:latin typeface="Garamond" panose="02020404030301010803" pitchFamily="18" charset="0"/>
                <a:cs typeface="Times New Roman" panose="02020603050405020304" pitchFamily="18" charset="0"/>
              </a:rPr>
              <a:t>Signal </a:t>
            </a:r>
            <a:r>
              <a:rPr lang="en-US" dirty="0">
                <a:solidFill>
                  <a:srgbClr val="0000FF"/>
                </a:solidFill>
                <a:latin typeface="Garamond" panose="02020404030301010803" pitchFamily="18" charset="0"/>
                <a:cs typeface="Times New Roman" panose="02020603050405020304" pitchFamily="18" charset="0"/>
              </a:rPr>
              <a:t>blocked</a:t>
            </a:r>
            <a:r>
              <a:rPr lang="en-US" dirty="0">
                <a:latin typeface="Garamond" panose="02020404030301010803" pitchFamily="18" charset="0"/>
                <a:cs typeface="Times New Roman" panose="02020603050405020304" pitchFamily="18" charset="0"/>
              </a:rPr>
              <a:t> or </a:t>
            </a:r>
            <a:r>
              <a:rPr lang="en-US" dirty="0">
                <a:solidFill>
                  <a:srgbClr val="0000FF"/>
                </a:solidFill>
                <a:latin typeface="Garamond" panose="02020404030301010803" pitchFamily="18" charset="0"/>
                <a:cs typeface="Times New Roman" panose="02020603050405020304" pitchFamily="18" charset="0"/>
              </a:rPr>
              <a:t>masked</a:t>
            </a:r>
          </a:p>
          <a:p>
            <a:pPr lvl="1"/>
            <a:r>
              <a:rPr lang="en-US" dirty="0">
                <a:latin typeface="Garamond" panose="02020404030301010803" pitchFamily="18" charset="0"/>
                <a:cs typeface="Times New Roman" panose="02020603050405020304" pitchFamily="18" charset="0"/>
              </a:rPr>
              <a:t>The taking into account of the signal is deliberately deferred.</a:t>
            </a:r>
          </a:p>
          <a:p>
            <a:pPr lvl="1"/>
            <a:r>
              <a:rPr lang="en-US" dirty="0">
                <a:latin typeface="Garamond" panose="02020404030301010803" pitchFamily="18" charset="0"/>
                <a:cs typeface="Times New Roman" panose="02020603050405020304" pitchFamily="18" charset="0"/>
              </a:rPr>
              <a:t>The signal will only take effect when the process has unblocked it</a:t>
            </a:r>
            <a:endParaRPr lang="fr-FR" dirty="0">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15088609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dirty="0">
                <a:latin typeface="Garamond" panose="02020404030301010803" pitchFamily="18" charset="0"/>
                <a:cs typeface="Times New Roman" panose="02020603050405020304" pitchFamily="18" charset="0"/>
              </a:rPr>
              <a:t>Times of signal </a:t>
            </a:r>
            <a:r>
              <a:rPr lang="fr-FR" dirty="0" err="1">
                <a:latin typeface="Garamond" panose="02020404030301010803" pitchFamily="18" charset="0"/>
                <a:cs typeface="Times New Roman" panose="02020603050405020304" pitchFamily="18" charset="0"/>
              </a:rPr>
              <a:t>delivery</a:t>
            </a:r>
            <a:endParaRPr lang="fr-FR" dirty="0">
              <a:latin typeface="Garamond" panose="02020404030301010803"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Garamond" panose="02020404030301010803" pitchFamily="18" charset="0"/>
                <a:cs typeface="Times New Roman" panose="02020603050405020304" pitchFamily="18" charset="0"/>
              </a:rPr>
              <a:t>A signal is delivered to its destination process when the latter:</a:t>
            </a:r>
          </a:p>
          <a:p>
            <a:pPr lvl="1"/>
            <a:r>
              <a:rPr lang="en-US" dirty="0">
                <a:latin typeface="Garamond" panose="02020404030301010803" pitchFamily="18" charset="0"/>
                <a:cs typeface="Times New Roman" panose="02020603050405020304" pitchFamily="18" charset="0"/>
              </a:rPr>
              <a:t>has just been elected for the processor</a:t>
            </a:r>
          </a:p>
          <a:p>
            <a:pPr lvl="1"/>
            <a:r>
              <a:rPr lang="en-US" dirty="0">
                <a:latin typeface="Garamond" panose="02020404030301010803" pitchFamily="18" charset="0"/>
                <a:cs typeface="Times New Roman" panose="02020603050405020304" pitchFamily="18" charset="0"/>
              </a:rPr>
              <a:t>comes back from a system call</a:t>
            </a:r>
          </a:p>
          <a:p>
            <a:pPr lvl="1"/>
            <a:r>
              <a:rPr lang="en-US" dirty="0">
                <a:latin typeface="Garamond" panose="02020404030301010803" pitchFamily="18" charset="0"/>
                <a:cs typeface="Times New Roman" panose="02020603050405020304" pitchFamily="18" charset="0"/>
              </a:rPr>
              <a:t>coming back from a hardware interruption</a:t>
            </a:r>
          </a:p>
          <a:p>
            <a:r>
              <a:rPr lang="en-US" dirty="0">
                <a:latin typeface="Garamond" panose="02020404030301010803" pitchFamily="18" charset="0"/>
                <a:cs typeface="Times New Roman" panose="02020603050405020304" pitchFamily="18" charset="0"/>
              </a:rPr>
              <a:t>No signal has any effect on a zombie process</a:t>
            </a:r>
            <a:endParaRPr lang="fr-FR" dirty="0">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28079797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nSpc>
                <a:spcPts val="4175"/>
              </a:lnSpc>
            </a:pPr>
            <a:r>
              <a:rPr lang="en-US" dirty="0">
                <a:solidFill>
                  <a:srgbClr val="191919"/>
                </a:solidFill>
                <a:latin typeface="Garamond" panose="02020404030301010803" pitchFamily="18" charset="0"/>
                <a:cs typeface="Times New Roman" pitchFamily="18" charset="0"/>
              </a:rPr>
              <a:t>Sending signals</a:t>
            </a:r>
            <a:endParaRPr lang="en-US" dirty="0">
              <a:latin typeface="Garamond" panose="02020404030301010803" pitchFamily="18" charset="0"/>
              <a:cs typeface="Times New Roman" pitchFamily="18" charset="0"/>
            </a:endParaRPr>
          </a:p>
        </p:txBody>
      </p:sp>
      <p:sp>
        <p:nvSpPr>
          <p:cNvPr id="3" name="Content Placeholder 2"/>
          <p:cNvSpPr>
            <a:spLocks noGrp="1"/>
          </p:cNvSpPr>
          <p:nvPr>
            <p:ph idx="1"/>
          </p:nvPr>
        </p:nvSpPr>
        <p:spPr/>
        <p:txBody>
          <a:bodyPr>
            <a:noAutofit/>
          </a:bodyPr>
          <a:lstStyle/>
          <a:p>
            <a:r>
              <a:rPr lang="en-US" sz="2178" b="1" dirty="0">
                <a:latin typeface="Garamond" panose="02020404030301010803" pitchFamily="18" charset="0"/>
              </a:rPr>
              <a:t>Special characters at the </a:t>
            </a:r>
            <a:r>
              <a:rPr lang="en-US" sz="2178" b="1" dirty="0" smtClean="0">
                <a:latin typeface="Garamond" panose="02020404030301010803" pitchFamily="18" charset="0"/>
              </a:rPr>
              <a:t>terminal</a:t>
            </a:r>
          </a:p>
          <a:p>
            <a:pPr lvl="1"/>
            <a:r>
              <a:rPr lang="fr-FR" sz="1415" b="1" dirty="0" smtClean="0">
                <a:latin typeface="Garamond" panose="02020404030301010803" pitchFamily="18" charset="0"/>
              </a:rPr>
              <a:t>^C</a:t>
            </a:r>
            <a:r>
              <a:rPr lang="fr-FR" sz="1415" dirty="0">
                <a:latin typeface="Garamond" panose="02020404030301010803" pitchFamily="18" charset="0"/>
              </a:rPr>
              <a:t>, </a:t>
            </a:r>
            <a:r>
              <a:rPr lang="fr-FR" sz="1415" b="1" dirty="0">
                <a:latin typeface="Garamond" panose="02020404030301010803" pitchFamily="18" charset="0"/>
              </a:rPr>
              <a:t>^Z</a:t>
            </a:r>
            <a:r>
              <a:rPr lang="fr-FR" sz="1415" dirty="0">
                <a:latin typeface="Garamond" panose="02020404030301010803" pitchFamily="18" charset="0"/>
              </a:rPr>
              <a:t>, </a:t>
            </a:r>
            <a:r>
              <a:rPr lang="fr-FR" sz="1415" b="1" dirty="0">
                <a:latin typeface="Garamond" panose="02020404030301010803" pitchFamily="18" charset="0"/>
              </a:rPr>
              <a:t>^\, …</a:t>
            </a:r>
          </a:p>
          <a:p>
            <a:endParaRPr lang="fr-FR" sz="2178" b="1" dirty="0">
              <a:latin typeface="Garamond" panose="02020404030301010803" pitchFamily="18" charset="0"/>
            </a:endParaRPr>
          </a:p>
          <a:p>
            <a:r>
              <a:rPr lang="fr-FR" sz="2178" b="1" dirty="0" err="1">
                <a:latin typeface="Garamond" panose="02020404030301010803" pitchFamily="18" charset="0"/>
              </a:rPr>
              <a:t>Special</a:t>
            </a:r>
            <a:r>
              <a:rPr lang="fr-FR" sz="2178" b="1" dirty="0">
                <a:latin typeface="Garamond" panose="02020404030301010803" pitchFamily="18" charset="0"/>
              </a:rPr>
              <a:t> </a:t>
            </a:r>
            <a:r>
              <a:rPr lang="fr-FR" sz="2178" b="1" dirty="0" err="1">
                <a:latin typeface="Garamond" panose="02020404030301010803" pitchFamily="18" charset="0"/>
              </a:rPr>
              <a:t>shell</a:t>
            </a:r>
            <a:r>
              <a:rPr lang="fr-FR" sz="2178" b="1" dirty="0">
                <a:latin typeface="Garamond" panose="02020404030301010803" pitchFamily="18" charset="0"/>
              </a:rPr>
              <a:t> </a:t>
            </a:r>
            <a:r>
              <a:rPr lang="fr-FR" sz="2178" b="1" dirty="0" err="1" smtClean="0">
                <a:latin typeface="Garamond" panose="02020404030301010803" pitchFamily="18" charset="0"/>
              </a:rPr>
              <a:t>functions</a:t>
            </a:r>
            <a:endParaRPr lang="fr-FR" sz="2178" b="1" dirty="0" smtClean="0">
              <a:latin typeface="Garamond" panose="02020404030301010803" pitchFamily="18" charset="0"/>
            </a:endParaRPr>
          </a:p>
          <a:p>
            <a:r>
              <a:rPr lang="fr-FR" sz="1815" b="1" dirty="0" smtClean="0">
                <a:latin typeface="Garamond" panose="02020404030301010803" pitchFamily="18" charset="0"/>
              </a:rPr>
              <a:t>fg</a:t>
            </a:r>
            <a:r>
              <a:rPr lang="fr-FR" sz="1815" dirty="0">
                <a:latin typeface="Garamond" panose="02020404030301010803" pitchFamily="18" charset="0"/>
              </a:rPr>
              <a:t>, </a:t>
            </a:r>
            <a:r>
              <a:rPr lang="fr-FR" sz="1815" b="1" dirty="0" err="1">
                <a:latin typeface="Garamond" panose="02020404030301010803" pitchFamily="18" charset="0"/>
              </a:rPr>
              <a:t>bg</a:t>
            </a:r>
            <a:r>
              <a:rPr lang="fr-FR" sz="1815" dirty="0">
                <a:latin typeface="Garamond" panose="02020404030301010803" pitchFamily="18" charset="0"/>
              </a:rPr>
              <a:t>, </a:t>
            </a:r>
            <a:r>
              <a:rPr lang="fr-FR" sz="1815" b="1" dirty="0" err="1">
                <a:latin typeface="Garamond" panose="02020404030301010803" pitchFamily="18" charset="0"/>
              </a:rPr>
              <a:t>kill</a:t>
            </a:r>
            <a:r>
              <a:rPr lang="fr-FR" sz="1815" dirty="0">
                <a:latin typeface="Garamond" panose="02020404030301010803" pitchFamily="18" charset="0"/>
              </a:rPr>
              <a:t>…</a:t>
            </a:r>
          </a:p>
          <a:p>
            <a:endParaRPr lang="fr-FR" sz="2178" b="1" dirty="0">
              <a:latin typeface="Garamond" panose="02020404030301010803" pitchFamily="18" charset="0"/>
            </a:endParaRPr>
          </a:p>
          <a:p>
            <a:r>
              <a:rPr lang="fr-FR" sz="2178" b="1" dirty="0">
                <a:latin typeface="Garamond" panose="02020404030301010803" pitchFamily="18" charset="0"/>
              </a:rPr>
              <a:t>Primitive </a:t>
            </a:r>
            <a:r>
              <a:rPr lang="fr-FR" sz="2178" dirty="0">
                <a:latin typeface="Garamond" panose="02020404030301010803" pitchFamily="18" charset="0"/>
              </a:rPr>
              <a:t>Posix </a:t>
            </a:r>
            <a:r>
              <a:rPr lang="fr-FR" sz="2178" b="1" dirty="0">
                <a:latin typeface="Garamond" panose="02020404030301010803" pitchFamily="18" charset="0"/>
              </a:rPr>
              <a:t>: </a:t>
            </a:r>
            <a:r>
              <a:rPr lang="fr-FR" sz="2178" b="1" dirty="0">
                <a:solidFill>
                  <a:srgbClr val="0070C0"/>
                </a:solidFill>
                <a:latin typeface="Garamond" panose="02020404030301010803" pitchFamily="18" charset="0"/>
              </a:rPr>
              <a:t>fonction </a:t>
            </a:r>
            <a:r>
              <a:rPr lang="fr-FR" sz="2178" b="1" dirty="0" err="1">
                <a:solidFill>
                  <a:srgbClr val="0070C0"/>
                </a:solidFill>
                <a:latin typeface="Garamond" panose="02020404030301010803" pitchFamily="18" charset="0"/>
              </a:rPr>
              <a:t>kill</a:t>
            </a:r>
            <a:r>
              <a:rPr lang="fr-FR" sz="2178" b="1" dirty="0">
                <a:solidFill>
                  <a:srgbClr val="0070C0"/>
                </a:solidFill>
                <a:latin typeface="Garamond" panose="02020404030301010803" pitchFamily="18" charset="0"/>
              </a:rPr>
              <a:t>()</a:t>
            </a:r>
          </a:p>
          <a:p>
            <a:pPr marL="363085" lvl="1" indent="0">
              <a:buNone/>
            </a:pPr>
            <a:r>
              <a:rPr lang="fr-FR" sz="1815" b="1" dirty="0">
                <a:latin typeface="Garamond" panose="02020404030301010803" pitchFamily="18" charset="0"/>
              </a:rPr>
              <a:t>#</a:t>
            </a:r>
            <a:r>
              <a:rPr lang="fr-FR" sz="1815" b="1" dirty="0" err="1">
                <a:latin typeface="Garamond" panose="02020404030301010803" pitchFamily="18" charset="0"/>
              </a:rPr>
              <a:t>include</a:t>
            </a:r>
            <a:r>
              <a:rPr lang="fr-FR" sz="1815" b="1" dirty="0">
                <a:latin typeface="Garamond" panose="02020404030301010803" pitchFamily="18" charset="0"/>
              </a:rPr>
              <a:t> &lt;</a:t>
            </a:r>
            <a:r>
              <a:rPr lang="fr-FR" sz="1815" b="1" dirty="0" err="1">
                <a:latin typeface="Garamond" panose="02020404030301010803" pitchFamily="18" charset="0"/>
              </a:rPr>
              <a:t>sys</a:t>
            </a:r>
            <a:r>
              <a:rPr lang="fr-FR" sz="1815" b="1" dirty="0">
                <a:latin typeface="Garamond" panose="02020404030301010803" pitchFamily="18" charset="0"/>
              </a:rPr>
              <a:t>/</a:t>
            </a:r>
            <a:r>
              <a:rPr lang="fr-FR" sz="1815" b="1" dirty="0" err="1">
                <a:latin typeface="Garamond" panose="02020404030301010803" pitchFamily="18" charset="0"/>
              </a:rPr>
              <a:t>types.h</a:t>
            </a:r>
            <a:r>
              <a:rPr lang="fr-FR" sz="1815" b="1" dirty="0">
                <a:latin typeface="Garamond" panose="02020404030301010803" pitchFamily="18" charset="0"/>
              </a:rPr>
              <a:t>&gt;</a:t>
            </a:r>
          </a:p>
          <a:p>
            <a:pPr marL="363085" lvl="1" indent="0">
              <a:buNone/>
            </a:pPr>
            <a:r>
              <a:rPr lang="fr-FR" sz="1815" b="1" dirty="0">
                <a:latin typeface="Garamond" panose="02020404030301010803" pitchFamily="18" charset="0"/>
              </a:rPr>
              <a:t>#</a:t>
            </a:r>
            <a:r>
              <a:rPr lang="fr-FR" sz="1815" b="1" dirty="0" err="1">
                <a:latin typeface="Garamond" panose="02020404030301010803" pitchFamily="18" charset="0"/>
              </a:rPr>
              <a:t>include</a:t>
            </a:r>
            <a:r>
              <a:rPr lang="fr-FR" sz="1815" b="1" dirty="0">
                <a:latin typeface="Garamond" panose="02020404030301010803" pitchFamily="18" charset="0"/>
              </a:rPr>
              <a:t> &lt;</a:t>
            </a:r>
            <a:r>
              <a:rPr lang="fr-FR" sz="1815" b="1" dirty="0" err="1">
                <a:latin typeface="Garamond" panose="02020404030301010803" pitchFamily="18" charset="0"/>
              </a:rPr>
              <a:t>signal.h</a:t>
            </a:r>
            <a:r>
              <a:rPr lang="fr-FR" sz="1815" b="1" dirty="0">
                <a:latin typeface="Garamond" panose="02020404030301010803" pitchFamily="18" charset="0"/>
              </a:rPr>
              <a:t>&gt;</a:t>
            </a:r>
          </a:p>
          <a:p>
            <a:pPr marL="363085" lvl="1" indent="0">
              <a:buNone/>
            </a:pPr>
            <a:r>
              <a:rPr lang="sv-SE" sz="1815" b="1" dirty="0">
                <a:latin typeface="Garamond" panose="02020404030301010803" pitchFamily="18" charset="0"/>
              </a:rPr>
              <a:t>int kill(pid_t pid, int sig)</a:t>
            </a:r>
            <a:endParaRPr lang="fr-FR" sz="1815" dirty="0">
              <a:latin typeface="Garamond" panose="02020404030301010803" pitchFamily="18" charset="0"/>
            </a:endParaRPr>
          </a:p>
        </p:txBody>
      </p:sp>
    </p:spTree>
    <p:extLst>
      <p:ext uri="{BB962C8B-B14F-4D97-AF65-F5344CB8AC3E}">
        <p14:creationId xmlns:p14="http://schemas.microsoft.com/office/powerpoint/2010/main" val="12131929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191919"/>
                </a:solidFill>
                <a:latin typeface="Garamond" panose="02020404030301010803" pitchFamily="18" charset="0"/>
                <a:cs typeface="Times New Roman" pitchFamily="18" charset="0"/>
              </a:rPr>
              <a:t>Taking a signal into account</a:t>
            </a:r>
            <a:endParaRPr lang="fr-FR" dirty="0">
              <a:solidFill>
                <a:srgbClr val="191919"/>
              </a:solidFill>
              <a:latin typeface="Garamond" panose="02020404030301010803"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dirty="0">
                <a:latin typeface="Garamond" panose="02020404030301010803" pitchFamily="18" charset="0"/>
                <a:cs typeface="Times New Roman" panose="02020603050405020304" pitchFamily="18" charset="0"/>
              </a:rPr>
              <a:t>A process takes the signal into account when switching it out of kernel mode: the signal is “delivered” to the process by </a:t>
            </a:r>
            <a:r>
              <a:rPr lang="en-US" dirty="0" err="1">
                <a:solidFill>
                  <a:srgbClr val="0000FF"/>
                </a:solidFill>
                <a:latin typeface="Garamond" panose="02020404030301010803" pitchFamily="18" charset="0"/>
                <a:cs typeface="Times New Roman" panose="02020603050405020304" pitchFamily="18" charset="0"/>
              </a:rPr>
              <a:t>do_signal</a:t>
            </a:r>
            <a:r>
              <a:rPr lang="en-US" dirty="0">
                <a:solidFill>
                  <a:srgbClr val="0000FF"/>
                </a:solidFill>
                <a:latin typeface="Garamond" panose="02020404030301010803" pitchFamily="18" charset="0"/>
                <a:cs typeface="Times New Roman" panose="02020603050405020304" pitchFamily="18" charset="0"/>
              </a:rPr>
              <a:t> ().</a:t>
            </a:r>
          </a:p>
          <a:p>
            <a:r>
              <a:rPr lang="en-US" dirty="0">
                <a:latin typeface="Garamond" panose="02020404030301010803" pitchFamily="18" charset="0"/>
                <a:cs typeface="Times New Roman" panose="02020603050405020304" pitchFamily="18" charset="0"/>
              </a:rPr>
              <a:t>Following this, 3 types of actions can be carried out:</a:t>
            </a:r>
          </a:p>
          <a:p>
            <a:pPr lvl="1"/>
            <a:r>
              <a:rPr lang="en-US" dirty="0">
                <a:latin typeface="Garamond" panose="02020404030301010803" pitchFamily="18" charset="0"/>
                <a:cs typeface="Times New Roman" panose="02020603050405020304" pitchFamily="18" charset="0"/>
              </a:rPr>
              <a:t>Ignore signal (SIG_IGN)</a:t>
            </a:r>
          </a:p>
          <a:p>
            <a:pPr lvl="1"/>
            <a:r>
              <a:rPr lang="en-US" dirty="0">
                <a:latin typeface="Garamond" panose="02020404030301010803" pitchFamily="18" charset="0"/>
                <a:cs typeface="Times New Roman" panose="02020603050405020304" pitchFamily="18" charset="0"/>
              </a:rPr>
              <a:t>Execute the default action (SIG_DFL)</a:t>
            </a:r>
          </a:p>
          <a:p>
            <a:pPr lvl="1"/>
            <a:r>
              <a:rPr lang="en-US" dirty="0">
                <a:latin typeface="Garamond" panose="02020404030301010803" pitchFamily="18" charset="0"/>
                <a:cs typeface="Times New Roman" panose="02020603050405020304" pitchFamily="18" charset="0"/>
              </a:rPr>
              <a:t>Execute a user-defined function (&amp; </a:t>
            </a:r>
            <a:r>
              <a:rPr lang="en-US" dirty="0" err="1">
                <a:latin typeface="Garamond" panose="02020404030301010803" pitchFamily="18" charset="0"/>
                <a:cs typeface="Times New Roman" panose="02020603050405020304" pitchFamily="18" charset="0"/>
              </a:rPr>
              <a:t>fct</a:t>
            </a:r>
            <a:r>
              <a:rPr lang="en-US" dirty="0">
                <a:latin typeface="Garamond" panose="02020404030301010803" pitchFamily="18" charset="0"/>
                <a:cs typeface="Times New Roman" panose="02020603050405020304" pitchFamily="18" charset="0"/>
              </a:rPr>
              <a:t> ())</a:t>
            </a:r>
          </a:p>
          <a:p>
            <a:r>
              <a:rPr lang="en-US" dirty="0" err="1">
                <a:solidFill>
                  <a:srgbClr val="0000FF"/>
                </a:solidFill>
                <a:latin typeface="Garamond" panose="02020404030301010803" pitchFamily="18" charset="0"/>
                <a:cs typeface="Times New Roman" panose="02020603050405020304" pitchFamily="18" charset="0"/>
              </a:rPr>
              <a:t>do_signal</a:t>
            </a:r>
            <a:r>
              <a:rPr lang="en-US" dirty="0">
                <a:solidFill>
                  <a:srgbClr val="0000FF"/>
                </a:solidFill>
                <a:latin typeface="Garamond" panose="02020404030301010803" pitchFamily="18" charset="0"/>
                <a:cs typeface="Times New Roman" panose="02020603050405020304" pitchFamily="18" charset="0"/>
              </a:rPr>
              <a:t> () </a:t>
            </a:r>
            <a:r>
              <a:rPr lang="en-US" dirty="0">
                <a:latin typeface="Garamond" panose="02020404030301010803" pitchFamily="18" charset="0"/>
                <a:cs typeface="Times New Roman" panose="02020603050405020304" pitchFamily="18" charset="0"/>
              </a:rPr>
              <a:t>will not process signals blocked by the process</a:t>
            </a:r>
            <a:endParaRPr lang="fr-FR" dirty="0">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7658168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191919"/>
                </a:solidFill>
                <a:latin typeface="Garamond" panose="02020404030301010803" pitchFamily="18" charset="0"/>
                <a:cs typeface="Times New Roman" pitchFamily="18" charset="0"/>
              </a:rPr>
              <a:t>Taking a signal into account</a:t>
            </a:r>
            <a:endParaRPr lang="fr-FR" dirty="0">
              <a:solidFill>
                <a:srgbClr val="191919"/>
              </a:solidFill>
              <a:latin typeface="Garamond" panose="02020404030301010803" pitchFamily="18" charset="0"/>
              <a:cs typeface="Times New Roman" pitchFamily="18" charset="0"/>
            </a:endParaRPr>
          </a:p>
        </p:txBody>
      </p:sp>
      <p:sp>
        <p:nvSpPr>
          <p:cNvPr id="3" name="Content Placeholder 2"/>
          <p:cNvSpPr>
            <a:spLocks noGrp="1"/>
          </p:cNvSpPr>
          <p:nvPr>
            <p:ph idx="1"/>
          </p:nvPr>
        </p:nvSpPr>
        <p:spPr/>
        <p:txBody>
          <a:bodyPr>
            <a:normAutofit fontScale="92500" lnSpcReduction="10000"/>
          </a:bodyPr>
          <a:lstStyle/>
          <a:p>
            <a:r>
              <a:rPr lang="en-US" dirty="0">
                <a:latin typeface="Garamond" panose="02020404030301010803" pitchFamily="18" charset="0"/>
                <a:cs typeface="Times New Roman" panose="02020603050405020304" pitchFamily="18" charset="0"/>
              </a:rPr>
              <a:t>Taking a signal into account: </a:t>
            </a:r>
            <a:r>
              <a:rPr lang="en-US" u="sng" dirty="0">
                <a:solidFill>
                  <a:srgbClr val="0000FF"/>
                </a:solidFill>
                <a:latin typeface="Garamond" panose="02020404030301010803" pitchFamily="18" charset="0"/>
                <a:cs typeface="Times New Roman" panose="02020603050405020304" pitchFamily="18" charset="0"/>
              </a:rPr>
              <a:t>IGNORE</a:t>
            </a:r>
          </a:p>
          <a:p>
            <a:pPr lvl="1"/>
            <a:r>
              <a:rPr lang="en-US" dirty="0">
                <a:latin typeface="Garamond" panose="02020404030301010803" pitchFamily="18" charset="0"/>
                <a:cs typeface="Times New Roman" panose="02020603050405020304" pitchFamily="18" charset="0"/>
              </a:rPr>
              <a:t>If the signal is ignored, no action will be taken.</a:t>
            </a:r>
          </a:p>
          <a:p>
            <a:pPr lvl="1"/>
            <a:r>
              <a:rPr lang="en-US" dirty="0" smtClean="0">
                <a:latin typeface="Garamond" panose="02020404030301010803" pitchFamily="18" charset="0"/>
                <a:cs typeface="Times New Roman" panose="02020603050405020304" pitchFamily="18" charset="0"/>
              </a:rPr>
              <a:t>The </a:t>
            </a:r>
            <a:r>
              <a:rPr lang="en-US" dirty="0">
                <a:latin typeface="Garamond" panose="02020404030301010803" pitchFamily="18" charset="0"/>
                <a:cs typeface="Times New Roman" panose="02020603050405020304" pitchFamily="18" charset="0"/>
              </a:rPr>
              <a:t>SIGCHLD exception forces the process to control the death of its children so that the associated control blocks are destroyed.</a:t>
            </a:r>
          </a:p>
          <a:p>
            <a:r>
              <a:rPr lang="en-US" dirty="0">
                <a:latin typeface="Garamond" panose="02020404030301010803" pitchFamily="18" charset="0"/>
                <a:cs typeface="Times New Roman" panose="02020603050405020304" pitchFamily="18" charset="0"/>
              </a:rPr>
              <a:t>Acknowledgment of a signal: </a:t>
            </a:r>
            <a:r>
              <a:rPr lang="en-US" u="sng" dirty="0">
                <a:solidFill>
                  <a:srgbClr val="0000FF"/>
                </a:solidFill>
                <a:latin typeface="Garamond" panose="02020404030301010803" pitchFamily="18" charset="0"/>
                <a:cs typeface="Times New Roman" panose="02020603050405020304" pitchFamily="18" charset="0"/>
              </a:rPr>
              <a:t>DEFAULT ACTION</a:t>
            </a:r>
          </a:p>
          <a:p>
            <a:pPr lvl="1"/>
            <a:r>
              <a:rPr lang="en-US" dirty="0">
                <a:latin typeface="Garamond" panose="02020404030301010803" pitchFamily="18" charset="0"/>
                <a:cs typeface="Times New Roman" panose="02020603050405020304" pitchFamily="18" charset="0"/>
              </a:rPr>
              <a:t>end of the </a:t>
            </a:r>
            <a:r>
              <a:rPr lang="en-US" dirty="0" smtClean="0">
                <a:latin typeface="Garamond" panose="02020404030301010803" pitchFamily="18" charset="0"/>
                <a:cs typeface="Times New Roman" panose="02020603050405020304" pitchFamily="18" charset="0"/>
              </a:rPr>
              <a:t>process,</a:t>
            </a:r>
            <a:endParaRPr lang="en-US" dirty="0">
              <a:latin typeface="Garamond" panose="02020404030301010803" pitchFamily="18" charset="0"/>
              <a:cs typeface="Times New Roman" panose="02020603050405020304" pitchFamily="18" charset="0"/>
            </a:endParaRPr>
          </a:p>
          <a:p>
            <a:pPr lvl="1"/>
            <a:r>
              <a:rPr lang="en-US" dirty="0">
                <a:latin typeface="Garamond" panose="02020404030301010803" pitchFamily="18" charset="0"/>
                <a:cs typeface="Times New Roman" panose="02020603050405020304" pitchFamily="18" charset="0"/>
              </a:rPr>
              <a:t>end of the process and creation (if the user has decided) of a core file in the current directory, which is a file containing the memory image of the process, and which can be analyzed by a debugger,</a:t>
            </a:r>
          </a:p>
          <a:p>
            <a:pPr lvl="1"/>
            <a:r>
              <a:rPr lang="en-US" dirty="0">
                <a:latin typeface="Garamond" panose="02020404030301010803" pitchFamily="18" charset="0"/>
                <a:cs typeface="Times New Roman" panose="02020603050405020304" pitchFamily="18" charset="0"/>
              </a:rPr>
              <a:t>the signal is ignored,</a:t>
            </a:r>
          </a:p>
          <a:p>
            <a:pPr lvl="1"/>
            <a:r>
              <a:rPr lang="en-US" dirty="0">
                <a:latin typeface="Garamond" panose="02020404030301010803" pitchFamily="18" charset="0"/>
                <a:cs typeface="Times New Roman" panose="02020603050405020304" pitchFamily="18" charset="0"/>
              </a:rPr>
              <a:t>the process is stopped (it goes into the TASK_STOPPED state),</a:t>
            </a:r>
          </a:p>
          <a:p>
            <a:pPr lvl="1"/>
            <a:r>
              <a:rPr lang="en-US" dirty="0">
                <a:latin typeface="Garamond" panose="02020404030301010803" pitchFamily="18" charset="0"/>
                <a:cs typeface="Times New Roman" panose="02020603050405020304" pitchFamily="18" charset="0"/>
              </a:rPr>
              <a:t>the process resumes execution (the state is set to TASK_RUNNING).</a:t>
            </a:r>
            <a:endParaRPr lang="fr-FR" dirty="0">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1436002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191919"/>
                </a:solidFill>
                <a:latin typeface="Garamond" panose="02020404030301010803" pitchFamily="18" charset="0"/>
                <a:cs typeface="Times New Roman" pitchFamily="18" charset="0"/>
              </a:rPr>
              <a:t>Taking a signal into account</a:t>
            </a:r>
            <a:endParaRPr lang="fr-FR" dirty="0"/>
          </a:p>
        </p:txBody>
      </p:sp>
      <p:sp>
        <p:nvSpPr>
          <p:cNvPr id="3" name="Content Placeholder 2"/>
          <p:cNvSpPr>
            <a:spLocks noGrp="1"/>
          </p:cNvSpPr>
          <p:nvPr>
            <p:ph idx="1"/>
          </p:nvPr>
        </p:nvSpPr>
        <p:spPr>
          <a:xfrm>
            <a:off x="838200" y="1825625"/>
            <a:ext cx="10515600" cy="984482"/>
          </a:xfrm>
        </p:spPr>
        <p:txBody>
          <a:bodyPr/>
          <a:lstStyle/>
          <a:p>
            <a:r>
              <a:rPr lang="en-US" dirty="0">
                <a:latin typeface="Garamond" panose="02020404030301010803" pitchFamily="18" charset="0"/>
                <a:cs typeface="Times New Roman" panose="02020603050405020304" pitchFamily="18" charset="0"/>
              </a:rPr>
              <a:t>Here is a table that indicates the default actions related to the different signals</a:t>
            </a:r>
            <a:endParaRPr lang="fr-FR" dirty="0">
              <a:latin typeface="Garamond" panose="02020404030301010803"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165811" y="2703494"/>
            <a:ext cx="9160218" cy="3981715"/>
          </a:xfrm>
          <a:prstGeom prst="rect">
            <a:avLst/>
          </a:prstGeom>
        </p:spPr>
      </p:pic>
    </p:spTree>
    <p:extLst>
      <p:ext uri="{BB962C8B-B14F-4D97-AF65-F5344CB8AC3E}">
        <p14:creationId xmlns:p14="http://schemas.microsoft.com/office/powerpoint/2010/main" val="40392383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191919"/>
                </a:solidFill>
                <a:latin typeface="Garamond" panose="02020404030301010803" pitchFamily="18" charset="0"/>
                <a:cs typeface="Times New Roman" pitchFamily="18" charset="0"/>
              </a:rPr>
              <a:t>Taking a signal into account</a:t>
            </a:r>
            <a:endParaRPr lang="fr-FR" dirty="0"/>
          </a:p>
        </p:txBody>
      </p:sp>
      <p:sp>
        <p:nvSpPr>
          <p:cNvPr id="3" name="Content Placeholder 2"/>
          <p:cNvSpPr>
            <a:spLocks noGrp="1"/>
          </p:cNvSpPr>
          <p:nvPr>
            <p:ph idx="1"/>
          </p:nvPr>
        </p:nvSpPr>
        <p:spPr/>
        <p:txBody>
          <a:bodyPr>
            <a:normAutofit fontScale="92500" lnSpcReduction="10000"/>
          </a:bodyPr>
          <a:lstStyle/>
          <a:p>
            <a:r>
              <a:rPr lang="en-US" dirty="0">
                <a:latin typeface="Garamond" panose="02020404030301010803" pitchFamily="18" charset="0"/>
                <a:cs typeface="Times New Roman" panose="02020603050405020304" pitchFamily="18" charset="0"/>
              </a:rPr>
              <a:t>Acknowledgment of a signal: </a:t>
            </a:r>
            <a:r>
              <a:rPr lang="en-US" u="sng" dirty="0">
                <a:solidFill>
                  <a:srgbClr val="0000FF"/>
                </a:solidFill>
                <a:latin typeface="Garamond" panose="02020404030301010803" pitchFamily="18" charset="0"/>
                <a:cs typeface="Times New Roman" panose="02020603050405020304" pitchFamily="18" charset="0"/>
              </a:rPr>
              <a:t>USER FUNCTION</a:t>
            </a:r>
          </a:p>
          <a:p>
            <a:pPr lvl="1"/>
            <a:r>
              <a:rPr lang="en-US" dirty="0">
                <a:latin typeface="Garamond" panose="02020404030301010803" pitchFamily="18" charset="0"/>
                <a:cs typeface="Times New Roman" panose="02020603050405020304" pitchFamily="18" charset="0"/>
              </a:rPr>
              <a:t>Any process can install a specific function for each signal except </a:t>
            </a:r>
            <a:r>
              <a:rPr lang="en-US" dirty="0">
                <a:solidFill>
                  <a:srgbClr val="0000FF"/>
                </a:solidFill>
                <a:latin typeface="Garamond" panose="02020404030301010803" pitchFamily="18" charset="0"/>
                <a:cs typeface="Times New Roman" panose="02020603050405020304" pitchFamily="18" charset="0"/>
              </a:rPr>
              <a:t>SIGKILL</a:t>
            </a:r>
            <a:r>
              <a:rPr lang="en-US" dirty="0">
                <a:latin typeface="Garamond" panose="02020404030301010803" pitchFamily="18" charset="0"/>
                <a:cs typeface="Times New Roman" panose="02020603050405020304" pitchFamily="18" charset="0"/>
              </a:rPr>
              <a:t> and </a:t>
            </a:r>
            <a:r>
              <a:rPr lang="en-US" dirty="0">
                <a:solidFill>
                  <a:srgbClr val="0000FF"/>
                </a:solidFill>
                <a:latin typeface="Garamond" panose="02020404030301010803" pitchFamily="18" charset="0"/>
                <a:cs typeface="Times New Roman" panose="02020603050405020304" pitchFamily="18" charset="0"/>
              </a:rPr>
              <a:t>SIGSTOP</a:t>
            </a:r>
            <a:r>
              <a:rPr lang="en-US" dirty="0">
                <a:latin typeface="Garamond" panose="02020404030301010803" pitchFamily="18" charset="0"/>
                <a:cs typeface="Times New Roman" panose="02020603050405020304" pitchFamily="18" charset="0"/>
              </a:rPr>
              <a:t>.</a:t>
            </a:r>
          </a:p>
          <a:p>
            <a:r>
              <a:rPr lang="en-US" dirty="0">
                <a:latin typeface="Garamond" panose="02020404030301010803" pitchFamily="18" charset="0"/>
                <a:cs typeface="Times New Roman" panose="02020603050405020304" pitchFamily="18" charset="0"/>
              </a:rPr>
              <a:t>This treatment can be of two types:</a:t>
            </a:r>
          </a:p>
          <a:p>
            <a:pPr lvl="1"/>
            <a:r>
              <a:rPr lang="en-US" dirty="0">
                <a:latin typeface="Garamond" panose="02020404030301010803" pitchFamily="18" charset="0"/>
                <a:cs typeface="Times New Roman" panose="02020603050405020304" pitchFamily="18" charset="0"/>
              </a:rPr>
              <a:t>Ignore the signal by taking the value SIG_IGN</a:t>
            </a:r>
          </a:p>
          <a:p>
            <a:pPr lvl="1"/>
            <a:r>
              <a:rPr lang="en-US" dirty="0">
                <a:latin typeface="Garamond" panose="02020404030301010803" pitchFamily="18" charset="0"/>
                <a:cs typeface="Times New Roman" panose="02020603050405020304" pitchFamily="18" charset="0"/>
              </a:rPr>
              <a:t>Define a particular action defined in a C function attached to the source code: it is the </a:t>
            </a:r>
            <a:r>
              <a:rPr lang="en-US" dirty="0">
                <a:solidFill>
                  <a:srgbClr val="0000FF"/>
                </a:solidFill>
                <a:latin typeface="Garamond" panose="02020404030301010803" pitchFamily="18" charset="0"/>
                <a:cs typeface="Times New Roman" panose="02020603050405020304" pitchFamily="18" charset="0"/>
              </a:rPr>
              <a:t>handler</a:t>
            </a:r>
            <a:r>
              <a:rPr lang="en-US" dirty="0">
                <a:latin typeface="Garamond" panose="02020404030301010803" pitchFamily="18" charset="0"/>
                <a:cs typeface="Times New Roman" panose="02020603050405020304" pitchFamily="18" charset="0"/>
              </a:rPr>
              <a:t> or manager of the signal.</a:t>
            </a:r>
          </a:p>
          <a:p>
            <a:r>
              <a:rPr lang="en-US" dirty="0">
                <a:latin typeface="Garamond" panose="02020404030301010803" pitchFamily="18" charset="0"/>
                <a:cs typeface="Times New Roman" panose="02020603050405020304" pitchFamily="18" charset="0"/>
              </a:rPr>
              <a:t>The execution of a user function involves a double management of context switching.</a:t>
            </a:r>
          </a:p>
          <a:p>
            <a:pPr lvl="1"/>
            <a:r>
              <a:rPr lang="en-US" dirty="0">
                <a:latin typeface="Garamond" panose="02020404030301010803" pitchFamily="18" charset="0"/>
                <a:cs typeface="Times New Roman" panose="02020603050405020304" pitchFamily="18" charset="0"/>
              </a:rPr>
              <a:t>Initial processing (kernel mode) =&gt; Signal</a:t>
            </a:r>
          </a:p>
          <a:p>
            <a:pPr lvl="1"/>
            <a:r>
              <a:rPr lang="en-US" dirty="0">
                <a:latin typeface="Garamond" panose="02020404030301010803" pitchFamily="18" charset="0"/>
                <a:cs typeface="Times New Roman" panose="02020603050405020304" pitchFamily="18" charset="0"/>
              </a:rPr>
              <a:t>User function (user mode) =&gt; Handler</a:t>
            </a:r>
          </a:p>
          <a:p>
            <a:pPr lvl="1"/>
            <a:r>
              <a:rPr lang="en-US" dirty="0">
                <a:latin typeface="Garamond" panose="02020404030301010803" pitchFamily="18" charset="0"/>
                <a:cs typeface="Times New Roman" panose="02020603050405020304" pitchFamily="18" charset="0"/>
              </a:rPr>
              <a:t>Resume processing (kernel mode) =&gt; </a:t>
            </a:r>
            <a:r>
              <a:rPr lang="en-US" dirty="0" err="1">
                <a:latin typeface="Garamond" panose="02020404030301010803" pitchFamily="18" charset="0"/>
                <a:cs typeface="Times New Roman" panose="02020603050405020304" pitchFamily="18" charset="0"/>
              </a:rPr>
              <a:t>restore_sigcontext</a:t>
            </a:r>
            <a:r>
              <a:rPr lang="en-US" dirty="0">
                <a:latin typeface="Garamond" panose="02020404030301010803" pitchFamily="18" charset="0"/>
                <a:cs typeface="Times New Roman" panose="02020603050405020304" pitchFamily="18" charset="0"/>
              </a:rPr>
              <a:t> ()</a:t>
            </a:r>
            <a:endParaRPr lang="fr-FR" dirty="0">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25121448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98579"/>
            <a:ext cx="10515600" cy="1325563"/>
          </a:xfrm>
        </p:spPr>
        <p:txBody>
          <a:bodyPr>
            <a:normAutofit/>
          </a:bodyPr>
          <a:lstStyle/>
          <a:p>
            <a:r>
              <a:rPr lang="fr-FR" dirty="0">
                <a:solidFill>
                  <a:srgbClr val="191919"/>
                </a:solidFill>
                <a:latin typeface="Garamond" panose="02020404030301010803" pitchFamily="18" charset="0"/>
                <a:cs typeface="Times New Roman" pitchFamily="18" charset="0"/>
              </a:rPr>
              <a:t>System </a:t>
            </a:r>
            <a:r>
              <a:rPr lang="fr-FR" dirty="0" err="1">
                <a:solidFill>
                  <a:srgbClr val="191919"/>
                </a:solidFill>
                <a:latin typeface="Garamond" panose="02020404030301010803" pitchFamily="18" charset="0"/>
                <a:cs typeface="Times New Roman" pitchFamily="18" charset="0"/>
              </a:rPr>
              <a:t>signals</a:t>
            </a:r>
            <a:r>
              <a:rPr lang="fr-FR" dirty="0">
                <a:solidFill>
                  <a:srgbClr val="191919"/>
                </a:solidFill>
                <a:latin typeface="Garamond" panose="02020404030301010803" pitchFamily="18" charset="0"/>
                <a:cs typeface="Times New Roman" pitchFamily="18" charset="0"/>
              </a:rPr>
              <a:t> and calls</a:t>
            </a:r>
          </a:p>
        </p:txBody>
      </p:sp>
      <p:sp>
        <p:nvSpPr>
          <p:cNvPr id="3" name="Content Placeholder 2"/>
          <p:cNvSpPr>
            <a:spLocks noGrp="1"/>
          </p:cNvSpPr>
          <p:nvPr>
            <p:ph idx="1"/>
          </p:nvPr>
        </p:nvSpPr>
        <p:spPr/>
        <p:txBody>
          <a:bodyPr>
            <a:normAutofit/>
          </a:bodyPr>
          <a:lstStyle/>
          <a:p>
            <a:r>
              <a:rPr lang="en-US" dirty="0">
                <a:latin typeface="Garamond" panose="02020404030301010803" pitchFamily="18" charset="0"/>
                <a:cs typeface="Times New Roman" panose="02020603050405020304" pitchFamily="18" charset="0"/>
              </a:rPr>
              <a:t>Blocking system call, process placed in state</a:t>
            </a:r>
          </a:p>
          <a:p>
            <a:pPr lvl="1"/>
            <a:r>
              <a:rPr lang="en-US" dirty="0">
                <a:solidFill>
                  <a:srgbClr val="0000FF"/>
                </a:solidFill>
                <a:latin typeface="Garamond" panose="02020404030301010803" pitchFamily="18" charset="0"/>
                <a:cs typeface="Times New Roman" panose="02020603050405020304" pitchFamily="18" charset="0"/>
              </a:rPr>
              <a:t>TASK_INTERRUPTIBLE</a:t>
            </a:r>
            <a:r>
              <a:rPr lang="en-US" dirty="0">
                <a:latin typeface="Garamond" panose="02020404030301010803" pitchFamily="18" charset="0"/>
                <a:cs typeface="Times New Roman" panose="02020603050405020304" pitchFamily="18" charset="0"/>
              </a:rPr>
              <a:t> or </a:t>
            </a:r>
            <a:r>
              <a:rPr lang="en-US" dirty="0">
                <a:solidFill>
                  <a:srgbClr val="0000FF"/>
                </a:solidFill>
                <a:latin typeface="Garamond" panose="02020404030301010803" pitchFamily="18" charset="0"/>
                <a:cs typeface="Times New Roman" panose="02020603050405020304" pitchFamily="18" charset="0"/>
              </a:rPr>
              <a:t>TASK_UNINTERRUPTIBLE</a:t>
            </a:r>
            <a:r>
              <a:rPr lang="en-US" dirty="0">
                <a:latin typeface="Garamond" panose="02020404030301010803" pitchFamily="18" charset="0"/>
                <a:cs typeface="Times New Roman" panose="02020603050405020304" pitchFamily="18" charset="0"/>
              </a:rPr>
              <a:t>:</a:t>
            </a:r>
          </a:p>
          <a:p>
            <a:r>
              <a:rPr lang="en-US" dirty="0">
                <a:latin typeface="Garamond" panose="02020404030301010803" pitchFamily="18" charset="0"/>
                <a:cs typeface="Times New Roman" panose="02020603050405020304" pitchFamily="18" charset="0"/>
              </a:rPr>
              <a:t>if </a:t>
            </a:r>
            <a:r>
              <a:rPr lang="en-US" sz="2400" dirty="0">
                <a:solidFill>
                  <a:srgbClr val="0000FF"/>
                </a:solidFill>
                <a:latin typeface="Garamond" panose="02020404030301010803" pitchFamily="18" charset="0"/>
                <a:cs typeface="Times New Roman" panose="02020603050405020304" pitchFamily="18" charset="0"/>
              </a:rPr>
              <a:t>TASK_INTERRUPTIBLE</a:t>
            </a:r>
            <a:r>
              <a:rPr lang="en-US" dirty="0">
                <a:latin typeface="Garamond" panose="02020404030301010803" pitchFamily="18" charset="0"/>
                <a:cs typeface="Times New Roman" panose="02020603050405020304" pitchFamily="18" charset="0"/>
              </a:rPr>
              <a:t>, the process can be woken up by the system when it receives a signal;</a:t>
            </a:r>
          </a:p>
          <a:p>
            <a:r>
              <a:rPr lang="en-US" dirty="0">
                <a:latin typeface="Garamond" panose="02020404030301010803" pitchFamily="18" charset="0"/>
                <a:cs typeface="Times New Roman" panose="02020603050405020304" pitchFamily="18" charset="0"/>
              </a:rPr>
              <a:t>conversely, the kernel puts in state </a:t>
            </a:r>
            <a:r>
              <a:rPr lang="en-US" sz="2400" dirty="0">
                <a:solidFill>
                  <a:srgbClr val="0000FF"/>
                </a:solidFill>
                <a:latin typeface="Garamond" panose="02020404030301010803" pitchFamily="18" charset="0"/>
                <a:cs typeface="Times New Roman" panose="02020603050405020304" pitchFamily="18" charset="0"/>
              </a:rPr>
              <a:t>TASK_UNINTERRUPTIBLE</a:t>
            </a:r>
            <a:r>
              <a:rPr lang="en-US" dirty="0">
                <a:latin typeface="Garamond" panose="02020404030301010803" pitchFamily="18" charset="0"/>
                <a:cs typeface="Times New Roman" panose="02020603050405020304" pitchFamily="18" charset="0"/>
              </a:rPr>
              <a:t> if the process is not to be woken up by a signal.</a:t>
            </a:r>
          </a:p>
          <a:p>
            <a:r>
              <a:rPr lang="en-US" dirty="0">
                <a:latin typeface="Garamond" panose="02020404030301010803" pitchFamily="18" charset="0"/>
                <a:cs typeface="Times New Roman" panose="02020603050405020304" pitchFamily="18" charset="0"/>
              </a:rPr>
              <a:t>When a process in "</a:t>
            </a:r>
            <a:r>
              <a:rPr lang="en-US" sz="2400" dirty="0">
                <a:solidFill>
                  <a:srgbClr val="0000FF"/>
                </a:solidFill>
                <a:latin typeface="Garamond" panose="02020404030301010803" pitchFamily="18" charset="0"/>
                <a:cs typeface="Times New Roman" panose="02020603050405020304" pitchFamily="18" charset="0"/>
              </a:rPr>
              <a:t>TASK_INTERRUPTIBLE</a:t>
            </a:r>
            <a:r>
              <a:rPr lang="en-US" dirty="0">
                <a:latin typeface="Garamond" panose="02020404030301010803" pitchFamily="18" charset="0"/>
                <a:cs typeface="Times New Roman" panose="02020603050405020304" pitchFamily="18" charset="0"/>
              </a:rPr>
              <a:t>" state is awakened (receives a signal), once the handler is finished, the system sets it to "</a:t>
            </a:r>
            <a:r>
              <a:rPr lang="en-US" dirty="0">
                <a:solidFill>
                  <a:srgbClr val="0000FF"/>
                </a:solidFill>
                <a:latin typeface="Garamond" panose="02020404030301010803" pitchFamily="18" charset="0"/>
                <a:cs typeface="Times New Roman" panose="02020603050405020304" pitchFamily="18" charset="0"/>
              </a:rPr>
              <a:t>TASK_RUNNING</a:t>
            </a:r>
            <a:r>
              <a:rPr lang="en-US" dirty="0">
                <a:latin typeface="Garamond" panose="02020404030301010803" pitchFamily="18" charset="0"/>
                <a:cs typeface="Times New Roman" panose="02020603050405020304" pitchFamily="18" charset="0"/>
              </a:rPr>
              <a:t>" state, and it sets the variable </a:t>
            </a:r>
            <a:r>
              <a:rPr lang="en-US" dirty="0" err="1">
                <a:latin typeface="Garamond" panose="02020404030301010803" pitchFamily="18" charset="0"/>
                <a:cs typeface="Times New Roman" panose="02020603050405020304" pitchFamily="18" charset="0"/>
              </a:rPr>
              <a:t>errno</a:t>
            </a:r>
            <a:r>
              <a:rPr lang="en-US" dirty="0">
                <a:latin typeface="Garamond" panose="02020404030301010803" pitchFamily="18" charset="0"/>
                <a:cs typeface="Times New Roman" panose="02020603050405020304" pitchFamily="18" charset="0"/>
              </a:rPr>
              <a:t> to EINTR.</a:t>
            </a:r>
            <a:endParaRPr lang="fr-FR" dirty="0">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18342422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191919"/>
                </a:solidFill>
                <a:latin typeface="Garamond" panose="02020404030301010803" pitchFamily="18" charset="0"/>
                <a:cs typeface="Times New Roman" pitchFamily="18" charset="0"/>
              </a:rPr>
              <a:t>Sending signals</a:t>
            </a:r>
            <a:endParaRPr lang="fr-FR" dirty="0">
              <a:solidFill>
                <a:srgbClr val="191919"/>
              </a:solidFill>
              <a:latin typeface="Garamond" panose="02020404030301010803" pitchFamily="18" charset="0"/>
              <a:cs typeface="Times New Roman" pitchFamily="18" charset="0"/>
            </a:endParaRPr>
          </a:p>
        </p:txBody>
      </p:sp>
      <p:sp>
        <p:nvSpPr>
          <p:cNvPr id="3" name="Content Placeholder 2"/>
          <p:cNvSpPr>
            <a:spLocks noGrp="1"/>
          </p:cNvSpPr>
          <p:nvPr>
            <p:ph idx="1"/>
          </p:nvPr>
        </p:nvSpPr>
        <p:spPr/>
        <p:txBody>
          <a:bodyPr>
            <a:normAutofit fontScale="92500" lnSpcReduction="20000"/>
          </a:bodyPr>
          <a:lstStyle/>
          <a:p>
            <a:pPr marL="0" indent="0">
              <a:buNone/>
            </a:pPr>
            <a:r>
              <a:rPr lang="fr-FR" dirty="0">
                <a:solidFill>
                  <a:srgbClr val="0000FF"/>
                </a:solidFill>
                <a:latin typeface="Courier New" panose="02070309020205020404" pitchFamily="49" charset="0"/>
                <a:cs typeface="Courier New" panose="02070309020205020404" pitchFamily="49" charset="0"/>
              </a:rPr>
              <a:t>#</a:t>
            </a:r>
            <a:r>
              <a:rPr lang="fr-FR" dirty="0" err="1">
                <a:solidFill>
                  <a:srgbClr val="0000FF"/>
                </a:solidFill>
                <a:latin typeface="Courier New" panose="02070309020205020404" pitchFamily="49" charset="0"/>
                <a:cs typeface="Courier New" panose="02070309020205020404" pitchFamily="49" charset="0"/>
              </a:rPr>
              <a:t>include</a:t>
            </a:r>
            <a:r>
              <a:rPr lang="fr-FR" dirty="0">
                <a:solidFill>
                  <a:srgbClr val="0000FF"/>
                </a:solidFill>
                <a:latin typeface="Courier New" panose="02070309020205020404" pitchFamily="49" charset="0"/>
                <a:cs typeface="Courier New" panose="02070309020205020404" pitchFamily="49" charset="0"/>
              </a:rPr>
              <a:t> &lt;</a:t>
            </a:r>
            <a:r>
              <a:rPr lang="fr-FR" dirty="0" err="1">
                <a:solidFill>
                  <a:srgbClr val="0000FF"/>
                </a:solidFill>
                <a:latin typeface="Courier New" panose="02070309020205020404" pitchFamily="49" charset="0"/>
                <a:cs typeface="Courier New" panose="02070309020205020404" pitchFamily="49" charset="0"/>
              </a:rPr>
              <a:t>sys</a:t>
            </a:r>
            <a:r>
              <a:rPr lang="fr-FR" dirty="0">
                <a:solidFill>
                  <a:srgbClr val="0000FF"/>
                </a:solidFill>
                <a:latin typeface="Courier New" panose="02070309020205020404" pitchFamily="49" charset="0"/>
                <a:cs typeface="Courier New" panose="02070309020205020404" pitchFamily="49" charset="0"/>
              </a:rPr>
              <a:t>/</a:t>
            </a:r>
            <a:r>
              <a:rPr lang="fr-FR" dirty="0" err="1">
                <a:solidFill>
                  <a:srgbClr val="0000FF"/>
                </a:solidFill>
                <a:latin typeface="Courier New" panose="02070309020205020404" pitchFamily="49" charset="0"/>
                <a:cs typeface="Courier New" panose="02070309020205020404" pitchFamily="49" charset="0"/>
              </a:rPr>
              <a:t>types.h</a:t>
            </a:r>
            <a:r>
              <a:rPr lang="fr-FR" dirty="0">
                <a:solidFill>
                  <a:srgbClr val="0000FF"/>
                </a:solidFill>
                <a:latin typeface="Courier New" panose="02070309020205020404" pitchFamily="49" charset="0"/>
                <a:cs typeface="Courier New" panose="02070309020205020404" pitchFamily="49" charset="0"/>
              </a:rPr>
              <a:t>&gt;</a:t>
            </a:r>
          </a:p>
          <a:p>
            <a:pPr marL="0" indent="0">
              <a:buNone/>
            </a:pPr>
            <a:r>
              <a:rPr lang="fr-FR" dirty="0">
                <a:solidFill>
                  <a:srgbClr val="0000FF"/>
                </a:solidFill>
                <a:latin typeface="Courier New" panose="02070309020205020404" pitchFamily="49" charset="0"/>
                <a:cs typeface="Courier New" panose="02070309020205020404" pitchFamily="49" charset="0"/>
              </a:rPr>
              <a:t>#</a:t>
            </a:r>
            <a:r>
              <a:rPr lang="fr-FR" dirty="0" err="1">
                <a:solidFill>
                  <a:srgbClr val="0000FF"/>
                </a:solidFill>
                <a:latin typeface="Courier New" panose="02070309020205020404" pitchFamily="49" charset="0"/>
                <a:cs typeface="Courier New" panose="02070309020205020404" pitchFamily="49" charset="0"/>
              </a:rPr>
              <a:t>include</a:t>
            </a:r>
            <a:r>
              <a:rPr lang="fr-FR" dirty="0">
                <a:solidFill>
                  <a:srgbClr val="0000FF"/>
                </a:solidFill>
                <a:latin typeface="Courier New" panose="02070309020205020404" pitchFamily="49" charset="0"/>
                <a:cs typeface="Courier New" panose="02070309020205020404" pitchFamily="49" charset="0"/>
              </a:rPr>
              <a:t> &lt;</a:t>
            </a:r>
            <a:r>
              <a:rPr lang="fr-FR" dirty="0" err="1">
                <a:solidFill>
                  <a:srgbClr val="0000FF"/>
                </a:solidFill>
                <a:latin typeface="Courier New" panose="02070309020205020404" pitchFamily="49" charset="0"/>
                <a:cs typeface="Courier New" panose="02070309020205020404" pitchFamily="49" charset="0"/>
              </a:rPr>
              <a:t>signal.h</a:t>
            </a:r>
            <a:r>
              <a:rPr lang="fr-FR" dirty="0">
                <a:solidFill>
                  <a:srgbClr val="0000FF"/>
                </a:solidFill>
                <a:latin typeface="Courier New" panose="02070309020205020404" pitchFamily="49" charset="0"/>
                <a:cs typeface="Courier New" panose="02070309020205020404" pitchFamily="49" charset="0"/>
              </a:rPr>
              <a:t>&gt;</a:t>
            </a:r>
          </a:p>
          <a:p>
            <a:pPr marL="0" indent="0">
              <a:buNone/>
            </a:pPr>
            <a:r>
              <a:rPr lang="sv-SE" dirty="0">
                <a:solidFill>
                  <a:srgbClr val="0000FF"/>
                </a:solidFill>
                <a:latin typeface="Courier New" panose="02070309020205020404" pitchFamily="49" charset="0"/>
                <a:cs typeface="Courier New" panose="02070309020205020404" pitchFamily="49" charset="0"/>
              </a:rPr>
              <a:t>int </a:t>
            </a:r>
            <a:r>
              <a:rPr lang="sv-SE" b="1" dirty="0">
                <a:solidFill>
                  <a:srgbClr val="0000FF"/>
                </a:solidFill>
                <a:latin typeface="Courier New" panose="02070309020205020404" pitchFamily="49" charset="0"/>
                <a:cs typeface="Courier New" panose="02070309020205020404" pitchFamily="49" charset="0"/>
              </a:rPr>
              <a:t>kill</a:t>
            </a:r>
            <a:r>
              <a:rPr lang="sv-SE" dirty="0">
                <a:solidFill>
                  <a:srgbClr val="0000FF"/>
                </a:solidFill>
                <a:latin typeface="Courier New" panose="02070309020205020404" pitchFamily="49" charset="0"/>
                <a:cs typeface="Courier New" panose="02070309020205020404" pitchFamily="49" charset="0"/>
              </a:rPr>
              <a:t>(pid_t pid, int sig);</a:t>
            </a:r>
          </a:p>
          <a:p>
            <a:r>
              <a:rPr lang="fr-FR" dirty="0" smtClean="0">
                <a:latin typeface="Garamond" panose="02020404030301010803" pitchFamily="18" charset="0"/>
                <a:cs typeface="Times New Roman" panose="02020603050405020304" pitchFamily="18" charset="0"/>
              </a:rPr>
              <a:t>if</a:t>
            </a:r>
            <a:r>
              <a:rPr lang="fr-FR" dirty="0" smtClean="0">
                <a:latin typeface="Times New Roman" panose="02020603050405020304" pitchFamily="18" charset="0"/>
                <a:cs typeface="Times New Roman" panose="02020603050405020304" pitchFamily="18" charset="0"/>
              </a:rPr>
              <a:t> </a:t>
            </a:r>
            <a:r>
              <a:rPr lang="fr-FR" dirty="0" err="1">
                <a:solidFill>
                  <a:srgbClr val="0000FF"/>
                </a:solidFill>
                <a:latin typeface="Courier New" panose="02070309020205020404" pitchFamily="49" charset="0"/>
                <a:cs typeface="Courier New" panose="02070309020205020404" pitchFamily="49" charset="0"/>
              </a:rPr>
              <a:t>pid</a:t>
            </a:r>
            <a:r>
              <a:rPr lang="fr-FR" dirty="0">
                <a:solidFill>
                  <a:srgbClr val="0000FF"/>
                </a:solidFill>
                <a:latin typeface="Courier New" panose="02070309020205020404" pitchFamily="49" charset="0"/>
                <a:cs typeface="Courier New" panose="02070309020205020404" pitchFamily="49" charset="0"/>
              </a:rPr>
              <a:t> &gt; 0</a:t>
            </a:r>
            <a:r>
              <a:rPr lang="fr-FR" dirty="0">
                <a:latin typeface="Times New Roman" panose="02020603050405020304" pitchFamily="18" charset="0"/>
                <a:cs typeface="Times New Roman" panose="02020603050405020304" pitchFamily="18" charset="0"/>
              </a:rPr>
              <a:t>, </a:t>
            </a:r>
            <a:r>
              <a:rPr lang="fr-FR" dirty="0" smtClean="0">
                <a:latin typeface="Garamond" panose="02020404030301010803" pitchFamily="18" charset="0"/>
                <a:cs typeface="Times New Roman" panose="02020603050405020304" pitchFamily="18" charset="0"/>
              </a:rPr>
              <a:t>the </a:t>
            </a:r>
            <a:r>
              <a:rPr lang="fr-FR" dirty="0">
                <a:latin typeface="Garamond" panose="02020404030301010803" pitchFamily="18" charset="0"/>
                <a:cs typeface="Times New Roman" panose="02020603050405020304" pitchFamily="18" charset="0"/>
              </a:rPr>
              <a:t>signal </a:t>
            </a:r>
            <a:r>
              <a:rPr lang="fr-FR" dirty="0" err="1">
                <a:solidFill>
                  <a:srgbClr val="0000FF"/>
                </a:solidFill>
                <a:latin typeface="Courier New" panose="02070309020205020404" pitchFamily="49" charset="0"/>
                <a:cs typeface="Courier New" panose="02070309020205020404" pitchFamily="49" charset="0"/>
              </a:rPr>
              <a:t>sig</a:t>
            </a:r>
            <a:r>
              <a:rPr lang="fr-FR" dirty="0">
                <a:latin typeface="Times New Roman" panose="02020603050405020304" pitchFamily="18" charset="0"/>
                <a:cs typeface="Times New Roman" panose="02020603050405020304" pitchFamily="18" charset="0"/>
              </a:rPr>
              <a:t> </a:t>
            </a:r>
            <a:r>
              <a:rPr lang="en-US" dirty="0">
                <a:latin typeface="Garamond" panose="02020404030301010803" pitchFamily="18" charset="0"/>
                <a:cs typeface="Times New Roman" panose="02020603050405020304" pitchFamily="18" charset="0"/>
              </a:rPr>
              <a:t>is sent to the process </a:t>
            </a:r>
            <a:r>
              <a:rPr lang="fr-FR" dirty="0" err="1" smtClean="0">
                <a:solidFill>
                  <a:srgbClr val="0000FF"/>
                </a:solidFill>
                <a:latin typeface="Courier New" panose="02070309020205020404" pitchFamily="49" charset="0"/>
                <a:cs typeface="Courier New" panose="02070309020205020404" pitchFamily="49" charset="0"/>
              </a:rPr>
              <a:t>pid</a:t>
            </a:r>
            <a:r>
              <a:rPr lang="fr-FR" dirty="0">
                <a:latin typeface="Times New Roman" panose="02020603050405020304" pitchFamily="18" charset="0"/>
                <a:cs typeface="Times New Roman" panose="02020603050405020304" pitchFamily="18" charset="0"/>
              </a:rPr>
              <a:t>.</a:t>
            </a:r>
          </a:p>
          <a:p>
            <a:r>
              <a:rPr lang="fr-FR" dirty="0" smtClean="0">
                <a:latin typeface="Garamond" panose="02020404030301010803" pitchFamily="18" charset="0"/>
                <a:cs typeface="Times New Roman" panose="02020603050405020304" pitchFamily="18" charset="0"/>
              </a:rPr>
              <a:t>if</a:t>
            </a:r>
            <a:r>
              <a:rPr lang="fr-FR" dirty="0" smtClean="0">
                <a:latin typeface="Times New Roman" panose="02020603050405020304" pitchFamily="18" charset="0"/>
                <a:cs typeface="Times New Roman" panose="02020603050405020304" pitchFamily="18" charset="0"/>
              </a:rPr>
              <a:t> </a:t>
            </a:r>
            <a:r>
              <a:rPr lang="fr-FR" dirty="0" err="1">
                <a:solidFill>
                  <a:srgbClr val="0000FF"/>
                </a:solidFill>
                <a:latin typeface="Courier New" panose="02070309020205020404" pitchFamily="49" charset="0"/>
                <a:cs typeface="Courier New" panose="02070309020205020404" pitchFamily="49" charset="0"/>
              </a:rPr>
              <a:t>pid</a:t>
            </a:r>
            <a:r>
              <a:rPr lang="fr-FR" dirty="0">
                <a:solidFill>
                  <a:srgbClr val="0000FF"/>
                </a:solidFill>
                <a:latin typeface="Courier New" panose="02070309020205020404" pitchFamily="49" charset="0"/>
                <a:cs typeface="Courier New" panose="02070309020205020404" pitchFamily="49" charset="0"/>
              </a:rPr>
              <a:t> = 0</a:t>
            </a:r>
            <a:r>
              <a:rPr lang="fr-FR" dirty="0">
                <a:latin typeface="Times New Roman" panose="02020603050405020304" pitchFamily="18" charset="0"/>
                <a:cs typeface="Times New Roman" panose="02020603050405020304" pitchFamily="18" charset="0"/>
              </a:rPr>
              <a:t>, </a:t>
            </a:r>
            <a:r>
              <a:rPr lang="fr-FR" dirty="0" err="1">
                <a:latin typeface="Garamond" panose="02020404030301010803" pitchFamily="18" charset="0"/>
                <a:cs typeface="Times New Roman" panose="02020603050405020304" pitchFamily="18" charset="0"/>
              </a:rPr>
              <a:t>then</a:t>
            </a:r>
            <a:r>
              <a:rPr lang="fr-FR" dirty="0">
                <a:latin typeface="Garamond" panose="02020404030301010803" pitchFamily="18" charset="0"/>
                <a:cs typeface="Times New Roman" panose="02020603050405020304" pitchFamily="18" charset="0"/>
              </a:rPr>
              <a:t> the signal </a:t>
            </a:r>
            <a:r>
              <a:rPr lang="fr-FR" dirty="0" err="1" smtClean="0">
                <a:solidFill>
                  <a:srgbClr val="0000FF"/>
                </a:solidFill>
                <a:latin typeface="Courier New" panose="02070309020205020404" pitchFamily="49" charset="0"/>
                <a:cs typeface="Courier New" panose="02070309020205020404" pitchFamily="49" charset="0"/>
              </a:rPr>
              <a:t>sig</a:t>
            </a:r>
            <a:r>
              <a:rPr lang="fr-FR" dirty="0" smtClean="0">
                <a:latin typeface="Times New Roman" panose="02020603050405020304" pitchFamily="18" charset="0"/>
                <a:cs typeface="Times New Roman" panose="02020603050405020304" pitchFamily="18" charset="0"/>
              </a:rPr>
              <a:t> </a:t>
            </a:r>
            <a:r>
              <a:rPr lang="en-US" dirty="0">
                <a:latin typeface="Garamond" panose="02020404030301010803" pitchFamily="18" charset="0"/>
                <a:cs typeface="Times New Roman" panose="02020603050405020304" pitchFamily="18" charset="0"/>
              </a:rPr>
              <a:t>is sent to all processes belonging to the same group as the calling process</a:t>
            </a:r>
            <a:r>
              <a:rPr lang="fr-FR" dirty="0" smtClean="0">
                <a:latin typeface="Times New Roman" panose="02020603050405020304" pitchFamily="18" charset="0"/>
                <a:cs typeface="Times New Roman" panose="02020603050405020304" pitchFamily="18" charset="0"/>
              </a:rPr>
              <a:t>.</a:t>
            </a:r>
            <a:endParaRPr lang="fr-FR" dirty="0">
              <a:latin typeface="Times New Roman" panose="02020603050405020304" pitchFamily="18" charset="0"/>
              <a:cs typeface="Times New Roman" panose="02020603050405020304" pitchFamily="18" charset="0"/>
            </a:endParaRPr>
          </a:p>
          <a:p>
            <a:r>
              <a:rPr lang="fr-FR" dirty="0" smtClean="0">
                <a:latin typeface="Garamond" panose="02020404030301010803" pitchFamily="18" charset="0"/>
                <a:cs typeface="Times New Roman" panose="02020603050405020304" pitchFamily="18" charset="0"/>
              </a:rPr>
              <a:t>if</a:t>
            </a:r>
            <a:r>
              <a:rPr lang="fr-FR" dirty="0" smtClean="0">
                <a:latin typeface="Times New Roman" panose="02020603050405020304" pitchFamily="18" charset="0"/>
                <a:cs typeface="Times New Roman" panose="02020603050405020304" pitchFamily="18" charset="0"/>
              </a:rPr>
              <a:t> </a:t>
            </a:r>
            <a:r>
              <a:rPr lang="fr-FR" dirty="0" err="1">
                <a:solidFill>
                  <a:srgbClr val="0000FF"/>
                </a:solidFill>
                <a:latin typeface="Courier New" panose="02070309020205020404" pitchFamily="49" charset="0"/>
                <a:cs typeface="Courier New" panose="02070309020205020404" pitchFamily="49" charset="0"/>
              </a:rPr>
              <a:t>pid</a:t>
            </a:r>
            <a:r>
              <a:rPr lang="fr-FR" dirty="0">
                <a:solidFill>
                  <a:srgbClr val="0000FF"/>
                </a:solidFill>
                <a:latin typeface="Courier New" panose="02070309020205020404" pitchFamily="49" charset="0"/>
                <a:cs typeface="Courier New" panose="02070309020205020404" pitchFamily="49" charset="0"/>
              </a:rPr>
              <a:t> = -1</a:t>
            </a:r>
            <a:r>
              <a:rPr lang="fr-FR" dirty="0">
                <a:latin typeface="Times New Roman" panose="02020603050405020304" pitchFamily="18" charset="0"/>
                <a:cs typeface="Times New Roman" panose="02020603050405020304" pitchFamily="18" charset="0"/>
              </a:rPr>
              <a:t>, </a:t>
            </a:r>
            <a:r>
              <a:rPr lang="fr-FR" dirty="0" err="1">
                <a:latin typeface="Garamond" panose="02020404030301010803" pitchFamily="18" charset="0"/>
                <a:cs typeface="Times New Roman" panose="02020603050405020304" pitchFamily="18" charset="0"/>
              </a:rPr>
              <a:t>then</a:t>
            </a:r>
            <a:r>
              <a:rPr lang="fr-FR" dirty="0">
                <a:latin typeface="Garamond" panose="02020404030301010803" pitchFamily="18" charset="0"/>
                <a:cs typeface="Times New Roman" panose="02020603050405020304" pitchFamily="18" charset="0"/>
              </a:rPr>
              <a:t> the signal </a:t>
            </a:r>
            <a:r>
              <a:rPr lang="fr-FR" dirty="0" err="1" smtClean="0">
                <a:solidFill>
                  <a:srgbClr val="0000FF"/>
                </a:solidFill>
                <a:latin typeface="Courier New" panose="02070309020205020404" pitchFamily="49" charset="0"/>
                <a:cs typeface="Courier New" panose="02070309020205020404" pitchFamily="49" charset="0"/>
              </a:rPr>
              <a:t>sig</a:t>
            </a:r>
            <a:r>
              <a:rPr lang="fr-FR" dirty="0" smtClean="0">
                <a:latin typeface="Times New Roman" panose="02020603050405020304" pitchFamily="18" charset="0"/>
                <a:cs typeface="Times New Roman" panose="02020603050405020304" pitchFamily="18" charset="0"/>
              </a:rPr>
              <a:t> </a:t>
            </a:r>
            <a:r>
              <a:rPr lang="en-US" dirty="0">
                <a:latin typeface="Garamond" panose="02020404030301010803" pitchFamily="18" charset="0"/>
                <a:cs typeface="Times New Roman" panose="02020603050405020304" pitchFamily="18" charset="0"/>
              </a:rPr>
              <a:t>is sent to all processes except the first (</a:t>
            </a:r>
            <a:r>
              <a:rPr lang="en-US" dirty="0" err="1">
                <a:latin typeface="Garamond" panose="02020404030301010803" pitchFamily="18" charset="0"/>
                <a:cs typeface="Times New Roman" panose="02020603050405020304" pitchFamily="18" charset="0"/>
              </a:rPr>
              <a:t>init</a:t>
            </a:r>
            <a:r>
              <a:rPr lang="en-US" dirty="0">
                <a:latin typeface="Garamond" panose="02020404030301010803" pitchFamily="18" charset="0"/>
                <a:cs typeface="Times New Roman" panose="02020603050405020304" pitchFamily="18" charset="0"/>
              </a:rPr>
              <a:t>) in descending order of numbers in the process table (</a:t>
            </a:r>
            <a:r>
              <a:rPr lang="en-US" dirty="0" err="1">
                <a:latin typeface="Garamond" panose="02020404030301010803" pitchFamily="18" charset="0"/>
                <a:cs typeface="Times New Roman" panose="02020603050405020304" pitchFamily="18" charset="0"/>
              </a:rPr>
              <a:t>eg</a:t>
            </a:r>
            <a:r>
              <a:rPr lang="en-US" dirty="0">
                <a:latin typeface="Garamond" panose="02020404030301010803" pitchFamily="18" charset="0"/>
                <a:cs typeface="Times New Roman" panose="02020603050405020304" pitchFamily="18" charset="0"/>
              </a:rPr>
              <a:t> shutdown sends the SIGTERM signal to all processes).</a:t>
            </a:r>
            <a:endParaRPr lang="fr-FR" dirty="0">
              <a:latin typeface="Garamond" panose="02020404030301010803" pitchFamily="18" charset="0"/>
              <a:cs typeface="Times New Roman" panose="02020603050405020304" pitchFamily="18" charset="0"/>
            </a:endParaRPr>
          </a:p>
          <a:p>
            <a:r>
              <a:rPr lang="fr-FR" dirty="0" smtClean="0">
                <a:latin typeface="Garamond" panose="02020404030301010803" pitchFamily="18" charset="0"/>
                <a:cs typeface="Times New Roman" panose="02020603050405020304" pitchFamily="18" charset="0"/>
              </a:rPr>
              <a:t>if</a:t>
            </a:r>
            <a:r>
              <a:rPr lang="fr-FR" dirty="0" smtClean="0">
                <a:latin typeface="Times New Roman" panose="02020603050405020304" pitchFamily="18" charset="0"/>
                <a:cs typeface="Times New Roman" panose="02020603050405020304" pitchFamily="18" charset="0"/>
              </a:rPr>
              <a:t> </a:t>
            </a:r>
            <a:r>
              <a:rPr lang="fr-FR" dirty="0" err="1">
                <a:solidFill>
                  <a:srgbClr val="0000FF"/>
                </a:solidFill>
                <a:latin typeface="Courier New" panose="02070309020205020404" pitchFamily="49" charset="0"/>
                <a:cs typeface="Courier New" panose="02070309020205020404" pitchFamily="49" charset="0"/>
              </a:rPr>
              <a:t>pid</a:t>
            </a:r>
            <a:r>
              <a:rPr lang="fr-FR" dirty="0">
                <a:solidFill>
                  <a:srgbClr val="0000FF"/>
                </a:solidFill>
                <a:latin typeface="Courier New" panose="02070309020205020404" pitchFamily="49" charset="0"/>
                <a:cs typeface="Courier New" panose="02070309020205020404" pitchFamily="49" charset="0"/>
              </a:rPr>
              <a:t> &lt; -1</a:t>
            </a:r>
            <a:r>
              <a:rPr lang="fr-FR" dirty="0">
                <a:latin typeface="Times New Roman" panose="02020603050405020304" pitchFamily="18" charset="0"/>
                <a:cs typeface="Times New Roman" panose="02020603050405020304" pitchFamily="18" charset="0"/>
              </a:rPr>
              <a:t>, </a:t>
            </a:r>
            <a:r>
              <a:rPr lang="en-US" dirty="0">
                <a:latin typeface="Garamond" panose="02020404030301010803" pitchFamily="18" charset="0"/>
                <a:cs typeface="Times New Roman" panose="02020603050405020304" pitchFamily="18" charset="0"/>
              </a:rPr>
              <a:t>then the signal sig is sent to all the processes of the group </a:t>
            </a:r>
            <a:r>
              <a:rPr lang="fr-FR" dirty="0">
                <a:latin typeface="Times New Roman" panose="02020603050405020304" pitchFamily="18" charset="0"/>
                <a:cs typeface="Times New Roman" panose="02020603050405020304" pitchFamily="18" charset="0"/>
              </a:rPr>
              <a:t>-</a:t>
            </a:r>
            <a:r>
              <a:rPr lang="fr-FR" dirty="0" err="1" smtClean="0">
                <a:solidFill>
                  <a:srgbClr val="0000FF"/>
                </a:solidFill>
                <a:latin typeface="Courier New" panose="02070309020205020404" pitchFamily="49" charset="0"/>
                <a:cs typeface="Courier New" panose="02070309020205020404" pitchFamily="49" charset="0"/>
              </a:rPr>
              <a:t>pid</a:t>
            </a:r>
            <a:r>
              <a:rPr lang="fr-FR" dirty="0">
                <a:latin typeface="Times New Roman" panose="02020603050405020304" pitchFamily="18" charset="0"/>
                <a:cs typeface="Times New Roman" panose="02020603050405020304" pitchFamily="18" charset="0"/>
              </a:rPr>
              <a:t>.</a:t>
            </a:r>
          </a:p>
          <a:p>
            <a:r>
              <a:rPr lang="fr-FR" dirty="0" err="1" smtClean="0">
                <a:latin typeface="Garamond" panose="02020404030301010803" pitchFamily="18" charset="0"/>
                <a:cs typeface="Times New Roman" panose="02020603050405020304" pitchFamily="18" charset="0"/>
              </a:rPr>
              <a:t>Errors</a:t>
            </a:r>
            <a:r>
              <a:rPr lang="fr-FR" dirty="0" smtClean="0">
                <a:latin typeface="Garamond" panose="02020404030301010803" pitchFamily="18" charset="0"/>
                <a:cs typeface="Times New Roman" panose="02020603050405020304" pitchFamily="18" charset="0"/>
              </a:rPr>
              <a:t> </a:t>
            </a:r>
            <a:r>
              <a:rPr lang="fr-FR" dirty="0">
                <a:latin typeface="Garamond" panose="02020404030301010803" pitchFamily="18" charset="0"/>
                <a:cs typeface="Times New Roman" panose="02020603050405020304" pitchFamily="18" charset="0"/>
              </a:rPr>
              <a:t>: </a:t>
            </a:r>
            <a:r>
              <a:rPr lang="fr-FR" dirty="0">
                <a:solidFill>
                  <a:srgbClr val="0000FF"/>
                </a:solidFill>
                <a:latin typeface="Courier New" panose="02070309020205020404" pitchFamily="49" charset="0"/>
                <a:cs typeface="Courier New" panose="02070309020205020404" pitchFamily="49" charset="0"/>
              </a:rPr>
              <a:t>EINVAL, ESRCH, EPERM</a:t>
            </a:r>
          </a:p>
        </p:txBody>
      </p:sp>
    </p:spTree>
    <p:extLst>
      <p:ext uri="{BB962C8B-B14F-4D97-AF65-F5344CB8AC3E}">
        <p14:creationId xmlns:p14="http://schemas.microsoft.com/office/powerpoint/2010/main" val="130833125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nSpc>
                <a:spcPts val="4175"/>
              </a:lnSpc>
            </a:pPr>
            <a:r>
              <a:rPr lang="en-US" dirty="0">
                <a:solidFill>
                  <a:srgbClr val="191919"/>
                </a:solidFill>
                <a:latin typeface="Garamond" panose="02020404030301010803" pitchFamily="18" charset="0"/>
                <a:cs typeface="Times New Roman" pitchFamily="18" charset="0"/>
              </a:rPr>
              <a:t>Sending signals</a:t>
            </a:r>
            <a:endParaRPr lang="en-US" sz="3267" dirty="0">
              <a:latin typeface="Garamond" panose="02020404030301010803" pitchFamily="18" charset="0"/>
              <a:cs typeface="Times New Roman" pitchFamily="18" charset="0"/>
            </a:endParaRPr>
          </a:p>
        </p:txBody>
      </p:sp>
      <p:sp>
        <p:nvSpPr>
          <p:cNvPr id="3" name="Content Placeholder 2"/>
          <p:cNvSpPr>
            <a:spLocks noGrp="1"/>
          </p:cNvSpPr>
          <p:nvPr>
            <p:ph idx="1"/>
          </p:nvPr>
        </p:nvSpPr>
        <p:spPr/>
        <p:txBody>
          <a:bodyPr>
            <a:noAutofit/>
          </a:bodyPr>
          <a:lstStyle/>
          <a:p>
            <a:pPr>
              <a:lnSpc>
                <a:spcPts val="3358"/>
              </a:lnSpc>
            </a:pPr>
            <a:r>
              <a:rPr lang="en-US" sz="2178" dirty="0" smtClean="0">
                <a:solidFill>
                  <a:srgbClr val="191919"/>
                </a:solidFill>
                <a:latin typeface="Garamond" panose="02020404030301010803" pitchFamily="18" charset="0"/>
                <a:ea typeface="Arial Unicode MS"/>
                <a:cs typeface="Times New Roman" pitchFamily="18" charset="0"/>
              </a:rPr>
              <a:t>The </a:t>
            </a:r>
            <a:r>
              <a:rPr lang="fr-FR" sz="2178" dirty="0" err="1" smtClean="0">
                <a:solidFill>
                  <a:srgbClr val="191919"/>
                </a:solidFill>
                <a:latin typeface="Garamond" panose="02020404030301010803" pitchFamily="18" charset="0"/>
                <a:ea typeface="Arial Unicode MS"/>
                <a:cs typeface="Times New Roman" pitchFamily="18" charset="0"/>
              </a:rPr>
              <a:t>function</a:t>
            </a:r>
            <a:r>
              <a:rPr lang="fr-FR" sz="2178" dirty="0" smtClean="0">
                <a:solidFill>
                  <a:srgbClr val="191919"/>
                </a:solidFill>
                <a:latin typeface="Garamond" panose="02020404030301010803" pitchFamily="18" charset="0"/>
                <a:ea typeface="Arial Unicode MS"/>
                <a:cs typeface="Times New Roman" pitchFamily="18" charset="0"/>
              </a:rPr>
              <a:t> </a:t>
            </a:r>
            <a:r>
              <a:rPr lang="fr-FR" sz="2178" dirty="0" err="1">
                <a:solidFill>
                  <a:srgbClr val="191919"/>
                </a:solidFill>
                <a:latin typeface="Garamond" panose="02020404030301010803" pitchFamily="18" charset="0"/>
                <a:ea typeface="Arial Unicode MS"/>
                <a:cs typeface="Times New Roman" pitchFamily="18" charset="0"/>
              </a:rPr>
              <a:t>raise</a:t>
            </a:r>
            <a:r>
              <a:rPr lang="fr-FR" sz="2178" dirty="0">
                <a:solidFill>
                  <a:srgbClr val="191919"/>
                </a:solidFill>
                <a:latin typeface="Garamond" panose="02020404030301010803" pitchFamily="18" charset="0"/>
                <a:ea typeface="Arial Unicode MS"/>
                <a:cs typeface="Times New Roman" pitchFamily="18" charset="0"/>
              </a:rPr>
              <a:t>(), </a:t>
            </a:r>
            <a:r>
              <a:rPr lang="fr-FR" sz="2178" dirty="0" err="1" smtClean="0">
                <a:solidFill>
                  <a:srgbClr val="191919"/>
                </a:solidFill>
                <a:latin typeface="Garamond" panose="02020404030301010803" pitchFamily="18" charset="0"/>
                <a:ea typeface="Arial Unicode MS"/>
                <a:cs typeface="Times New Roman" pitchFamily="18" charset="0"/>
              </a:rPr>
              <a:t>is</a:t>
            </a:r>
            <a:r>
              <a:rPr lang="fr-FR" sz="2178" dirty="0" smtClean="0">
                <a:solidFill>
                  <a:srgbClr val="191919"/>
                </a:solidFill>
                <a:latin typeface="Garamond" panose="02020404030301010803" pitchFamily="18" charset="0"/>
                <a:ea typeface="Arial Unicode MS"/>
                <a:cs typeface="Times New Roman" pitchFamily="18" charset="0"/>
              </a:rPr>
              <a:t> </a:t>
            </a:r>
            <a:r>
              <a:rPr lang="fr-FR" sz="2178" dirty="0" err="1" smtClean="0">
                <a:solidFill>
                  <a:srgbClr val="191919"/>
                </a:solidFill>
                <a:latin typeface="Garamond" panose="02020404030301010803" pitchFamily="18" charset="0"/>
                <a:ea typeface="Arial Unicode MS"/>
                <a:cs typeface="Times New Roman" pitchFamily="18" charset="0"/>
              </a:rPr>
              <a:t>declared</a:t>
            </a:r>
            <a:r>
              <a:rPr lang="fr-FR" sz="2178" dirty="0" smtClean="0">
                <a:solidFill>
                  <a:srgbClr val="191919"/>
                </a:solidFill>
                <a:latin typeface="Garamond" panose="02020404030301010803" pitchFamily="18" charset="0"/>
                <a:ea typeface="Arial Unicode MS"/>
                <a:cs typeface="Times New Roman" pitchFamily="18" charset="0"/>
              </a:rPr>
              <a:t> as:</a:t>
            </a:r>
            <a:endParaRPr lang="fr-FR" sz="2178" dirty="0">
              <a:solidFill>
                <a:srgbClr val="191919"/>
              </a:solidFill>
              <a:latin typeface="Garamond" panose="02020404030301010803" pitchFamily="18" charset="0"/>
              <a:ea typeface="Arial Unicode MS"/>
              <a:cs typeface="Times New Roman" pitchFamily="18" charset="0"/>
            </a:endParaRPr>
          </a:p>
          <a:p>
            <a:pPr>
              <a:lnSpc>
                <a:spcPts val="3358"/>
              </a:lnSpc>
            </a:pPr>
            <a:r>
              <a:rPr lang="fr-FR" sz="2178" dirty="0" err="1">
                <a:solidFill>
                  <a:srgbClr val="FF0000"/>
                </a:solidFill>
                <a:latin typeface="Garamond" panose="02020404030301010803" pitchFamily="18" charset="0"/>
                <a:ea typeface="Arial Unicode MS"/>
                <a:cs typeface="Times New Roman" pitchFamily="18" charset="0"/>
              </a:rPr>
              <a:t>void</a:t>
            </a:r>
            <a:r>
              <a:rPr lang="fr-FR" sz="2178" dirty="0">
                <a:solidFill>
                  <a:srgbClr val="FF0000"/>
                </a:solidFill>
                <a:latin typeface="Garamond" panose="02020404030301010803" pitchFamily="18" charset="0"/>
                <a:ea typeface="Arial Unicode MS"/>
                <a:cs typeface="Times New Roman" pitchFamily="18" charset="0"/>
              </a:rPr>
              <a:t> </a:t>
            </a:r>
            <a:r>
              <a:rPr lang="fr-FR" sz="2178" dirty="0" err="1">
                <a:solidFill>
                  <a:srgbClr val="FF0000"/>
                </a:solidFill>
                <a:latin typeface="Garamond" panose="02020404030301010803" pitchFamily="18" charset="0"/>
                <a:ea typeface="Arial Unicode MS"/>
                <a:cs typeface="Times New Roman" pitchFamily="18" charset="0"/>
              </a:rPr>
              <a:t>raise</a:t>
            </a:r>
            <a:r>
              <a:rPr lang="fr-FR" sz="2178" dirty="0">
                <a:solidFill>
                  <a:srgbClr val="FF0000"/>
                </a:solidFill>
                <a:latin typeface="Garamond" panose="02020404030301010803" pitchFamily="18" charset="0"/>
                <a:ea typeface="Arial Unicode MS"/>
                <a:cs typeface="Times New Roman" pitchFamily="18" charset="0"/>
              </a:rPr>
              <a:t> (</a:t>
            </a:r>
            <a:r>
              <a:rPr lang="fr-FR" sz="2178" dirty="0" err="1">
                <a:solidFill>
                  <a:srgbClr val="FF0000"/>
                </a:solidFill>
                <a:latin typeface="Garamond" panose="02020404030301010803" pitchFamily="18" charset="0"/>
                <a:ea typeface="Arial Unicode MS"/>
                <a:cs typeface="Times New Roman" pitchFamily="18" charset="0"/>
              </a:rPr>
              <a:t>int</a:t>
            </a:r>
            <a:r>
              <a:rPr lang="fr-FR" sz="2178" dirty="0">
                <a:solidFill>
                  <a:srgbClr val="FF0000"/>
                </a:solidFill>
                <a:latin typeface="Garamond" panose="02020404030301010803" pitchFamily="18" charset="0"/>
                <a:ea typeface="Arial Unicode MS"/>
                <a:cs typeface="Times New Roman" pitchFamily="18" charset="0"/>
              </a:rPr>
              <a:t> </a:t>
            </a:r>
            <a:r>
              <a:rPr lang="fr-FR" sz="2178" dirty="0" err="1">
                <a:solidFill>
                  <a:srgbClr val="FF0000"/>
                </a:solidFill>
                <a:latin typeface="Garamond" panose="02020404030301010803" pitchFamily="18" charset="0"/>
                <a:ea typeface="Arial Unicode MS"/>
                <a:cs typeface="Times New Roman" pitchFamily="18" charset="0"/>
              </a:rPr>
              <a:t>numero_signal</a:t>
            </a:r>
            <a:r>
              <a:rPr lang="fr-FR" sz="2178" dirty="0">
                <a:solidFill>
                  <a:srgbClr val="FF0000"/>
                </a:solidFill>
                <a:latin typeface="Garamond" panose="02020404030301010803" pitchFamily="18" charset="0"/>
                <a:ea typeface="Arial Unicode MS"/>
                <a:cs typeface="Times New Roman" pitchFamily="18" charset="0"/>
              </a:rPr>
              <a:t>);</a:t>
            </a:r>
          </a:p>
          <a:p>
            <a:pPr>
              <a:lnSpc>
                <a:spcPts val="3358"/>
              </a:lnSpc>
            </a:pPr>
            <a:r>
              <a:rPr lang="fr-FR" sz="2178" dirty="0" smtClean="0">
                <a:solidFill>
                  <a:srgbClr val="191919"/>
                </a:solidFill>
                <a:latin typeface="Garamond" panose="02020404030301010803" pitchFamily="18" charset="0"/>
                <a:ea typeface="Arial Unicode MS"/>
                <a:cs typeface="Times New Roman" pitchFamily="18" charset="0"/>
              </a:rPr>
              <a:t>It </a:t>
            </a:r>
            <a:r>
              <a:rPr lang="fr-FR" sz="2178" dirty="0" err="1" smtClean="0">
                <a:solidFill>
                  <a:srgbClr val="191919"/>
                </a:solidFill>
                <a:latin typeface="Garamond" panose="02020404030301010803" pitchFamily="18" charset="0"/>
                <a:ea typeface="Arial Unicode MS"/>
                <a:cs typeface="Times New Roman" pitchFamily="18" charset="0"/>
              </a:rPr>
              <a:t>is</a:t>
            </a:r>
            <a:r>
              <a:rPr lang="fr-FR" sz="2178" dirty="0" smtClean="0">
                <a:solidFill>
                  <a:srgbClr val="191919"/>
                </a:solidFill>
                <a:latin typeface="Garamond" panose="02020404030301010803" pitchFamily="18" charset="0"/>
                <a:ea typeface="Arial Unicode MS"/>
                <a:cs typeface="Times New Roman" pitchFamily="18" charset="0"/>
              </a:rPr>
              <a:t> </a:t>
            </a:r>
            <a:r>
              <a:rPr lang="fr-FR" sz="2178" dirty="0" err="1" smtClean="0">
                <a:solidFill>
                  <a:srgbClr val="191919"/>
                </a:solidFill>
                <a:latin typeface="Garamond" panose="02020404030301010803" pitchFamily="18" charset="0"/>
                <a:ea typeface="Arial Unicode MS"/>
                <a:cs typeface="Times New Roman" pitchFamily="18" charset="0"/>
              </a:rPr>
              <a:t>equivalente</a:t>
            </a:r>
            <a:r>
              <a:rPr lang="fr-FR" sz="2178" dirty="0" smtClean="0">
                <a:solidFill>
                  <a:srgbClr val="191919"/>
                </a:solidFill>
                <a:latin typeface="Garamond" panose="02020404030301010803" pitchFamily="18" charset="0"/>
                <a:ea typeface="Arial Unicode MS"/>
                <a:cs typeface="Times New Roman" pitchFamily="18" charset="0"/>
              </a:rPr>
              <a:t> to </a:t>
            </a:r>
            <a:r>
              <a:rPr lang="fr-FR" sz="2178" dirty="0" err="1">
                <a:solidFill>
                  <a:schemeClr val="tx2"/>
                </a:solidFill>
                <a:latin typeface="Garamond" panose="02020404030301010803" pitchFamily="18" charset="0"/>
                <a:ea typeface="Arial Unicode MS"/>
                <a:cs typeface="Times New Roman" pitchFamily="18" charset="0"/>
              </a:rPr>
              <a:t>kill</a:t>
            </a:r>
            <a:r>
              <a:rPr lang="fr-FR" sz="2178" dirty="0">
                <a:solidFill>
                  <a:srgbClr val="191919"/>
                </a:solidFill>
                <a:latin typeface="Garamond" panose="02020404030301010803" pitchFamily="18" charset="0"/>
                <a:ea typeface="Arial Unicode MS"/>
                <a:cs typeface="Times New Roman" pitchFamily="18" charset="0"/>
              </a:rPr>
              <a:t>( </a:t>
            </a:r>
            <a:r>
              <a:rPr lang="fr-FR" sz="2178" dirty="0" err="1">
                <a:solidFill>
                  <a:srgbClr val="FF0000"/>
                </a:solidFill>
                <a:latin typeface="Garamond" panose="02020404030301010803" pitchFamily="18" charset="0"/>
                <a:ea typeface="Arial Unicode MS"/>
                <a:cs typeface="Times New Roman" pitchFamily="18" charset="0"/>
              </a:rPr>
              <a:t>getpid</a:t>
            </a:r>
            <a:r>
              <a:rPr lang="fr-FR" sz="2178" dirty="0">
                <a:solidFill>
                  <a:srgbClr val="FF0000"/>
                </a:solidFill>
                <a:latin typeface="Garamond" panose="02020404030301010803" pitchFamily="18" charset="0"/>
                <a:ea typeface="Arial Unicode MS"/>
                <a:cs typeface="Times New Roman" pitchFamily="18" charset="0"/>
              </a:rPr>
              <a:t>()</a:t>
            </a:r>
            <a:r>
              <a:rPr lang="fr-FR" sz="2178" dirty="0">
                <a:solidFill>
                  <a:srgbClr val="191919"/>
                </a:solidFill>
                <a:latin typeface="Garamond" panose="02020404030301010803" pitchFamily="18" charset="0"/>
                <a:ea typeface="Arial Unicode MS"/>
                <a:cs typeface="Times New Roman" pitchFamily="18" charset="0"/>
              </a:rPr>
              <a:t>, </a:t>
            </a:r>
            <a:r>
              <a:rPr lang="fr-FR" sz="2178" dirty="0" err="1">
                <a:solidFill>
                  <a:srgbClr val="00B050"/>
                </a:solidFill>
                <a:latin typeface="Garamond" panose="02020404030301010803" pitchFamily="18" charset="0"/>
                <a:ea typeface="Arial Unicode MS"/>
                <a:cs typeface="Times New Roman" pitchFamily="18" charset="0"/>
              </a:rPr>
              <a:t>numero_signal</a:t>
            </a:r>
            <a:r>
              <a:rPr lang="fr-FR" sz="2178" dirty="0">
                <a:solidFill>
                  <a:srgbClr val="191919"/>
                </a:solidFill>
                <a:latin typeface="Garamond" panose="02020404030301010803" pitchFamily="18" charset="0"/>
                <a:ea typeface="Arial Unicode MS"/>
                <a:cs typeface="Times New Roman" pitchFamily="18" charset="0"/>
              </a:rPr>
              <a:t>) </a:t>
            </a:r>
            <a:r>
              <a:rPr lang="en-US" sz="2178" dirty="0">
                <a:solidFill>
                  <a:srgbClr val="191919"/>
                </a:solidFill>
                <a:latin typeface="Garamond" panose="02020404030301010803" pitchFamily="18" charset="0"/>
                <a:ea typeface="Arial Unicode MS"/>
                <a:cs typeface="Times New Roman" pitchFamily="18" charset="0"/>
              </a:rPr>
              <a:t>and allows </a:t>
            </a:r>
            <a:r>
              <a:rPr lang="en-US" sz="2178" dirty="0" smtClean="0">
                <a:solidFill>
                  <a:srgbClr val="191919"/>
                </a:solidFill>
                <a:latin typeface="Garamond" panose="02020404030301010803" pitchFamily="18" charset="0"/>
                <a:ea typeface="Arial Unicode MS"/>
                <a:cs typeface="Times New Roman" pitchFamily="18" charset="0"/>
              </a:rPr>
              <a:t>to </a:t>
            </a:r>
            <a:r>
              <a:rPr lang="en-US" sz="2178" dirty="0">
                <a:solidFill>
                  <a:srgbClr val="191919"/>
                </a:solidFill>
                <a:latin typeface="Garamond" panose="02020404030301010803" pitchFamily="18" charset="0"/>
                <a:ea typeface="Arial Unicode MS"/>
                <a:cs typeface="Times New Roman" pitchFamily="18" charset="0"/>
              </a:rPr>
              <a:t>send a </a:t>
            </a:r>
            <a:r>
              <a:rPr lang="en-US" sz="2178" dirty="0" smtClean="0">
                <a:solidFill>
                  <a:srgbClr val="191919"/>
                </a:solidFill>
                <a:latin typeface="Garamond" panose="02020404030301010803" pitchFamily="18" charset="0"/>
                <a:ea typeface="Arial Unicode MS"/>
                <a:cs typeface="Times New Roman" pitchFamily="18" charset="0"/>
              </a:rPr>
              <a:t>signal to itself</a:t>
            </a:r>
            <a:endParaRPr lang="fr-FR" sz="2178" dirty="0">
              <a:solidFill>
                <a:srgbClr val="191919"/>
              </a:solidFill>
              <a:latin typeface="Garamond" panose="02020404030301010803" pitchFamily="18" charset="0"/>
              <a:ea typeface="Arial Unicode MS"/>
              <a:cs typeface="Times New Roman" pitchFamily="18" charset="0"/>
            </a:endParaRPr>
          </a:p>
          <a:p>
            <a:pPr>
              <a:lnSpc>
                <a:spcPts val="3358"/>
              </a:lnSpc>
            </a:pPr>
            <a:r>
              <a:rPr lang="sv-SE" sz="2178" i="1" dirty="0">
                <a:solidFill>
                  <a:srgbClr val="FF0000"/>
                </a:solidFill>
                <a:latin typeface="Garamond" panose="02020404030301010803" pitchFamily="18" charset="0"/>
                <a:ea typeface="Arial Unicode MS"/>
                <a:cs typeface="Times New Roman" pitchFamily="18" charset="0"/>
              </a:rPr>
              <a:t>int killpg (pid_t pgid, int numero_signal)</a:t>
            </a:r>
            <a:r>
              <a:rPr lang="sv-SE" sz="2178" dirty="0">
                <a:solidFill>
                  <a:srgbClr val="191919"/>
                </a:solidFill>
                <a:latin typeface="Garamond" panose="02020404030301010803" pitchFamily="18" charset="0"/>
                <a:ea typeface="Arial Unicode MS"/>
                <a:cs typeface="Times New Roman" pitchFamily="18" charset="0"/>
              </a:rPr>
              <a:t> </a:t>
            </a:r>
            <a:r>
              <a:rPr lang="en-US" sz="2178" dirty="0">
                <a:solidFill>
                  <a:srgbClr val="191919"/>
                </a:solidFill>
                <a:latin typeface="Garamond" panose="02020404030301010803" pitchFamily="18" charset="0"/>
                <a:ea typeface="Arial Unicode MS"/>
                <a:cs typeface="Times New Roman" pitchFamily="18" charset="0"/>
              </a:rPr>
              <a:t>allows to send a signal to a group of processes</a:t>
            </a:r>
            <a:r>
              <a:rPr lang="fr-FR" sz="2178" dirty="0" smtClean="0">
                <a:solidFill>
                  <a:srgbClr val="191919"/>
                </a:solidFill>
                <a:latin typeface="Garamond" panose="02020404030301010803" pitchFamily="18" charset="0"/>
                <a:ea typeface="Arial Unicode MS"/>
                <a:cs typeface="Times New Roman" pitchFamily="18" charset="0"/>
              </a:rPr>
              <a:t>.</a:t>
            </a:r>
            <a:endParaRPr lang="fr-FR" sz="2178" dirty="0">
              <a:solidFill>
                <a:srgbClr val="191919"/>
              </a:solidFill>
              <a:latin typeface="Garamond" panose="02020404030301010803" pitchFamily="18" charset="0"/>
              <a:ea typeface="Arial Unicode MS"/>
              <a:cs typeface="Times New Roman" pitchFamily="18" charset="0"/>
            </a:endParaRPr>
          </a:p>
          <a:p>
            <a:pPr>
              <a:lnSpc>
                <a:spcPts val="3358"/>
              </a:lnSpc>
            </a:pPr>
            <a:r>
              <a:rPr lang="en-US" sz="2178" dirty="0">
                <a:solidFill>
                  <a:srgbClr val="191919"/>
                </a:solidFill>
                <a:latin typeface="Garamond" panose="02020404030301010803" pitchFamily="18" charset="0"/>
                <a:ea typeface="Arial Unicode MS"/>
                <a:cs typeface="Times New Roman" pitchFamily="18" charset="0"/>
              </a:rPr>
              <a:t>If the indicated </a:t>
            </a:r>
            <a:r>
              <a:rPr lang="en-US" sz="2178" dirty="0" err="1">
                <a:solidFill>
                  <a:srgbClr val="191919"/>
                </a:solidFill>
                <a:latin typeface="Garamond" panose="02020404030301010803" pitchFamily="18" charset="0"/>
                <a:ea typeface="Arial Unicode MS"/>
                <a:cs typeface="Times New Roman" pitchFamily="18" charset="0"/>
              </a:rPr>
              <a:t>pgid</a:t>
            </a:r>
            <a:r>
              <a:rPr lang="en-US" sz="2178" dirty="0">
                <a:solidFill>
                  <a:srgbClr val="191919"/>
                </a:solidFill>
                <a:latin typeface="Garamond" panose="02020404030301010803" pitchFamily="18" charset="0"/>
                <a:ea typeface="Arial Unicode MS"/>
                <a:cs typeface="Times New Roman" pitchFamily="18" charset="0"/>
              </a:rPr>
              <a:t> is null, it sends the signal to the group of the calling process</a:t>
            </a:r>
            <a:r>
              <a:rPr lang="fr-FR" sz="2178" dirty="0" smtClean="0">
                <a:solidFill>
                  <a:srgbClr val="191919"/>
                </a:solidFill>
                <a:latin typeface="Garamond" panose="02020404030301010803" pitchFamily="18" charset="0"/>
                <a:ea typeface="Arial Unicode MS"/>
                <a:cs typeface="Times New Roman" pitchFamily="18" charset="0"/>
              </a:rPr>
              <a:t>.</a:t>
            </a:r>
          </a:p>
          <a:p>
            <a:pPr marL="342900" indent="-342900"/>
            <a:r>
              <a:rPr lang="en-US" dirty="0">
                <a:latin typeface="Garamond" panose="02020404030301010803" pitchFamily="18" charset="0"/>
                <a:hlinkClick r:id="rId2" action="ppaction://hlinkfile"/>
              </a:rPr>
              <a:t>Exemple </a:t>
            </a:r>
            <a:r>
              <a:rPr lang="en-US" dirty="0" err="1">
                <a:latin typeface="Garamond" panose="02020404030301010803" pitchFamily="18" charset="0"/>
                <a:hlinkClick r:id="rId2" action="ppaction://hlinkfile"/>
              </a:rPr>
              <a:t>signale</a:t>
            </a:r>
            <a:r>
              <a:rPr lang="en-US" dirty="0">
                <a:latin typeface="Garamond" panose="02020404030301010803" pitchFamily="18" charset="0"/>
                <a:hlinkClick r:id="rId2" action="ppaction://hlinkfile"/>
              </a:rPr>
              <a:t> </a:t>
            </a:r>
            <a:endParaRPr lang="en-US" dirty="0">
              <a:latin typeface="Garamond" panose="02020404030301010803" pitchFamily="18" charset="0"/>
            </a:endParaRPr>
          </a:p>
          <a:p>
            <a:pPr marL="342900" indent="-342900"/>
            <a:r>
              <a:rPr lang="en-US" dirty="0">
                <a:latin typeface="Garamond" panose="02020404030301010803" pitchFamily="18" charset="0"/>
                <a:hlinkClick r:id="rId3" action="ppaction://hlinkfile"/>
              </a:rPr>
              <a:t>Exemple Signal 1 .c</a:t>
            </a:r>
            <a:endParaRPr lang="en-US" dirty="0">
              <a:latin typeface="Garamond" panose="02020404030301010803" pitchFamily="18" charset="0"/>
            </a:endParaRPr>
          </a:p>
          <a:p>
            <a:pPr>
              <a:lnSpc>
                <a:spcPts val="3358"/>
              </a:lnSpc>
            </a:pPr>
            <a:endParaRPr lang="en-US" sz="2178" dirty="0" smtClean="0">
              <a:solidFill>
                <a:srgbClr val="191919"/>
              </a:solidFill>
              <a:latin typeface="Garamond" panose="02020404030301010803" pitchFamily="18" charset="0"/>
              <a:cs typeface="Times New Roman" pitchFamily="18" charset="0"/>
            </a:endParaRPr>
          </a:p>
          <a:p>
            <a:endParaRPr lang="en-US" sz="2178" dirty="0">
              <a:solidFill>
                <a:srgbClr val="191919"/>
              </a:solidFill>
              <a:latin typeface="Garamond" panose="02020404030301010803" pitchFamily="18" charset="0"/>
              <a:cs typeface="Times New Roman" pitchFamily="18" charset="0"/>
            </a:endParaRPr>
          </a:p>
          <a:p>
            <a:endParaRPr lang="fr-FR" sz="2178" dirty="0">
              <a:latin typeface="Garamond" panose="02020404030301010803" pitchFamily="18" charset="0"/>
            </a:endParaRPr>
          </a:p>
        </p:txBody>
      </p:sp>
    </p:spTree>
    <p:extLst>
      <p:ext uri="{BB962C8B-B14F-4D97-AF65-F5344CB8AC3E}">
        <p14:creationId xmlns:p14="http://schemas.microsoft.com/office/powerpoint/2010/main" val="183817001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dirty="0">
                <a:solidFill>
                  <a:srgbClr val="191919"/>
                </a:solidFill>
                <a:latin typeface="Garamond" panose="02020404030301010803" pitchFamily="18" charset="0"/>
                <a:cs typeface="Times New Roman" pitchFamily="18" charset="0"/>
              </a:rPr>
              <a:t>Block </a:t>
            </a:r>
            <a:r>
              <a:rPr lang="fr-FR" dirty="0" err="1">
                <a:solidFill>
                  <a:srgbClr val="191919"/>
                </a:solidFill>
                <a:latin typeface="Garamond" panose="02020404030301010803" pitchFamily="18" charset="0"/>
                <a:cs typeface="Times New Roman" pitchFamily="18" charset="0"/>
              </a:rPr>
              <a:t>signals</a:t>
            </a:r>
            <a:endParaRPr lang="fr-FR" dirty="0">
              <a:solidFill>
                <a:srgbClr val="191919"/>
              </a:solidFill>
              <a:latin typeface="Garamond" panose="02020404030301010803"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fr-FR" dirty="0" smtClean="0">
                <a:solidFill>
                  <a:srgbClr val="000000"/>
                </a:solidFill>
                <a:latin typeface="Garamond" panose="02020404030301010803" pitchFamily="18" charset="0"/>
                <a:cs typeface="Times New Roman" panose="02020603050405020304" pitchFamily="18" charset="0"/>
              </a:rPr>
              <a:t>The variables of type </a:t>
            </a:r>
            <a:r>
              <a:rPr lang="fr-FR" sz="2400" dirty="0" err="1">
                <a:solidFill>
                  <a:srgbClr val="28009A"/>
                </a:solidFill>
                <a:latin typeface="Courier New" panose="02070309020205020404" pitchFamily="49" charset="0"/>
                <a:cs typeface="Courier New" panose="02070309020205020404" pitchFamily="49" charset="0"/>
              </a:rPr>
              <a:t>sigset_t</a:t>
            </a:r>
            <a:r>
              <a:rPr lang="fr-FR" b="0" i="0" u="none" strike="noStrike" baseline="0" dirty="0" smtClean="0">
                <a:solidFill>
                  <a:srgbClr val="000081"/>
                </a:solidFill>
                <a:latin typeface="Times New Roman" panose="02020603050405020304" pitchFamily="18" charset="0"/>
                <a:cs typeface="Times New Roman" panose="02020603050405020304" pitchFamily="18" charset="0"/>
              </a:rPr>
              <a:t> </a:t>
            </a:r>
            <a:r>
              <a:rPr lang="fr-FR" b="0" i="0" u="none" strike="noStrike" baseline="0" dirty="0" smtClean="0">
                <a:solidFill>
                  <a:srgbClr val="000000"/>
                </a:solidFill>
                <a:latin typeface="Garamond" panose="02020404030301010803" pitchFamily="18" charset="0"/>
                <a:cs typeface="Times New Roman" panose="02020603050405020304" pitchFamily="18" charset="0"/>
              </a:rPr>
              <a:t>(</a:t>
            </a:r>
            <a:r>
              <a:rPr lang="fr-FR" b="0" i="0" u="none" strike="noStrike" baseline="0" dirty="0" err="1" smtClean="0">
                <a:solidFill>
                  <a:srgbClr val="000000"/>
                </a:solidFill>
                <a:latin typeface="Garamond" panose="02020404030301010803" pitchFamily="18" charset="0"/>
                <a:cs typeface="Times New Roman" panose="02020603050405020304" pitchFamily="18" charset="0"/>
              </a:rPr>
              <a:t>signals</a:t>
            </a:r>
            <a:r>
              <a:rPr lang="fr-FR" b="0" i="0" u="none" strike="noStrike" baseline="0" dirty="0" smtClean="0">
                <a:solidFill>
                  <a:srgbClr val="000000"/>
                </a:solidFill>
                <a:latin typeface="Garamond" panose="02020404030301010803" pitchFamily="18" charset="0"/>
                <a:cs typeface="Times New Roman" panose="02020603050405020304" pitchFamily="18" charset="0"/>
              </a:rPr>
              <a:t> </a:t>
            </a:r>
            <a:r>
              <a:rPr lang="fr-FR" b="0" i="0" u="none" strike="noStrike" baseline="0" dirty="0" err="1" smtClean="0">
                <a:solidFill>
                  <a:srgbClr val="000000"/>
                </a:solidFill>
                <a:latin typeface="Garamond" panose="02020404030301010803" pitchFamily="18" charset="0"/>
                <a:cs typeface="Times New Roman" panose="02020603050405020304" pitchFamily="18" charset="0"/>
              </a:rPr>
              <a:t>vector</a:t>
            </a:r>
            <a:r>
              <a:rPr lang="fr-FR" b="0" i="0" u="none" strike="noStrike" baseline="0" dirty="0" smtClean="0">
                <a:solidFill>
                  <a:srgbClr val="000000"/>
                </a:solidFill>
                <a:latin typeface="Garamond" panose="02020404030301010803" pitchFamily="18" charset="0"/>
                <a:cs typeface="Times New Roman" panose="02020603050405020304" pitchFamily="18" charset="0"/>
              </a:rPr>
              <a:t>), </a:t>
            </a:r>
            <a:r>
              <a:rPr lang="en-US" dirty="0">
                <a:solidFill>
                  <a:srgbClr val="000000"/>
                </a:solidFill>
                <a:latin typeface="Garamond" panose="02020404030301010803" pitchFamily="18" charset="0"/>
                <a:cs typeface="Times New Roman" panose="02020603050405020304" pitchFamily="18" charset="0"/>
              </a:rPr>
              <a:t>can only be handled by these primitives </a:t>
            </a:r>
            <a:r>
              <a:rPr lang="fr-FR" b="0" i="0" u="none" strike="noStrike" baseline="0" dirty="0" smtClean="0">
                <a:solidFill>
                  <a:srgbClr val="000000"/>
                </a:solidFill>
                <a:latin typeface="Garamond" panose="02020404030301010803" pitchFamily="18" charset="0"/>
                <a:cs typeface="Times New Roman" panose="02020603050405020304" pitchFamily="18" charset="0"/>
              </a:rPr>
              <a:t>:</a:t>
            </a:r>
          </a:p>
          <a:p>
            <a:pPr lvl="1"/>
            <a:r>
              <a:rPr lang="fr-FR" b="0" i="0" u="none" strike="noStrike" baseline="0" dirty="0" smtClean="0">
                <a:solidFill>
                  <a:srgbClr val="28009A"/>
                </a:solidFill>
                <a:latin typeface="Courier New" panose="02070309020205020404" pitchFamily="49" charset="0"/>
                <a:cs typeface="Courier New" panose="02070309020205020404" pitchFamily="49" charset="0"/>
              </a:rPr>
              <a:t>#</a:t>
            </a:r>
            <a:r>
              <a:rPr lang="fr-FR" b="0" i="0" u="none" strike="noStrike" baseline="0" dirty="0" err="1" smtClean="0">
                <a:solidFill>
                  <a:srgbClr val="28009A"/>
                </a:solidFill>
                <a:latin typeface="Courier New" panose="02070309020205020404" pitchFamily="49" charset="0"/>
                <a:cs typeface="Courier New" panose="02070309020205020404" pitchFamily="49" charset="0"/>
              </a:rPr>
              <a:t>include</a:t>
            </a:r>
            <a:r>
              <a:rPr lang="fr-FR" b="0" i="0" u="none" strike="noStrike" baseline="0" dirty="0" smtClean="0">
                <a:solidFill>
                  <a:srgbClr val="28009A"/>
                </a:solidFill>
                <a:latin typeface="Courier New" panose="02070309020205020404" pitchFamily="49" charset="0"/>
                <a:cs typeface="Courier New" panose="02070309020205020404" pitchFamily="49" charset="0"/>
              </a:rPr>
              <a:t> &lt;</a:t>
            </a:r>
            <a:r>
              <a:rPr lang="fr-FR" b="0" i="0" u="none" strike="noStrike" baseline="0" dirty="0" err="1" smtClean="0">
                <a:solidFill>
                  <a:srgbClr val="28009A"/>
                </a:solidFill>
                <a:latin typeface="Courier New" panose="02070309020205020404" pitchFamily="49" charset="0"/>
                <a:cs typeface="Courier New" panose="02070309020205020404" pitchFamily="49" charset="0"/>
              </a:rPr>
              <a:t>sys</a:t>
            </a:r>
            <a:r>
              <a:rPr lang="fr-FR" b="0" i="0" u="none" strike="noStrike" baseline="0" dirty="0" smtClean="0">
                <a:solidFill>
                  <a:srgbClr val="28009A"/>
                </a:solidFill>
                <a:latin typeface="Courier New" panose="02070309020205020404" pitchFamily="49" charset="0"/>
                <a:cs typeface="Courier New" panose="02070309020205020404" pitchFamily="49" charset="0"/>
              </a:rPr>
              <a:t>/</a:t>
            </a:r>
            <a:r>
              <a:rPr lang="fr-FR" b="0" i="0" u="none" strike="noStrike" baseline="0" dirty="0" err="1" smtClean="0">
                <a:solidFill>
                  <a:srgbClr val="28009A"/>
                </a:solidFill>
                <a:latin typeface="Courier New" panose="02070309020205020404" pitchFamily="49" charset="0"/>
                <a:cs typeface="Courier New" panose="02070309020205020404" pitchFamily="49" charset="0"/>
              </a:rPr>
              <a:t>types.h</a:t>
            </a:r>
            <a:r>
              <a:rPr lang="fr-FR" b="0" i="0" u="none" strike="noStrike" baseline="0" dirty="0" smtClean="0">
                <a:solidFill>
                  <a:srgbClr val="28009A"/>
                </a:solidFill>
                <a:latin typeface="Courier New" panose="02070309020205020404" pitchFamily="49" charset="0"/>
                <a:cs typeface="Courier New" panose="02070309020205020404" pitchFamily="49" charset="0"/>
              </a:rPr>
              <a:t>&gt;</a:t>
            </a:r>
          </a:p>
          <a:p>
            <a:pPr lvl="1"/>
            <a:r>
              <a:rPr lang="fr-FR" b="0" i="0" u="none" strike="noStrike" baseline="0" dirty="0" smtClean="0">
                <a:solidFill>
                  <a:srgbClr val="28009A"/>
                </a:solidFill>
                <a:latin typeface="Courier New" panose="02070309020205020404" pitchFamily="49" charset="0"/>
                <a:cs typeface="Courier New" panose="02070309020205020404" pitchFamily="49" charset="0"/>
              </a:rPr>
              <a:t>#</a:t>
            </a:r>
            <a:r>
              <a:rPr lang="fr-FR" b="0" i="0" u="none" strike="noStrike" baseline="0" dirty="0" err="1" smtClean="0">
                <a:solidFill>
                  <a:srgbClr val="28009A"/>
                </a:solidFill>
                <a:latin typeface="Courier New" panose="02070309020205020404" pitchFamily="49" charset="0"/>
                <a:cs typeface="Courier New" panose="02070309020205020404" pitchFamily="49" charset="0"/>
              </a:rPr>
              <a:t>include</a:t>
            </a:r>
            <a:r>
              <a:rPr lang="fr-FR" b="0" i="0" u="none" strike="noStrike" baseline="0" dirty="0" smtClean="0">
                <a:solidFill>
                  <a:srgbClr val="28009A"/>
                </a:solidFill>
                <a:latin typeface="Courier New" panose="02070309020205020404" pitchFamily="49" charset="0"/>
                <a:cs typeface="Courier New" panose="02070309020205020404" pitchFamily="49" charset="0"/>
              </a:rPr>
              <a:t> &lt;</a:t>
            </a:r>
            <a:r>
              <a:rPr lang="fr-FR" b="0" i="0" u="none" strike="noStrike" baseline="0" dirty="0" err="1" smtClean="0">
                <a:solidFill>
                  <a:srgbClr val="28009A"/>
                </a:solidFill>
                <a:latin typeface="Courier New" panose="02070309020205020404" pitchFamily="49" charset="0"/>
                <a:cs typeface="Courier New" panose="02070309020205020404" pitchFamily="49" charset="0"/>
              </a:rPr>
              <a:t>signal.h</a:t>
            </a:r>
            <a:r>
              <a:rPr lang="fr-FR" b="0" i="0" u="none" strike="noStrike" baseline="0" dirty="0" smtClean="0">
                <a:solidFill>
                  <a:srgbClr val="28009A"/>
                </a:solidFill>
                <a:latin typeface="Courier New" panose="02070309020205020404" pitchFamily="49" charset="0"/>
                <a:cs typeface="Courier New" panose="02070309020205020404" pitchFamily="49" charset="0"/>
              </a:rPr>
              <a:t>&gt;</a:t>
            </a:r>
          </a:p>
          <a:p>
            <a:pPr lvl="1"/>
            <a:r>
              <a:rPr lang="fr-FR" b="0" i="0" u="none" strike="noStrike" baseline="0" dirty="0" err="1" smtClean="0">
                <a:solidFill>
                  <a:srgbClr val="28009A"/>
                </a:solidFill>
                <a:latin typeface="Courier New" panose="02070309020205020404" pitchFamily="49" charset="0"/>
                <a:cs typeface="Courier New" panose="02070309020205020404" pitchFamily="49" charset="0"/>
              </a:rPr>
              <a:t>int</a:t>
            </a:r>
            <a:r>
              <a:rPr lang="fr-FR" b="0" i="0" u="none" strike="noStrike" baseline="0" dirty="0" smtClean="0">
                <a:solidFill>
                  <a:srgbClr val="28009A"/>
                </a:solidFill>
                <a:latin typeface="Courier New" panose="02070309020205020404" pitchFamily="49" charset="0"/>
                <a:cs typeface="Courier New" panose="02070309020205020404" pitchFamily="49" charset="0"/>
              </a:rPr>
              <a:t> </a:t>
            </a:r>
            <a:r>
              <a:rPr lang="fr-FR" b="1" i="0" u="none" strike="noStrike" baseline="0" dirty="0" err="1" smtClean="0">
                <a:solidFill>
                  <a:srgbClr val="28009A"/>
                </a:solidFill>
                <a:latin typeface="Courier New" panose="02070309020205020404" pitchFamily="49" charset="0"/>
                <a:cs typeface="Courier New" panose="02070309020205020404" pitchFamily="49" charset="0"/>
              </a:rPr>
              <a:t>sigemptyset</a:t>
            </a:r>
            <a:r>
              <a:rPr lang="fr-FR" b="1" i="0" u="none" strike="noStrike" baseline="0" dirty="0" smtClean="0">
                <a:solidFill>
                  <a:srgbClr val="28009A"/>
                </a:solidFill>
                <a:latin typeface="Courier New" panose="02070309020205020404" pitchFamily="49" charset="0"/>
                <a:cs typeface="Courier New" panose="02070309020205020404" pitchFamily="49" charset="0"/>
              </a:rPr>
              <a:t> </a:t>
            </a:r>
            <a:r>
              <a:rPr lang="fr-FR" b="0" i="0" u="none" strike="noStrike" baseline="0" dirty="0" smtClean="0">
                <a:solidFill>
                  <a:srgbClr val="28009A"/>
                </a:solidFill>
                <a:latin typeface="Courier New" panose="02070309020205020404" pitchFamily="49" charset="0"/>
                <a:cs typeface="Courier New" panose="02070309020205020404" pitchFamily="49" charset="0"/>
              </a:rPr>
              <a:t>(</a:t>
            </a:r>
            <a:r>
              <a:rPr lang="fr-FR" b="0" i="0" u="none" strike="noStrike" baseline="0" dirty="0" err="1" smtClean="0">
                <a:solidFill>
                  <a:srgbClr val="28009A"/>
                </a:solidFill>
                <a:latin typeface="Courier New" panose="02070309020205020404" pitchFamily="49" charset="0"/>
                <a:cs typeface="Courier New" panose="02070309020205020404" pitchFamily="49" charset="0"/>
              </a:rPr>
              <a:t>sigset_t</a:t>
            </a:r>
            <a:r>
              <a:rPr lang="fr-FR" b="0" i="0" u="none" strike="noStrike" baseline="0" dirty="0" smtClean="0">
                <a:solidFill>
                  <a:srgbClr val="28009A"/>
                </a:solidFill>
                <a:latin typeface="Courier New" panose="02070309020205020404" pitchFamily="49" charset="0"/>
                <a:cs typeface="Courier New" panose="02070309020205020404" pitchFamily="49" charset="0"/>
              </a:rPr>
              <a:t> *set);</a:t>
            </a:r>
          </a:p>
          <a:p>
            <a:pPr lvl="1"/>
            <a:r>
              <a:rPr lang="fr-FR" b="0" i="0" u="none" strike="noStrike" baseline="0" dirty="0" err="1" smtClean="0">
                <a:solidFill>
                  <a:srgbClr val="28009A"/>
                </a:solidFill>
                <a:latin typeface="Courier New" panose="02070309020205020404" pitchFamily="49" charset="0"/>
                <a:cs typeface="Courier New" panose="02070309020205020404" pitchFamily="49" charset="0"/>
              </a:rPr>
              <a:t>int</a:t>
            </a:r>
            <a:r>
              <a:rPr lang="fr-FR" b="0" i="0" u="none" strike="noStrike" baseline="0" dirty="0" smtClean="0">
                <a:solidFill>
                  <a:srgbClr val="28009A"/>
                </a:solidFill>
                <a:latin typeface="Courier New" panose="02070309020205020404" pitchFamily="49" charset="0"/>
                <a:cs typeface="Courier New" panose="02070309020205020404" pitchFamily="49" charset="0"/>
              </a:rPr>
              <a:t> </a:t>
            </a:r>
            <a:r>
              <a:rPr lang="fr-FR" b="1" i="0" u="none" strike="noStrike" baseline="0" dirty="0" err="1" smtClean="0">
                <a:solidFill>
                  <a:srgbClr val="28009A"/>
                </a:solidFill>
                <a:latin typeface="Courier New" panose="02070309020205020404" pitchFamily="49" charset="0"/>
                <a:cs typeface="Courier New" panose="02070309020205020404" pitchFamily="49" charset="0"/>
              </a:rPr>
              <a:t>sigfillset</a:t>
            </a:r>
            <a:r>
              <a:rPr lang="fr-FR" b="1" i="0" u="none" strike="noStrike" baseline="0" dirty="0" smtClean="0">
                <a:solidFill>
                  <a:srgbClr val="28009A"/>
                </a:solidFill>
                <a:latin typeface="Courier New" panose="02070309020205020404" pitchFamily="49" charset="0"/>
                <a:cs typeface="Courier New" panose="02070309020205020404" pitchFamily="49" charset="0"/>
              </a:rPr>
              <a:t> </a:t>
            </a:r>
            <a:r>
              <a:rPr lang="fr-FR" b="0" i="0" u="none" strike="noStrike" baseline="0" dirty="0" smtClean="0">
                <a:solidFill>
                  <a:srgbClr val="28009A"/>
                </a:solidFill>
                <a:latin typeface="Courier New" panose="02070309020205020404" pitchFamily="49" charset="0"/>
                <a:cs typeface="Courier New" panose="02070309020205020404" pitchFamily="49" charset="0"/>
              </a:rPr>
              <a:t>(</a:t>
            </a:r>
            <a:r>
              <a:rPr lang="fr-FR" b="0" i="0" u="none" strike="noStrike" baseline="0" dirty="0" err="1" smtClean="0">
                <a:solidFill>
                  <a:srgbClr val="28009A"/>
                </a:solidFill>
                <a:latin typeface="Courier New" panose="02070309020205020404" pitchFamily="49" charset="0"/>
                <a:cs typeface="Courier New" panose="02070309020205020404" pitchFamily="49" charset="0"/>
              </a:rPr>
              <a:t>sigset_t</a:t>
            </a:r>
            <a:r>
              <a:rPr lang="fr-FR" b="0" i="0" u="none" strike="noStrike" baseline="0" dirty="0" smtClean="0">
                <a:solidFill>
                  <a:srgbClr val="28009A"/>
                </a:solidFill>
                <a:latin typeface="Courier New" panose="02070309020205020404" pitchFamily="49" charset="0"/>
                <a:cs typeface="Courier New" panose="02070309020205020404" pitchFamily="49" charset="0"/>
              </a:rPr>
              <a:t> *set);</a:t>
            </a:r>
          </a:p>
          <a:p>
            <a:pPr lvl="1"/>
            <a:r>
              <a:rPr lang="fr-FR" b="0" i="0" u="none" strike="noStrike" baseline="0" dirty="0" err="1" smtClean="0">
                <a:solidFill>
                  <a:srgbClr val="28009A"/>
                </a:solidFill>
                <a:latin typeface="Courier New" panose="02070309020205020404" pitchFamily="49" charset="0"/>
                <a:cs typeface="Courier New" panose="02070309020205020404" pitchFamily="49" charset="0"/>
              </a:rPr>
              <a:t>int</a:t>
            </a:r>
            <a:r>
              <a:rPr lang="fr-FR" b="0" i="0" u="none" strike="noStrike" baseline="0" dirty="0" smtClean="0">
                <a:solidFill>
                  <a:srgbClr val="28009A"/>
                </a:solidFill>
                <a:latin typeface="Courier New" panose="02070309020205020404" pitchFamily="49" charset="0"/>
                <a:cs typeface="Courier New" panose="02070309020205020404" pitchFamily="49" charset="0"/>
              </a:rPr>
              <a:t> </a:t>
            </a:r>
            <a:r>
              <a:rPr lang="fr-FR" b="1" i="0" u="none" strike="noStrike" baseline="0" dirty="0" err="1" smtClean="0">
                <a:solidFill>
                  <a:srgbClr val="28009A"/>
                </a:solidFill>
                <a:latin typeface="Courier New" panose="02070309020205020404" pitchFamily="49" charset="0"/>
                <a:cs typeface="Courier New" panose="02070309020205020404" pitchFamily="49" charset="0"/>
              </a:rPr>
              <a:t>sigaddset</a:t>
            </a:r>
            <a:r>
              <a:rPr lang="fr-FR" b="1" i="0" u="none" strike="noStrike" baseline="0" dirty="0" smtClean="0">
                <a:solidFill>
                  <a:srgbClr val="28009A"/>
                </a:solidFill>
                <a:latin typeface="Courier New" panose="02070309020205020404" pitchFamily="49" charset="0"/>
                <a:cs typeface="Courier New" panose="02070309020205020404" pitchFamily="49" charset="0"/>
              </a:rPr>
              <a:t> </a:t>
            </a:r>
            <a:r>
              <a:rPr lang="fr-FR" b="0" i="0" u="none" strike="noStrike" baseline="0" dirty="0" smtClean="0">
                <a:solidFill>
                  <a:srgbClr val="28009A"/>
                </a:solidFill>
                <a:latin typeface="Courier New" panose="02070309020205020404" pitchFamily="49" charset="0"/>
                <a:cs typeface="Courier New" panose="02070309020205020404" pitchFamily="49" charset="0"/>
              </a:rPr>
              <a:t>(</a:t>
            </a:r>
            <a:r>
              <a:rPr lang="fr-FR" b="0" i="0" u="none" strike="noStrike" baseline="0" dirty="0" err="1" smtClean="0">
                <a:solidFill>
                  <a:srgbClr val="28009A"/>
                </a:solidFill>
                <a:latin typeface="Courier New" panose="02070309020205020404" pitchFamily="49" charset="0"/>
                <a:cs typeface="Courier New" panose="02070309020205020404" pitchFamily="49" charset="0"/>
              </a:rPr>
              <a:t>sigset_t</a:t>
            </a:r>
            <a:r>
              <a:rPr lang="fr-FR" b="0" i="0" u="none" strike="noStrike" baseline="0" dirty="0" smtClean="0">
                <a:solidFill>
                  <a:srgbClr val="28009A"/>
                </a:solidFill>
                <a:latin typeface="Courier New" panose="02070309020205020404" pitchFamily="49" charset="0"/>
                <a:cs typeface="Courier New" panose="02070309020205020404" pitchFamily="49" charset="0"/>
              </a:rPr>
              <a:t> *set, </a:t>
            </a:r>
            <a:r>
              <a:rPr lang="fr-FR" b="0" i="0" u="none" strike="noStrike" baseline="0" dirty="0" err="1" smtClean="0">
                <a:solidFill>
                  <a:srgbClr val="28009A"/>
                </a:solidFill>
                <a:latin typeface="Courier New" panose="02070309020205020404" pitchFamily="49" charset="0"/>
                <a:cs typeface="Courier New" panose="02070309020205020404" pitchFamily="49" charset="0"/>
              </a:rPr>
              <a:t>int</a:t>
            </a:r>
            <a:r>
              <a:rPr lang="fr-FR" b="0" i="0" u="none" strike="noStrike" baseline="0" dirty="0" smtClean="0">
                <a:solidFill>
                  <a:srgbClr val="28009A"/>
                </a:solidFill>
                <a:latin typeface="Courier New" panose="02070309020205020404" pitchFamily="49" charset="0"/>
                <a:cs typeface="Courier New" panose="02070309020205020404" pitchFamily="49" charset="0"/>
              </a:rPr>
              <a:t> </a:t>
            </a:r>
            <a:r>
              <a:rPr lang="fr-FR" b="0" i="0" u="none" strike="noStrike" baseline="0" dirty="0" err="1" smtClean="0">
                <a:solidFill>
                  <a:srgbClr val="28009A"/>
                </a:solidFill>
                <a:latin typeface="Courier New" panose="02070309020205020404" pitchFamily="49" charset="0"/>
                <a:cs typeface="Courier New" panose="02070309020205020404" pitchFamily="49" charset="0"/>
              </a:rPr>
              <a:t>signum</a:t>
            </a:r>
            <a:r>
              <a:rPr lang="fr-FR" b="0" i="0" u="none" strike="noStrike" baseline="0" dirty="0" smtClean="0">
                <a:solidFill>
                  <a:srgbClr val="28009A"/>
                </a:solidFill>
                <a:latin typeface="Courier New" panose="02070309020205020404" pitchFamily="49" charset="0"/>
                <a:cs typeface="Courier New" panose="02070309020205020404" pitchFamily="49" charset="0"/>
              </a:rPr>
              <a:t>);</a:t>
            </a:r>
          </a:p>
          <a:p>
            <a:pPr lvl="1"/>
            <a:r>
              <a:rPr lang="da-DK" b="0" i="0" u="none" strike="noStrike" baseline="0" dirty="0" smtClean="0">
                <a:solidFill>
                  <a:srgbClr val="28009A"/>
                </a:solidFill>
                <a:latin typeface="Courier New" panose="02070309020205020404" pitchFamily="49" charset="0"/>
                <a:cs typeface="Courier New" panose="02070309020205020404" pitchFamily="49" charset="0"/>
              </a:rPr>
              <a:t>int </a:t>
            </a:r>
            <a:r>
              <a:rPr lang="da-DK" b="1" i="0" u="none" strike="noStrike" baseline="0" dirty="0" smtClean="0">
                <a:solidFill>
                  <a:srgbClr val="28009A"/>
                </a:solidFill>
                <a:latin typeface="Courier New" panose="02070309020205020404" pitchFamily="49" charset="0"/>
                <a:cs typeface="Courier New" panose="02070309020205020404" pitchFamily="49" charset="0"/>
              </a:rPr>
              <a:t>sigdelset </a:t>
            </a:r>
            <a:r>
              <a:rPr lang="da-DK" b="0" i="0" u="none" strike="noStrike" baseline="0" dirty="0" smtClean="0">
                <a:solidFill>
                  <a:srgbClr val="28009A"/>
                </a:solidFill>
                <a:latin typeface="Courier New" panose="02070309020205020404" pitchFamily="49" charset="0"/>
                <a:cs typeface="Courier New" panose="02070309020205020404" pitchFamily="49" charset="0"/>
              </a:rPr>
              <a:t>(sigset_t *set, int signum);</a:t>
            </a:r>
          </a:p>
          <a:p>
            <a:pPr lvl="1"/>
            <a:r>
              <a:rPr lang="da-DK" b="0" i="0" u="none" strike="noStrike" baseline="0" dirty="0" smtClean="0">
                <a:solidFill>
                  <a:srgbClr val="28009A"/>
                </a:solidFill>
                <a:latin typeface="Courier New" panose="02070309020205020404" pitchFamily="49" charset="0"/>
                <a:cs typeface="Courier New" panose="02070309020205020404" pitchFamily="49" charset="0"/>
              </a:rPr>
              <a:t>int </a:t>
            </a:r>
            <a:r>
              <a:rPr lang="da-DK" b="1" i="0" u="none" strike="noStrike" baseline="0" dirty="0" smtClean="0">
                <a:solidFill>
                  <a:srgbClr val="28009A"/>
                </a:solidFill>
                <a:latin typeface="Courier New" panose="02070309020205020404" pitchFamily="49" charset="0"/>
                <a:cs typeface="Courier New" panose="02070309020205020404" pitchFamily="49" charset="0"/>
              </a:rPr>
              <a:t>sigismember </a:t>
            </a:r>
            <a:r>
              <a:rPr lang="da-DK" b="0" i="0" u="none" strike="noStrike" baseline="0" dirty="0" smtClean="0">
                <a:solidFill>
                  <a:srgbClr val="28009A"/>
                </a:solidFill>
                <a:latin typeface="Courier New" panose="02070309020205020404" pitchFamily="49" charset="0"/>
                <a:cs typeface="Courier New" panose="02070309020205020404" pitchFamily="49" charset="0"/>
              </a:rPr>
              <a:t>(const sigset_t *set, int signum);</a:t>
            </a:r>
          </a:p>
          <a:p>
            <a:r>
              <a:rPr lang="fr-FR" dirty="0" err="1" smtClean="0">
                <a:solidFill>
                  <a:srgbClr val="000000"/>
                </a:solidFill>
                <a:latin typeface="Garamond" panose="02020404030301010803" pitchFamily="18" charset="0"/>
                <a:cs typeface="Times New Roman" panose="02020603050405020304" pitchFamily="18" charset="0"/>
              </a:rPr>
              <a:t>Errors</a:t>
            </a:r>
            <a:r>
              <a:rPr lang="fr-FR" dirty="0" smtClean="0">
                <a:solidFill>
                  <a:srgbClr val="000000"/>
                </a:solidFill>
                <a:latin typeface="Garamond" panose="02020404030301010803" pitchFamily="18" charset="0"/>
                <a:cs typeface="Times New Roman" panose="02020603050405020304" pitchFamily="18" charset="0"/>
              </a:rPr>
              <a:t> </a:t>
            </a:r>
            <a:r>
              <a:rPr lang="fr-FR" dirty="0">
                <a:solidFill>
                  <a:srgbClr val="000000"/>
                </a:solidFill>
                <a:latin typeface="Garamond" panose="02020404030301010803" pitchFamily="18" charset="0"/>
                <a:cs typeface="Times New Roman" panose="02020603050405020304" pitchFamily="18" charset="0"/>
              </a:rPr>
              <a:t>: </a:t>
            </a:r>
            <a:r>
              <a:rPr lang="fr-FR" dirty="0">
                <a:solidFill>
                  <a:srgbClr val="0000FF"/>
                </a:solidFill>
                <a:latin typeface="Garamond" panose="02020404030301010803" pitchFamily="18" charset="0"/>
                <a:cs typeface="Times New Roman" panose="02020603050405020304" pitchFamily="18" charset="0"/>
              </a:rPr>
              <a:t>EINVAL</a:t>
            </a:r>
            <a:r>
              <a:rPr lang="fr-FR" dirty="0">
                <a:solidFill>
                  <a:srgbClr val="000000"/>
                </a:solidFill>
                <a:latin typeface="Garamond" panose="02020404030301010803" pitchFamily="18" charset="0"/>
                <a:cs typeface="Times New Roman" panose="02020603050405020304" pitchFamily="18" charset="0"/>
              </a:rPr>
              <a:t> </a:t>
            </a:r>
            <a:r>
              <a:rPr lang="fr-FR" dirty="0" smtClean="0">
                <a:solidFill>
                  <a:srgbClr val="000000"/>
                </a:solidFill>
                <a:latin typeface="Garamond" panose="02020404030301010803" pitchFamily="18" charset="0"/>
                <a:cs typeface="Times New Roman" panose="02020603050405020304" pitchFamily="18" charset="0"/>
              </a:rPr>
              <a:t>if </a:t>
            </a:r>
            <a:r>
              <a:rPr lang="fr-FR" sz="2400" dirty="0" err="1">
                <a:solidFill>
                  <a:srgbClr val="28009A"/>
                </a:solidFill>
                <a:latin typeface="Courier New" panose="02070309020205020404" pitchFamily="49" charset="0"/>
                <a:cs typeface="Courier New" panose="02070309020205020404" pitchFamily="49" charset="0"/>
              </a:rPr>
              <a:t>signum</a:t>
            </a:r>
            <a:r>
              <a:rPr lang="fr-FR" b="0" i="0" u="none" strike="noStrike" baseline="0" dirty="0" smtClean="0">
                <a:solidFill>
                  <a:srgbClr val="000000"/>
                </a:solidFill>
                <a:latin typeface="ArialMT"/>
              </a:rPr>
              <a:t> </a:t>
            </a:r>
            <a:r>
              <a:rPr lang="fr-FR" dirty="0" err="1" smtClean="0">
                <a:solidFill>
                  <a:srgbClr val="000000"/>
                </a:solidFill>
                <a:latin typeface="Garamond" panose="02020404030301010803" pitchFamily="18" charset="0"/>
                <a:cs typeface="Times New Roman" panose="02020603050405020304" pitchFamily="18" charset="0"/>
              </a:rPr>
              <a:t>is</a:t>
            </a:r>
            <a:r>
              <a:rPr lang="fr-FR" dirty="0" smtClean="0">
                <a:solidFill>
                  <a:srgbClr val="000000"/>
                </a:solidFill>
                <a:latin typeface="Garamond" panose="02020404030301010803" pitchFamily="18" charset="0"/>
                <a:cs typeface="Times New Roman" panose="02020603050405020304" pitchFamily="18" charset="0"/>
              </a:rPr>
              <a:t> </a:t>
            </a:r>
            <a:r>
              <a:rPr lang="fr-FR" dirty="0" err="1" smtClean="0">
                <a:solidFill>
                  <a:srgbClr val="000000"/>
                </a:solidFill>
                <a:latin typeface="Garamond" panose="02020404030301010803" pitchFamily="18" charset="0"/>
                <a:cs typeface="Times New Roman" panose="02020603050405020304" pitchFamily="18" charset="0"/>
              </a:rPr>
              <a:t>invalid</a:t>
            </a:r>
            <a:endParaRPr lang="fr-FR" dirty="0">
              <a:solidFill>
                <a:srgbClr val="000000"/>
              </a:solidFill>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347094807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dirty="0">
                <a:solidFill>
                  <a:srgbClr val="191919"/>
                </a:solidFill>
                <a:latin typeface="Garamond" panose="02020404030301010803" pitchFamily="18" charset="0"/>
                <a:cs typeface="Times New Roman" pitchFamily="18" charset="0"/>
              </a:rPr>
              <a:t>Block </a:t>
            </a:r>
            <a:r>
              <a:rPr lang="fr-FR" dirty="0" err="1">
                <a:solidFill>
                  <a:srgbClr val="191919"/>
                </a:solidFill>
                <a:latin typeface="Garamond" panose="02020404030301010803" pitchFamily="18" charset="0"/>
                <a:cs typeface="Times New Roman" pitchFamily="18" charset="0"/>
              </a:rPr>
              <a:t>signals</a:t>
            </a:r>
            <a:endParaRPr lang="fr-FR" dirty="0">
              <a:solidFill>
                <a:srgbClr val="191919"/>
              </a:solidFill>
              <a:latin typeface="Garamond" panose="02020404030301010803"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fr-FR" dirty="0" smtClean="0">
                <a:solidFill>
                  <a:srgbClr val="000000"/>
                </a:solidFill>
                <a:latin typeface="Garamond" panose="02020404030301010803" pitchFamily="18" charset="0"/>
                <a:cs typeface="Times New Roman" panose="02020603050405020304" pitchFamily="18" charset="0"/>
              </a:rPr>
              <a:t>The</a:t>
            </a:r>
            <a:r>
              <a:rPr lang="fr-FR" b="0" i="0" u="none" strike="noStrike" baseline="0" dirty="0" smtClean="0">
                <a:solidFill>
                  <a:srgbClr val="000000"/>
                </a:solidFill>
                <a:latin typeface="Garamond" panose="02020404030301010803" pitchFamily="18" charset="0"/>
                <a:cs typeface="Times New Roman" panose="02020603050405020304" pitchFamily="18" charset="0"/>
              </a:rPr>
              <a:t> </a:t>
            </a:r>
            <a:r>
              <a:rPr lang="fr-FR" b="0" i="0" u="none" strike="noStrike" baseline="0" dirty="0" err="1" smtClean="0">
                <a:solidFill>
                  <a:srgbClr val="000000"/>
                </a:solidFill>
                <a:latin typeface="Garamond" panose="02020404030301010803" pitchFamily="18" charset="0"/>
                <a:cs typeface="Times New Roman" panose="02020603050405020304" pitchFamily="18" charset="0"/>
              </a:rPr>
              <a:t>function</a:t>
            </a:r>
            <a:r>
              <a:rPr lang="fr-FR" b="0" i="0" u="none" strike="noStrike" baseline="0" dirty="0" smtClean="0">
                <a:solidFill>
                  <a:srgbClr val="000000"/>
                </a:solidFill>
                <a:latin typeface="Garamond" panose="02020404030301010803" pitchFamily="18" charset="0"/>
                <a:cs typeface="Times New Roman" panose="02020603050405020304" pitchFamily="18" charset="0"/>
              </a:rPr>
              <a:t> </a:t>
            </a:r>
            <a:r>
              <a:rPr lang="fr-FR" b="0" i="0" u="none" strike="noStrike" baseline="0" dirty="0" err="1" smtClean="0">
                <a:solidFill>
                  <a:srgbClr val="000081"/>
                </a:solidFill>
                <a:latin typeface="Garamond" panose="02020404030301010803" pitchFamily="18" charset="0"/>
                <a:cs typeface="Times New Roman" panose="02020603050405020304" pitchFamily="18" charset="0"/>
              </a:rPr>
              <a:t>sigprocmask</a:t>
            </a:r>
            <a:r>
              <a:rPr lang="fr-FR" b="0" i="0" u="none" strike="noStrike" baseline="0" dirty="0" smtClean="0">
                <a:solidFill>
                  <a:srgbClr val="000081"/>
                </a:solidFill>
                <a:latin typeface="Garamond" panose="02020404030301010803" pitchFamily="18" charset="0"/>
                <a:cs typeface="Times New Roman" panose="02020603050405020304" pitchFamily="18" charset="0"/>
              </a:rPr>
              <a:t>() </a:t>
            </a:r>
            <a:r>
              <a:rPr lang="en-US" dirty="0">
                <a:solidFill>
                  <a:srgbClr val="000000"/>
                </a:solidFill>
                <a:latin typeface="Garamond" panose="02020404030301010803" pitchFamily="18" charset="0"/>
                <a:cs typeface="Times New Roman" panose="02020603050405020304" pitchFamily="18" charset="0"/>
              </a:rPr>
              <a:t>allows a process to block (or unblock) a set of signals, except for signals </a:t>
            </a:r>
            <a:r>
              <a:rPr lang="fr-FR" b="0" i="0" u="none" strike="noStrike" baseline="0" dirty="0" smtClean="0">
                <a:solidFill>
                  <a:srgbClr val="000081"/>
                </a:solidFill>
                <a:latin typeface="Garamond" panose="02020404030301010803" pitchFamily="18" charset="0"/>
                <a:cs typeface="Times New Roman" panose="02020603050405020304" pitchFamily="18" charset="0"/>
              </a:rPr>
              <a:t>SIGKILL </a:t>
            </a:r>
            <a:r>
              <a:rPr lang="fr-FR" dirty="0" smtClean="0">
                <a:solidFill>
                  <a:srgbClr val="000000"/>
                </a:solidFill>
                <a:latin typeface="Garamond" panose="02020404030301010803" pitchFamily="18" charset="0"/>
                <a:cs typeface="Times New Roman" panose="02020603050405020304" pitchFamily="18" charset="0"/>
              </a:rPr>
              <a:t>and</a:t>
            </a:r>
            <a:r>
              <a:rPr lang="fr-FR" b="0" i="0" u="none" strike="noStrike" baseline="0" dirty="0" smtClean="0">
                <a:solidFill>
                  <a:srgbClr val="000000"/>
                </a:solidFill>
                <a:latin typeface="Garamond" panose="02020404030301010803" pitchFamily="18" charset="0"/>
                <a:cs typeface="Times New Roman" panose="02020603050405020304" pitchFamily="18" charset="0"/>
              </a:rPr>
              <a:t> </a:t>
            </a:r>
            <a:r>
              <a:rPr lang="fr-FR" b="0" i="0" u="none" strike="noStrike" baseline="0" dirty="0" smtClean="0">
                <a:solidFill>
                  <a:srgbClr val="000081"/>
                </a:solidFill>
                <a:latin typeface="Garamond" panose="02020404030301010803" pitchFamily="18" charset="0"/>
                <a:cs typeface="Times New Roman" panose="02020603050405020304" pitchFamily="18" charset="0"/>
              </a:rPr>
              <a:t>SIGCONT</a:t>
            </a:r>
            <a:r>
              <a:rPr lang="fr-FR" b="0" i="0" u="none" strike="noStrike" baseline="0" dirty="0" smtClean="0">
                <a:solidFill>
                  <a:srgbClr val="000000"/>
                </a:solidFill>
                <a:latin typeface="Times New Roman" panose="02020603050405020304" pitchFamily="18" charset="0"/>
                <a:cs typeface="Times New Roman" panose="02020603050405020304" pitchFamily="18" charset="0"/>
              </a:rPr>
              <a:t>. </a:t>
            </a:r>
          </a:p>
          <a:p>
            <a:pPr marL="457200" lvl="1" indent="0">
              <a:buNone/>
            </a:pPr>
            <a:r>
              <a:rPr lang="fr-FR" b="0" i="0" u="none" strike="noStrike" baseline="0" dirty="0" smtClean="0">
                <a:solidFill>
                  <a:srgbClr val="28009A"/>
                </a:solidFill>
                <a:latin typeface="Courier New" panose="02070309020205020404" pitchFamily="49" charset="0"/>
                <a:cs typeface="Courier New" panose="02070309020205020404" pitchFamily="49" charset="0"/>
              </a:rPr>
              <a:t>#</a:t>
            </a:r>
            <a:r>
              <a:rPr lang="fr-FR" b="0" i="0" u="none" strike="noStrike" baseline="0" dirty="0" err="1" smtClean="0">
                <a:solidFill>
                  <a:srgbClr val="28009A"/>
                </a:solidFill>
                <a:latin typeface="Courier New" panose="02070309020205020404" pitchFamily="49" charset="0"/>
                <a:cs typeface="Courier New" panose="02070309020205020404" pitchFamily="49" charset="0"/>
              </a:rPr>
              <a:t>include</a:t>
            </a:r>
            <a:r>
              <a:rPr lang="fr-FR" b="0" i="0" u="none" strike="noStrike" baseline="0" dirty="0" smtClean="0">
                <a:solidFill>
                  <a:srgbClr val="28009A"/>
                </a:solidFill>
                <a:latin typeface="Courier New" panose="02070309020205020404" pitchFamily="49" charset="0"/>
                <a:cs typeface="Courier New" panose="02070309020205020404" pitchFamily="49" charset="0"/>
              </a:rPr>
              <a:t> &lt;</a:t>
            </a:r>
            <a:r>
              <a:rPr lang="fr-FR" b="0" i="0" u="none" strike="noStrike" baseline="0" dirty="0" err="1" smtClean="0">
                <a:solidFill>
                  <a:srgbClr val="28009A"/>
                </a:solidFill>
                <a:latin typeface="Courier New" panose="02070309020205020404" pitchFamily="49" charset="0"/>
                <a:cs typeface="Courier New" panose="02070309020205020404" pitchFamily="49" charset="0"/>
              </a:rPr>
              <a:t>signal.h</a:t>
            </a:r>
            <a:r>
              <a:rPr lang="fr-FR" b="0" i="0" u="none" strike="noStrike" baseline="0" dirty="0" smtClean="0">
                <a:solidFill>
                  <a:srgbClr val="28009A"/>
                </a:solidFill>
                <a:latin typeface="Courier New" panose="02070309020205020404" pitchFamily="49" charset="0"/>
                <a:cs typeface="Courier New" panose="02070309020205020404" pitchFamily="49" charset="0"/>
              </a:rPr>
              <a:t>&gt;</a:t>
            </a:r>
          </a:p>
          <a:p>
            <a:pPr marL="457200" lvl="1" indent="0">
              <a:buNone/>
            </a:pPr>
            <a:r>
              <a:rPr lang="fr-FR" b="0" i="0" u="none" strike="noStrike" baseline="0" dirty="0" err="1" smtClean="0">
                <a:solidFill>
                  <a:srgbClr val="28009A"/>
                </a:solidFill>
                <a:latin typeface="Courier New" panose="02070309020205020404" pitchFamily="49" charset="0"/>
                <a:cs typeface="Courier New" panose="02070309020205020404" pitchFamily="49" charset="0"/>
              </a:rPr>
              <a:t>int</a:t>
            </a:r>
            <a:r>
              <a:rPr lang="fr-FR" b="0" i="0" u="none" strike="noStrike" baseline="0" dirty="0" smtClean="0">
                <a:solidFill>
                  <a:srgbClr val="28009A"/>
                </a:solidFill>
                <a:latin typeface="Courier New" panose="02070309020205020404" pitchFamily="49" charset="0"/>
                <a:cs typeface="Courier New" panose="02070309020205020404" pitchFamily="49" charset="0"/>
              </a:rPr>
              <a:t> </a:t>
            </a:r>
            <a:r>
              <a:rPr lang="fr-FR" b="1" i="0" u="none" strike="noStrike" baseline="0" dirty="0" err="1" smtClean="0">
                <a:solidFill>
                  <a:srgbClr val="28009A"/>
                </a:solidFill>
                <a:latin typeface="Courier New" panose="02070309020205020404" pitchFamily="49" charset="0"/>
                <a:cs typeface="Courier New" panose="02070309020205020404" pitchFamily="49" charset="0"/>
              </a:rPr>
              <a:t>sigprocmask</a:t>
            </a:r>
            <a:r>
              <a:rPr lang="fr-FR" b="0" i="0" u="none" strike="noStrike" baseline="0" dirty="0" smtClean="0">
                <a:solidFill>
                  <a:srgbClr val="28009A"/>
                </a:solidFill>
                <a:latin typeface="Courier New" panose="02070309020205020404" pitchFamily="49" charset="0"/>
                <a:cs typeface="Courier New" panose="02070309020205020404" pitchFamily="49" charset="0"/>
              </a:rPr>
              <a:t>(</a:t>
            </a:r>
          </a:p>
          <a:p>
            <a:pPr marL="457200" lvl="1" indent="0">
              <a:buNone/>
            </a:pPr>
            <a:r>
              <a:rPr lang="sv-SE" b="0" i="0" u="none" strike="noStrike" baseline="0" dirty="0" smtClean="0">
                <a:solidFill>
                  <a:srgbClr val="28009A"/>
                </a:solidFill>
                <a:latin typeface="Courier New" panose="02070309020205020404" pitchFamily="49" charset="0"/>
                <a:cs typeface="Courier New" panose="02070309020205020404" pitchFamily="49" charset="0"/>
              </a:rPr>
              <a:t>int how, </a:t>
            </a:r>
            <a:r>
              <a:rPr lang="sv-SE" b="1" i="0" u="none" strike="noStrike" baseline="0" dirty="0" smtClean="0">
                <a:solidFill>
                  <a:srgbClr val="000000"/>
                </a:solidFill>
                <a:latin typeface="Courier New" panose="02070309020205020404" pitchFamily="49" charset="0"/>
                <a:cs typeface="Courier New" panose="02070309020205020404" pitchFamily="49" charset="0"/>
              </a:rPr>
              <a:t>–- SIG_BLOCK, SIG_UNBLOCK, SIG_SETMASK</a:t>
            </a:r>
          </a:p>
          <a:p>
            <a:pPr marL="457200" lvl="1" indent="0">
              <a:buNone/>
            </a:pPr>
            <a:r>
              <a:rPr lang="fr-FR" b="0" i="0" u="none" strike="noStrike" baseline="0" dirty="0" err="1" smtClean="0">
                <a:solidFill>
                  <a:srgbClr val="28009A"/>
                </a:solidFill>
                <a:latin typeface="Courier New" panose="02070309020205020404" pitchFamily="49" charset="0"/>
                <a:cs typeface="Courier New" panose="02070309020205020404" pitchFamily="49" charset="0"/>
              </a:rPr>
              <a:t>const</a:t>
            </a:r>
            <a:r>
              <a:rPr lang="fr-FR" b="0" i="0" u="none" strike="noStrike" baseline="0" dirty="0" smtClean="0">
                <a:solidFill>
                  <a:srgbClr val="28009A"/>
                </a:solidFill>
                <a:latin typeface="Courier New" panose="02070309020205020404" pitchFamily="49" charset="0"/>
                <a:cs typeface="Courier New" panose="02070309020205020404" pitchFamily="49" charset="0"/>
              </a:rPr>
              <a:t> </a:t>
            </a:r>
            <a:r>
              <a:rPr lang="fr-FR" b="0" i="0" u="none" strike="noStrike" baseline="0" dirty="0" err="1" smtClean="0">
                <a:solidFill>
                  <a:srgbClr val="28009A"/>
                </a:solidFill>
                <a:latin typeface="Courier New" panose="02070309020205020404" pitchFamily="49" charset="0"/>
                <a:cs typeface="Courier New" panose="02070309020205020404" pitchFamily="49" charset="0"/>
              </a:rPr>
              <a:t>sigset_t</a:t>
            </a:r>
            <a:r>
              <a:rPr lang="fr-FR" b="0" i="0" u="none" strike="noStrike" baseline="0" dirty="0" smtClean="0">
                <a:solidFill>
                  <a:srgbClr val="28009A"/>
                </a:solidFill>
                <a:latin typeface="Courier New" panose="02070309020205020404" pitchFamily="49" charset="0"/>
                <a:cs typeface="Courier New" panose="02070309020205020404" pitchFamily="49" charset="0"/>
              </a:rPr>
              <a:t> *set, </a:t>
            </a:r>
            <a:r>
              <a:rPr lang="fr-FR" b="1" i="0" u="none" strike="noStrike" baseline="0" dirty="0" smtClean="0">
                <a:solidFill>
                  <a:srgbClr val="000000"/>
                </a:solidFill>
                <a:latin typeface="Courier New" panose="02070309020205020404" pitchFamily="49" charset="0"/>
                <a:cs typeface="Courier New" panose="02070309020205020404" pitchFamily="49" charset="0"/>
              </a:rPr>
              <a:t>–-  new value</a:t>
            </a:r>
          </a:p>
          <a:p>
            <a:pPr marL="457200" lvl="1" indent="0">
              <a:buNone/>
            </a:pPr>
            <a:r>
              <a:rPr lang="fr-FR" b="0" i="0" u="none" strike="noStrike" baseline="0" dirty="0" err="1" smtClean="0">
                <a:solidFill>
                  <a:srgbClr val="28009A"/>
                </a:solidFill>
                <a:latin typeface="Courier New" panose="02070309020205020404" pitchFamily="49" charset="0"/>
                <a:cs typeface="Courier New" panose="02070309020205020404" pitchFamily="49" charset="0"/>
              </a:rPr>
              <a:t>sigset_t</a:t>
            </a:r>
            <a:r>
              <a:rPr lang="fr-FR" b="0" i="0" u="none" strike="noStrike" baseline="0" dirty="0" smtClean="0">
                <a:solidFill>
                  <a:srgbClr val="28009A"/>
                </a:solidFill>
                <a:latin typeface="Courier New" panose="02070309020205020404" pitchFamily="49" charset="0"/>
                <a:cs typeface="Courier New" panose="02070309020205020404" pitchFamily="49" charset="0"/>
              </a:rPr>
              <a:t> *</a:t>
            </a:r>
            <a:r>
              <a:rPr lang="fr-FR" b="0" i="0" u="none" strike="noStrike" baseline="0" dirty="0" err="1" smtClean="0">
                <a:solidFill>
                  <a:srgbClr val="28009A"/>
                </a:solidFill>
                <a:latin typeface="Courier New" panose="02070309020205020404" pitchFamily="49" charset="0"/>
                <a:cs typeface="Courier New" panose="02070309020205020404" pitchFamily="49" charset="0"/>
              </a:rPr>
              <a:t>oldset</a:t>
            </a:r>
            <a:r>
              <a:rPr lang="fr-FR" b="0" i="0" u="none" strike="noStrike" baseline="0" dirty="0" smtClean="0">
                <a:solidFill>
                  <a:srgbClr val="28009A"/>
                </a:solidFill>
                <a:latin typeface="Courier New" panose="02070309020205020404" pitchFamily="49" charset="0"/>
                <a:cs typeface="Courier New" panose="02070309020205020404" pitchFamily="49" charset="0"/>
              </a:rPr>
              <a:t> </a:t>
            </a:r>
            <a:r>
              <a:rPr lang="fr-FR" b="1" i="0" u="none" strike="noStrike" baseline="0" dirty="0" smtClean="0">
                <a:solidFill>
                  <a:srgbClr val="000000"/>
                </a:solidFill>
                <a:latin typeface="Courier New" panose="02070309020205020404" pitchFamily="49" charset="0"/>
                <a:cs typeface="Courier New" panose="02070309020205020404" pitchFamily="49" charset="0"/>
              </a:rPr>
              <a:t>–- </a:t>
            </a:r>
            <a:r>
              <a:rPr lang="fr-FR" b="1" i="0" u="none" strike="noStrike" baseline="0" dirty="0" err="1" smtClean="0">
                <a:solidFill>
                  <a:srgbClr val="000000"/>
                </a:solidFill>
                <a:latin typeface="Courier New" panose="02070309020205020404" pitchFamily="49" charset="0"/>
                <a:cs typeface="Courier New" panose="02070309020205020404" pitchFamily="49" charset="0"/>
              </a:rPr>
              <a:t>old</a:t>
            </a:r>
            <a:r>
              <a:rPr lang="fr-FR" b="1" i="0" u="none" strike="noStrike" baseline="0" dirty="0" smtClean="0">
                <a:solidFill>
                  <a:srgbClr val="000000"/>
                </a:solidFill>
                <a:latin typeface="Courier New" panose="02070309020205020404" pitchFamily="49" charset="0"/>
                <a:cs typeface="Courier New" panose="02070309020205020404" pitchFamily="49" charset="0"/>
              </a:rPr>
              <a:t> value</a:t>
            </a:r>
          </a:p>
          <a:p>
            <a:pPr marL="457200" lvl="1" indent="0">
              <a:buNone/>
            </a:pPr>
            <a:r>
              <a:rPr lang="fr-FR" b="0" i="0" u="none" strike="noStrike" baseline="0" dirty="0" smtClean="0">
                <a:solidFill>
                  <a:srgbClr val="28009A"/>
                </a:solidFill>
                <a:latin typeface="Courier New" panose="02070309020205020404" pitchFamily="49" charset="0"/>
                <a:cs typeface="Courier New" panose="02070309020205020404" pitchFamily="49" charset="0"/>
              </a:rPr>
              <a:t>);</a:t>
            </a:r>
          </a:p>
          <a:p>
            <a:r>
              <a:rPr lang="fr-FR" dirty="0" err="1" smtClean="0">
                <a:solidFill>
                  <a:srgbClr val="000000"/>
                </a:solidFill>
                <a:latin typeface="Garamond" panose="02020404030301010803" pitchFamily="18" charset="0"/>
                <a:cs typeface="Times New Roman" panose="02020603050405020304" pitchFamily="18" charset="0"/>
              </a:rPr>
              <a:t>Errors</a:t>
            </a:r>
            <a:r>
              <a:rPr lang="fr-FR" dirty="0" smtClean="0">
                <a:solidFill>
                  <a:srgbClr val="000000"/>
                </a:solidFill>
                <a:latin typeface="Garamond" panose="02020404030301010803" pitchFamily="18" charset="0"/>
                <a:cs typeface="Times New Roman" panose="02020603050405020304" pitchFamily="18" charset="0"/>
              </a:rPr>
              <a:t> </a:t>
            </a:r>
            <a:r>
              <a:rPr lang="fr-FR" dirty="0">
                <a:solidFill>
                  <a:srgbClr val="000000"/>
                </a:solidFill>
                <a:latin typeface="Garamond" panose="02020404030301010803" pitchFamily="18" charset="0"/>
                <a:cs typeface="Times New Roman" panose="02020603050405020304" pitchFamily="18" charset="0"/>
              </a:rPr>
              <a:t>: </a:t>
            </a:r>
            <a:r>
              <a:rPr lang="fr-FR" b="1" i="0" u="none" strike="noStrike" baseline="0" dirty="0" smtClean="0">
                <a:solidFill>
                  <a:srgbClr val="FF0000"/>
                </a:solidFill>
                <a:latin typeface="Times New Roman" panose="02020603050405020304" pitchFamily="18" charset="0"/>
                <a:cs typeface="Times New Roman" panose="02020603050405020304" pitchFamily="18" charset="0"/>
              </a:rPr>
              <a:t>EFAULT </a:t>
            </a:r>
            <a:r>
              <a:rPr lang="fr-FR" dirty="0">
                <a:solidFill>
                  <a:srgbClr val="000000"/>
                </a:solidFill>
                <a:latin typeface="Garamond" panose="02020404030301010803" pitchFamily="18" charset="0"/>
                <a:cs typeface="Times New Roman" panose="02020603050405020304" pitchFamily="18" charset="0"/>
              </a:rPr>
              <a:t>if an </a:t>
            </a:r>
            <a:r>
              <a:rPr lang="fr-FR" dirty="0" err="1">
                <a:solidFill>
                  <a:srgbClr val="000000"/>
                </a:solidFill>
                <a:latin typeface="Garamond" panose="02020404030301010803" pitchFamily="18" charset="0"/>
                <a:cs typeface="Times New Roman" panose="02020603050405020304" pitchFamily="18" charset="0"/>
              </a:rPr>
              <a:t>invalid</a:t>
            </a:r>
            <a:r>
              <a:rPr lang="fr-FR" dirty="0">
                <a:solidFill>
                  <a:srgbClr val="000000"/>
                </a:solidFill>
                <a:latin typeface="Garamond" panose="02020404030301010803" pitchFamily="18" charset="0"/>
                <a:cs typeface="Times New Roman" panose="02020603050405020304" pitchFamily="18" charset="0"/>
              </a:rPr>
              <a:t> pointer</a:t>
            </a:r>
            <a:r>
              <a:rPr lang="fr-FR" b="1" i="0" u="none" strike="noStrike" baseline="0" dirty="0" smtClean="0">
                <a:solidFill>
                  <a:srgbClr val="FF0000"/>
                </a:solidFill>
                <a:latin typeface="Times New Roman" panose="02020603050405020304" pitchFamily="18" charset="0"/>
                <a:cs typeface="Times New Roman" panose="02020603050405020304" pitchFamily="18" charset="0"/>
              </a:rPr>
              <a:t>, EINVAL </a:t>
            </a:r>
            <a:r>
              <a:rPr lang="fr-FR" dirty="0" smtClean="0">
                <a:solidFill>
                  <a:srgbClr val="000000"/>
                </a:solidFill>
                <a:latin typeface="Garamond" panose="02020404030301010803" pitchFamily="18" charset="0"/>
                <a:cs typeface="Times New Roman" panose="02020603050405020304" pitchFamily="18" charset="0"/>
              </a:rPr>
              <a:t>if </a:t>
            </a:r>
            <a:r>
              <a:rPr lang="fr-FR" dirty="0">
                <a:solidFill>
                  <a:srgbClr val="000000"/>
                </a:solidFill>
                <a:latin typeface="Garamond" panose="02020404030301010803" pitchFamily="18" charset="0"/>
                <a:cs typeface="Times New Roman" panose="02020603050405020304" pitchFamily="18" charset="0"/>
              </a:rPr>
              <a:t>how </a:t>
            </a:r>
            <a:r>
              <a:rPr lang="fr-FR" dirty="0" err="1" smtClean="0">
                <a:solidFill>
                  <a:srgbClr val="000000"/>
                </a:solidFill>
                <a:latin typeface="Garamond" panose="02020404030301010803" pitchFamily="18" charset="0"/>
                <a:cs typeface="Times New Roman" panose="02020603050405020304" pitchFamily="18" charset="0"/>
              </a:rPr>
              <a:t>is</a:t>
            </a:r>
            <a:r>
              <a:rPr lang="fr-FR" dirty="0" smtClean="0">
                <a:solidFill>
                  <a:srgbClr val="000000"/>
                </a:solidFill>
                <a:latin typeface="Garamond" panose="02020404030301010803" pitchFamily="18" charset="0"/>
                <a:cs typeface="Times New Roman" panose="02020603050405020304" pitchFamily="18" charset="0"/>
              </a:rPr>
              <a:t> </a:t>
            </a:r>
            <a:r>
              <a:rPr lang="fr-FR" dirty="0" err="1" smtClean="0">
                <a:solidFill>
                  <a:srgbClr val="000000"/>
                </a:solidFill>
                <a:latin typeface="Garamond" panose="02020404030301010803" pitchFamily="18" charset="0"/>
                <a:cs typeface="Times New Roman" panose="02020603050405020304" pitchFamily="18" charset="0"/>
              </a:rPr>
              <a:t>invalid</a:t>
            </a:r>
            <a:endParaRPr lang="fr-FR" dirty="0">
              <a:solidFill>
                <a:srgbClr val="000000"/>
              </a:solidFill>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226406058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solidFill>
                  <a:srgbClr val="191919"/>
                </a:solidFill>
                <a:latin typeface="Garamond" panose="02020404030301010803" pitchFamily="18" charset="0"/>
                <a:cs typeface="Times New Roman" pitchFamily="18" charset="0"/>
              </a:rPr>
              <a:t>Block </a:t>
            </a:r>
            <a:r>
              <a:rPr lang="fr-FR" dirty="0" err="1">
                <a:solidFill>
                  <a:srgbClr val="191919"/>
                </a:solidFill>
                <a:latin typeface="Garamond" panose="02020404030301010803" pitchFamily="18" charset="0"/>
                <a:cs typeface="Times New Roman" pitchFamily="18" charset="0"/>
              </a:rPr>
              <a:t>signals</a:t>
            </a:r>
            <a:endParaRPr lang="fr-FR" dirty="0"/>
          </a:p>
        </p:txBody>
      </p:sp>
      <p:sp>
        <p:nvSpPr>
          <p:cNvPr id="3" name="Content Placeholder 2"/>
          <p:cNvSpPr>
            <a:spLocks noGrp="1"/>
          </p:cNvSpPr>
          <p:nvPr>
            <p:ph idx="1"/>
          </p:nvPr>
        </p:nvSpPr>
        <p:spPr/>
        <p:txBody>
          <a:bodyPr>
            <a:normAutofit fontScale="92500" lnSpcReduction="10000"/>
          </a:bodyPr>
          <a:lstStyle/>
          <a:p>
            <a:r>
              <a:rPr lang="fr-FR" dirty="0" err="1">
                <a:solidFill>
                  <a:srgbClr val="28009A"/>
                </a:solidFill>
                <a:latin typeface="Courier New" panose="02070309020205020404" pitchFamily="49" charset="0"/>
                <a:cs typeface="Courier New" panose="02070309020205020404" pitchFamily="49" charset="0"/>
              </a:rPr>
              <a:t>sigpending</a:t>
            </a:r>
            <a:r>
              <a:rPr lang="fr-FR" dirty="0">
                <a:solidFill>
                  <a:srgbClr val="28009A"/>
                </a:solidFill>
                <a:latin typeface="Garamond" panose="02020404030301010803" pitchFamily="18" charset="0"/>
                <a:cs typeface="Courier New" panose="02070309020205020404" pitchFamily="49" charset="0"/>
              </a:rPr>
              <a:t>() </a:t>
            </a:r>
            <a:r>
              <a:rPr lang="en-US" dirty="0">
                <a:solidFill>
                  <a:srgbClr val="000000"/>
                </a:solidFill>
                <a:latin typeface="Garamond" panose="02020404030301010803" pitchFamily="18" charset="0"/>
                <a:cs typeface="Times New Roman" panose="02020603050405020304" pitchFamily="18" charset="0"/>
              </a:rPr>
              <a:t>returns the set of signals waiting to be delivered to the calling thread (that is, the signals that were triggered while being blocked</a:t>
            </a:r>
            <a:r>
              <a:rPr lang="en-US" dirty="0" smtClean="0">
                <a:solidFill>
                  <a:srgbClr val="000000"/>
                </a:solidFill>
                <a:latin typeface="Garamond" panose="02020404030301010803" pitchFamily="18" charset="0"/>
                <a:cs typeface="Times New Roman" panose="02020603050405020304" pitchFamily="18" charset="0"/>
              </a:rPr>
              <a:t>).</a:t>
            </a:r>
          </a:p>
          <a:p>
            <a:pPr marL="0" indent="0">
              <a:buNone/>
            </a:pPr>
            <a:r>
              <a:rPr lang="en-US" b="0" i="0" u="none" strike="noStrike" baseline="0" dirty="0">
                <a:solidFill>
                  <a:srgbClr val="000000"/>
                </a:solidFill>
                <a:latin typeface="Garamond" panose="02020404030301010803" pitchFamily="18" charset="0"/>
                <a:cs typeface="Times New Roman" panose="02020603050405020304" pitchFamily="18" charset="0"/>
              </a:rPr>
              <a:t>	</a:t>
            </a:r>
            <a:r>
              <a:rPr lang="fr-FR" b="0" i="0" u="none" strike="noStrike" baseline="0" dirty="0" smtClean="0">
                <a:solidFill>
                  <a:srgbClr val="28009A"/>
                </a:solidFill>
                <a:latin typeface="Courier New" panose="02070309020205020404" pitchFamily="49" charset="0"/>
                <a:cs typeface="Courier New" panose="02070309020205020404" pitchFamily="49" charset="0"/>
              </a:rPr>
              <a:t>#</a:t>
            </a:r>
            <a:r>
              <a:rPr lang="fr-FR" b="0" i="0" u="none" strike="noStrike" baseline="0" dirty="0" err="1" smtClean="0">
                <a:solidFill>
                  <a:srgbClr val="28009A"/>
                </a:solidFill>
                <a:latin typeface="Courier New" panose="02070309020205020404" pitchFamily="49" charset="0"/>
                <a:cs typeface="Courier New" panose="02070309020205020404" pitchFamily="49" charset="0"/>
              </a:rPr>
              <a:t>include</a:t>
            </a:r>
            <a:r>
              <a:rPr lang="fr-FR" b="0" i="0" u="none" strike="noStrike" baseline="0" dirty="0" smtClean="0">
                <a:solidFill>
                  <a:srgbClr val="28009A"/>
                </a:solidFill>
                <a:latin typeface="Courier New" panose="02070309020205020404" pitchFamily="49" charset="0"/>
                <a:cs typeface="Courier New" panose="02070309020205020404" pitchFamily="49" charset="0"/>
              </a:rPr>
              <a:t> &lt;</a:t>
            </a:r>
            <a:r>
              <a:rPr lang="fr-FR" b="0" i="0" u="none" strike="noStrike" baseline="0" dirty="0" err="1" smtClean="0">
                <a:solidFill>
                  <a:srgbClr val="28009A"/>
                </a:solidFill>
                <a:latin typeface="Courier New" panose="02070309020205020404" pitchFamily="49" charset="0"/>
                <a:cs typeface="Courier New" panose="02070309020205020404" pitchFamily="49" charset="0"/>
              </a:rPr>
              <a:t>signal.h</a:t>
            </a:r>
            <a:r>
              <a:rPr lang="fr-FR" b="0" i="0" u="none" strike="noStrike" baseline="0" dirty="0" smtClean="0">
                <a:solidFill>
                  <a:srgbClr val="28009A"/>
                </a:solidFill>
                <a:latin typeface="Courier New" panose="02070309020205020404" pitchFamily="49" charset="0"/>
                <a:cs typeface="Courier New" panose="02070309020205020404" pitchFamily="49" charset="0"/>
              </a:rPr>
              <a:t>&gt;</a:t>
            </a:r>
          </a:p>
          <a:p>
            <a:pPr marL="457200" lvl="1" indent="0">
              <a:buNone/>
            </a:pPr>
            <a:r>
              <a:rPr lang="fr-FR" b="0" i="0" u="none" strike="noStrike" baseline="0" dirty="0" err="1" smtClean="0">
                <a:solidFill>
                  <a:srgbClr val="28009A"/>
                </a:solidFill>
                <a:latin typeface="Courier New" panose="02070309020205020404" pitchFamily="49" charset="0"/>
                <a:cs typeface="Courier New" panose="02070309020205020404" pitchFamily="49" charset="0"/>
              </a:rPr>
              <a:t>int</a:t>
            </a:r>
            <a:r>
              <a:rPr lang="fr-FR" b="0" i="0" u="none" strike="noStrike" baseline="0" dirty="0" smtClean="0">
                <a:solidFill>
                  <a:srgbClr val="28009A"/>
                </a:solidFill>
                <a:latin typeface="Courier New" panose="02070309020205020404" pitchFamily="49" charset="0"/>
                <a:cs typeface="Courier New" panose="02070309020205020404" pitchFamily="49" charset="0"/>
              </a:rPr>
              <a:t> </a:t>
            </a:r>
            <a:r>
              <a:rPr lang="fr-FR" b="0" i="0" u="none" strike="noStrike" baseline="0" dirty="0" err="1" smtClean="0">
                <a:solidFill>
                  <a:srgbClr val="28009A"/>
                </a:solidFill>
                <a:latin typeface="Courier New" panose="02070309020205020404" pitchFamily="49" charset="0"/>
                <a:cs typeface="Courier New" panose="02070309020205020404" pitchFamily="49" charset="0"/>
              </a:rPr>
              <a:t>sigpending</a:t>
            </a:r>
            <a:r>
              <a:rPr lang="fr-FR" b="0" i="0" u="none" strike="noStrike" baseline="0" dirty="0" smtClean="0">
                <a:solidFill>
                  <a:srgbClr val="28009A"/>
                </a:solidFill>
                <a:latin typeface="Courier New" panose="02070309020205020404" pitchFamily="49" charset="0"/>
                <a:cs typeface="Courier New" panose="02070309020205020404" pitchFamily="49" charset="0"/>
              </a:rPr>
              <a:t>(</a:t>
            </a:r>
            <a:r>
              <a:rPr lang="fr-FR" b="0" i="0" u="none" strike="noStrike" baseline="0" dirty="0" err="1" smtClean="0">
                <a:solidFill>
                  <a:srgbClr val="28009A"/>
                </a:solidFill>
                <a:latin typeface="Courier New" panose="02070309020205020404" pitchFamily="49" charset="0"/>
                <a:cs typeface="Courier New" panose="02070309020205020404" pitchFamily="49" charset="0"/>
              </a:rPr>
              <a:t>sigset_t</a:t>
            </a:r>
            <a:r>
              <a:rPr lang="fr-FR" b="0" i="0" u="none" strike="noStrike" baseline="0" dirty="0" smtClean="0">
                <a:solidFill>
                  <a:srgbClr val="28009A"/>
                </a:solidFill>
                <a:latin typeface="Courier New" panose="02070309020205020404" pitchFamily="49" charset="0"/>
                <a:cs typeface="Courier New" panose="02070309020205020404" pitchFamily="49" charset="0"/>
              </a:rPr>
              <a:t> *set);</a:t>
            </a:r>
          </a:p>
          <a:p>
            <a:r>
              <a:rPr lang="fr-FR" dirty="0" err="1" smtClean="0">
                <a:solidFill>
                  <a:srgbClr val="000000"/>
                </a:solidFill>
                <a:latin typeface="Garamond" panose="02020404030301010803" pitchFamily="18" charset="0"/>
                <a:cs typeface="Times New Roman" panose="02020603050405020304" pitchFamily="18" charset="0"/>
              </a:rPr>
              <a:t>Errors</a:t>
            </a:r>
            <a:r>
              <a:rPr lang="fr-FR" b="0" i="0" u="none" strike="noStrike" baseline="0" dirty="0" smtClean="0">
                <a:solidFill>
                  <a:srgbClr val="000000"/>
                </a:solidFill>
                <a:latin typeface="Times New Roman" panose="02020603050405020304" pitchFamily="18" charset="0"/>
                <a:cs typeface="Times New Roman" panose="02020603050405020304" pitchFamily="18" charset="0"/>
              </a:rPr>
              <a:t> : </a:t>
            </a:r>
            <a:r>
              <a:rPr lang="fr-FR" b="1" i="0" u="none" strike="noStrike" baseline="0" dirty="0" smtClean="0">
                <a:solidFill>
                  <a:srgbClr val="FF0000"/>
                </a:solidFill>
                <a:latin typeface="Times New Roman" panose="02020603050405020304" pitchFamily="18" charset="0"/>
                <a:cs typeface="Times New Roman" panose="02020603050405020304" pitchFamily="18" charset="0"/>
              </a:rPr>
              <a:t>EFAULT </a:t>
            </a:r>
            <a:r>
              <a:rPr lang="fr-FR" dirty="0" smtClean="0">
                <a:solidFill>
                  <a:srgbClr val="000000"/>
                </a:solidFill>
                <a:latin typeface="Garamond" panose="02020404030301010803" pitchFamily="18" charset="0"/>
                <a:cs typeface="Times New Roman" panose="02020603050405020304" pitchFamily="18" charset="0"/>
              </a:rPr>
              <a:t>if a pointer </a:t>
            </a:r>
            <a:r>
              <a:rPr lang="fr-FR" dirty="0" err="1" smtClean="0">
                <a:solidFill>
                  <a:srgbClr val="000000"/>
                </a:solidFill>
                <a:latin typeface="Garamond" panose="02020404030301010803" pitchFamily="18" charset="0"/>
                <a:cs typeface="Times New Roman" panose="02020603050405020304" pitchFamily="18" charset="0"/>
              </a:rPr>
              <a:t>is</a:t>
            </a:r>
            <a:r>
              <a:rPr lang="fr-FR" dirty="0" smtClean="0">
                <a:solidFill>
                  <a:srgbClr val="000000"/>
                </a:solidFill>
                <a:latin typeface="Garamond" panose="02020404030301010803" pitchFamily="18" charset="0"/>
                <a:cs typeface="Times New Roman" panose="02020603050405020304" pitchFamily="18" charset="0"/>
              </a:rPr>
              <a:t> </a:t>
            </a:r>
            <a:r>
              <a:rPr lang="fr-FR" dirty="0" err="1" smtClean="0">
                <a:solidFill>
                  <a:srgbClr val="000000"/>
                </a:solidFill>
                <a:latin typeface="Garamond" panose="02020404030301010803" pitchFamily="18" charset="0"/>
                <a:cs typeface="Times New Roman" panose="02020603050405020304" pitchFamily="18" charset="0"/>
              </a:rPr>
              <a:t>invalid</a:t>
            </a:r>
            <a:endParaRPr lang="fr-FR" dirty="0">
              <a:solidFill>
                <a:srgbClr val="000000"/>
              </a:solidFill>
              <a:latin typeface="Garamond" panose="02020404030301010803" pitchFamily="18" charset="0"/>
              <a:cs typeface="Times New Roman" panose="02020603050405020304" pitchFamily="18" charset="0"/>
            </a:endParaRPr>
          </a:p>
          <a:p>
            <a:r>
              <a:rPr lang="fr-FR" dirty="0" smtClean="0">
                <a:solidFill>
                  <a:srgbClr val="000000"/>
                </a:solidFill>
                <a:latin typeface="Garamond" panose="02020404030301010803" pitchFamily="18" charset="0"/>
                <a:cs typeface="Times New Roman" panose="02020603050405020304" pitchFamily="18" charset="0"/>
              </a:rPr>
              <a:t>The primitive </a:t>
            </a:r>
            <a:r>
              <a:rPr lang="fr-FR" b="0" i="0" u="none" strike="noStrike" baseline="0" dirty="0" err="1" smtClean="0">
                <a:solidFill>
                  <a:srgbClr val="000081"/>
                </a:solidFill>
                <a:latin typeface="Times New Roman" panose="02020603050405020304" pitchFamily="18" charset="0"/>
                <a:cs typeface="Times New Roman" panose="02020603050405020304" pitchFamily="18" charset="0"/>
              </a:rPr>
              <a:t>sigsuspend</a:t>
            </a:r>
            <a:r>
              <a:rPr lang="fr-FR" b="0" i="0" u="none" strike="noStrike" baseline="0" dirty="0" smtClean="0">
                <a:solidFill>
                  <a:srgbClr val="000081"/>
                </a:solidFill>
                <a:latin typeface="Times New Roman" panose="02020603050405020304" pitchFamily="18" charset="0"/>
                <a:cs typeface="Times New Roman" panose="02020603050405020304" pitchFamily="18" charset="0"/>
              </a:rPr>
              <a:t>() </a:t>
            </a:r>
            <a:r>
              <a:rPr lang="en-US" dirty="0">
                <a:solidFill>
                  <a:srgbClr val="000000"/>
                </a:solidFill>
                <a:latin typeface="Garamond" panose="02020404030301010803" pitchFamily="18" charset="0"/>
                <a:cs typeface="Times New Roman" panose="02020603050405020304" pitchFamily="18" charset="0"/>
              </a:rPr>
              <a:t>atomically allows to change the mask of the signals and hang on hold. Once an unblocked signal is delivered, the primitive ends by restoring the previous mask </a:t>
            </a:r>
            <a:r>
              <a:rPr lang="fr-FR" b="0" i="0" u="none" strike="noStrike" baseline="0" dirty="0" smtClean="0">
                <a:solidFill>
                  <a:srgbClr val="000000"/>
                </a:solidFill>
                <a:latin typeface="Garamond" panose="02020404030301010803" pitchFamily="18" charset="0"/>
                <a:cs typeface="Times New Roman" panose="02020603050405020304" pitchFamily="18" charset="0"/>
              </a:rPr>
              <a:t>:</a:t>
            </a:r>
          </a:p>
          <a:p>
            <a:pPr marL="457200" lvl="1" indent="0">
              <a:buNone/>
            </a:pPr>
            <a:r>
              <a:rPr lang="fr-FR" dirty="0" smtClean="0">
                <a:solidFill>
                  <a:srgbClr val="28009A"/>
                </a:solidFill>
                <a:latin typeface="Courier New" panose="02070309020205020404" pitchFamily="49" charset="0"/>
                <a:cs typeface="Courier New" panose="02070309020205020404" pitchFamily="49" charset="0"/>
              </a:rPr>
              <a:t>#</a:t>
            </a:r>
            <a:r>
              <a:rPr lang="fr-FR" dirty="0" err="1" smtClean="0">
                <a:solidFill>
                  <a:srgbClr val="28009A"/>
                </a:solidFill>
                <a:latin typeface="Courier New" panose="02070309020205020404" pitchFamily="49" charset="0"/>
                <a:cs typeface="Courier New" panose="02070309020205020404" pitchFamily="49" charset="0"/>
              </a:rPr>
              <a:t>include</a:t>
            </a:r>
            <a:r>
              <a:rPr lang="fr-FR" dirty="0" smtClean="0">
                <a:solidFill>
                  <a:srgbClr val="28009A"/>
                </a:solidFill>
                <a:latin typeface="Courier New" panose="02070309020205020404" pitchFamily="49" charset="0"/>
                <a:cs typeface="Courier New" panose="02070309020205020404" pitchFamily="49" charset="0"/>
              </a:rPr>
              <a:t> &lt;</a:t>
            </a:r>
            <a:r>
              <a:rPr lang="fr-FR" dirty="0" err="1" smtClean="0">
                <a:solidFill>
                  <a:srgbClr val="28009A"/>
                </a:solidFill>
                <a:latin typeface="Courier New" panose="02070309020205020404" pitchFamily="49" charset="0"/>
                <a:cs typeface="Courier New" panose="02070309020205020404" pitchFamily="49" charset="0"/>
              </a:rPr>
              <a:t>signal.h</a:t>
            </a:r>
            <a:r>
              <a:rPr lang="fr-FR" dirty="0" smtClean="0">
                <a:solidFill>
                  <a:srgbClr val="28009A"/>
                </a:solidFill>
                <a:latin typeface="Courier New" panose="02070309020205020404" pitchFamily="49" charset="0"/>
                <a:cs typeface="Courier New" panose="02070309020205020404" pitchFamily="49" charset="0"/>
              </a:rPr>
              <a:t>&gt;</a:t>
            </a:r>
          </a:p>
          <a:p>
            <a:pPr marL="457200" lvl="1" indent="0">
              <a:buNone/>
            </a:pPr>
            <a:r>
              <a:rPr lang="fr-FR" dirty="0" err="1" smtClean="0">
                <a:solidFill>
                  <a:srgbClr val="28009A"/>
                </a:solidFill>
                <a:latin typeface="Courier New" panose="02070309020205020404" pitchFamily="49" charset="0"/>
                <a:cs typeface="Courier New" panose="02070309020205020404" pitchFamily="49" charset="0"/>
              </a:rPr>
              <a:t>int</a:t>
            </a:r>
            <a:r>
              <a:rPr lang="fr-FR" dirty="0" smtClean="0">
                <a:solidFill>
                  <a:srgbClr val="28009A"/>
                </a:solidFill>
                <a:latin typeface="Courier New" panose="02070309020205020404" pitchFamily="49" charset="0"/>
                <a:cs typeface="Courier New" panose="02070309020205020404" pitchFamily="49" charset="0"/>
              </a:rPr>
              <a:t> </a:t>
            </a:r>
            <a:r>
              <a:rPr lang="fr-FR" dirty="0" err="1">
                <a:solidFill>
                  <a:srgbClr val="28009A"/>
                </a:solidFill>
                <a:latin typeface="Courier New" panose="02070309020205020404" pitchFamily="49" charset="0"/>
                <a:cs typeface="Courier New" panose="02070309020205020404" pitchFamily="49" charset="0"/>
              </a:rPr>
              <a:t>sigsuspend</a:t>
            </a:r>
            <a:r>
              <a:rPr lang="fr-FR" dirty="0">
                <a:solidFill>
                  <a:srgbClr val="28009A"/>
                </a:solidFill>
                <a:latin typeface="Courier New" panose="02070309020205020404" pitchFamily="49" charset="0"/>
                <a:cs typeface="Courier New" panose="02070309020205020404" pitchFamily="49" charset="0"/>
              </a:rPr>
              <a:t>(</a:t>
            </a:r>
            <a:r>
              <a:rPr lang="fr-FR" dirty="0" err="1">
                <a:solidFill>
                  <a:srgbClr val="28009A"/>
                </a:solidFill>
                <a:latin typeface="Courier New" panose="02070309020205020404" pitchFamily="49" charset="0"/>
                <a:cs typeface="Courier New" panose="02070309020205020404" pitchFamily="49" charset="0"/>
              </a:rPr>
              <a:t>const</a:t>
            </a:r>
            <a:r>
              <a:rPr lang="fr-FR" dirty="0">
                <a:solidFill>
                  <a:srgbClr val="28009A"/>
                </a:solidFill>
                <a:latin typeface="Courier New" panose="02070309020205020404" pitchFamily="49" charset="0"/>
                <a:cs typeface="Courier New" panose="02070309020205020404" pitchFamily="49" charset="0"/>
              </a:rPr>
              <a:t> </a:t>
            </a:r>
            <a:r>
              <a:rPr lang="fr-FR" dirty="0" err="1">
                <a:solidFill>
                  <a:srgbClr val="28009A"/>
                </a:solidFill>
                <a:latin typeface="Courier New" panose="02070309020205020404" pitchFamily="49" charset="0"/>
                <a:cs typeface="Courier New" panose="02070309020205020404" pitchFamily="49" charset="0"/>
              </a:rPr>
              <a:t>sigset_t</a:t>
            </a:r>
            <a:r>
              <a:rPr lang="fr-FR" dirty="0">
                <a:solidFill>
                  <a:srgbClr val="28009A"/>
                </a:solidFill>
                <a:latin typeface="Courier New" panose="02070309020205020404" pitchFamily="49" charset="0"/>
                <a:cs typeface="Courier New" panose="02070309020205020404" pitchFamily="49" charset="0"/>
              </a:rPr>
              <a:t> *</a:t>
            </a:r>
            <a:r>
              <a:rPr lang="fr-FR" dirty="0" err="1">
                <a:solidFill>
                  <a:srgbClr val="28009A"/>
                </a:solidFill>
                <a:latin typeface="Courier New" panose="02070309020205020404" pitchFamily="49" charset="0"/>
                <a:cs typeface="Courier New" panose="02070309020205020404" pitchFamily="49" charset="0"/>
              </a:rPr>
              <a:t>mask</a:t>
            </a:r>
            <a:r>
              <a:rPr lang="fr-FR" b="0" i="0" u="none" strike="noStrike" baseline="0" dirty="0" smtClean="0">
                <a:solidFill>
                  <a:srgbClr val="28009A"/>
                </a:solidFill>
                <a:latin typeface="Times New Roman" panose="02020603050405020304" pitchFamily="18" charset="0"/>
                <a:cs typeface="Times New Roman" panose="02020603050405020304" pitchFamily="18" charset="0"/>
              </a:rPr>
              <a:t>);</a:t>
            </a:r>
          </a:p>
          <a:p>
            <a:r>
              <a:rPr lang="fr-FR" dirty="0" err="1" smtClean="0">
                <a:solidFill>
                  <a:srgbClr val="000000"/>
                </a:solidFill>
                <a:latin typeface="Garamond" panose="02020404030301010803" pitchFamily="18" charset="0"/>
                <a:cs typeface="Times New Roman" panose="02020603050405020304" pitchFamily="18" charset="0"/>
              </a:rPr>
              <a:t>Errors</a:t>
            </a:r>
            <a:r>
              <a:rPr lang="fr-FR" dirty="0" smtClean="0">
                <a:solidFill>
                  <a:srgbClr val="000000"/>
                </a:solidFill>
                <a:latin typeface="Garamond" panose="02020404030301010803" pitchFamily="18" charset="0"/>
                <a:cs typeface="Times New Roman" panose="02020603050405020304" pitchFamily="18" charset="0"/>
              </a:rPr>
              <a:t> </a:t>
            </a:r>
            <a:r>
              <a:rPr lang="fr-FR" b="0" i="0" u="none" strike="noStrike" baseline="0" dirty="0" smtClean="0">
                <a:solidFill>
                  <a:srgbClr val="000000"/>
                </a:solidFill>
                <a:latin typeface="Times New Roman" panose="02020603050405020304" pitchFamily="18" charset="0"/>
                <a:cs typeface="Times New Roman" panose="02020603050405020304" pitchFamily="18" charset="0"/>
              </a:rPr>
              <a:t>: </a:t>
            </a:r>
            <a:r>
              <a:rPr lang="fr-FR" b="1" i="0" u="none" strike="noStrike" baseline="0" dirty="0" smtClean="0">
                <a:solidFill>
                  <a:srgbClr val="FF0000"/>
                </a:solidFill>
                <a:latin typeface="Times New Roman" panose="02020603050405020304" pitchFamily="18" charset="0"/>
                <a:cs typeface="Times New Roman" panose="02020603050405020304" pitchFamily="18" charset="0"/>
              </a:rPr>
              <a:t>EFAULT </a:t>
            </a:r>
            <a:r>
              <a:rPr lang="fr-FR" dirty="0">
                <a:solidFill>
                  <a:srgbClr val="000000"/>
                </a:solidFill>
                <a:latin typeface="Garamond" panose="02020404030301010803" pitchFamily="18" charset="0"/>
                <a:cs typeface="Times New Roman" panose="02020603050405020304" pitchFamily="18" charset="0"/>
              </a:rPr>
              <a:t>if a pointer </a:t>
            </a:r>
            <a:r>
              <a:rPr lang="fr-FR" dirty="0" err="1">
                <a:solidFill>
                  <a:srgbClr val="000000"/>
                </a:solidFill>
                <a:latin typeface="Garamond" panose="02020404030301010803" pitchFamily="18" charset="0"/>
                <a:cs typeface="Times New Roman" panose="02020603050405020304" pitchFamily="18" charset="0"/>
              </a:rPr>
              <a:t>is</a:t>
            </a:r>
            <a:r>
              <a:rPr lang="fr-FR" dirty="0">
                <a:solidFill>
                  <a:srgbClr val="000000"/>
                </a:solidFill>
                <a:latin typeface="Garamond" panose="02020404030301010803" pitchFamily="18" charset="0"/>
                <a:cs typeface="Times New Roman" panose="02020603050405020304" pitchFamily="18" charset="0"/>
              </a:rPr>
              <a:t> </a:t>
            </a:r>
            <a:r>
              <a:rPr lang="fr-FR" dirty="0" err="1">
                <a:solidFill>
                  <a:srgbClr val="000000"/>
                </a:solidFill>
                <a:latin typeface="Garamond" panose="02020404030301010803" pitchFamily="18" charset="0"/>
                <a:cs typeface="Times New Roman" panose="02020603050405020304" pitchFamily="18" charset="0"/>
              </a:rPr>
              <a:t>invalid</a:t>
            </a:r>
            <a:r>
              <a:rPr lang="fr-FR" b="0" i="0" u="none" strike="noStrike" baseline="0" dirty="0" smtClean="0">
                <a:solidFill>
                  <a:srgbClr val="000000"/>
                </a:solidFill>
                <a:latin typeface="Times New Roman" panose="02020603050405020304" pitchFamily="18" charset="0"/>
                <a:cs typeface="Times New Roman" panose="02020603050405020304" pitchFamily="18" charset="0"/>
              </a:rPr>
              <a:t>, </a:t>
            </a:r>
            <a:r>
              <a:rPr lang="fr-FR" b="1" i="0" u="none" strike="noStrike" baseline="0" dirty="0" smtClean="0">
                <a:solidFill>
                  <a:srgbClr val="FF0000"/>
                </a:solidFill>
                <a:latin typeface="Times New Roman" panose="02020603050405020304" pitchFamily="18" charset="0"/>
                <a:cs typeface="Times New Roman" panose="02020603050405020304" pitchFamily="18" charset="0"/>
              </a:rPr>
              <a:t>EINTR </a:t>
            </a:r>
            <a:r>
              <a:rPr lang="fr-FR" dirty="0">
                <a:solidFill>
                  <a:srgbClr val="000000"/>
                </a:solidFill>
                <a:latin typeface="Garamond" panose="02020404030301010803" pitchFamily="18" charset="0"/>
                <a:cs typeface="Times New Roman" panose="02020603050405020304" pitchFamily="18" charset="0"/>
              </a:rPr>
              <a:t>if call </a:t>
            </a:r>
            <a:r>
              <a:rPr lang="fr-FR" dirty="0" err="1">
                <a:solidFill>
                  <a:srgbClr val="000000"/>
                </a:solidFill>
                <a:latin typeface="Garamond" panose="02020404030301010803" pitchFamily="18" charset="0"/>
                <a:cs typeface="Times New Roman" panose="02020603050405020304" pitchFamily="18" charset="0"/>
              </a:rPr>
              <a:t>interrupted</a:t>
            </a:r>
            <a:endParaRPr lang="fr-FR" dirty="0">
              <a:solidFill>
                <a:srgbClr val="000000"/>
              </a:solidFill>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185320210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815" y="0"/>
            <a:ext cx="10515600" cy="1325563"/>
          </a:xfrm>
        </p:spPr>
        <p:txBody>
          <a:bodyPr>
            <a:normAutofit/>
          </a:bodyPr>
          <a:lstStyle/>
          <a:p>
            <a:r>
              <a:rPr lang="en-US" dirty="0">
                <a:solidFill>
                  <a:srgbClr val="191919"/>
                </a:solidFill>
                <a:latin typeface="Garamond" panose="02020404030301010803" pitchFamily="18" charset="0"/>
                <a:cs typeface="Times New Roman" pitchFamily="18" charset="0"/>
              </a:rPr>
              <a:t>Example of use with "Ctrl-C" current</a:t>
            </a:r>
            <a:endParaRPr lang="fr-FR" dirty="0">
              <a:solidFill>
                <a:srgbClr val="191919"/>
              </a:solidFill>
              <a:latin typeface="Garamond" panose="02020404030301010803" pitchFamily="18" charset="0"/>
              <a:cs typeface="Times New Roman" pitchFamily="18" charset="0"/>
            </a:endParaRPr>
          </a:p>
        </p:txBody>
      </p:sp>
      <p:sp>
        <p:nvSpPr>
          <p:cNvPr id="3" name="Content Placeholder 2"/>
          <p:cNvSpPr>
            <a:spLocks noGrp="1"/>
          </p:cNvSpPr>
          <p:nvPr>
            <p:ph idx="1"/>
          </p:nvPr>
        </p:nvSpPr>
        <p:spPr>
          <a:xfrm>
            <a:off x="838200" y="1027906"/>
            <a:ext cx="5752171" cy="5174165"/>
          </a:xfrm>
        </p:spPr>
        <p:txBody>
          <a:bodyPr>
            <a:noAutofit/>
          </a:bodyPr>
          <a:lstStyle/>
          <a:p>
            <a:pPr marL="0" indent="0">
              <a:buNone/>
            </a:pPr>
            <a:r>
              <a:rPr lang="fr-FR" sz="1200" b="0" i="0" u="none" strike="noStrike" baseline="0" dirty="0" err="1" smtClean="0">
                <a:solidFill>
                  <a:srgbClr val="000081"/>
                </a:solidFill>
                <a:latin typeface="Courier New" panose="02070309020205020404" pitchFamily="49" charset="0"/>
                <a:cs typeface="Courier New" panose="02070309020205020404" pitchFamily="49" charset="0"/>
              </a:rPr>
              <a:t>sigset_t</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 </a:t>
            </a:r>
            <a:r>
              <a:rPr lang="fr-FR" sz="1200" b="0" i="0" u="none" strike="noStrike" baseline="0" dirty="0" err="1" smtClean="0">
                <a:solidFill>
                  <a:srgbClr val="000081"/>
                </a:solidFill>
                <a:latin typeface="Courier New" panose="02070309020205020404" pitchFamily="49" charset="0"/>
                <a:cs typeface="Courier New" panose="02070309020205020404" pitchFamily="49" charset="0"/>
              </a:rPr>
              <a:t>ens</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 ens1;</a:t>
            </a:r>
          </a:p>
          <a:p>
            <a:pPr marL="0" indent="0">
              <a:buNone/>
            </a:pPr>
            <a:endParaRPr lang="fr-FR" sz="1200" b="0" i="0" u="none" strike="noStrike" baseline="0" dirty="0" smtClean="0">
              <a:solidFill>
                <a:srgbClr val="000081"/>
              </a:solidFill>
              <a:latin typeface="Courier New" panose="02070309020205020404" pitchFamily="49" charset="0"/>
              <a:cs typeface="Courier New" panose="02070309020205020404" pitchFamily="49" charset="0"/>
            </a:endParaRPr>
          </a:p>
          <a:p>
            <a:pPr marL="0" indent="0">
              <a:buNone/>
            </a:pPr>
            <a:r>
              <a:rPr lang="fr-FR" sz="1200" b="0" i="0" u="none" strike="noStrike" baseline="0" dirty="0" err="1" smtClean="0">
                <a:solidFill>
                  <a:srgbClr val="000081"/>
                </a:solidFill>
                <a:latin typeface="Courier New" panose="02070309020205020404" pitchFamily="49" charset="0"/>
                <a:cs typeface="Courier New" panose="02070309020205020404" pitchFamily="49" charset="0"/>
              </a:rPr>
              <a:t>printf</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a:t>
            </a:r>
            <a:r>
              <a:rPr lang="fr-FR" sz="1200" b="1" i="0" u="none" strike="noStrike" baseline="0" dirty="0" smtClean="0">
                <a:solidFill>
                  <a:srgbClr val="000081"/>
                </a:solidFill>
                <a:latin typeface="Courier New" panose="02070309020205020404" pitchFamily="49" charset="0"/>
                <a:cs typeface="Courier New" panose="02070309020205020404" pitchFamily="49" charset="0"/>
              </a:rPr>
              <a:t>"Blocage du CTRL+C\n"</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a:t>
            </a:r>
          </a:p>
          <a:p>
            <a:pPr marL="0" indent="0">
              <a:buNone/>
            </a:pPr>
            <a:r>
              <a:rPr lang="fr-FR" sz="1200" b="1" i="0" u="none" strike="noStrike" baseline="0" dirty="0" err="1" smtClean="0">
                <a:solidFill>
                  <a:srgbClr val="000081"/>
                </a:solidFill>
                <a:latin typeface="Courier New" panose="02070309020205020404" pitchFamily="49" charset="0"/>
                <a:cs typeface="Courier New" panose="02070309020205020404" pitchFamily="49" charset="0"/>
              </a:rPr>
              <a:t>sigemptyset</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(&amp;</a:t>
            </a:r>
            <a:r>
              <a:rPr lang="fr-FR" sz="1200" b="0" i="0" u="none" strike="noStrike" baseline="0" dirty="0" err="1" smtClean="0">
                <a:solidFill>
                  <a:srgbClr val="000081"/>
                </a:solidFill>
                <a:latin typeface="Courier New" panose="02070309020205020404" pitchFamily="49" charset="0"/>
                <a:cs typeface="Courier New" panose="02070309020205020404" pitchFamily="49" charset="0"/>
              </a:rPr>
              <a:t>ens</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a:t>
            </a:r>
          </a:p>
          <a:p>
            <a:pPr marL="0" indent="0">
              <a:buNone/>
            </a:pPr>
            <a:r>
              <a:rPr lang="fr-FR" sz="1200" b="1" i="0" u="none" strike="noStrike" baseline="0" dirty="0" err="1" smtClean="0">
                <a:solidFill>
                  <a:srgbClr val="000081"/>
                </a:solidFill>
                <a:latin typeface="Courier New" panose="02070309020205020404" pitchFamily="49" charset="0"/>
                <a:cs typeface="Courier New" panose="02070309020205020404" pitchFamily="49" charset="0"/>
              </a:rPr>
              <a:t>sigaddset</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(&amp;</a:t>
            </a:r>
            <a:r>
              <a:rPr lang="fr-FR" sz="1200" b="0" i="0" u="none" strike="noStrike" baseline="0" dirty="0" err="1" smtClean="0">
                <a:solidFill>
                  <a:srgbClr val="000081"/>
                </a:solidFill>
                <a:latin typeface="Courier New" panose="02070309020205020404" pitchFamily="49" charset="0"/>
                <a:cs typeface="Courier New" panose="02070309020205020404" pitchFamily="49" charset="0"/>
              </a:rPr>
              <a:t>ens</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 SIGINT);</a:t>
            </a:r>
          </a:p>
          <a:p>
            <a:pPr marL="0" indent="0">
              <a:buNone/>
            </a:pPr>
            <a:r>
              <a:rPr lang="fr-FR" sz="1200" b="1" i="0" u="none" strike="noStrike" baseline="0" dirty="0" err="1" smtClean="0">
                <a:solidFill>
                  <a:srgbClr val="000081"/>
                </a:solidFill>
                <a:latin typeface="Courier New" panose="02070309020205020404" pitchFamily="49" charset="0"/>
                <a:cs typeface="Courier New" panose="02070309020205020404" pitchFamily="49" charset="0"/>
              </a:rPr>
              <a:t>sigprocmask</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(SIG_SETMASK, &amp;</a:t>
            </a:r>
            <a:r>
              <a:rPr lang="fr-FR" sz="1200" b="0" i="0" u="none" strike="noStrike" baseline="0" dirty="0" err="1" smtClean="0">
                <a:solidFill>
                  <a:srgbClr val="000081"/>
                </a:solidFill>
                <a:latin typeface="Courier New" panose="02070309020205020404" pitchFamily="49" charset="0"/>
                <a:cs typeface="Courier New" panose="02070309020205020404" pitchFamily="49" charset="0"/>
              </a:rPr>
              <a:t>ens</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 0);</a:t>
            </a:r>
          </a:p>
          <a:p>
            <a:pPr marL="0" indent="0">
              <a:buNone/>
            </a:pPr>
            <a:endParaRPr lang="fr-FR" sz="1200" b="0" i="0" u="none" strike="noStrike" baseline="0" dirty="0" smtClean="0">
              <a:solidFill>
                <a:srgbClr val="000081"/>
              </a:solidFill>
              <a:latin typeface="Courier New" panose="02070309020205020404" pitchFamily="49" charset="0"/>
              <a:cs typeface="Courier New" panose="02070309020205020404" pitchFamily="49" charset="0"/>
            </a:endParaRPr>
          </a:p>
          <a:p>
            <a:pPr marL="0" indent="0">
              <a:buNone/>
            </a:pPr>
            <a:r>
              <a:rPr lang="fr-FR" sz="1200" b="0" i="0" u="none" strike="noStrike" baseline="0" dirty="0" err="1" smtClean="0">
                <a:solidFill>
                  <a:srgbClr val="000081"/>
                </a:solidFill>
                <a:latin typeface="Courier New" panose="02070309020205020404" pitchFamily="49" charset="0"/>
                <a:cs typeface="Courier New" panose="02070309020205020404" pitchFamily="49" charset="0"/>
              </a:rPr>
              <a:t>printf</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a:t>
            </a:r>
            <a:r>
              <a:rPr lang="fr-FR" sz="1200" b="1" i="0" u="none" strike="noStrike" baseline="0" dirty="0" smtClean="0">
                <a:solidFill>
                  <a:srgbClr val="000081"/>
                </a:solidFill>
                <a:latin typeface="Courier New" panose="02070309020205020404" pitchFamily="49" charset="0"/>
                <a:cs typeface="Courier New" panose="02070309020205020404" pitchFamily="49" charset="0"/>
              </a:rPr>
              <a:t>"Le CTRL+C est bloqué\n"</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a:t>
            </a:r>
          </a:p>
          <a:p>
            <a:pPr marL="0" indent="0">
              <a:buNone/>
            </a:pPr>
            <a:r>
              <a:rPr lang="fr-FR" sz="1200" b="0" i="0" u="none" strike="noStrike" baseline="0" dirty="0" err="1" smtClean="0">
                <a:solidFill>
                  <a:srgbClr val="000081"/>
                </a:solidFill>
                <a:latin typeface="Courier New" panose="02070309020205020404" pitchFamily="49" charset="0"/>
                <a:cs typeface="Courier New" panose="02070309020205020404" pitchFamily="49" charset="0"/>
              </a:rPr>
              <a:t>printf</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a:t>
            </a:r>
            <a:r>
              <a:rPr lang="fr-FR" sz="1200" b="1" i="0" u="none" strike="noStrike" baseline="0" dirty="0" smtClean="0">
                <a:solidFill>
                  <a:srgbClr val="000081"/>
                </a:solidFill>
                <a:latin typeface="Courier New" panose="02070309020205020404" pitchFamily="49" charset="0"/>
                <a:cs typeface="Courier New" panose="02070309020205020404" pitchFamily="49" charset="0"/>
              </a:rPr>
              <a:t>"Début du travail...\n"</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a:t>
            </a:r>
          </a:p>
          <a:p>
            <a:pPr marL="0" indent="0">
              <a:buNone/>
            </a:pPr>
            <a:r>
              <a:rPr lang="en-US" sz="1200" b="0" i="0" u="none" strike="noStrike" baseline="0" dirty="0" smtClean="0">
                <a:solidFill>
                  <a:srgbClr val="000081"/>
                </a:solidFill>
                <a:latin typeface="Courier New" panose="02070309020205020404" pitchFamily="49" charset="0"/>
                <a:cs typeface="Courier New" panose="02070309020205020404" pitchFamily="49" charset="0"/>
              </a:rPr>
              <a:t>sleep(10); </a:t>
            </a:r>
            <a:r>
              <a:rPr lang="en-US" sz="1200" b="1" i="0" u="none" strike="noStrike" baseline="0" dirty="0" smtClean="0">
                <a:solidFill>
                  <a:srgbClr val="000000"/>
                </a:solidFill>
                <a:latin typeface="Courier New" panose="02070309020205020404" pitchFamily="49" charset="0"/>
                <a:cs typeface="Courier New" panose="02070309020205020404" pitchFamily="49" charset="0"/>
              </a:rPr>
              <a:t>// On attend 10 </a:t>
            </a:r>
            <a:r>
              <a:rPr lang="en-US" sz="1200" b="1" i="0" u="none" strike="noStrike" baseline="0" dirty="0" err="1" smtClean="0">
                <a:solidFill>
                  <a:srgbClr val="000000"/>
                </a:solidFill>
                <a:latin typeface="Courier New" panose="02070309020205020404" pitchFamily="49" charset="0"/>
                <a:cs typeface="Courier New" panose="02070309020205020404" pitchFamily="49" charset="0"/>
              </a:rPr>
              <a:t>secondes</a:t>
            </a:r>
            <a:endParaRPr lang="en-US" sz="1200" b="1" i="0" u="none" strike="noStrike" baseline="0" dirty="0" smtClean="0">
              <a:solidFill>
                <a:srgbClr val="000000"/>
              </a:solidFill>
              <a:latin typeface="Courier New" panose="02070309020205020404" pitchFamily="49" charset="0"/>
              <a:cs typeface="Courier New" panose="02070309020205020404" pitchFamily="49" charset="0"/>
            </a:endParaRPr>
          </a:p>
          <a:p>
            <a:pPr marL="0" indent="0">
              <a:buNone/>
            </a:pPr>
            <a:r>
              <a:rPr lang="fr-FR" sz="1200" b="0" i="0" u="none" strike="noStrike" baseline="0" dirty="0" err="1" smtClean="0">
                <a:solidFill>
                  <a:srgbClr val="000081"/>
                </a:solidFill>
                <a:latin typeface="Courier New" panose="02070309020205020404" pitchFamily="49" charset="0"/>
                <a:cs typeface="Courier New" panose="02070309020205020404" pitchFamily="49" charset="0"/>
              </a:rPr>
              <a:t>printf</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a:t>
            </a:r>
            <a:r>
              <a:rPr lang="fr-FR" sz="1200" b="1" i="0" u="none" strike="noStrike" baseline="0" dirty="0" smtClean="0">
                <a:solidFill>
                  <a:srgbClr val="000081"/>
                </a:solidFill>
                <a:latin typeface="Courier New" panose="02070309020205020404" pitchFamily="49" charset="0"/>
                <a:cs typeface="Courier New" panose="02070309020205020404" pitchFamily="49" charset="0"/>
              </a:rPr>
              <a:t>"Fin du travail\n"</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a:t>
            </a:r>
          </a:p>
          <a:p>
            <a:pPr marL="0" indent="0">
              <a:buNone/>
            </a:pPr>
            <a:endParaRPr lang="fr-FR" sz="1200" b="1" i="0" u="none" strike="noStrike" baseline="0" dirty="0" smtClean="0">
              <a:solidFill>
                <a:srgbClr val="000081"/>
              </a:solidFill>
              <a:latin typeface="Courier New" panose="02070309020205020404" pitchFamily="49" charset="0"/>
              <a:cs typeface="Courier New" panose="02070309020205020404" pitchFamily="49" charset="0"/>
            </a:endParaRPr>
          </a:p>
          <a:p>
            <a:pPr marL="0" indent="0">
              <a:buNone/>
            </a:pPr>
            <a:r>
              <a:rPr lang="fr-FR" sz="1200" b="1" i="0" u="none" strike="noStrike" baseline="0" dirty="0" err="1" smtClean="0">
                <a:solidFill>
                  <a:srgbClr val="000081"/>
                </a:solidFill>
                <a:latin typeface="Courier New" panose="02070309020205020404" pitchFamily="49" charset="0"/>
                <a:cs typeface="Courier New" panose="02070309020205020404" pitchFamily="49" charset="0"/>
              </a:rPr>
              <a:t>sigpending</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(&amp;ens1);</a:t>
            </a:r>
          </a:p>
          <a:p>
            <a:pPr marL="0" indent="0">
              <a:buNone/>
            </a:pPr>
            <a:r>
              <a:rPr lang="fr-FR" sz="1200" b="0" i="0" u="none" strike="noStrike" baseline="0" dirty="0" smtClean="0">
                <a:solidFill>
                  <a:srgbClr val="000081"/>
                </a:solidFill>
                <a:latin typeface="Courier New" panose="02070309020205020404" pitchFamily="49" charset="0"/>
                <a:cs typeface="Courier New" panose="02070309020205020404" pitchFamily="49" charset="0"/>
              </a:rPr>
              <a:t>if (</a:t>
            </a:r>
            <a:r>
              <a:rPr lang="fr-FR" sz="1200" b="1" i="0" u="none" strike="noStrike" baseline="0" dirty="0" err="1" smtClean="0">
                <a:solidFill>
                  <a:srgbClr val="000081"/>
                </a:solidFill>
                <a:latin typeface="Courier New" panose="02070309020205020404" pitchFamily="49" charset="0"/>
                <a:cs typeface="Courier New" panose="02070309020205020404" pitchFamily="49" charset="0"/>
              </a:rPr>
              <a:t>sigismember</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(&amp;ens1, SIGINT))</a:t>
            </a:r>
          </a:p>
          <a:p>
            <a:pPr marL="0" indent="0">
              <a:buNone/>
            </a:pPr>
            <a:r>
              <a:rPr lang="fr-FR" sz="1200" b="0" i="0" u="none" strike="noStrike" baseline="0" dirty="0" smtClean="0">
                <a:solidFill>
                  <a:srgbClr val="000081"/>
                </a:solidFill>
                <a:latin typeface="Courier New" panose="02070309020205020404" pitchFamily="49" charset="0"/>
                <a:cs typeface="Courier New" panose="02070309020205020404" pitchFamily="49" charset="0"/>
              </a:rPr>
              <a:t>	</a:t>
            </a:r>
            <a:r>
              <a:rPr lang="fr-FR" sz="1200" b="0" i="0" u="none" strike="noStrike" baseline="0" dirty="0" err="1" smtClean="0">
                <a:solidFill>
                  <a:srgbClr val="000081"/>
                </a:solidFill>
                <a:latin typeface="Courier New" panose="02070309020205020404" pitchFamily="49" charset="0"/>
                <a:cs typeface="Courier New" panose="02070309020205020404" pitchFamily="49" charset="0"/>
              </a:rPr>
              <a:t>printf</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a:t>
            </a:r>
            <a:r>
              <a:rPr lang="fr-FR" sz="1200" b="1" i="0" u="none" strike="noStrike" baseline="0" dirty="0" smtClean="0">
                <a:solidFill>
                  <a:srgbClr val="000081"/>
                </a:solidFill>
                <a:latin typeface="Courier New" panose="02070309020205020404" pitchFamily="49" charset="0"/>
                <a:cs typeface="Courier New" panose="02070309020205020404" pitchFamily="49" charset="0"/>
              </a:rPr>
              <a:t>"CTRL+C a été tapé au moins 1 fois.\n"</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a:t>
            </a:r>
          </a:p>
          <a:p>
            <a:pPr marL="0" indent="0">
              <a:buNone/>
            </a:pPr>
            <a:endParaRPr lang="fr-FR" sz="1200" b="0" i="0" u="none" strike="noStrike" baseline="0" dirty="0" smtClean="0">
              <a:solidFill>
                <a:srgbClr val="000081"/>
              </a:solidFill>
              <a:latin typeface="Courier New" panose="02070309020205020404" pitchFamily="49" charset="0"/>
              <a:cs typeface="Courier New" panose="02070309020205020404" pitchFamily="49" charset="0"/>
            </a:endParaRPr>
          </a:p>
          <a:p>
            <a:pPr marL="0" indent="0">
              <a:buNone/>
            </a:pPr>
            <a:r>
              <a:rPr lang="fr-FR" sz="1200" b="0" i="0" u="none" strike="noStrike" baseline="0" dirty="0" err="1" smtClean="0">
                <a:solidFill>
                  <a:srgbClr val="000081"/>
                </a:solidFill>
                <a:latin typeface="Courier New" panose="02070309020205020404" pitchFamily="49" charset="0"/>
                <a:cs typeface="Courier New" panose="02070309020205020404" pitchFamily="49" charset="0"/>
              </a:rPr>
              <a:t>printf</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a:t>
            </a:r>
            <a:r>
              <a:rPr lang="fr-FR" sz="1200" b="1" i="0" u="none" strike="noStrike" baseline="0" dirty="0" smtClean="0">
                <a:solidFill>
                  <a:srgbClr val="000081"/>
                </a:solidFill>
                <a:latin typeface="Courier New" panose="02070309020205020404" pitchFamily="49" charset="0"/>
                <a:cs typeface="Courier New" panose="02070309020205020404" pitchFamily="49" charset="0"/>
              </a:rPr>
              <a:t>"Déblocage du CTRL+C\n"</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a:t>
            </a:r>
          </a:p>
          <a:p>
            <a:pPr marL="0" indent="0">
              <a:buNone/>
            </a:pPr>
            <a:r>
              <a:rPr lang="fr-FR" sz="1200" b="1" i="0" u="none" strike="noStrike" baseline="0" dirty="0" err="1" smtClean="0">
                <a:solidFill>
                  <a:srgbClr val="000081"/>
                </a:solidFill>
                <a:latin typeface="Courier New" panose="02070309020205020404" pitchFamily="49" charset="0"/>
                <a:cs typeface="Courier New" panose="02070309020205020404" pitchFamily="49" charset="0"/>
              </a:rPr>
              <a:t>sigemptyset</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(&amp;</a:t>
            </a:r>
            <a:r>
              <a:rPr lang="fr-FR" sz="1200" b="0" i="0" u="none" strike="noStrike" baseline="0" dirty="0" err="1" smtClean="0">
                <a:solidFill>
                  <a:srgbClr val="000081"/>
                </a:solidFill>
                <a:latin typeface="Courier New" panose="02070309020205020404" pitchFamily="49" charset="0"/>
                <a:cs typeface="Courier New" panose="02070309020205020404" pitchFamily="49" charset="0"/>
              </a:rPr>
              <a:t>ens</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a:t>
            </a:r>
          </a:p>
          <a:p>
            <a:pPr marL="0" indent="0">
              <a:buNone/>
            </a:pPr>
            <a:r>
              <a:rPr lang="fr-FR" sz="1200" b="1" i="0" u="none" strike="noStrike" baseline="0" dirty="0" err="1" smtClean="0">
                <a:solidFill>
                  <a:srgbClr val="000081"/>
                </a:solidFill>
                <a:latin typeface="Courier New" panose="02070309020205020404" pitchFamily="49" charset="0"/>
                <a:cs typeface="Courier New" panose="02070309020205020404" pitchFamily="49" charset="0"/>
              </a:rPr>
              <a:t>sigprocmask</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(SIG_SETMASK, &amp;</a:t>
            </a:r>
            <a:r>
              <a:rPr lang="fr-FR" sz="1200" b="0" i="0" u="none" strike="noStrike" baseline="0" dirty="0" err="1" smtClean="0">
                <a:solidFill>
                  <a:srgbClr val="000081"/>
                </a:solidFill>
                <a:latin typeface="Courier New" panose="02070309020205020404" pitchFamily="49" charset="0"/>
                <a:cs typeface="Courier New" panose="02070309020205020404" pitchFamily="49" charset="0"/>
              </a:rPr>
              <a:t>ens</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 0);</a:t>
            </a:r>
          </a:p>
          <a:p>
            <a:pPr marL="0" indent="0">
              <a:buNone/>
            </a:pPr>
            <a:r>
              <a:rPr lang="fr-FR" sz="1200" b="0" i="0" u="none" strike="noStrike" baseline="0" dirty="0" err="1" smtClean="0">
                <a:solidFill>
                  <a:srgbClr val="000081"/>
                </a:solidFill>
                <a:latin typeface="Courier New" panose="02070309020205020404" pitchFamily="49" charset="0"/>
                <a:cs typeface="Courier New" panose="02070309020205020404" pitchFamily="49" charset="0"/>
              </a:rPr>
              <a:t>printf</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a:t>
            </a:r>
            <a:r>
              <a:rPr lang="fr-FR" sz="1200" b="1" i="0" u="none" strike="noStrike" baseline="0" dirty="0" smtClean="0">
                <a:solidFill>
                  <a:srgbClr val="000081"/>
                </a:solidFill>
                <a:latin typeface="Courier New" panose="02070309020205020404" pitchFamily="49" charset="0"/>
                <a:cs typeface="Courier New" panose="02070309020205020404" pitchFamily="49" charset="0"/>
              </a:rPr>
              <a:t>"Le CTRL+C est débloqué\n"</a:t>
            </a:r>
            <a:r>
              <a:rPr lang="fr-FR" sz="1200" b="0" i="0" u="none" strike="noStrike" baseline="0" dirty="0" smtClean="0">
                <a:solidFill>
                  <a:srgbClr val="000081"/>
                </a:solidFill>
                <a:latin typeface="Courier New" panose="02070309020205020404" pitchFamily="49" charset="0"/>
                <a:cs typeface="Courier New" panose="02070309020205020404" pitchFamily="49" charset="0"/>
              </a:rPr>
              <a:t>);</a:t>
            </a:r>
            <a:endParaRPr lang="fr-FR" sz="1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861868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191919"/>
                </a:solidFill>
                <a:latin typeface="Garamond" panose="02020404030301010803" pitchFamily="18" charset="0"/>
                <a:cs typeface="Times New Roman" pitchFamily="18" charset="0"/>
              </a:rPr>
              <a:t>Attach a handler to a signal</a:t>
            </a:r>
            <a:endParaRPr lang="fr-FR" dirty="0">
              <a:solidFill>
                <a:srgbClr val="191919"/>
              </a:solidFill>
              <a:latin typeface="Garamond" panose="02020404030301010803" pitchFamily="18" charset="0"/>
              <a:cs typeface="Times New Roman" pitchFamily="18" charset="0"/>
            </a:endParaRPr>
          </a:p>
        </p:txBody>
      </p:sp>
      <p:sp>
        <p:nvSpPr>
          <p:cNvPr id="3" name="Content Placeholder 2"/>
          <p:cNvSpPr>
            <a:spLocks noGrp="1"/>
          </p:cNvSpPr>
          <p:nvPr>
            <p:ph idx="1"/>
          </p:nvPr>
        </p:nvSpPr>
        <p:spPr/>
        <p:txBody>
          <a:bodyPr>
            <a:normAutofit fontScale="77500" lnSpcReduction="20000"/>
          </a:bodyPr>
          <a:lstStyle/>
          <a:p>
            <a:pPr marL="0" indent="0">
              <a:buNone/>
            </a:pPr>
            <a:r>
              <a:rPr lang="fr-FR" dirty="0">
                <a:solidFill>
                  <a:srgbClr val="000000"/>
                </a:solidFill>
                <a:latin typeface="Garamond" panose="02020404030301010803" pitchFamily="18" charset="0"/>
                <a:cs typeface="Times New Roman" panose="02020603050405020304" pitchFamily="18" charset="0"/>
              </a:rPr>
              <a:t>Deux primitives différentes permettent d'attacher un gestionnaire de traitement à un signal. Ce sont :</a:t>
            </a:r>
          </a:p>
          <a:p>
            <a:r>
              <a:rPr lang="fr-FR" dirty="0">
                <a:solidFill>
                  <a:srgbClr val="000000"/>
                </a:solidFill>
                <a:latin typeface="Garamond" panose="02020404030301010803" pitchFamily="18" charset="0"/>
                <a:cs typeface="Times New Roman" panose="02020603050405020304" pitchFamily="18" charset="0"/>
              </a:rPr>
              <a:t>D'une part, l'appel système signal(). L'emploi de cette primitive est simple mais son utilisation peut poser des problèmes de compatibilité avec les différents systèmes UNIX </a:t>
            </a:r>
            <a:r>
              <a:rPr lang="fr-FR" b="0" i="0" u="none" strike="noStrike" baseline="0" dirty="0" smtClean="0">
                <a:solidFill>
                  <a:srgbClr val="000000"/>
                </a:solidFill>
                <a:latin typeface="Times New Roman" panose="02020603050405020304" pitchFamily="18" charset="0"/>
                <a:cs typeface="Times New Roman" panose="02020603050405020304" pitchFamily="18" charset="0"/>
              </a:rPr>
              <a:t>;</a:t>
            </a:r>
          </a:p>
          <a:p>
            <a:pPr marL="457200" lvl="1" indent="0">
              <a:buNone/>
            </a:pPr>
            <a:r>
              <a:rPr lang="fr-FR" b="0" i="0" u="none" strike="noStrike" baseline="0" dirty="0" smtClean="0">
                <a:solidFill>
                  <a:srgbClr val="000081"/>
                </a:solidFill>
                <a:latin typeface="Courier New" panose="02070309020205020404" pitchFamily="49" charset="0"/>
                <a:cs typeface="Courier New" panose="02070309020205020404" pitchFamily="49" charset="0"/>
              </a:rPr>
              <a:t>#</a:t>
            </a:r>
            <a:r>
              <a:rPr lang="fr-FR" b="0" i="0" u="none" strike="noStrike" baseline="0" dirty="0" err="1" smtClean="0">
                <a:solidFill>
                  <a:srgbClr val="000081"/>
                </a:solidFill>
                <a:latin typeface="Courier New" panose="02070309020205020404" pitchFamily="49" charset="0"/>
                <a:cs typeface="Courier New" panose="02070309020205020404" pitchFamily="49" charset="0"/>
              </a:rPr>
              <a:t>include</a:t>
            </a:r>
            <a:r>
              <a:rPr lang="fr-FR" b="0" i="0" u="none" strike="noStrike" baseline="0" dirty="0" smtClean="0">
                <a:solidFill>
                  <a:srgbClr val="000081"/>
                </a:solidFill>
                <a:latin typeface="Courier New" panose="02070309020205020404" pitchFamily="49" charset="0"/>
                <a:cs typeface="Courier New" panose="02070309020205020404" pitchFamily="49" charset="0"/>
              </a:rPr>
              <a:t> &lt;</a:t>
            </a:r>
            <a:r>
              <a:rPr lang="fr-FR" b="0" i="0" u="none" strike="noStrike" baseline="0" dirty="0" err="1" smtClean="0">
                <a:solidFill>
                  <a:srgbClr val="000081"/>
                </a:solidFill>
                <a:latin typeface="Courier New" panose="02070309020205020404" pitchFamily="49" charset="0"/>
                <a:cs typeface="Courier New" panose="02070309020205020404" pitchFamily="49" charset="0"/>
              </a:rPr>
              <a:t>signal.h</a:t>
            </a:r>
            <a:r>
              <a:rPr lang="fr-FR" b="0" i="0" u="none" strike="noStrike" baseline="0" dirty="0" smtClean="0">
                <a:solidFill>
                  <a:srgbClr val="000081"/>
                </a:solidFill>
                <a:latin typeface="Courier New" panose="02070309020205020404" pitchFamily="49" charset="0"/>
                <a:cs typeface="Courier New" panose="02070309020205020404" pitchFamily="49" charset="0"/>
              </a:rPr>
              <a:t>&gt;</a:t>
            </a:r>
          </a:p>
          <a:p>
            <a:pPr marL="457200" lvl="1" indent="0">
              <a:buNone/>
            </a:pPr>
            <a:r>
              <a:rPr lang="fr-FR" b="0" i="0" u="none" strike="noStrike" baseline="0" dirty="0" err="1" smtClean="0">
                <a:solidFill>
                  <a:srgbClr val="000081"/>
                </a:solidFill>
                <a:latin typeface="Courier New" panose="02070309020205020404" pitchFamily="49" charset="0"/>
                <a:cs typeface="Courier New" panose="02070309020205020404" pitchFamily="49" charset="0"/>
              </a:rPr>
              <a:t>void</a:t>
            </a:r>
            <a:r>
              <a:rPr lang="fr-FR" b="0" i="0" u="none" strike="noStrike" baseline="0" dirty="0" smtClean="0">
                <a:solidFill>
                  <a:srgbClr val="000081"/>
                </a:solidFill>
                <a:latin typeface="Courier New" panose="02070309020205020404" pitchFamily="49" charset="0"/>
                <a:cs typeface="Courier New" panose="02070309020205020404" pitchFamily="49" charset="0"/>
              </a:rPr>
              <a:t> (*</a:t>
            </a:r>
            <a:r>
              <a:rPr lang="fr-FR" b="1" i="0" u="none" strike="noStrike" baseline="0" dirty="0" smtClean="0">
                <a:solidFill>
                  <a:srgbClr val="000081"/>
                </a:solidFill>
                <a:latin typeface="Courier New" panose="02070309020205020404" pitchFamily="49" charset="0"/>
                <a:cs typeface="Courier New" panose="02070309020205020404" pitchFamily="49" charset="0"/>
              </a:rPr>
              <a:t>signal</a:t>
            </a:r>
            <a:r>
              <a:rPr lang="fr-FR" b="0" i="0" u="none" strike="noStrike" baseline="0" dirty="0" smtClean="0">
                <a:solidFill>
                  <a:srgbClr val="000081"/>
                </a:solidFill>
                <a:latin typeface="Courier New" panose="02070309020205020404" pitchFamily="49" charset="0"/>
                <a:cs typeface="Courier New" panose="02070309020205020404" pitchFamily="49" charset="0"/>
              </a:rPr>
              <a:t>(</a:t>
            </a:r>
            <a:r>
              <a:rPr lang="fr-FR" b="0" i="0" u="none" strike="noStrike" baseline="0" dirty="0" err="1" smtClean="0">
                <a:solidFill>
                  <a:srgbClr val="000081"/>
                </a:solidFill>
                <a:latin typeface="Courier New" panose="02070309020205020404" pitchFamily="49" charset="0"/>
                <a:cs typeface="Courier New" panose="02070309020205020404" pitchFamily="49" charset="0"/>
              </a:rPr>
              <a:t>int</a:t>
            </a:r>
            <a:r>
              <a:rPr lang="fr-FR" b="0" i="0" u="none" strike="noStrike" baseline="0" dirty="0" smtClean="0">
                <a:solidFill>
                  <a:srgbClr val="000081"/>
                </a:solidFill>
                <a:latin typeface="Courier New" panose="02070309020205020404" pitchFamily="49" charset="0"/>
                <a:cs typeface="Courier New" panose="02070309020205020404" pitchFamily="49" charset="0"/>
              </a:rPr>
              <a:t> </a:t>
            </a:r>
            <a:r>
              <a:rPr lang="fr-FR" b="0" i="0" u="none" strike="noStrike" baseline="0" dirty="0" err="1" smtClean="0">
                <a:solidFill>
                  <a:srgbClr val="000081"/>
                </a:solidFill>
                <a:latin typeface="Courier New" panose="02070309020205020404" pitchFamily="49" charset="0"/>
                <a:cs typeface="Courier New" panose="02070309020205020404" pitchFamily="49" charset="0"/>
              </a:rPr>
              <a:t>signum</a:t>
            </a:r>
            <a:r>
              <a:rPr lang="fr-FR" b="0" i="0" u="none" strike="noStrike" baseline="0" dirty="0" smtClean="0">
                <a:solidFill>
                  <a:srgbClr val="000081"/>
                </a:solidFill>
                <a:latin typeface="Courier New" panose="02070309020205020404" pitchFamily="49" charset="0"/>
                <a:cs typeface="Courier New" panose="02070309020205020404" pitchFamily="49" charset="0"/>
              </a:rPr>
              <a:t>, </a:t>
            </a:r>
            <a:r>
              <a:rPr lang="fr-FR" b="0" i="0" u="none" strike="noStrike" baseline="0" dirty="0" err="1" smtClean="0">
                <a:solidFill>
                  <a:srgbClr val="000081"/>
                </a:solidFill>
                <a:latin typeface="Courier New" panose="02070309020205020404" pitchFamily="49" charset="0"/>
                <a:cs typeface="Courier New" panose="02070309020205020404" pitchFamily="49" charset="0"/>
              </a:rPr>
              <a:t>void</a:t>
            </a:r>
            <a:r>
              <a:rPr lang="fr-FR" b="0" i="0" u="none" strike="noStrike" baseline="0" dirty="0" smtClean="0">
                <a:solidFill>
                  <a:srgbClr val="000081"/>
                </a:solidFill>
                <a:latin typeface="Courier New" panose="02070309020205020404" pitchFamily="49" charset="0"/>
                <a:cs typeface="Courier New" panose="02070309020205020404" pitchFamily="49" charset="0"/>
              </a:rPr>
              <a:t> (*</a:t>
            </a:r>
            <a:r>
              <a:rPr lang="fr-FR" b="0" i="0" u="none" strike="noStrike" baseline="0" dirty="0" err="1" smtClean="0">
                <a:solidFill>
                  <a:srgbClr val="000081"/>
                </a:solidFill>
                <a:latin typeface="Courier New" panose="02070309020205020404" pitchFamily="49" charset="0"/>
                <a:cs typeface="Courier New" panose="02070309020205020404" pitchFamily="49" charset="0"/>
              </a:rPr>
              <a:t>handler</a:t>
            </a:r>
            <a:r>
              <a:rPr lang="fr-FR" b="0" i="0" u="none" strike="noStrike" baseline="0" dirty="0" smtClean="0">
                <a:solidFill>
                  <a:srgbClr val="000081"/>
                </a:solidFill>
                <a:latin typeface="Courier New" panose="02070309020205020404" pitchFamily="49" charset="0"/>
                <a:cs typeface="Courier New" panose="02070309020205020404" pitchFamily="49" charset="0"/>
              </a:rPr>
              <a:t>)(</a:t>
            </a:r>
            <a:r>
              <a:rPr lang="fr-FR" b="0" i="0" u="none" strike="noStrike" baseline="0" dirty="0" err="1" smtClean="0">
                <a:solidFill>
                  <a:srgbClr val="000081"/>
                </a:solidFill>
                <a:latin typeface="Courier New" panose="02070309020205020404" pitchFamily="49" charset="0"/>
                <a:cs typeface="Courier New" panose="02070309020205020404" pitchFamily="49" charset="0"/>
              </a:rPr>
              <a:t>int</a:t>
            </a:r>
            <a:r>
              <a:rPr lang="fr-FR" b="0" i="0" u="none" strike="noStrike" baseline="0" dirty="0" smtClean="0">
                <a:solidFill>
                  <a:srgbClr val="000081"/>
                </a:solidFill>
                <a:latin typeface="Courier New" panose="02070309020205020404" pitchFamily="49" charset="0"/>
                <a:cs typeface="Courier New" panose="02070309020205020404" pitchFamily="49" charset="0"/>
              </a:rPr>
              <a:t>)))(</a:t>
            </a:r>
            <a:r>
              <a:rPr lang="fr-FR" b="0" i="0" u="none" strike="noStrike" baseline="0" dirty="0" err="1" smtClean="0">
                <a:solidFill>
                  <a:srgbClr val="000081"/>
                </a:solidFill>
                <a:latin typeface="Courier New" panose="02070309020205020404" pitchFamily="49" charset="0"/>
                <a:cs typeface="Courier New" panose="02070309020205020404" pitchFamily="49" charset="0"/>
              </a:rPr>
              <a:t>int</a:t>
            </a:r>
            <a:r>
              <a:rPr lang="fr-FR" b="0" i="0" u="none" strike="noStrike" baseline="0" dirty="0" smtClean="0">
                <a:solidFill>
                  <a:srgbClr val="000081"/>
                </a:solidFill>
                <a:latin typeface="Courier New" panose="02070309020205020404" pitchFamily="49" charset="0"/>
                <a:cs typeface="Courier New" panose="02070309020205020404" pitchFamily="49" charset="0"/>
              </a:rPr>
              <a:t>);</a:t>
            </a:r>
          </a:p>
          <a:p>
            <a:r>
              <a:rPr lang="fr-FR" b="0" i="0" u="none" strike="noStrike" baseline="0" dirty="0" smtClean="0">
                <a:solidFill>
                  <a:srgbClr val="000000"/>
                </a:solidFill>
                <a:latin typeface="Garamond" panose="02020404030301010803" pitchFamily="18" charset="0"/>
                <a:cs typeface="Times New Roman" panose="02020603050405020304" pitchFamily="18" charset="0"/>
              </a:rPr>
              <a:t>D'autre part, l'appel système </a:t>
            </a:r>
            <a:r>
              <a:rPr lang="fr-FR" b="0" i="0" u="none" strike="noStrike" baseline="0" dirty="0" err="1" smtClean="0">
                <a:solidFill>
                  <a:srgbClr val="000081"/>
                </a:solidFill>
                <a:latin typeface="Garamond" panose="02020404030301010803" pitchFamily="18" charset="0"/>
                <a:cs typeface="Times New Roman" panose="02020603050405020304" pitchFamily="18" charset="0"/>
              </a:rPr>
              <a:t>sigaction</a:t>
            </a:r>
            <a:r>
              <a:rPr lang="fr-FR" b="0" i="0" u="none" strike="noStrike" baseline="0" dirty="0" smtClean="0">
                <a:solidFill>
                  <a:srgbClr val="000081"/>
                </a:solidFill>
                <a:latin typeface="Garamond" panose="02020404030301010803" pitchFamily="18" charset="0"/>
                <a:cs typeface="Times New Roman" panose="02020603050405020304" pitchFamily="18" charset="0"/>
              </a:rPr>
              <a:t>()</a:t>
            </a:r>
            <a:r>
              <a:rPr lang="fr-FR" b="0" i="0" u="none" strike="noStrike" baseline="0" dirty="0" smtClean="0">
                <a:solidFill>
                  <a:srgbClr val="000000"/>
                </a:solidFill>
                <a:latin typeface="Garamond" panose="02020404030301010803" pitchFamily="18" charset="0"/>
                <a:cs typeface="Times New Roman" panose="02020603050405020304" pitchFamily="18" charset="0"/>
              </a:rPr>
              <a:t>. D'un emploi plus complexe, elle présente un comportement fiable, normalisé par POSIX</a:t>
            </a:r>
            <a:r>
              <a:rPr lang="fr-FR" b="0" i="0" u="none" strike="noStrike" baseline="0" dirty="0" smtClean="0">
                <a:solidFill>
                  <a:srgbClr val="000000"/>
                </a:solidFill>
                <a:latin typeface="Times New Roman" panose="02020603050405020304" pitchFamily="18" charset="0"/>
                <a:cs typeface="Times New Roman" panose="02020603050405020304" pitchFamily="18" charset="0"/>
              </a:rPr>
              <a:t>.</a:t>
            </a:r>
          </a:p>
          <a:p>
            <a:pPr marL="457200" lvl="1" indent="0">
              <a:buNone/>
            </a:pPr>
            <a:r>
              <a:rPr lang="fr-FR" sz="2500" dirty="0">
                <a:solidFill>
                  <a:srgbClr val="000081"/>
                </a:solidFill>
                <a:latin typeface="Courier New" panose="02070309020205020404" pitchFamily="49" charset="0"/>
                <a:cs typeface="Courier New" panose="02070309020205020404" pitchFamily="49" charset="0"/>
              </a:rPr>
              <a:t>#</a:t>
            </a:r>
            <a:r>
              <a:rPr lang="fr-FR" sz="2500" dirty="0" err="1">
                <a:solidFill>
                  <a:srgbClr val="000081"/>
                </a:solidFill>
                <a:latin typeface="Courier New" panose="02070309020205020404" pitchFamily="49" charset="0"/>
                <a:cs typeface="Courier New" panose="02070309020205020404" pitchFamily="49" charset="0"/>
              </a:rPr>
              <a:t>include</a:t>
            </a:r>
            <a:r>
              <a:rPr lang="fr-FR" sz="2500" dirty="0">
                <a:solidFill>
                  <a:srgbClr val="000081"/>
                </a:solidFill>
                <a:latin typeface="Courier New" panose="02070309020205020404" pitchFamily="49" charset="0"/>
                <a:cs typeface="Courier New" panose="02070309020205020404" pitchFamily="49" charset="0"/>
              </a:rPr>
              <a:t> &lt;</a:t>
            </a:r>
            <a:r>
              <a:rPr lang="fr-FR" sz="2500" dirty="0" err="1">
                <a:solidFill>
                  <a:srgbClr val="000081"/>
                </a:solidFill>
                <a:latin typeface="Courier New" panose="02070309020205020404" pitchFamily="49" charset="0"/>
                <a:cs typeface="Courier New" panose="02070309020205020404" pitchFamily="49" charset="0"/>
              </a:rPr>
              <a:t>signal.h</a:t>
            </a:r>
            <a:r>
              <a:rPr lang="fr-FR" sz="2500" dirty="0">
                <a:solidFill>
                  <a:srgbClr val="000081"/>
                </a:solidFill>
                <a:latin typeface="Courier New" panose="02070309020205020404" pitchFamily="49" charset="0"/>
                <a:cs typeface="Courier New" panose="02070309020205020404" pitchFamily="49" charset="0"/>
              </a:rPr>
              <a:t>&gt;</a:t>
            </a:r>
          </a:p>
          <a:p>
            <a:pPr marL="457200" lvl="1" indent="0">
              <a:buNone/>
            </a:pPr>
            <a:r>
              <a:rPr lang="fr-FR" sz="2500" dirty="0" err="1">
                <a:solidFill>
                  <a:srgbClr val="000081"/>
                </a:solidFill>
                <a:latin typeface="Courier New" panose="02070309020205020404" pitchFamily="49" charset="0"/>
                <a:cs typeface="Courier New" panose="02070309020205020404" pitchFamily="49" charset="0"/>
              </a:rPr>
              <a:t>int</a:t>
            </a:r>
            <a:r>
              <a:rPr lang="fr-FR" sz="2500" dirty="0">
                <a:solidFill>
                  <a:srgbClr val="000081"/>
                </a:solidFill>
                <a:latin typeface="Courier New" panose="02070309020205020404" pitchFamily="49" charset="0"/>
                <a:cs typeface="Courier New" panose="02070309020205020404" pitchFamily="49" charset="0"/>
              </a:rPr>
              <a:t> </a:t>
            </a:r>
            <a:r>
              <a:rPr lang="fr-FR" sz="2500" dirty="0" err="1">
                <a:solidFill>
                  <a:srgbClr val="000081"/>
                </a:solidFill>
                <a:latin typeface="Courier New" panose="02070309020205020404" pitchFamily="49" charset="0"/>
                <a:cs typeface="Courier New" panose="02070309020205020404" pitchFamily="49" charset="0"/>
              </a:rPr>
              <a:t>sigaction</a:t>
            </a:r>
            <a:r>
              <a:rPr lang="fr-FR" sz="2500" dirty="0">
                <a:solidFill>
                  <a:srgbClr val="000081"/>
                </a:solidFill>
                <a:latin typeface="Courier New" panose="02070309020205020404" pitchFamily="49" charset="0"/>
                <a:cs typeface="Courier New" panose="02070309020205020404" pitchFamily="49" charset="0"/>
              </a:rPr>
              <a:t>(</a:t>
            </a:r>
          </a:p>
          <a:p>
            <a:pPr marL="457200" lvl="1" indent="0">
              <a:buNone/>
            </a:pPr>
            <a:r>
              <a:rPr lang="fr-FR" sz="2500" dirty="0" err="1">
                <a:solidFill>
                  <a:srgbClr val="000081"/>
                </a:solidFill>
                <a:latin typeface="Courier New" panose="02070309020205020404" pitchFamily="49" charset="0"/>
                <a:cs typeface="Courier New" panose="02070309020205020404" pitchFamily="49" charset="0"/>
              </a:rPr>
              <a:t>int</a:t>
            </a:r>
            <a:r>
              <a:rPr lang="fr-FR" sz="2500" dirty="0">
                <a:solidFill>
                  <a:srgbClr val="000081"/>
                </a:solidFill>
                <a:latin typeface="Courier New" panose="02070309020205020404" pitchFamily="49" charset="0"/>
                <a:cs typeface="Courier New" panose="02070309020205020404" pitchFamily="49" charset="0"/>
              </a:rPr>
              <a:t> </a:t>
            </a:r>
            <a:r>
              <a:rPr lang="fr-FR" sz="2500" dirty="0" err="1">
                <a:solidFill>
                  <a:srgbClr val="000081"/>
                </a:solidFill>
                <a:latin typeface="Courier New" panose="02070309020205020404" pitchFamily="49" charset="0"/>
                <a:cs typeface="Courier New" panose="02070309020205020404" pitchFamily="49" charset="0"/>
              </a:rPr>
              <a:t>signum</a:t>
            </a:r>
            <a:r>
              <a:rPr lang="fr-FR" sz="2500" dirty="0">
                <a:solidFill>
                  <a:srgbClr val="000081"/>
                </a:solidFill>
                <a:latin typeface="Courier New" panose="02070309020205020404" pitchFamily="49" charset="0"/>
                <a:cs typeface="Courier New" panose="02070309020205020404" pitchFamily="49" charset="0"/>
              </a:rPr>
              <a:t>,</a:t>
            </a:r>
          </a:p>
          <a:p>
            <a:pPr marL="457200" lvl="1" indent="0">
              <a:buNone/>
            </a:pPr>
            <a:r>
              <a:rPr lang="fr-FR" sz="2500" dirty="0" err="1">
                <a:solidFill>
                  <a:srgbClr val="000081"/>
                </a:solidFill>
                <a:latin typeface="Courier New" panose="02070309020205020404" pitchFamily="49" charset="0"/>
                <a:cs typeface="Courier New" panose="02070309020205020404" pitchFamily="49" charset="0"/>
              </a:rPr>
              <a:t>const</a:t>
            </a:r>
            <a:r>
              <a:rPr lang="fr-FR" sz="2500" dirty="0">
                <a:solidFill>
                  <a:srgbClr val="000081"/>
                </a:solidFill>
                <a:latin typeface="Courier New" panose="02070309020205020404" pitchFamily="49" charset="0"/>
                <a:cs typeface="Courier New" panose="02070309020205020404" pitchFamily="49" charset="0"/>
              </a:rPr>
              <a:t> </a:t>
            </a:r>
            <a:r>
              <a:rPr lang="fr-FR" sz="2500" dirty="0" err="1">
                <a:solidFill>
                  <a:srgbClr val="000081"/>
                </a:solidFill>
                <a:latin typeface="Courier New" panose="02070309020205020404" pitchFamily="49" charset="0"/>
                <a:cs typeface="Courier New" panose="02070309020205020404" pitchFamily="49" charset="0"/>
              </a:rPr>
              <a:t>struct</a:t>
            </a:r>
            <a:r>
              <a:rPr lang="fr-FR" sz="2500" dirty="0">
                <a:solidFill>
                  <a:srgbClr val="000081"/>
                </a:solidFill>
                <a:latin typeface="Courier New" panose="02070309020205020404" pitchFamily="49" charset="0"/>
                <a:cs typeface="Courier New" panose="02070309020205020404" pitchFamily="49" charset="0"/>
              </a:rPr>
              <a:t> </a:t>
            </a:r>
            <a:r>
              <a:rPr lang="fr-FR" sz="2500" dirty="0" err="1">
                <a:solidFill>
                  <a:srgbClr val="000081"/>
                </a:solidFill>
                <a:latin typeface="Courier New" panose="02070309020205020404" pitchFamily="49" charset="0"/>
                <a:cs typeface="Courier New" panose="02070309020205020404" pitchFamily="49" charset="0"/>
              </a:rPr>
              <a:t>sigaction</a:t>
            </a:r>
            <a:r>
              <a:rPr lang="fr-FR" sz="2500" dirty="0">
                <a:solidFill>
                  <a:srgbClr val="000081"/>
                </a:solidFill>
                <a:latin typeface="Courier New" panose="02070309020205020404" pitchFamily="49" charset="0"/>
                <a:cs typeface="Courier New" panose="02070309020205020404" pitchFamily="49" charset="0"/>
              </a:rPr>
              <a:t> *</a:t>
            </a:r>
            <a:r>
              <a:rPr lang="fr-FR" sz="2500" dirty="0" err="1">
                <a:solidFill>
                  <a:srgbClr val="000081"/>
                </a:solidFill>
                <a:latin typeface="Courier New" panose="02070309020205020404" pitchFamily="49" charset="0"/>
                <a:cs typeface="Courier New" panose="02070309020205020404" pitchFamily="49" charset="0"/>
              </a:rPr>
              <a:t>act</a:t>
            </a:r>
            <a:r>
              <a:rPr lang="fr-FR" sz="2500" dirty="0">
                <a:solidFill>
                  <a:srgbClr val="000081"/>
                </a:solidFill>
                <a:latin typeface="Courier New" panose="02070309020205020404" pitchFamily="49" charset="0"/>
                <a:cs typeface="Courier New" panose="02070309020205020404" pitchFamily="49" charset="0"/>
              </a:rPr>
              <a:t>,</a:t>
            </a:r>
          </a:p>
          <a:p>
            <a:pPr marL="457200" lvl="1" indent="0">
              <a:buNone/>
            </a:pPr>
            <a:r>
              <a:rPr lang="fr-FR" sz="2500" dirty="0" err="1">
                <a:solidFill>
                  <a:srgbClr val="000081"/>
                </a:solidFill>
                <a:latin typeface="Courier New" panose="02070309020205020404" pitchFamily="49" charset="0"/>
                <a:cs typeface="Courier New" panose="02070309020205020404" pitchFamily="49" charset="0"/>
              </a:rPr>
              <a:t>struct</a:t>
            </a:r>
            <a:r>
              <a:rPr lang="fr-FR" sz="2500" dirty="0">
                <a:solidFill>
                  <a:srgbClr val="000081"/>
                </a:solidFill>
                <a:latin typeface="Courier New" panose="02070309020205020404" pitchFamily="49" charset="0"/>
                <a:cs typeface="Courier New" panose="02070309020205020404" pitchFamily="49" charset="0"/>
              </a:rPr>
              <a:t> </a:t>
            </a:r>
            <a:r>
              <a:rPr lang="fr-FR" sz="2500" dirty="0" err="1">
                <a:solidFill>
                  <a:srgbClr val="000081"/>
                </a:solidFill>
                <a:latin typeface="Courier New" panose="02070309020205020404" pitchFamily="49" charset="0"/>
                <a:cs typeface="Courier New" panose="02070309020205020404" pitchFamily="49" charset="0"/>
              </a:rPr>
              <a:t>sigaction</a:t>
            </a:r>
            <a:r>
              <a:rPr lang="fr-FR" sz="2500" dirty="0">
                <a:solidFill>
                  <a:srgbClr val="000081"/>
                </a:solidFill>
                <a:latin typeface="Courier New" panose="02070309020205020404" pitchFamily="49" charset="0"/>
                <a:cs typeface="Courier New" panose="02070309020205020404" pitchFamily="49" charset="0"/>
              </a:rPr>
              <a:t> *</a:t>
            </a:r>
            <a:r>
              <a:rPr lang="fr-FR" sz="2500" dirty="0" err="1">
                <a:solidFill>
                  <a:srgbClr val="000081"/>
                </a:solidFill>
                <a:latin typeface="Courier New" panose="02070309020205020404" pitchFamily="49" charset="0"/>
                <a:cs typeface="Courier New" panose="02070309020205020404" pitchFamily="49" charset="0"/>
              </a:rPr>
              <a:t>oldact</a:t>
            </a:r>
            <a:endParaRPr lang="fr-FR" sz="2500" dirty="0">
              <a:solidFill>
                <a:srgbClr val="000081"/>
              </a:solidFill>
              <a:latin typeface="Courier New" panose="02070309020205020404" pitchFamily="49" charset="0"/>
              <a:cs typeface="Courier New" panose="02070309020205020404" pitchFamily="49" charset="0"/>
            </a:endParaRPr>
          </a:p>
          <a:p>
            <a:pPr marL="457200" lvl="1" indent="0">
              <a:buNone/>
            </a:pPr>
            <a:r>
              <a:rPr lang="fr-FR" sz="2500" dirty="0">
                <a:solidFill>
                  <a:srgbClr val="00008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85320809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191919"/>
                </a:solidFill>
                <a:latin typeface="Garamond" panose="02020404030301010803" pitchFamily="18" charset="0"/>
                <a:cs typeface="Times New Roman" pitchFamily="18" charset="0"/>
              </a:rPr>
              <a:t>Attach a handler to a signal</a:t>
            </a:r>
            <a:r>
              <a:rPr lang="fr-FR" dirty="0" smtClean="0">
                <a:solidFill>
                  <a:srgbClr val="191919"/>
                </a:solidFill>
                <a:latin typeface="Garamond" panose="02020404030301010803" pitchFamily="18" charset="0"/>
                <a:cs typeface="Times New Roman" pitchFamily="18" charset="0"/>
              </a:rPr>
              <a:t>: </a:t>
            </a:r>
            <a:r>
              <a:rPr lang="fr-FR" dirty="0" err="1" smtClean="0">
                <a:solidFill>
                  <a:srgbClr val="191919"/>
                </a:solidFill>
                <a:latin typeface="Garamond" panose="02020404030301010803" pitchFamily="18" charset="0"/>
                <a:cs typeface="Times New Roman" pitchFamily="18" charset="0"/>
              </a:rPr>
              <a:t>Example</a:t>
            </a:r>
            <a:r>
              <a:rPr lang="fr-FR" dirty="0" smtClean="0">
                <a:solidFill>
                  <a:srgbClr val="191919"/>
                </a:solidFill>
                <a:latin typeface="Garamond" panose="02020404030301010803" pitchFamily="18" charset="0"/>
                <a:cs typeface="Times New Roman" pitchFamily="18" charset="0"/>
              </a:rPr>
              <a:t> </a:t>
            </a:r>
            <a:r>
              <a:rPr lang="fr-FR" dirty="0" err="1" smtClean="0">
                <a:solidFill>
                  <a:srgbClr val="191919"/>
                </a:solidFill>
                <a:latin typeface="Garamond" panose="02020404030301010803" pitchFamily="18" charset="0"/>
                <a:cs typeface="Times New Roman" pitchFamily="18" charset="0"/>
              </a:rPr>
              <a:t>with</a:t>
            </a:r>
            <a:r>
              <a:rPr lang="fr-FR" dirty="0" smtClean="0">
                <a:solidFill>
                  <a:srgbClr val="191919"/>
                </a:solidFill>
                <a:latin typeface="Garamond" panose="02020404030301010803" pitchFamily="18" charset="0"/>
                <a:cs typeface="Times New Roman" pitchFamily="18" charset="0"/>
              </a:rPr>
              <a:t> </a:t>
            </a:r>
            <a:r>
              <a:rPr lang="fr-FR" dirty="0">
                <a:solidFill>
                  <a:srgbClr val="191919"/>
                </a:solidFill>
                <a:latin typeface="Garamond" panose="02020404030301010803" pitchFamily="18" charset="0"/>
                <a:cs typeface="Times New Roman" pitchFamily="18" charset="0"/>
              </a:rPr>
              <a:t>signal</a:t>
            </a:r>
          </a:p>
        </p:txBody>
      </p:sp>
      <p:pic>
        <p:nvPicPr>
          <p:cNvPr id="4" name="Content Placeholder 3"/>
          <p:cNvPicPr>
            <a:picLocks noGrp="1" noChangeAspect="1"/>
          </p:cNvPicPr>
          <p:nvPr>
            <p:ph idx="1"/>
          </p:nvPr>
        </p:nvPicPr>
        <p:blipFill>
          <a:blip r:embed="rId2"/>
          <a:stretch>
            <a:fillRect/>
          </a:stretch>
        </p:blipFill>
        <p:spPr>
          <a:xfrm>
            <a:off x="582238" y="1778151"/>
            <a:ext cx="3803597" cy="4564316"/>
          </a:xfrm>
          <a:prstGeom prst="rect">
            <a:avLst/>
          </a:prstGeom>
        </p:spPr>
      </p:pic>
      <p:pic>
        <p:nvPicPr>
          <p:cNvPr id="5" name="Picture 4"/>
          <p:cNvPicPr>
            <a:picLocks noChangeAspect="1"/>
          </p:cNvPicPr>
          <p:nvPr/>
        </p:nvPicPr>
        <p:blipFill>
          <a:blip r:embed="rId3"/>
          <a:stretch>
            <a:fillRect/>
          </a:stretch>
        </p:blipFill>
        <p:spPr>
          <a:xfrm>
            <a:off x="4622362" y="1828372"/>
            <a:ext cx="4088384" cy="4514095"/>
          </a:xfrm>
          <a:prstGeom prst="rect">
            <a:avLst/>
          </a:prstGeom>
        </p:spPr>
      </p:pic>
    </p:spTree>
    <p:extLst>
      <p:ext uri="{BB962C8B-B14F-4D97-AF65-F5344CB8AC3E}">
        <p14:creationId xmlns:p14="http://schemas.microsoft.com/office/powerpoint/2010/main" val="409919354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191919"/>
                </a:solidFill>
                <a:latin typeface="Garamond" panose="02020404030301010803" pitchFamily="18" charset="0"/>
                <a:cs typeface="Times New Roman" pitchFamily="18" charset="0"/>
              </a:rPr>
              <a:t>Attach a handler to a signal</a:t>
            </a:r>
            <a:r>
              <a:rPr lang="fr-FR" dirty="0">
                <a:solidFill>
                  <a:srgbClr val="191919"/>
                </a:solidFill>
                <a:latin typeface="Garamond" panose="02020404030301010803" pitchFamily="18" charset="0"/>
                <a:cs typeface="Times New Roman" pitchFamily="18" charset="0"/>
              </a:rPr>
              <a:t>: </a:t>
            </a:r>
            <a:r>
              <a:rPr lang="fr-FR" dirty="0" err="1">
                <a:solidFill>
                  <a:srgbClr val="191919"/>
                </a:solidFill>
                <a:latin typeface="Garamond" panose="02020404030301010803" pitchFamily="18" charset="0"/>
                <a:cs typeface="Times New Roman" pitchFamily="18" charset="0"/>
              </a:rPr>
              <a:t>Example</a:t>
            </a:r>
            <a:r>
              <a:rPr lang="fr-FR" dirty="0">
                <a:solidFill>
                  <a:srgbClr val="191919"/>
                </a:solidFill>
                <a:latin typeface="Garamond" panose="02020404030301010803" pitchFamily="18" charset="0"/>
                <a:cs typeface="Times New Roman" pitchFamily="18" charset="0"/>
              </a:rPr>
              <a:t> </a:t>
            </a:r>
            <a:r>
              <a:rPr lang="fr-FR" dirty="0" err="1">
                <a:solidFill>
                  <a:srgbClr val="191919"/>
                </a:solidFill>
                <a:latin typeface="Garamond" panose="02020404030301010803" pitchFamily="18" charset="0"/>
                <a:cs typeface="Times New Roman" pitchFamily="18" charset="0"/>
              </a:rPr>
              <a:t>with</a:t>
            </a:r>
            <a:r>
              <a:rPr lang="fr-FR" dirty="0">
                <a:solidFill>
                  <a:srgbClr val="191919"/>
                </a:solidFill>
                <a:latin typeface="Garamond" panose="02020404030301010803" pitchFamily="18" charset="0"/>
                <a:cs typeface="Times New Roman" pitchFamily="18" charset="0"/>
              </a:rPr>
              <a:t> signal</a:t>
            </a:r>
            <a:endParaRPr lang="fr-FR" dirty="0">
              <a:latin typeface="Garamond" panose="02020404030301010803" pitchFamily="18" charset="0"/>
            </a:endParaRPr>
          </a:p>
        </p:txBody>
      </p:sp>
      <p:sp>
        <p:nvSpPr>
          <p:cNvPr id="3" name="Content Placeholder 2"/>
          <p:cNvSpPr>
            <a:spLocks noGrp="1"/>
          </p:cNvSpPr>
          <p:nvPr>
            <p:ph idx="1"/>
          </p:nvPr>
        </p:nvSpPr>
        <p:spPr/>
        <p:txBody>
          <a:bodyPr>
            <a:normAutofit lnSpcReduction="10000"/>
          </a:bodyPr>
          <a:lstStyle/>
          <a:p>
            <a:pPr lvl="1"/>
            <a:r>
              <a:rPr lang="fr-FR" b="1" dirty="0">
                <a:solidFill>
                  <a:srgbClr val="FF0000"/>
                </a:solidFill>
                <a:latin typeface="Courier New" panose="02070309020205020404" pitchFamily="49" charset="0"/>
                <a:cs typeface="Courier New" panose="02070309020205020404" pitchFamily="49" charset="0"/>
              </a:rPr>
              <a:t>% </a:t>
            </a:r>
            <a:r>
              <a:rPr lang="fr-FR" b="1" i="1" dirty="0">
                <a:solidFill>
                  <a:srgbClr val="FF0000"/>
                </a:solidFill>
                <a:latin typeface="Courier New" panose="02070309020205020404" pitchFamily="49" charset="0"/>
                <a:cs typeface="Courier New" panose="02070309020205020404" pitchFamily="49" charset="0"/>
              </a:rPr>
              <a:t>test-signal</a:t>
            </a:r>
          </a:p>
          <a:p>
            <a:pPr lvl="1"/>
            <a:r>
              <a:rPr lang="fr-FR" b="1" dirty="0">
                <a:solidFill>
                  <a:srgbClr val="0070C0"/>
                </a:solidFill>
                <a:latin typeface="Courier New" panose="02070309020205020404" pitchFamily="49" charset="0"/>
                <a:cs typeface="Courier New" panose="02070309020205020404" pitchFamily="49" charset="0"/>
              </a:rPr>
              <a:t>INT et QUIT ignorés</a:t>
            </a:r>
          </a:p>
          <a:p>
            <a:pPr lvl="1"/>
            <a:r>
              <a:rPr lang="fr-FR" b="1" i="1" dirty="0" smtClean="0">
                <a:solidFill>
                  <a:srgbClr val="FF0000"/>
                </a:solidFill>
                <a:latin typeface="Courier New" panose="02070309020205020404" pitchFamily="49" charset="0"/>
                <a:cs typeface="Courier New" panose="02070309020205020404" pitchFamily="49" charset="0"/>
              </a:rPr>
              <a:t>^</a:t>
            </a:r>
            <a:r>
              <a:rPr lang="fr-FR" b="1" dirty="0" smtClean="0">
                <a:solidFill>
                  <a:srgbClr val="FF0000"/>
                </a:solidFill>
                <a:latin typeface="Courier New" panose="02070309020205020404" pitchFamily="49" charset="0"/>
                <a:cs typeface="Courier New" panose="02070309020205020404" pitchFamily="49" charset="0"/>
              </a:rPr>
              <a:t>\</a:t>
            </a:r>
            <a:r>
              <a:rPr lang="fr-FR" b="1" i="1" dirty="0" smtClean="0">
                <a:solidFill>
                  <a:srgbClr val="FF0000"/>
                </a:solidFill>
                <a:latin typeface="Courier New" panose="02070309020205020404" pitchFamily="49" charset="0"/>
                <a:cs typeface="Courier New" panose="02070309020205020404" pitchFamily="49" charset="0"/>
              </a:rPr>
              <a:t>^C  </a:t>
            </a:r>
            <a:r>
              <a:rPr lang="fr-FR" b="1" dirty="0" smtClean="0">
                <a:solidFill>
                  <a:srgbClr val="0070C0"/>
                </a:solidFill>
                <a:latin typeface="Courier New" panose="02070309020205020404" pitchFamily="49" charset="0"/>
                <a:cs typeface="Courier New" panose="02070309020205020404" pitchFamily="49" charset="0"/>
              </a:rPr>
              <a:t>INT </a:t>
            </a:r>
            <a:r>
              <a:rPr lang="fr-FR" b="1" dirty="0">
                <a:solidFill>
                  <a:srgbClr val="0070C0"/>
                </a:solidFill>
                <a:latin typeface="Courier New" panose="02070309020205020404" pitchFamily="49" charset="0"/>
                <a:cs typeface="Courier New" panose="02070309020205020404" pitchFamily="49" charset="0"/>
              </a:rPr>
              <a:t>et QUIT trappés</a:t>
            </a:r>
          </a:p>
          <a:p>
            <a:pPr lvl="1"/>
            <a:r>
              <a:rPr lang="fr-FR" b="1" i="1" dirty="0" smtClean="0">
                <a:solidFill>
                  <a:srgbClr val="FF0000"/>
                </a:solidFill>
                <a:latin typeface="Courier New" panose="02070309020205020404" pitchFamily="49" charset="0"/>
                <a:cs typeface="Courier New" panose="02070309020205020404" pitchFamily="49" charset="0"/>
              </a:rPr>
              <a:t>^</a:t>
            </a:r>
            <a:r>
              <a:rPr lang="fr-FR" b="1" dirty="0" smtClean="0">
                <a:solidFill>
                  <a:srgbClr val="FF0000"/>
                </a:solidFill>
                <a:latin typeface="Courier New" panose="02070309020205020404" pitchFamily="49" charset="0"/>
                <a:cs typeface="Courier New" panose="02070309020205020404" pitchFamily="49" charset="0"/>
              </a:rPr>
              <a:t>\ </a:t>
            </a:r>
            <a:r>
              <a:rPr lang="fr-FR" b="1" dirty="0">
                <a:solidFill>
                  <a:srgbClr val="0070C0"/>
                </a:solidFill>
                <a:latin typeface="Courier New" panose="02070309020205020404" pitchFamily="49" charset="0"/>
                <a:cs typeface="Courier New" panose="02070309020205020404" pitchFamily="49" charset="0"/>
              </a:rPr>
              <a:t>*** signal 3</a:t>
            </a:r>
          </a:p>
          <a:p>
            <a:pPr lvl="1"/>
            <a:r>
              <a:rPr lang="fr-FR" b="1" i="1" dirty="0" smtClean="0">
                <a:solidFill>
                  <a:srgbClr val="FF0000"/>
                </a:solidFill>
                <a:latin typeface="Courier New" panose="02070309020205020404" pitchFamily="49" charset="0"/>
                <a:cs typeface="Courier New" panose="02070309020205020404" pitchFamily="49" charset="0"/>
              </a:rPr>
              <a:t>^</a:t>
            </a:r>
            <a:r>
              <a:rPr lang="fr-FR" b="1" dirty="0" smtClean="0">
                <a:solidFill>
                  <a:srgbClr val="FF0000"/>
                </a:solidFill>
                <a:latin typeface="Courier New" panose="02070309020205020404" pitchFamily="49" charset="0"/>
                <a:cs typeface="Courier New" panose="02070309020205020404" pitchFamily="49" charset="0"/>
              </a:rPr>
              <a:t>\ </a:t>
            </a:r>
            <a:r>
              <a:rPr lang="fr-FR" b="1" dirty="0">
                <a:solidFill>
                  <a:srgbClr val="0070C0"/>
                </a:solidFill>
                <a:latin typeface="Courier New" panose="02070309020205020404" pitchFamily="49" charset="0"/>
                <a:cs typeface="Courier New" panose="02070309020205020404" pitchFamily="49" charset="0"/>
              </a:rPr>
              <a:t>*** signal 3</a:t>
            </a:r>
          </a:p>
          <a:p>
            <a:pPr lvl="1"/>
            <a:r>
              <a:rPr lang="fr-FR" b="1" i="1" dirty="0">
                <a:solidFill>
                  <a:srgbClr val="FF0000"/>
                </a:solidFill>
                <a:latin typeface="Courier New" panose="02070309020205020404" pitchFamily="49" charset="0"/>
                <a:cs typeface="Courier New" panose="02070309020205020404" pitchFamily="49" charset="0"/>
              </a:rPr>
              <a:t>^</a:t>
            </a:r>
            <a:r>
              <a:rPr lang="fr-FR" b="1" i="1" dirty="0" smtClean="0">
                <a:solidFill>
                  <a:srgbClr val="FF0000"/>
                </a:solidFill>
                <a:latin typeface="Courier New" panose="02070309020205020404" pitchFamily="49" charset="0"/>
                <a:cs typeface="Courier New" panose="02070309020205020404" pitchFamily="49" charset="0"/>
              </a:rPr>
              <a:t>C </a:t>
            </a:r>
            <a:r>
              <a:rPr lang="fr-FR" b="1" dirty="0">
                <a:solidFill>
                  <a:srgbClr val="0070C0"/>
                </a:solidFill>
                <a:latin typeface="Courier New" panose="02070309020205020404" pitchFamily="49" charset="0"/>
                <a:cs typeface="Courier New" panose="02070309020205020404" pitchFamily="49" charset="0"/>
              </a:rPr>
              <a:t>*** signal 2</a:t>
            </a:r>
          </a:p>
          <a:p>
            <a:pPr lvl="1"/>
            <a:r>
              <a:rPr lang="fr-FR" b="1" dirty="0">
                <a:solidFill>
                  <a:srgbClr val="0070C0"/>
                </a:solidFill>
                <a:latin typeface="Courier New" panose="02070309020205020404" pitchFamily="49" charset="0"/>
                <a:cs typeface="Courier New" panose="02070309020205020404" pitchFamily="49" charset="0"/>
              </a:rPr>
              <a:t>INT restauré QUIT défaut</a:t>
            </a:r>
          </a:p>
          <a:p>
            <a:pPr lvl="1"/>
            <a:r>
              <a:rPr lang="fr-FR" b="1" i="1" dirty="0">
                <a:solidFill>
                  <a:srgbClr val="FF0000"/>
                </a:solidFill>
                <a:latin typeface="Courier New" panose="02070309020205020404" pitchFamily="49" charset="0"/>
                <a:cs typeface="Courier New" panose="02070309020205020404" pitchFamily="49" charset="0"/>
              </a:rPr>
              <a:t>^C</a:t>
            </a:r>
          </a:p>
          <a:p>
            <a:pPr lvl="1"/>
            <a:r>
              <a:rPr lang="fr-FR" b="1" dirty="0" smtClean="0">
                <a:solidFill>
                  <a:srgbClr val="0070C0"/>
                </a:solidFill>
                <a:latin typeface="Courier New" panose="02070309020205020404" pitchFamily="49" charset="0"/>
                <a:cs typeface="Courier New" panose="02070309020205020404" pitchFamily="49" charset="0"/>
              </a:rPr>
              <a:t>%</a:t>
            </a:r>
          </a:p>
          <a:p>
            <a:pPr marL="342900" indent="-342900"/>
            <a:r>
              <a:rPr lang="en-US" dirty="0">
                <a:latin typeface="Garamond" panose="02020404030301010803" pitchFamily="18" charset="0"/>
                <a:hlinkClick r:id="rId2" action="ppaction://hlinkfile"/>
              </a:rPr>
              <a:t>Exemple </a:t>
            </a:r>
            <a:r>
              <a:rPr lang="en-US" dirty="0" err="1">
                <a:latin typeface="Garamond" panose="02020404030301010803" pitchFamily="18" charset="0"/>
                <a:hlinkClick r:id="rId2" action="ppaction://hlinkfile"/>
              </a:rPr>
              <a:t>signale</a:t>
            </a:r>
            <a:r>
              <a:rPr lang="en-US" dirty="0">
                <a:latin typeface="Garamond" panose="02020404030301010803" pitchFamily="18" charset="0"/>
                <a:hlinkClick r:id="rId2" action="ppaction://hlinkfile"/>
              </a:rPr>
              <a:t> </a:t>
            </a:r>
            <a:endParaRPr lang="en-US" dirty="0">
              <a:latin typeface="Garamond" panose="02020404030301010803" pitchFamily="18" charset="0"/>
            </a:endParaRPr>
          </a:p>
          <a:p>
            <a:pPr marL="342900" indent="-342900"/>
            <a:r>
              <a:rPr lang="en-US" dirty="0">
                <a:latin typeface="Garamond" panose="02020404030301010803" pitchFamily="18" charset="0"/>
                <a:hlinkClick r:id="rId3" action="ppaction://hlinkfile"/>
              </a:rPr>
              <a:t>Exemple Signal 1 .c</a:t>
            </a:r>
            <a:endParaRPr lang="en-US" dirty="0">
              <a:latin typeface="Garamond" panose="02020404030301010803" pitchFamily="18" charset="0"/>
            </a:endParaRPr>
          </a:p>
          <a:p>
            <a:endParaRPr lang="fr-FR" dirty="0">
              <a:solidFill>
                <a:srgbClr val="0070C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41247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191919"/>
                </a:solidFill>
                <a:latin typeface="Garamond" panose="02020404030301010803" pitchFamily="18" charset="0"/>
                <a:cs typeface="Times New Roman" pitchFamily="18" charset="0"/>
              </a:rPr>
              <a:t>Attach a handler to a signal</a:t>
            </a:r>
            <a:r>
              <a:rPr lang="fr-FR" dirty="0">
                <a:solidFill>
                  <a:srgbClr val="191919"/>
                </a:solidFill>
                <a:latin typeface="Garamond" panose="02020404030301010803" pitchFamily="18" charset="0"/>
                <a:cs typeface="Times New Roman" pitchFamily="18" charset="0"/>
              </a:rPr>
              <a:t>: </a:t>
            </a:r>
            <a:r>
              <a:rPr lang="fr-FR" dirty="0" err="1">
                <a:solidFill>
                  <a:srgbClr val="191919"/>
                </a:solidFill>
                <a:latin typeface="Garamond" panose="02020404030301010803" pitchFamily="18" charset="0"/>
                <a:cs typeface="Times New Roman" pitchFamily="18" charset="0"/>
              </a:rPr>
              <a:t>Example</a:t>
            </a:r>
            <a:r>
              <a:rPr lang="fr-FR" dirty="0">
                <a:solidFill>
                  <a:srgbClr val="191919"/>
                </a:solidFill>
                <a:latin typeface="Garamond" panose="02020404030301010803" pitchFamily="18" charset="0"/>
                <a:cs typeface="Times New Roman" pitchFamily="18" charset="0"/>
              </a:rPr>
              <a:t> </a:t>
            </a:r>
            <a:r>
              <a:rPr lang="fr-FR" dirty="0" err="1">
                <a:solidFill>
                  <a:srgbClr val="191919"/>
                </a:solidFill>
                <a:latin typeface="Garamond" panose="02020404030301010803" pitchFamily="18" charset="0"/>
                <a:cs typeface="Times New Roman" pitchFamily="18" charset="0"/>
              </a:rPr>
              <a:t>with</a:t>
            </a:r>
            <a:r>
              <a:rPr lang="fr-FR" dirty="0">
                <a:solidFill>
                  <a:srgbClr val="191919"/>
                </a:solidFill>
                <a:latin typeface="Garamond" panose="02020404030301010803" pitchFamily="18" charset="0"/>
                <a:cs typeface="Times New Roman" pitchFamily="18" charset="0"/>
              </a:rPr>
              <a:t> </a:t>
            </a:r>
            <a:r>
              <a:rPr lang="fr-FR" dirty="0" smtClean="0">
                <a:solidFill>
                  <a:srgbClr val="191919"/>
                </a:solidFill>
                <a:latin typeface="Garamond" panose="02020404030301010803" pitchFamily="18" charset="0"/>
                <a:cs typeface="Times New Roman" pitchFamily="18" charset="0"/>
              </a:rPr>
              <a:t>:</a:t>
            </a:r>
            <a:r>
              <a:rPr lang="fr-FR" dirty="0" smtClean="0">
                <a:latin typeface="Garamond" panose="02020404030301010803" pitchFamily="18" charset="0"/>
              </a:rPr>
              <a:t> </a:t>
            </a:r>
            <a:r>
              <a:rPr lang="fr-FR" dirty="0" err="1">
                <a:latin typeface="Garamond" panose="02020404030301010803" pitchFamily="18" charset="0"/>
              </a:rPr>
              <a:t>sigaction</a:t>
            </a:r>
            <a:r>
              <a:rPr lang="fr-FR" dirty="0">
                <a:latin typeface="Garamond" panose="02020404030301010803" pitchFamily="18" charset="0"/>
              </a:rPr>
              <a:t>()</a:t>
            </a:r>
          </a:p>
        </p:txBody>
      </p:sp>
      <p:sp>
        <p:nvSpPr>
          <p:cNvPr id="3" name="Content Placeholder 2"/>
          <p:cNvSpPr>
            <a:spLocks noGrp="1"/>
          </p:cNvSpPr>
          <p:nvPr>
            <p:ph idx="1"/>
          </p:nvPr>
        </p:nvSpPr>
        <p:spPr/>
        <p:txBody>
          <a:bodyPr/>
          <a:lstStyle/>
          <a:p>
            <a:r>
              <a:rPr lang="en-US" dirty="0">
                <a:solidFill>
                  <a:srgbClr val="000000"/>
                </a:solidFill>
                <a:latin typeface="Garamond" panose="02020404030301010803" pitchFamily="18" charset="0"/>
                <a:cs typeface="Times New Roman" panose="02020603050405020304" pitchFamily="18" charset="0"/>
              </a:rPr>
              <a:t>Applicable to all signals except </a:t>
            </a:r>
            <a:r>
              <a:rPr lang="fr-FR" b="0" i="0" u="none" strike="noStrike" baseline="0" dirty="0" smtClean="0">
                <a:solidFill>
                  <a:srgbClr val="000081"/>
                </a:solidFill>
                <a:latin typeface="Courier New" panose="02070309020205020404" pitchFamily="49" charset="0"/>
                <a:cs typeface="Courier New" panose="02070309020205020404" pitchFamily="49" charset="0"/>
              </a:rPr>
              <a:t>SIGKILL</a:t>
            </a:r>
            <a:r>
              <a:rPr lang="fr-FR" b="0" i="0" u="none" strike="noStrike" baseline="0" dirty="0" smtClean="0">
                <a:solidFill>
                  <a:srgbClr val="000081"/>
                </a:solidFill>
                <a:latin typeface="Times New Roman" panose="02020603050405020304" pitchFamily="18" charset="0"/>
                <a:cs typeface="Times New Roman" panose="02020603050405020304" pitchFamily="18" charset="0"/>
              </a:rPr>
              <a:t>, </a:t>
            </a:r>
            <a:r>
              <a:rPr lang="fr-FR" b="0" i="0" u="none" strike="noStrike" baseline="0" dirty="0" smtClean="0">
                <a:solidFill>
                  <a:srgbClr val="000081"/>
                </a:solidFill>
                <a:latin typeface="Courier New" panose="02070309020205020404" pitchFamily="49" charset="0"/>
                <a:cs typeface="Courier New" panose="02070309020205020404" pitchFamily="49" charset="0"/>
              </a:rPr>
              <a:t>SIGSTOP</a:t>
            </a:r>
            <a:r>
              <a:rPr lang="fr-FR" b="0" i="0" u="none" strike="noStrike" baseline="0" dirty="0" smtClean="0">
                <a:solidFill>
                  <a:srgbClr val="000081"/>
                </a:solidFill>
                <a:latin typeface="Times New Roman" panose="02020603050405020304" pitchFamily="18" charset="0"/>
                <a:cs typeface="Times New Roman" panose="02020603050405020304" pitchFamily="18" charset="0"/>
              </a:rPr>
              <a:t> </a:t>
            </a:r>
            <a:r>
              <a:rPr lang="fr-FR" dirty="0">
                <a:solidFill>
                  <a:srgbClr val="000000"/>
                </a:solidFill>
                <a:latin typeface="Garamond" panose="02020404030301010803" pitchFamily="18" charset="0"/>
                <a:cs typeface="Times New Roman" panose="02020603050405020304" pitchFamily="18" charset="0"/>
              </a:rPr>
              <a:t>et</a:t>
            </a:r>
            <a:r>
              <a:rPr lang="fr-FR" b="0" i="0" u="none" strike="noStrike" baseline="0" dirty="0" smtClean="0">
                <a:solidFill>
                  <a:srgbClr val="000000"/>
                </a:solidFill>
                <a:latin typeface="Times New Roman" panose="02020603050405020304" pitchFamily="18" charset="0"/>
                <a:cs typeface="Times New Roman" panose="02020603050405020304" pitchFamily="18" charset="0"/>
              </a:rPr>
              <a:t> </a:t>
            </a:r>
            <a:r>
              <a:rPr lang="fr-FR" b="0" i="0" u="none" strike="noStrike" baseline="0" dirty="0" smtClean="0">
                <a:solidFill>
                  <a:srgbClr val="000081"/>
                </a:solidFill>
                <a:latin typeface="Courier New" panose="02070309020205020404" pitchFamily="49" charset="0"/>
                <a:cs typeface="Courier New" panose="02070309020205020404" pitchFamily="49" charset="0"/>
              </a:rPr>
              <a:t>SIGCONT</a:t>
            </a:r>
          </a:p>
          <a:p>
            <a:r>
              <a:rPr lang="fr-FR" dirty="0" smtClean="0">
                <a:solidFill>
                  <a:srgbClr val="000000"/>
                </a:solidFill>
                <a:latin typeface="Garamond" panose="02020404030301010803" pitchFamily="18" charset="0"/>
                <a:cs typeface="Times New Roman" panose="02020603050405020304" pitchFamily="18" charset="0"/>
              </a:rPr>
              <a:t>The </a:t>
            </a:r>
            <a:r>
              <a:rPr lang="fr-FR" dirty="0">
                <a:solidFill>
                  <a:srgbClr val="000000"/>
                </a:solidFill>
                <a:latin typeface="Garamond" panose="02020404030301010803" pitchFamily="18" charset="0"/>
                <a:cs typeface="Times New Roman" panose="02020603050405020304" pitchFamily="18" charset="0"/>
              </a:rPr>
              <a:t>structure :</a:t>
            </a:r>
          </a:p>
          <a:p>
            <a:pPr marL="0" indent="0">
              <a:buNone/>
            </a:pPr>
            <a:r>
              <a:rPr lang="fr-FR" dirty="0" err="1">
                <a:solidFill>
                  <a:srgbClr val="000081"/>
                </a:solidFill>
                <a:latin typeface="Courier New" panose="02070309020205020404" pitchFamily="49" charset="0"/>
                <a:cs typeface="Courier New" panose="02070309020205020404" pitchFamily="49" charset="0"/>
              </a:rPr>
              <a:t>struct</a:t>
            </a:r>
            <a:r>
              <a:rPr lang="fr-FR" dirty="0">
                <a:solidFill>
                  <a:srgbClr val="000081"/>
                </a:solidFill>
                <a:latin typeface="Courier New" panose="02070309020205020404" pitchFamily="49" charset="0"/>
                <a:cs typeface="Courier New" panose="02070309020205020404" pitchFamily="49" charset="0"/>
              </a:rPr>
              <a:t> </a:t>
            </a:r>
            <a:r>
              <a:rPr lang="fr-FR" dirty="0" err="1">
                <a:solidFill>
                  <a:srgbClr val="000081"/>
                </a:solidFill>
                <a:latin typeface="Courier New" panose="02070309020205020404" pitchFamily="49" charset="0"/>
                <a:cs typeface="Courier New" panose="02070309020205020404" pitchFamily="49" charset="0"/>
              </a:rPr>
              <a:t>sigaction</a:t>
            </a:r>
            <a:r>
              <a:rPr lang="fr-FR" dirty="0">
                <a:solidFill>
                  <a:srgbClr val="000081"/>
                </a:solidFill>
                <a:latin typeface="Courier New" panose="02070309020205020404" pitchFamily="49" charset="0"/>
                <a:cs typeface="Courier New" panose="02070309020205020404" pitchFamily="49" charset="0"/>
              </a:rPr>
              <a:t> {</a:t>
            </a:r>
          </a:p>
          <a:p>
            <a:pPr marL="0" indent="0">
              <a:buNone/>
            </a:pPr>
            <a:r>
              <a:rPr lang="fr-FR" dirty="0" err="1">
                <a:solidFill>
                  <a:srgbClr val="000081"/>
                </a:solidFill>
                <a:latin typeface="Courier New" panose="02070309020205020404" pitchFamily="49" charset="0"/>
                <a:cs typeface="Courier New" panose="02070309020205020404" pitchFamily="49" charset="0"/>
              </a:rPr>
              <a:t>void</a:t>
            </a:r>
            <a:r>
              <a:rPr lang="fr-FR" dirty="0">
                <a:solidFill>
                  <a:srgbClr val="000081"/>
                </a:solidFill>
                <a:latin typeface="Courier New" panose="02070309020205020404" pitchFamily="49" charset="0"/>
                <a:cs typeface="Courier New" panose="02070309020205020404" pitchFamily="49" charset="0"/>
              </a:rPr>
              <a:t> (*</a:t>
            </a:r>
            <a:r>
              <a:rPr lang="fr-FR" dirty="0" err="1">
                <a:solidFill>
                  <a:srgbClr val="000081"/>
                </a:solidFill>
                <a:latin typeface="Courier New" panose="02070309020205020404" pitchFamily="49" charset="0"/>
                <a:cs typeface="Courier New" panose="02070309020205020404" pitchFamily="49" charset="0"/>
              </a:rPr>
              <a:t>sa_handler</a:t>
            </a:r>
            <a:r>
              <a:rPr lang="fr-FR" dirty="0">
                <a:solidFill>
                  <a:srgbClr val="000081"/>
                </a:solidFill>
                <a:latin typeface="Courier New" panose="02070309020205020404" pitchFamily="49" charset="0"/>
                <a:cs typeface="Courier New" panose="02070309020205020404" pitchFamily="49" charset="0"/>
              </a:rPr>
              <a:t>)() ; –- gestionnaire appliqué</a:t>
            </a:r>
          </a:p>
          <a:p>
            <a:pPr marL="0" indent="0">
              <a:buNone/>
            </a:pPr>
            <a:r>
              <a:rPr lang="fr-FR" dirty="0" err="1">
                <a:solidFill>
                  <a:srgbClr val="000081"/>
                </a:solidFill>
                <a:latin typeface="Courier New" panose="02070309020205020404" pitchFamily="49" charset="0"/>
                <a:cs typeface="Courier New" panose="02070309020205020404" pitchFamily="49" charset="0"/>
              </a:rPr>
              <a:t>sigset_t</a:t>
            </a:r>
            <a:r>
              <a:rPr lang="fr-FR" dirty="0">
                <a:solidFill>
                  <a:srgbClr val="000081"/>
                </a:solidFill>
                <a:latin typeface="Courier New" panose="02070309020205020404" pitchFamily="49" charset="0"/>
                <a:cs typeface="Courier New" panose="02070309020205020404" pitchFamily="49" charset="0"/>
              </a:rPr>
              <a:t> </a:t>
            </a:r>
            <a:r>
              <a:rPr lang="fr-FR" dirty="0" err="1">
                <a:solidFill>
                  <a:srgbClr val="000081"/>
                </a:solidFill>
                <a:latin typeface="Courier New" panose="02070309020205020404" pitchFamily="49" charset="0"/>
                <a:cs typeface="Courier New" panose="02070309020205020404" pitchFamily="49" charset="0"/>
              </a:rPr>
              <a:t>sa_mask</a:t>
            </a:r>
            <a:r>
              <a:rPr lang="fr-FR" dirty="0">
                <a:solidFill>
                  <a:srgbClr val="000081"/>
                </a:solidFill>
                <a:latin typeface="Courier New" panose="02070309020205020404" pitchFamily="49" charset="0"/>
                <a:cs typeface="Courier New" panose="02070309020205020404" pitchFamily="49" charset="0"/>
              </a:rPr>
              <a:t> ; –- signaux masqués en plus</a:t>
            </a:r>
          </a:p>
          <a:p>
            <a:pPr marL="0" indent="0">
              <a:buNone/>
            </a:pPr>
            <a:r>
              <a:rPr lang="fr-FR" dirty="0" err="1">
                <a:solidFill>
                  <a:srgbClr val="000081"/>
                </a:solidFill>
                <a:latin typeface="Courier New" panose="02070309020205020404" pitchFamily="49" charset="0"/>
                <a:cs typeface="Courier New" panose="02070309020205020404" pitchFamily="49" charset="0"/>
              </a:rPr>
              <a:t>int</a:t>
            </a:r>
            <a:r>
              <a:rPr lang="fr-FR" dirty="0">
                <a:solidFill>
                  <a:srgbClr val="000081"/>
                </a:solidFill>
                <a:latin typeface="Courier New" panose="02070309020205020404" pitchFamily="49" charset="0"/>
                <a:cs typeface="Courier New" panose="02070309020205020404" pitchFamily="49" charset="0"/>
              </a:rPr>
              <a:t> </a:t>
            </a:r>
            <a:r>
              <a:rPr lang="fr-FR" dirty="0" err="1">
                <a:solidFill>
                  <a:srgbClr val="000081"/>
                </a:solidFill>
                <a:latin typeface="Courier New" panose="02070309020205020404" pitchFamily="49" charset="0"/>
                <a:cs typeface="Courier New" panose="02070309020205020404" pitchFamily="49" charset="0"/>
              </a:rPr>
              <a:t>sa_flags</a:t>
            </a:r>
            <a:r>
              <a:rPr lang="fr-FR" dirty="0">
                <a:solidFill>
                  <a:srgbClr val="000081"/>
                </a:solidFill>
                <a:latin typeface="Courier New" panose="02070309020205020404" pitchFamily="49" charset="0"/>
                <a:cs typeface="Courier New" panose="02070309020205020404" pitchFamily="49" charset="0"/>
              </a:rPr>
              <a:t> ;</a:t>
            </a:r>
          </a:p>
          <a:p>
            <a:pPr marL="0" indent="0">
              <a:buNone/>
            </a:pPr>
            <a:r>
              <a:rPr lang="fr-FR" dirty="0">
                <a:solidFill>
                  <a:srgbClr val="00008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42296252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191919"/>
                </a:solidFill>
                <a:latin typeface="Garamond" panose="02020404030301010803" pitchFamily="18" charset="0"/>
                <a:cs typeface="Times New Roman" pitchFamily="18" charset="0"/>
              </a:rPr>
              <a:t>Attach a handler to a signal</a:t>
            </a:r>
            <a:r>
              <a:rPr lang="fr-FR" dirty="0">
                <a:solidFill>
                  <a:srgbClr val="191919"/>
                </a:solidFill>
                <a:latin typeface="Garamond" panose="02020404030301010803" pitchFamily="18" charset="0"/>
                <a:cs typeface="Times New Roman" pitchFamily="18" charset="0"/>
              </a:rPr>
              <a:t>: </a:t>
            </a:r>
            <a:r>
              <a:rPr lang="fr-FR" dirty="0" err="1">
                <a:solidFill>
                  <a:srgbClr val="191919"/>
                </a:solidFill>
                <a:latin typeface="Garamond" panose="02020404030301010803" pitchFamily="18" charset="0"/>
                <a:cs typeface="Times New Roman" pitchFamily="18" charset="0"/>
              </a:rPr>
              <a:t>Example</a:t>
            </a:r>
            <a:r>
              <a:rPr lang="fr-FR" dirty="0">
                <a:solidFill>
                  <a:srgbClr val="191919"/>
                </a:solidFill>
                <a:latin typeface="Garamond" panose="02020404030301010803" pitchFamily="18" charset="0"/>
                <a:cs typeface="Times New Roman" pitchFamily="18" charset="0"/>
              </a:rPr>
              <a:t> </a:t>
            </a:r>
            <a:r>
              <a:rPr lang="fr-FR" dirty="0" err="1">
                <a:solidFill>
                  <a:srgbClr val="191919"/>
                </a:solidFill>
                <a:latin typeface="Garamond" panose="02020404030301010803" pitchFamily="18" charset="0"/>
                <a:cs typeface="Times New Roman" pitchFamily="18" charset="0"/>
              </a:rPr>
              <a:t>with</a:t>
            </a:r>
            <a:r>
              <a:rPr lang="fr-FR" dirty="0">
                <a:solidFill>
                  <a:srgbClr val="191919"/>
                </a:solidFill>
                <a:latin typeface="Garamond" panose="02020404030301010803" pitchFamily="18" charset="0"/>
                <a:cs typeface="Times New Roman" pitchFamily="18" charset="0"/>
              </a:rPr>
              <a:t> </a:t>
            </a:r>
            <a:r>
              <a:rPr lang="fr-FR" dirty="0" err="1" smtClean="0">
                <a:latin typeface="Garamond" panose="02020404030301010803" pitchFamily="18" charset="0"/>
              </a:rPr>
              <a:t>sigaction</a:t>
            </a:r>
            <a:r>
              <a:rPr lang="fr-FR" dirty="0" smtClean="0">
                <a:latin typeface="Garamond" panose="02020404030301010803" pitchFamily="18" charset="0"/>
              </a:rPr>
              <a:t>()</a:t>
            </a:r>
            <a:endParaRPr lang="fr-FR" dirty="0"/>
          </a:p>
        </p:txBody>
      </p:sp>
      <p:sp>
        <p:nvSpPr>
          <p:cNvPr id="3" name="Content Placeholder 2"/>
          <p:cNvSpPr>
            <a:spLocks noGrp="1"/>
          </p:cNvSpPr>
          <p:nvPr>
            <p:ph idx="1"/>
          </p:nvPr>
        </p:nvSpPr>
        <p:spPr/>
        <p:txBody>
          <a:bodyPr>
            <a:noAutofit/>
          </a:bodyPr>
          <a:lstStyle/>
          <a:p>
            <a:pPr marL="0" indent="0">
              <a:buNone/>
            </a:pPr>
            <a:r>
              <a:rPr lang="fr-FR" sz="1500" b="0" i="0" u="none" strike="noStrike" baseline="0" dirty="0" err="1" smtClean="0">
                <a:solidFill>
                  <a:srgbClr val="000081"/>
                </a:solidFill>
                <a:latin typeface="Courier New" panose="02070309020205020404" pitchFamily="49" charset="0"/>
                <a:cs typeface="Courier New" panose="02070309020205020404" pitchFamily="49" charset="0"/>
              </a:rPr>
              <a:t>void</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 </a:t>
            </a:r>
            <a:r>
              <a:rPr lang="fr-FR" sz="1500" b="1" i="0" u="none" strike="noStrike" baseline="0" dirty="0" err="1" smtClean="0">
                <a:solidFill>
                  <a:srgbClr val="000081"/>
                </a:solidFill>
                <a:latin typeface="Courier New" panose="02070309020205020404" pitchFamily="49" charset="0"/>
                <a:cs typeface="Courier New" panose="02070309020205020404" pitchFamily="49" charset="0"/>
              </a:rPr>
              <a:t>sig_hand</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a:t>
            </a:r>
            <a:r>
              <a:rPr lang="fr-FR" sz="1500" b="0" i="0" u="none" strike="noStrike" baseline="0" dirty="0" err="1" smtClean="0">
                <a:solidFill>
                  <a:srgbClr val="000081"/>
                </a:solidFill>
                <a:latin typeface="Courier New" panose="02070309020205020404" pitchFamily="49" charset="0"/>
                <a:cs typeface="Courier New" panose="02070309020205020404" pitchFamily="49" charset="0"/>
              </a:rPr>
              <a:t>int</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 </a:t>
            </a:r>
            <a:r>
              <a:rPr lang="fr-FR" sz="1500" b="0" i="0" u="none" strike="noStrike" baseline="0" dirty="0" err="1" smtClean="0">
                <a:solidFill>
                  <a:srgbClr val="000081"/>
                </a:solidFill>
                <a:latin typeface="Courier New" panose="02070309020205020404" pitchFamily="49" charset="0"/>
                <a:cs typeface="Courier New" panose="02070309020205020404" pitchFamily="49" charset="0"/>
              </a:rPr>
              <a:t>sig</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a:t>
            </a:r>
          </a:p>
          <a:p>
            <a:pPr marL="0" indent="0">
              <a:buNone/>
            </a:pPr>
            <a:r>
              <a:rPr lang="da-DK" sz="1500" b="0" i="0" u="none" strike="noStrike" baseline="0" dirty="0" smtClean="0">
                <a:solidFill>
                  <a:srgbClr val="000081"/>
                </a:solidFill>
                <a:latin typeface="Courier New" panose="02070309020205020404" pitchFamily="49" charset="0"/>
                <a:cs typeface="Courier New" panose="02070309020205020404" pitchFamily="49" charset="0"/>
              </a:rPr>
              <a:t>printf ("signal reçu %d \n",sig); </a:t>
            </a:r>
          </a:p>
          <a:p>
            <a:pPr marL="0" indent="0">
              <a:buNone/>
            </a:pPr>
            <a:r>
              <a:rPr lang="fr-FR" sz="1500" b="0" i="0" u="none" strike="noStrike" baseline="0" dirty="0" smtClean="0">
                <a:solidFill>
                  <a:srgbClr val="000081"/>
                </a:solidFill>
                <a:latin typeface="Courier New" panose="02070309020205020404" pitchFamily="49" charset="0"/>
                <a:cs typeface="Courier New" panose="02070309020205020404" pitchFamily="49" charset="0"/>
              </a:rPr>
              <a:t>}</a:t>
            </a:r>
          </a:p>
          <a:p>
            <a:pPr marL="0" indent="0">
              <a:buNone/>
            </a:pPr>
            <a:r>
              <a:rPr lang="fr-FR" sz="1500" b="0" i="0" u="none" strike="noStrike" baseline="0" dirty="0" err="1" smtClean="0">
                <a:solidFill>
                  <a:srgbClr val="000081"/>
                </a:solidFill>
                <a:latin typeface="Courier New" panose="02070309020205020404" pitchFamily="49" charset="0"/>
                <a:cs typeface="Courier New" panose="02070309020205020404" pitchFamily="49" charset="0"/>
              </a:rPr>
              <a:t>int</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 </a:t>
            </a:r>
            <a:r>
              <a:rPr lang="fr-FR" sz="1500" b="1" i="0" u="none" strike="noStrike" baseline="0" dirty="0" smtClean="0">
                <a:solidFill>
                  <a:srgbClr val="000081"/>
                </a:solidFill>
                <a:latin typeface="Courier New" panose="02070309020205020404" pitchFamily="49" charset="0"/>
                <a:cs typeface="Courier New" panose="02070309020205020404" pitchFamily="49" charset="0"/>
              </a:rPr>
              <a:t>main</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a:t>
            </a:r>
            <a:r>
              <a:rPr lang="fr-FR" sz="1500" b="0" i="0" u="none" strike="noStrike" baseline="0" dirty="0" err="1" smtClean="0">
                <a:solidFill>
                  <a:srgbClr val="000081"/>
                </a:solidFill>
                <a:latin typeface="Courier New" panose="02070309020205020404" pitchFamily="49" charset="0"/>
                <a:cs typeface="Courier New" panose="02070309020205020404" pitchFamily="49" charset="0"/>
              </a:rPr>
              <a:t>int</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 </a:t>
            </a:r>
            <a:r>
              <a:rPr lang="fr-FR" sz="1500" b="0" i="0" u="none" strike="noStrike" baseline="0" dirty="0" err="1" smtClean="0">
                <a:solidFill>
                  <a:srgbClr val="000081"/>
                </a:solidFill>
                <a:latin typeface="Courier New" panose="02070309020205020404" pitchFamily="49" charset="0"/>
                <a:cs typeface="Courier New" panose="02070309020205020404" pitchFamily="49" charset="0"/>
              </a:rPr>
              <a:t>argc</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 char **</a:t>
            </a:r>
            <a:r>
              <a:rPr lang="fr-FR" sz="1500" b="0" i="0" u="none" strike="noStrike" baseline="0" dirty="0" err="1" smtClean="0">
                <a:solidFill>
                  <a:srgbClr val="000081"/>
                </a:solidFill>
                <a:latin typeface="Courier New" panose="02070309020205020404" pitchFamily="49" charset="0"/>
                <a:cs typeface="Courier New" panose="02070309020205020404" pitchFamily="49" charset="0"/>
              </a:rPr>
              <a:t>argv</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 {</a:t>
            </a:r>
          </a:p>
          <a:p>
            <a:pPr marL="0" indent="0">
              <a:buNone/>
            </a:pPr>
            <a:r>
              <a:rPr lang="fr-FR" sz="1500" b="0" i="0" u="none" strike="noStrike" baseline="0" dirty="0" err="1" smtClean="0">
                <a:solidFill>
                  <a:srgbClr val="000081"/>
                </a:solidFill>
                <a:latin typeface="Courier New" panose="02070309020205020404" pitchFamily="49" charset="0"/>
                <a:cs typeface="Courier New" panose="02070309020205020404" pitchFamily="49" charset="0"/>
              </a:rPr>
              <a:t>sigset_t</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 </a:t>
            </a:r>
            <a:r>
              <a:rPr lang="fr-FR" sz="1500" b="0" i="0" u="none" strike="noStrike" baseline="0" dirty="0" err="1" smtClean="0">
                <a:solidFill>
                  <a:srgbClr val="000081"/>
                </a:solidFill>
                <a:latin typeface="Courier New" panose="02070309020205020404" pitchFamily="49" charset="0"/>
                <a:cs typeface="Courier New" panose="02070309020205020404" pitchFamily="49" charset="0"/>
              </a:rPr>
              <a:t>sig_proc</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a:t>
            </a:r>
          </a:p>
          <a:p>
            <a:pPr marL="0" indent="0">
              <a:buNone/>
            </a:pPr>
            <a:r>
              <a:rPr lang="fr-FR" sz="1500" b="0" i="0" u="none" strike="noStrike" baseline="0" dirty="0" err="1" smtClean="0">
                <a:solidFill>
                  <a:srgbClr val="000081"/>
                </a:solidFill>
                <a:latin typeface="Courier New" panose="02070309020205020404" pitchFamily="49" charset="0"/>
                <a:cs typeface="Courier New" panose="02070309020205020404" pitchFamily="49" charset="0"/>
              </a:rPr>
              <a:t>struct</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 </a:t>
            </a:r>
            <a:r>
              <a:rPr lang="fr-FR" sz="1500" b="0" i="0" u="none" strike="noStrike" baseline="0" dirty="0" err="1" smtClean="0">
                <a:solidFill>
                  <a:srgbClr val="000081"/>
                </a:solidFill>
                <a:latin typeface="Courier New" panose="02070309020205020404" pitchFamily="49" charset="0"/>
                <a:cs typeface="Courier New" panose="02070309020205020404" pitchFamily="49" charset="0"/>
              </a:rPr>
              <a:t>sigaction</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 action;</a:t>
            </a:r>
          </a:p>
          <a:p>
            <a:pPr marL="0" indent="0">
              <a:buNone/>
            </a:pPr>
            <a:r>
              <a:rPr lang="fr-FR" sz="1500" b="1" i="0" u="none" strike="noStrike" baseline="0" dirty="0" err="1" smtClean="0">
                <a:solidFill>
                  <a:srgbClr val="000081"/>
                </a:solidFill>
                <a:latin typeface="Courier New" panose="02070309020205020404" pitchFamily="49" charset="0"/>
                <a:cs typeface="Courier New" panose="02070309020205020404" pitchFamily="49" charset="0"/>
              </a:rPr>
              <a:t>sigemptyset</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(&amp;</a:t>
            </a:r>
            <a:r>
              <a:rPr lang="fr-FR" sz="1500" b="0" i="0" u="none" strike="noStrike" baseline="0" dirty="0" err="1" smtClean="0">
                <a:solidFill>
                  <a:srgbClr val="000081"/>
                </a:solidFill>
                <a:latin typeface="Courier New" panose="02070309020205020404" pitchFamily="49" charset="0"/>
                <a:cs typeface="Courier New" panose="02070309020205020404" pitchFamily="49" charset="0"/>
              </a:rPr>
              <a:t>sig_proc</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a:t>
            </a:r>
          </a:p>
          <a:p>
            <a:pPr marL="0" indent="0">
              <a:buNone/>
            </a:pPr>
            <a:r>
              <a:rPr lang="fr-FR" sz="1500" b="1" i="0" u="none" strike="noStrike" baseline="0" dirty="0" smtClean="0">
                <a:solidFill>
                  <a:srgbClr val="000000"/>
                </a:solidFill>
                <a:latin typeface="Courier New" panose="02070309020205020404" pitchFamily="49" charset="0"/>
                <a:cs typeface="Courier New" panose="02070309020205020404" pitchFamily="49" charset="0"/>
              </a:rPr>
              <a:t>/* changer le traitement */</a:t>
            </a:r>
          </a:p>
          <a:p>
            <a:pPr marL="0" indent="0">
              <a:buNone/>
            </a:pPr>
            <a:r>
              <a:rPr lang="fr-FR" sz="1500" b="0" i="0" u="none" strike="noStrike" baseline="0" dirty="0" err="1" smtClean="0">
                <a:solidFill>
                  <a:srgbClr val="000081"/>
                </a:solidFill>
                <a:latin typeface="Courier New" panose="02070309020205020404" pitchFamily="49" charset="0"/>
                <a:cs typeface="Courier New" panose="02070309020205020404" pitchFamily="49" charset="0"/>
              </a:rPr>
              <a:t>action.sa_mask</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a:t>
            </a:r>
            <a:r>
              <a:rPr lang="fr-FR" sz="1500" b="0" i="0" u="none" strike="noStrike" baseline="0" dirty="0" err="1" smtClean="0">
                <a:solidFill>
                  <a:srgbClr val="000081"/>
                </a:solidFill>
                <a:latin typeface="Courier New" panose="02070309020205020404" pitchFamily="49" charset="0"/>
                <a:cs typeface="Courier New" panose="02070309020205020404" pitchFamily="49" charset="0"/>
              </a:rPr>
              <a:t>sig_proc</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a:t>
            </a:r>
          </a:p>
          <a:p>
            <a:pPr marL="0" indent="0">
              <a:buNone/>
            </a:pPr>
            <a:r>
              <a:rPr lang="fr-FR" sz="1500" b="0" i="0" u="none" strike="noStrike" baseline="0" dirty="0" err="1" smtClean="0">
                <a:solidFill>
                  <a:srgbClr val="000081"/>
                </a:solidFill>
                <a:latin typeface="Courier New" panose="02070309020205020404" pitchFamily="49" charset="0"/>
                <a:cs typeface="Courier New" panose="02070309020205020404" pitchFamily="49" charset="0"/>
              </a:rPr>
              <a:t>action.sa_flags</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=0;</a:t>
            </a:r>
          </a:p>
          <a:p>
            <a:pPr marL="0" indent="0">
              <a:buNone/>
            </a:pPr>
            <a:r>
              <a:rPr lang="fr-FR" sz="1500" b="0" i="0" u="none" strike="noStrike" baseline="0" dirty="0" err="1" smtClean="0">
                <a:solidFill>
                  <a:srgbClr val="000081"/>
                </a:solidFill>
                <a:latin typeface="Courier New" panose="02070309020205020404" pitchFamily="49" charset="0"/>
                <a:cs typeface="Courier New" panose="02070309020205020404" pitchFamily="49" charset="0"/>
              </a:rPr>
              <a:t>action.sa_handler</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 = </a:t>
            </a:r>
            <a:r>
              <a:rPr lang="fr-FR" sz="1500" b="0" i="0" u="none" strike="noStrike" baseline="0" dirty="0" err="1" smtClean="0">
                <a:solidFill>
                  <a:srgbClr val="000081"/>
                </a:solidFill>
                <a:latin typeface="Courier New" panose="02070309020205020404" pitchFamily="49" charset="0"/>
                <a:cs typeface="Courier New" panose="02070309020205020404" pitchFamily="49" charset="0"/>
              </a:rPr>
              <a:t>sig_hand</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a:t>
            </a:r>
          </a:p>
          <a:p>
            <a:pPr marL="0" indent="0">
              <a:buNone/>
            </a:pPr>
            <a:r>
              <a:rPr lang="fr-FR" sz="1500" b="1" i="0" u="none" strike="noStrike" baseline="0" dirty="0" err="1" smtClean="0">
                <a:solidFill>
                  <a:srgbClr val="000081"/>
                </a:solidFill>
                <a:latin typeface="Courier New" panose="02070309020205020404" pitchFamily="49" charset="0"/>
                <a:cs typeface="Courier New" panose="02070309020205020404" pitchFamily="49" charset="0"/>
              </a:rPr>
              <a:t>sigaction</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(SIGINT, &amp;action,0);</a:t>
            </a:r>
          </a:p>
          <a:p>
            <a:pPr marL="0" indent="0">
              <a:buNone/>
            </a:pPr>
            <a:r>
              <a:rPr lang="fr-FR" sz="1500" b="1" i="0" u="none" strike="noStrike" baseline="0" dirty="0" smtClean="0">
                <a:solidFill>
                  <a:srgbClr val="000000"/>
                </a:solidFill>
                <a:latin typeface="Courier New" panose="02070309020205020404" pitchFamily="49" charset="0"/>
                <a:cs typeface="Courier New" panose="02070309020205020404" pitchFamily="49" charset="0"/>
              </a:rPr>
              <a:t>/* traitement quelconque durant lequel un Ctrl-C est prévu */</a:t>
            </a:r>
          </a:p>
          <a:p>
            <a:pPr marL="0" indent="0">
              <a:buNone/>
            </a:pPr>
            <a:r>
              <a:rPr lang="fr-FR" sz="1500" b="0" i="0" u="none" strike="noStrike" baseline="0" dirty="0" err="1" smtClean="0">
                <a:solidFill>
                  <a:srgbClr val="000081"/>
                </a:solidFill>
                <a:latin typeface="Courier New" panose="02070309020205020404" pitchFamily="49" charset="0"/>
                <a:cs typeface="Courier New" panose="02070309020205020404" pitchFamily="49" charset="0"/>
              </a:rPr>
              <a:t>sleep</a:t>
            </a:r>
            <a:r>
              <a:rPr lang="fr-FR" sz="1500" b="0" i="0" u="none" strike="noStrike" baseline="0" dirty="0" smtClean="0">
                <a:solidFill>
                  <a:srgbClr val="000081"/>
                </a:solidFill>
                <a:latin typeface="Courier New" panose="02070309020205020404" pitchFamily="49" charset="0"/>
                <a:cs typeface="Courier New" panose="02070309020205020404" pitchFamily="49" charset="0"/>
              </a:rPr>
              <a:t>(10);</a:t>
            </a:r>
          </a:p>
          <a:p>
            <a:pPr marL="0" indent="0">
              <a:buNone/>
            </a:pPr>
            <a:r>
              <a:rPr lang="fr-FR" sz="1500" b="0" i="0" u="none" strike="noStrike" baseline="0" dirty="0" smtClean="0">
                <a:solidFill>
                  <a:srgbClr val="000081"/>
                </a:solidFill>
                <a:latin typeface="Courier New" panose="02070309020205020404" pitchFamily="49" charset="0"/>
                <a:cs typeface="Courier New" panose="02070309020205020404" pitchFamily="49" charset="0"/>
              </a:rPr>
              <a:t>return EXIT_SUCCESS; }</a:t>
            </a:r>
            <a:endParaRPr lang="fr-FR" sz="15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35800112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191919"/>
                </a:solidFill>
                <a:latin typeface="Garamond" panose="02020404030301010803" pitchFamily="18" charset="0"/>
                <a:cs typeface="Times New Roman" pitchFamily="18" charset="0"/>
              </a:rPr>
              <a:t>Attach a handler to a signal</a:t>
            </a:r>
            <a:r>
              <a:rPr lang="fr-FR" dirty="0">
                <a:solidFill>
                  <a:srgbClr val="191919"/>
                </a:solidFill>
                <a:latin typeface="Garamond" panose="02020404030301010803" pitchFamily="18" charset="0"/>
                <a:cs typeface="Times New Roman" pitchFamily="18" charset="0"/>
              </a:rPr>
              <a:t>: </a:t>
            </a:r>
            <a:r>
              <a:rPr lang="fr-FR" dirty="0" err="1">
                <a:solidFill>
                  <a:srgbClr val="191919"/>
                </a:solidFill>
                <a:latin typeface="Garamond" panose="02020404030301010803" pitchFamily="18" charset="0"/>
                <a:cs typeface="Times New Roman" pitchFamily="18" charset="0"/>
              </a:rPr>
              <a:t>Example</a:t>
            </a:r>
            <a:r>
              <a:rPr lang="fr-FR" dirty="0">
                <a:solidFill>
                  <a:srgbClr val="191919"/>
                </a:solidFill>
                <a:latin typeface="Garamond" panose="02020404030301010803" pitchFamily="18" charset="0"/>
                <a:cs typeface="Times New Roman" pitchFamily="18" charset="0"/>
              </a:rPr>
              <a:t> </a:t>
            </a:r>
            <a:r>
              <a:rPr lang="fr-FR" dirty="0" err="1">
                <a:solidFill>
                  <a:srgbClr val="191919"/>
                </a:solidFill>
                <a:latin typeface="Garamond" panose="02020404030301010803" pitchFamily="18" charset="0"/>
                <a:cs typeface="Times New Roman" pitchFamily="18" charset="0"/>
              </a:rPr>
              <a:t>with</a:t>
            </a:r>
            <a:r>
              <a:rPr lang="fr-FR" dirty="0">
                <a:solidFill>
                  <a:srgbClr val="191919"/>
                </a:solidFill>
                <a:latin typeface="Garamond" panose="02020404030301010803" pitchFamily="18" charset="0"/>
                <a:cs typeface="Times New Roman" pitchFamily="18" charset="0"/>
              </a:rPr>
              <a:t> </a:t>
            </a:r>
            <a:r>
              <a:rPr lang="fr-FR" dirty="0" err="1">
                <a:latin typeface="Garamond" panose="02020404030301010803" pitchFamily="18" charset="0"/>
              </a:rPr>
              <a:t>sigaction</a:t>
            </a:r>
            <a:r>
              <a:rPr lang="fr-FR" dirty="0">
                <a:latin typeface="Garamond" panose="02020404030301010803" pitchFamily="18" charset="0"/>
              </a:rPr>
              <a:t>()</a:t>
            </a:r>
            <a:endParaRPr lang="fr-FR" dirty="0"/>
          </a:p>
        </p:txBody>
      </p:sp>
      <p:sp>
        <p:nvSpPr>
          <p:cNvPr id="3" name="Content Placeholder 2"/>
          <p:cNvSpPr>
            <a:spLocks noGrp="1"/>
          </p:cNvSpPr>
          <p:nvPr>
            <p:ph idx="1"/>
          </p:nvPr>
        </p:nvSpPr>
        <p:spPr/>
        <p:txBody>
          <a:bodyPr>
            <a:normAutofit/>
          </a:bodyPr>
          <a:lstStyle/>
          <a:p>
            <a:pPr>
              <a:lnSpc>
                <a:spcPts val="3700"/>
              </a:lnSpc>
            </a:pPr>
            <a:r>
              <a:rPr lang="en-US" dirty="0">
                <a:solidFill>
                  <a:srgbClr val="191919"/>
                </a:solidFill>
                <a:latin typeface="Garamond" panose="02020404030301010803" pitchFamily="18" charset="0"/>
                <a:ea typeface="Arial Unicode MS"/>
                <a:cs typeface="Times New Roman" pitchFamily="18" charset="0"/>
              </a:rPr>
              <a:t>Remember to initialize the structure with </a:t>
            </a:r>
            <a:r>
              <a:rPr lang="fr-FR" b="1" dirty="0" err="1" smtClean="0">
                <a:solidFill>
                  <a:srgbClr val="9866CC"/>
                </a:solidFill>
                <a:latin typeface="Garamond" panose="02020404030301010803" pitchFamily="18" charset="0"/>
                <a:ea typeface="Arial Unicode MS"/>
                <a:cs typeface="Times New Roman" pitchFamily="18" charset="0"/>
              </a:rPr>
              <a:t>memset</a:t>
            </a:r>
            <a:r>
              <a:rPr lang="fr-FR" dirty="0">
                <a:solidFill>
                  <a:srgbClr val="191919"/>
                </a:solidFill>
                <a:latin typeface="Garamond" panose="02020404030301010803" pitchFamily="18" charset="0"/>
                <a:ea typeface="Arial Unicode MS"/>
                <a:cs typeface="Times New Roman" pitchFamily="18" charset="0"/>
              </a:rPr>
              <a:t>: </a:t>
            </a:r>
          </a:p>
          <a:p>
            <a:pPr marL="0" indent="0">
              <a:lnSpc>
                <a:spcPts val="1800"/>
              </a:lnSpc>
              <a:buNone/>
            </a:pPr>
            <a:r>
              <a:rPr lang="en-US" dirty="0" err="1" smtClean="0">
                <a:solidFill>
                  <a:srgbClr val="0000FF"/>
                </a:solidFill>
                <a:latin typeface="Courier New" panose="02070309020205020404" pitchFamily="49" charset="0"/>
                <a:cs typeface="Courier New" panose="02070309020205020404" pitchFamily="49" charset="0"/>
              </a:rPr>
              <a:t>struct</a:t>
            </a:r>
            <a:r>
              <a:rPr lang="en-US" dirty="0" smtClean="0">
                <a:solidFill>
                  <a:srgbClr val="0000FF"/>
                </a:solidFill>
                <a:latin typeface="Courier New" panose="02070309020205020404" pitchFamily="49" charset="0"/>
                <a:cs typeface="Courier New" panose="02070309020205020404" pitchFamily="49" charset="0"/>
              </a:rPr>
              <a:t> </a:t>
            </a:r>
            <a:r>
              <a:rPr lang="en-US" dirty="0" err="1" smtClean="0">
                <a:solidFill>
                  <a:srgbClr val="0000FF"/>
                </a:solidFill>
                <a:latin typeface="Courier New" panose="02070309020205020404" pitchFamily="49" charset="0"/>
                <a:cs typeface="Courier New" panose="02070309020205020404" pitchFamily="49" charset="0"/>
              </a:rPr>
              <a:t>sigaction</a:t>
            </a:r>
            <a:r>
              <a:rPr lang="en-US" dirty="0" smtClean="0">
                <a:solidFill>
                  <a:srgbClr val="0000FF"/>
                </a:solidFill>
                <a:latin typeface="Courier New" panose="02070309020205020404" pitchFamily="49" charset="0"/>
                <a:cs typeface="Courier New" panose="02070309020205020404" pitchFamily="49" charset="0"/>
              </a:rPr>
              <a:t> sig; </a:t>
            </a:r>
          </a:p>
          <a:p>
            <a:pPr marL="0" indent="0">
              <a:lnSpc>
                <a:spcPts val="1800"/>
              </a:lnSpc>
              <a:buNone/>
            </a:pPr>
            <a:r>
              <a:rPr lang="en-US" dirty="0" err="1" smtClean="0">
                <a:solidFill>
                  <a:srgbClr val="0000FF"/>
                </a:solidFill>
                <a:latin typeface="Courier New" panose="02070309020205020404" pitchFamily="49" charset="0"/>
                <a:cs typeface="Courier New" panose="02070309020205020404" pitchFamily="49" charset="0"/>
              </a:rPr>
              <a:t>memset</a:t>
            </a:r>
            <a:r>
              <a:rPr lang="en-US" dirty="0" smtClean="0">
                <a:solidFill>
                  <a:srgbClr val="0000FF"/>
                </a:solidFill>
                <a:latin typeface="Courier New" panose="02070309020205020404" pitchFamily="49" charset="0"/>
                <a:cs typeface="Courier New" panose="02070309020205020404" pitchFamily="49" charset="0"/>
              </a:rPr>
              <a:t>(&amp;sig,0,sizeof(</a:t>
            </a:r>
            <a:r>
              <a:rPr lang="en-US" dirty="0" err="1" smtClean="0">
                <a:solidFill>
                  <a:srgbClr val="0000FF"/>
                </a:solidFill>
                <a:latin typeface="Courier New" panose="02070309020205020404" pitchFamily="49" charset="0"/>
                <a:cs typeface="Courier New" panose="02070309020205020404" pitchFamily="49" charset="0"/>
              </a:rPr>
              <a:t>struct</a:t>
            </a:r>
            <a:r>
              <a:rPr lang="en-US" dirty="0" smtClean="0">
                <a:solidFill>
                  <a:srgbClr val="0000FF"/>
                </a:solidFill>
                <a:latin typeface="Courier New" panose="02070309020205020404" pitchFamily="49" charset="0"/>
                <a:cs typeface="Courier New" panose="02070309020205020404" pitchFamily="49" charset="0"/>
              </a:rPr>
              <a:t> </a:t>
            </a:r>
            <a:r>
              <a:rPr lang="en-US" dirty="0" err="1" smtClean="0">
                <a:solidFill>
                  <a:srgbClr val="0000FF"/>
                </a:solidFill>
                <a:latin typeface="Courier New" panose="02070309020205020404" pitchFamily="49" charset="0"/>
                <a:cs typeface="Courier New" panose="02070309020205020404" pitchFamily="49" charset="0"/>
              </a:rPr>
              <a:t>sigaction</a:t>
            </a:r>
            <a:r>
              <a:rPr lang="en-US" dirty="0" smtClean="0">
                <a:solidFill>
                  <a:srgbClr val="0000FF"/>
                </a:solidFill>
                <a:latin typeface="Courier New" panose="02070309020205020404" pitchFamily="49" charset="0"/>
                <a:cs typeface="Courier New" panose="02070309020205020404" pitchFamily="49" charset="0"/>
              </a:rPr>
              <a:t>)); </a:t>
            </a:r>
          </a:p>
          <a:p>
            <a:pPr>
              <a:lnSpc>
                <a:spcPts val="3700"/>
              </a:lnSpc>
            </a:pPr>
            <a:r>
              <a:rPr lang="en-US" dirty="0">
                <a:solidFill>
                  <a:srgbClr val="191919"/>
                </a:solidFill>
                <a:latin typeface="Garamond" panose="02020404030301010803" pitchFamily="18" charset="0"/>
                <a:ea typeface="Arial Unicode MS"/>
                <a:cs typeface="Times New Roman" pitchFamily="18" charset="0"/>
              </a:rPr>
              <a:t>example: using a handler on SIGALRM to write a clock </a:t>
            </a:r>
            <a:r>
              <a:rPr lang="en-US" dirty="0" smtClean="0">
                <a:solidFill>
                  <a:srgbClr val="191919"/>
                </a:solidFill>
                <a:latin typeface="Garamond" panose="02020404030301010803" pitchFamily="18" charset="0"/>
                <a:ea typeface="Arial Unicode MS"/>
                <a:cs typeface="Times New Roman" pitchFamily="18" charset="0"/>
              </a:rPr>
              <a:t> </a:t>
            </a:r>
            <a:r>
              <a:rPr lang="en-US" i="1" dirty="0" smtClean="0">
                <a:solidFill>
                  <a:srgbClr val="191919"/>
                </a:solidFill>
                <a:latin typeface="Garamond" panose="02020404030301010803" pitchFamily="18" charset="0"/>
                <a:cs typeface="Times New Roman" pitchFamily="18" charset="0"/>
                <a:hlinkClick r:id="rId2" action="ppaction://hlinkfile"/>
              </a:rPr>
              <a:t>Signal </a:t>
            </a:r>
            <a:r>
              <a:rPr lang="en-US" i="1" dirty="0">
                <a:solidFill>
                  <a:srgbClr val="191919"/>
                </a:solidFill>
                <a:latin typeface="Garamond" panose="02020404030301010803" pitchFamily="18" charset="0"/>
                <a:cs typeface="Times New Roman" pitchFamily="18" charset="0"/>
                <a:hlinkClick r:id="rId2" action="ppaction://hlinkfile"/>
              </a:rPr>
              <a:t>timer </a:t>
            </a:r>
            <a:endParaRPr lang="en-US" i="1" dirty="0">
              <a:solidFill>
                <a:srgbClr val="191919"/>
              </a:solidFill>
              <a:latin typeface="Garamond" panose="02020404030301010803" pitchFamily="18" charset="0"/>
              <a:cs typeface="Times New Roman" pitchFamily="18" charset="0"/>
            </a:endParaRPr>
          </a:p>
          <a:p>
            <a:pPr>
              <a:lnSpc>
                <a:spcPts val="3800"/>
              </a:lnSpc>
            </a:pPr>
            <a:r>
              <a:rPr lang="en-US" sz="2400" i="1" dirty="0" smtClean="0">
                <a:solidFill>
                  <a:srgbClr val="191919"/>
                </a:solidFill>
                <a:latin typeface="Garamond" panose="02020404030301010803" pitchFamily="18" charset="0"/>
                <a:cs typeface="Times New Roman" pitchFamily="18" charset="0"/>
                <a:hlinkClick r:id="rId3" action="ppaction://hlinkfile"/>
              </a:rPr>
              <a:t>signal with no masking</a:t>
            </a:r>
            <a:endParaRPr lang="en-US" sz="2400" i="1" dirty="0" smtClean="0">
              <a:solidFill>
                <a:srgbClr val="191919"/>
              </a:solidFill>
              <a:latin typeface="Garamond" panose="02020404030301010803" pitchFamily="18" charset="0"/>
              <a:cs typeface="Times New Roman" pitchFamily="18" charset="0"/>
            </a:endParaRPr>
          </a:p>
          <a:p>
            <a:pPr>
              <a:lnSpc>
                <a:spcPts val="3800"/>
              </a:lnSpc>
            </a:pPr>
            <a:r>
              <a:rPr lang="en-US" sz="2400" i="1" dirty="0" smtClean="0">
                <a:solidFill>
                  <a:srgbClr val="191919"/>
                </a:solidFill>
                <a:latin typeface="Garamond" panose="02020404030301010803" pitchFamily="18" charset="0"/>
                <a:cs typeface="Times New Roman" pitchFamily="18" charset="0"/>
                <a:hlinkClick r:id="rId4" action="ppaction://hlinkfile"/>
              </a:rPr>
              <a:t>signal with masking</a:t>
            </a:r>
            <a:endParaRPr lang="en-US" sz="2400" i="1" dirty="0" smtClean="0">
              <a:solidFill>
                <a:srgbClr val="191919"/>
              </a:solidFill>
              <a:latin typeface="Garamond" panose="02020404030301010803" pitchFamily="18" charset="0"/>
              <a:cs typeface="Times New Roman" pitchFamily="18" charset="0"/>
            </a:endParaRPr>
          </a:p>
          <a:p>
            <a:pPr marL="0" lvl="0">
              <a:lnSpc>
                <a:spcPts val="3300"/>
              </a:lnSpc>
              <a:spcBef>
                <a:spcPts val="0"/>
              </a:spcBef>
              <a:buNone/>
              <a:tabLst>
                <a:tab pos="571500" algn="l"/>
              </a:tabLst>
              <a:defRPr/>
            </a:pPr>
            <a:r>
              <a:rPr lang="en-US" sz="2400" dirty="0">
                <a:solidFill>
                  <a:srgbClr val="191919"/>
                </a:solidFill>
                <a:latin typeface="Garamond" panose="02020404030301010803" pitchFamily="18" charset="0"/>
                <a:cs typeface="Times New Roman" pitchFamily="18" charset="0"/>
                <a:hlinkClick r:id="rId5" action="ppaction://hlinkfile"/>
              </a:rPr>
              <a:t>Exemple </a:t>
            </a:r>
            <a:r>
              <a:rPr lang="en-US" sz="2400" dirty="0" err="1">
                <a:solidFill>
                  <a:srgbClr val="191919"/>
                </a:solidFill>
                <a:latin typeface="Garamond" panose="02020404030301010803" pitchFamily="18" charset="0"/>
                <a:cs typeface="Times New Roman" pitchFamily="18" charset="0"/>
                <a:hlinkClick r:id="rId5" action="ppaction://hlinkfile"/>
              </a:rPr>
              <a:t>Sigaction</a:t>
            </a:r>
            <a:r>
              <a:rPr lang="en-US" sz="2400" dirty="0">
                <a:solidFill>
                  <a:srgbClr val="191919"/>
                </a:solidFill>
                <a:latin typeface="Garamond" panose="02020404030301010803" pitchFamily="18" charset="0"/>
                <a:cs typeface="Times New Roman" pitchFamily="18" charset="0"/>
                <a:hlinkClick r:id="rId5" action="ppaction://hlinkfile"/>
              </a:rPr>
              <a:t> 1</a:t>
            </a:r>
            <a:endParaRPr lang="en-US" sz="2400" dirty="0">
              <a:solidFill>
                <a:srgbClr val="191919"/>
              </a:solidFill>
              <a:latin typeface="Garamond" panose="02020404030301010803" pitchFamily="18" charset="0"/>
              <a:cs typeface="Times New Roman" pitchFamily="18" charset="0"/>
            </a:endParaRPr>
          </a:p>
          <a:p>
            <a:pPr marL="0" lvl="0">
              <a:lnSpc>
                <a:spcPts val="3300"/>
              </a:lnSpc>
              <a:spcBef>
                <a:spcPts val="0"/>
              </a:spcBef>
              <a:buNone/>
              <a:tabLst>
                <a:tab pos="571500" algn="l"/>
              </a:tabLst>
              <a:defRPr/>
            </a:pPr>
            <a:r>
              <a:rPr lang="en-US" sz="2400" dirty="0">
                <a:solidFill>
                  <a:srgbClr val="191919"/>
                </a:solidFill>
                <a:latin typeface="Garamond" panose="02020404030301010803" pitchFamily="18" charset="0"/>
                <a:cs typeface="Times New Roman" pitchFamily="18" charset="0"/>
                <a:hlinkClick r:id="rId6" action="ppaction://hlinkfile"/>
              </a:rPr>
              <a:t>Exemple </a:t>
            </a:r>
            <a:r>
              <a:rPr lang="en-US" sz="2400" dirty="0" err="1">
                <a:solidFill>
                  <a:srgbClr val="191919"/>
                </a:solidFill>
                <a:latin typeface="Garamond" panose="02020404030301010803" pitchFamily="18" charset="0"/>
                <a:cs typeface="Times New Roman" pitchFamily="18" charset="0"/>
                <a:hlinkClick r:id="rId6" action="ppaction://hlinkfile"/>
              </a:rPr>
              <a:t>Sigaction</a:t>
            </a:r>
            <a:r>
              <a:rPr lang="en-US" sz="2400" dirty="0">
                <a:solidFill>
                  <a:srgbClr val="191919"/>
                </a:solidFill>
                <a:latin typeface="Garamond" panose="02020404030301010803" pitchFamily="18" charset="0"/>
                <a:cs typeface="Times New Roman" pitchFamily="18" charset="0"/>
                <a:hlinkClick r:id="rId6" action="ppaction://hlinkfile"/>
              </a:rPr>
              <a:t>  </a:t>
            </a:r>
            <a:r>
              <a:rPr lang="en-US" sz="2400" dirty="0" smtClean="0">
                <a:solidFill>
                  <a:srgbClr val="191919"/>
                </a:solidFill>
                <a:latin typeface="Garamond" panose="02020404030301010803" pitchFamily="18" charset="0"/>
                <a:cs typeface="Times New Roman" pitchFamily="18" charset="0"/>
                <a:hlinkClick r:id="rId6" action="ppaction://hlinkfile"/>
              </a:rPr>
              <a:t>2</a:t>
            </a:r>
            <a:r>
              <a:rPr lang="en-US" sz="2400" dirty="0">
                <a:solidFill>
                  <a:srgbClr val="191919"/>
                </a:solidFill>
                <a:latin typeface="Garamond" panose="02020404030301010803" pitchFamily="18" charset="0"/>
                <a:cs typeface="Times New Roman" pitchFamily="18" charset="0"/>
              </a:rPr>
              <a:t>(see next slide trace)</a:t>
            </a:r>
            <a:endParaRPr lang="en-US" sz="2700" dirty="0" smtClean="0">
              <a:latin typeface="Garamond" panose="02020404030301010803" pitchFamily="18" charset="0"/>
              <a:cs typeface="Times New Roman" pitchFamily="18" charset="0"/>
            </a:endParaRPr>
          </a:p>
          <a:p>
            <a:endParaRPr lang="fr-FR" dirty="0"/>
          </a:p>
        </p:txBody>
      </p:sp>
    </p:spTree>
    <p:extLst>
      <p:ext uri="{BB962C8B-B14F-4D97-AF65-F5344CB8AC3E}">
        <p14:creationId xmlns:p14="http://schemas.microsoft.com/office/powerpoint/2010/main" val="141277150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8309" y="296058"/>
            <a:ext cx="8863533" cy="5119671"/>
          </a:xfrm>
          <a:prstGeom prst="rect">
            <a:avLst/>
          </a:prstGeom>
        </p:spPr>
        <p:txBody>
          <a:bodyPr wrap="square">
            <a:spAutoFit/>
          </a:bodyPr>
          <a:lstStyle/>
          <a:p>
            <a:pPr lvl="0"/>
            <a:r>
              <a:rPr lang="en-US" sz="2178" dirty="0">
                <a:solidFill>
                  <a:prstClr val="black"/>
                </a:solidFill>
                <a:latin typeface="Garamond"/>
              </a:rPr>
              <a:t>Here is the trace of this program, which we interrupt with </a:t>
            </a:r>
            <a:r>
              <a:rPr lang="fr-FR" sz="2178" dirty="0" smtClean="0">
                <a:solidFill>
                  <a:prstClr val="black"/>
                </a:solidFill>
                <a:latin typeface="Garamond"/>
              </a:rPr>
              <a:t>Ctrl-C </a:t>
            </a:r>
            <a:r>
              <a:rPr lang="fr-FR" sz="2178" dirty="0">
                <a:solidFill>
                  <a:prstClr val="black"/>
                </a:solidFill>
                <a:latin typeface="Garamond"/>
              </a:rPr>
              <a:t>:</a:t>
            </a:r>
          </a:p>
          <a:p>
            <a:pPr lvl="0"/>
            <a:r>
              <a:rPr lang="en-US" sz="2178" dirty="0" err="1">
                <a:solidFill>
                  <a:prstClr val="black"/>
                </a:solidFill>
                <a:latin typeface="Garamond"/>
              </a:rPr>
              <a:t>gcc</a:t>
            </a:r>
            <a:r>
              <a:rPr lang="en-US" sz="2178" dirty="0">
                <a:solidFill>
                  <a:prstClr val="black"/>
                </a:solidFill>
                <a:latin typeface="Garamond"/>
              </a:rPr>
              <a:t> </a:t>
            </a:r>
            <a:r>
              <a:rPr lang="en-US" sz="2178" dirty="0" err="1">
                <a:solidFill>
                  <a:prstClr val="black"/>
                </a:solidFill>
                <a:latin typeface="Garamond"/>
              </a:rPr>
              <a:t>sigint.c</a:t>
            </a:r>
            <a:r>
              <a:rPr lang="en-US" sz="2178" dirty="0">
                <a:solidFill>
                  <a:prstClr val="black"/>
                </a:solidFill>
                <a:latin typeface="Garamond"/>
              </a:rPr>
              <a:t> -o </a:t>
            </a:r>
            <a:r>
              <a:rPr lang="en-US" sz="2178" dirty="0" err="1">
                <a:solidFill>
                  <a:prstClr val="black"/>
                </a:solidFill>
                <a:latin typeface="Garamond"/>
              </a:rPr>
              <a:t>sigint</a:t>
            </a:r>
            <a:endParaRPr lang="en-US" sz="2178" dirty="0">
              <a:solidFill>
                <a:prstClr val="black"/>
              </a:solidFill>
              <a:latin typeface="Garamond"/>
            </a:endParaRPr>
          </a:p>
          <a:p>
            <a:pPr lvl="0"/>
            <a:r>
              <a:rPr lang="en-US" sz="2178" dirty="0">
                <a:solidFill>
                  <a:prstClr val="black"/>
                </a:solidFill>
                <a:latin typeface="Garamond"/>
              </a:rPr>
              <a:t>./</a:t>
            </a:r>
            <a:r>
              <a:rPr lang="en-US" sz="2178" dirty="0" err="1">
                <a:solidFill>
                  <a:prstClr val="black"/>
                </a:solidFill>
                <a:latin typeface="Garamond"/>
              </a:rPr>
              <a:t>sigint</a:t>
            </a:r>
            <a:endParaRPr lang="en-US" sz="2178" dirty="0">
              <a:solidFill>
                <a:prstClr val="black"/>
              </a:solidFill>
              <a:latin typeface="Garamond"/>
            </a:endParaRPr>
          </a:p>
          <a:p>
            <a:pPr lvl="0"/>
            <a:r>
              <a:rPr lang="en-US" sz="2178" dirty="0" err="1">
                <a:solidFill>
                  <a:prstClr val="black"/>
                </a:solidFill>
                <a:latin typeface="Garamond"/>
              </a:rPr>
              <a:t>donnees</a:t>
            </a:r>
            <a:r>
              <a:rPr lang="en-US" sz="2178" dirty="0">
                <a:solidFill>
                  <a:prstClr val="black"/>
                </a:solidFill>
                <a:latin typeface="Garamond"/>
              </a:rPr>
              <a:t>[0] = 5</a:t>
            </a:r>
          </a:p>
          <a:p>
            <a:pPr lvl="0"/>
            <a:r>
              <a:rPr lang="en-US" sz="2178" dirty="0" err="1">
                <a:solidFill>
                  <a:prstClr val="black"/>
                </a:solidFill>
                <a:latin typeface="Garamond"/>
              </a:rPr>
              <a:t>donnees</a:t>
            </a:r>
            <a:r>
              <a:rPr lang="en-US" sz="2178" dirty="0">
                <a:solidFill>
                  <a:prstClr val="black"/>
                </a:solidFill>
                <a:latin typeface="Garamond"/>
              </a:rPr>
              <a:t>[1] = 8</a:t>
            </a:r>
          </a:p>
          <a:p>
            <a:pPr lvl="0"/>
            <a:r>
              <a:rPr lang="en-US" sz="2178" dirty="0" err="1">
                <a:solidFill>
                  <a:prstClr val="black"/>
                </a:solidFill>
                <a:latin typeface="Garamond"/>
              </a:rPr>
              <a:t>donnees</a:t>
            </a:r>
            <a:r>
              <a:rPr lang="en-US" sz="2178" dirty="0">
                <a:solidFill>
                  <a:prstClr val="black"/>
                </a:solidFill>
                <a:latin typeface="Garamond"/>
              </a:rPr>
              <a:t>[2] = 2</a:t>
            </a:r>
          </a:p>
          <a:p>
            <a:pPr lvl="0"/>
            <a:r>
              <a:rPr lang="en-US" sz="2178" dirty="0" err="1">
                <a:solidFill>
                  <a:prstClr val="black"/>
                </a:solidFill>
                <a:latin typeface="Garamond"/>
              </a:rPr>
              <a:t>donnees</a:t>
            </a:r>
            <a:r>
              <a:rPr lang="en-US" sz="2178" dirty="0">
                <a:solidFill>
                  <a:prstClr val="black"/>
                </a:solidFill>
                <a:latin typeface="Garamond"/>
              </a:rPr>
              <a:t>[3] = 9</a:t>
            </a:r>
          </a:p>
          <a:p>
            <a:pPr lvl="0"/>
            <a:r>
              <a:rPr lang="en-US" sz="2178" dirty="0" err="1">
                <a:solidFill>
                  <a:prstClr val="black"/>
                </a:solidFill>
                <a:latin typeface="Garamond"/>
              </a:rPr>
              <a:t>donnees</a:t>
            </a:r>
            <a:r>
              <a:rPr lang="en-US" sz="2178" dirty="0">
                <a:solidFill>
                  <a:prstClr val="black"/>
                </a:solidFill>
                <a:latin typeface="Garamond"/>
              </a:rPr>
              <a:t>[4] = 7</a:t>
            </a:r>
          </a:p>
          <a:p>
            <a:pPr lvl="0"/>
            <a:r>
              <a:rPr lang="en-US" sz="2178" dirty="0" err="1">
                <a:solidFill>
                  <a:prstClr val="black"/>
                </a:solidFill>
                <a:latin typeface="Garamond"/>
              </a:rPr>
              <a:t>zzz</a:t>
            </a:r>
            <a:r>
              <a:rPr lang="en-US" sz="2178" dirty="0">
                <a:solidFill>
                  <a:prstClr val="black"/>
                </a:solidFill>
                <a:latin typeface="Garamond"/>
              </a:rPr>
              <a:t>...</a:t>
            </a:r>
          </a:p>
          <a:p>
            <a:pPr lvl="0"/>
            <a:r>
              <a:rPr lang="nl-NL" sz="2178" dirty="0">
                <a:solidFill>
                  <a:prstClr val="black"/>
                </a:solidFill>
                <a:latin typeface="Garamond"/>
              </a:rPr>
              <a:t>donnees[0] = 5 donnees[1] = 8 donnees[2] = 2 donnees[3] = 9 donnees[4] = 7</a:t>
            </a:r>
          </a:p>
          <a:p>
            <a:pPr lvl="0"/>
            <a:r>
              <a:rPr lang="en-US" sz="2178" dirty="0" err="1">
                <a:solidFill>
                  <a:prstClr val="black"/>
                </a:solidFill>
                <a:latin typeface="Garamond"/>
              </a:rPr>
              <a:t>Voules-vous</a:t>
            </a:r>
            <a:r>
              <a:rPr lang="en-US" sz="2178" dirty="0">
                <a:solidFill>
                  <a:prstClr val="black"/>
                </a:solidFill>
                <a:latin typeface="Garamond"/>
              </a:rPr>
              <a:t> continuer ? (o/n)</a:t>
            </a:r>
          </a:p>
          <a:p>
            <a:pPr lvl="0"/>
            <a:r>
              <a:rPr lang="en-US" sz="2178" dirty="0">
                <a:solidFill>
                  <a:prstClr val="black"/>
                </a:solidFill>
                <a:latin typeface="Garamond"/>
              </a:rPr>
              <a:t>Signal </a:t>
            </a:r>
            <a:r>
              <a:rPr lang="en-US" sz="2178" dirty="0" err="1">
                <a:solidFill>
                  <a:prstClr val="black"/>
                </a:solidFill>
                <a:latin typeface="Garamond"/>
              </a:rPr>
              <a:t>d'interruption</a:t>
            </a:r>
            <a:r>
              <a:rPr lang="en-US" sz="2178" dirty="0">
                <a:solidFill>
                  <a:prstClr val="black"/>
                </a:solidFill>
                <a:latin typeface="Garamond"/>
              </a:rPr>
              <a:t>, </a:t>
            </a:r>
            <a:r>
              <a:rPr lang="en-US" sz="2178" dirty="0" err="1">
                <a:solidFill>
                  <a:prstClr val="black"/>
                </a:solidFill>
                <a:latin typeface="Garamond"/>
              </a:rPr>
              <a:t>sauvegarde</a:t>
            </a:r>
            <a:r>
              <a:rPr lang="en-US" sz="2178" dirty="0">
                <a:solidFill>
                  <a:prstClr val="black"/>
                </a:solidFill>
                <a:latin typeface="Garamond"/>
              </a:rPr>
              <a:t>...</a:t>
            </a:r>
          </a:p>
          <a:p>
            <a:pPr lvl="0"/>
            <a:r>
              <a:rPr lang="fr-FR" sz="2178" dirty="0">
                <a:solidFill>
                  <a:prstClr val="black"/>
                </a:solidFill>
                <a:latin typeface="Garamond"/>
              </a:rPr>
              <a:t>Sauvegarde terminée, terminaison du processus</a:t>
            </a:r>
          </a:p>
          <a:p>
            <a:pPr lvl="0"/>
            <a:r>
              <a:rPr lang="en-US" sz="2178" dirty="0">
                <a:solidFill>
                  <a:prstClr val="black"/>
                </a:solidFill>
                <a:latin typeface="Garamond"/>
              </a:rPr>
              <a:t>cat /</a:t>
            </a:r>
            <a:r>
              <a:rPr lang="en-US" sz="2178" dirty="0" err="1">
                <a:solidFill>
                  <a:prstClr val="black"/>
                </a:solidFill>
                <a:latin typeface="Garamond"/>
              </a:rPr>
              <a:t>tmp</a:t>
            </a:r>
            <a:r>
              <a:rPr lang="en-US" sz="2178" dirty="0">
                <a:solidFill>
                  <a:prstClr val="black"/>
                </a:solidFill>
                <a:latin typeface="Garamond"/>
              </a:rPr>
              <a:t>/sauve.txt</a:t>
            </a:r>
          </a:p>
          <a:p>
            <a:pPr lvl="0"/>
            <a:r>
              <a:rPr lang="en-US" sz="2178" dirty="0">
                <a:solidFill>
                  <a:prstClr val="black"/>
                </a:solidFill>
                <a:latin typeface="Garamond"/>
              </a:rPr>
              <a:t>5 8 2 9 7</a:t>
            </a:r>
            <a:endParaRPr lang="en-US" sz="2178" dirty="0">
              <a:solidFill>
                <a:srgbClr val="FF0000"/>
              </a:solidFill>
              <a:latin typeface="Garamond"/>
            </a:endParaRPr>
          </a:p>
        </p:txBody>
      </p:sp>
    </p:spTree>
    <p:extLst>
      <p:ext uri="{BB962C8B-B14F-4D97-AF65-F5344CB8AC3E}">
        <p14:creationId xmlns:p14="http://schemas.microsoft.com/office/powerpoint/2010/main" val="287509810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191919"/>
                </a:solidFill>
                <a:latin typeface="Garamond" panose="02020404030301010803" pitchFamily="18" charset="0"/>
                <a:cs typeface="Times New Roman" pitchFamily="18" charset="0"/>
              </a:rPr>
              <a:t>Example</a:t>
            </a:r>
            <a:endParaRPr lang="fr-FR" dirty="0"/>
          </a:p>
        </p:txBody>
      </p:sp>
      <p:sp>
        <p:nvSpPr>
          <p:cNvPr id="3" name="Content Placeholder 2"/>
          <p:cNvSpPr>
            <a:spLocks noGrp="1"/>
          </p:cNvSpPr>
          <p:nvPr>
            <p:ph idx="1"/>
          </p:nvPr>
        </p:nvSpPr>
        <p:spPr>
          <a:xfrm>
            <a:off x="1920112" y="1285154"/>
            <a:ext cx="4187414" cy="4525963"/>
          </a:xfrm>
        </p:spPr>
        <p:txBody>
          <a:bodyPr>
            <a:noAutofit/>
          </a:bodyPr>
          <a:lstStyle/>
          <a:p>
            <a:pPr marL="0" indent="0">
              <a:buNone/>
            </a:pPr>
            <a:r>
              <a:rPr lang="fr-FR" sz="2087" dirty="0">
                <a:latin typeface="Garamond" panose="02020404030301010803" pitchFamily="18" charset="0"/>
              </a:rPr>
              <a:t>#</a:t>
            </a:r>
            <a:r>
              <a:rPr lang="fr-FR" sz="2087" dirty="0" err="1">
                <a:latin typeface="Garamond" panose="02020404030301010803" pitchFamily="18" charset="0"/>
              </a:rPr>
              <a:t>include</a:t>
            </a:r>
            <a:r>
              <a:rPr lang="fr-FR" sz="2087" dirty="0">
                <a:latin typeface="Garamond" panose="02020404030301010803" pitchFamily="18" charset="0"/>
              </a:rPr>
              <a:t> &lt;</a:t>
            </a:r>
            <a:r>
              <a:rPr lang="fr-FR" sz="2087" dirty="0" err="1">
                <a:latin typeface="Garamond" panose="02020404030301010803" pitchFamily="18" charset="0"/>
              </a:rPr>
              <a:t>signal.h</a:t>
            </a:r>
            <a:r>
              <a:rPr lang="fr-FR" sz="2087" dirty="0">
                <a:latin typeface="Garamond" panose="02020404030301010803" pitchFamily="18" charset="0"/>
              </a:rPr>
              <a:t>&gt;</a:t>
            </a:r>
          </a:p>
          <a:p>
            <a:pPr marL="0" indent="0">
              <a:buNone/>
            </a:pPr>
            <a:r>
              <a:rPr lang="fr-FR" sz="2087" dirty="0" err="1">
                <a:latin typeface="Garamond" panose="02020404030301010803" pitchFamily="18" charset="0"/>
              </a:rPr>
              <a:t>void</a:t>
            </a:r>
            <a:r>
              <a:rPr lang="fr-FR" sz="2087" dirty="0">
                <a:latin typeface="Garamond" panose="02020404030301010803" pitchFamily="18" charset="0"/>
              </a:rPr>
              <a:t> </a:t>
            </a:r>
            <a:r>
              <a:rPr lang="fr-FR" sz="2087" dirty="0" err="1">
                <a:latin typeface="Garamond" panose="02020404030301010803" pitchFamily="18" charset="0"/>
              </a:rPr>
              <a:t>on_signal</a:t>
            </a:r>
            <a:r>
              <a:rPr lang="fr-FR" sz="2087" dirty="0">
                <a:latin typeface="Garamond" panose="02020404030301010803" pitchFamily="18" charset="0"/>
              </a:rPr>
              <a:t>(</a:t>
            </a:r>
            <a:r>
              <a:rPr lang="fr-FR" sz="2087" dirty="0" err="1">
                <a:latin typeface="Garamond" panose="02020404030301010803" pitchFamily="18" charset="0"/>
              </a:rPr>
              <a:t>int</a:t>
            </a:r>
            <a:r>
              <a:rPr lang="fr-FR" sz="2087" dirty="0">
                <a:latin typeface="Garamond" panose="02020404030301010803" pitchFamily="18" charset="0"/>
              </a:rPr>
              <a:t> </a:t>
            </a:r>
            <a:r>
              <a:rPr lang="fr-FR" sz="2087" dirty="0" err="1">
                <a:latin typeface="Garamond" panose="02020404030301010803" pitchFamily="18" charset="0"/>
              </a:rPr>
              <a:t>sig</a:t>
            </a:r>
            <a:r>
              <a:rPr lang="fr-FR" sz="2087" dirty="0">
                <a:latin typeface="Garamond" panose="02020404030301010803" pitchFamily="18" charset="0"/>
              </a:rPr>
              <a:t>) {</a:t>
            </a:r>
          </a:p>
          <a:p>
            <a:pPr marL="0" indent="0">
              <a:buNone/>
            </a:pPr>
            <a:r>
              <a:rPr lang="fr-FR" sz="2087" dirty="0" err="1">
                <a:latin typeface="Garamond" panose="02020404030301010803" pitchFamily="18" charset="0"/>
              </a:rPr>
              <a:t>printf</a:t>
            </a:r>
            <a:r>
              <a:rPr lang="fr-FR" sz="2087" dirty="0">
                <a:latin typeface="Garamond" panose="02020404030301010803" pitchFamily="18" charset="0"/>
              </a:rPr>
              <a:t>("*** signal %d\n", </a:t>
            </a:r>
            <a:r>
              <a:rPr lang="fr-FR" sz="2087" dirty="0" err="1">
                <a:latin typeface="Garamond" panose="02020404030301010803" pitchFamily="18" charset="0"/>
              </a:rPr>
              <a:t>sig</a:t>
            </a:r>
            <a:r>
              <a:rPr lang="fr-FR" sz="2087" dirty="0">
                <a:latin typeface="Garamond" panose="02020404030301010803" pitchFamily="18" charset="0"/>
              </a:rPr>
              <a:t>);</a:t>
            </a:r>
          </a:p>
          <a:p>
            <a:pPr marL="0" indent="0">
              <a:buNone/>
            </a:pPr>
            <a:r>
              <a:rPr lang="fr-FR" sz="2087" dirty="0" err="1">
                <a:latin typeface="Garamond" panose="02020404030301010803" pitchFamily="18" charset="0"/>
              </a:rPr>
              <a:t>sleep</a:t>
            </a:r>
            <a:r>
              <a:rPr lang="fr-FR" sz="2087" dirty="0">
                <a:latin typeface="Garamond" panose="02020404030301010803" pitchFamily="18" charset="0"/>
              </a:rPr>
              <a:t>(5);</a:t>
            </a:r>
          </a:p>
          <a:p>
            <a:pPr marL="0" indent="0">
              <a:buNone/>
            </a:pPr>
            <a:r>
              <a:rPr lang="fr-FR" sz="2087" dirty="0" err="1">
                <a:latin typeface="Garamond" panose="02020404030301010803" pitchFamily="18" charset="0"/>
              </a:rPr>
              <a:t>printf</a:t>
            </a:r>
            <a:r>
              <a:rPr lang="fr-FR" sz="2087" dirty="0">
                <a:latin typeface="Garamond" panose="02020404030301010803" pitchFamily="18" charset="0"/>
              </a:rPr>
              <a:t>("*** fin </a:t>
            </a:r>
            <a:r>
              <a:rPr lang="fr-FR" sz="2087" dirty="0" err="1">
                <a:latin typeface="Garamond" panose="02020404030301010803" pitchFamily="18" charset="0"/>
              </a:rPr>
              <a:t>handler</a:t>
            </a:r>
            <a:r>
              <a:rPr lang="fr-FR" sz="2087" dirty="0">
                <a:latin typeface="Garamond" panose="02020404030301010803" pitchFamily="18" charset="0"/>
              </a:rPr>
              <a:t>\n");</a:t>
            </a:r>
          </a:p>
          <a:p>
            <a:pPr marL="0" indent="0">
              <a:buNone/>
            </a:pPr>
            <a:r>
              <a:rPr lang="fr-FR" sz="2087" dirty="0">
                <a:latin typeface="Garamond" panose="02020404030301010803" pitchFamily="18" charset="0"/>
              </a:rPr>
              <a:t>}</a:t>
            </a:r>
          </a:p>
          <a:p>
            <a:pPr marL="0" indent="0">
              <a:buNone/>
            </a:pPr>
            <a:r>
              <a:rPr lang="fr-FR" sz="2087" dirty="0">
                <a:latin typeface="Garamond" panose="02020404030301010803" pitchFamily="18" charset="0"/>
              </a:rPr>
              <a:t>main() {</a:t>
            </a:r>
          </a:p>
          <a:p>
            <a:pPr marL="0" indent="0">
              <a:buNone/>
            </a:pPr>
            <a:r>
              <a:rPr lang="fr-FR" sz="2087" dirty="0" err="1">
                <a:latin typeface="Garamond" panose="02020404030301010803" pitchFamily="18" charset="0"/>
              </a:rPr>
              <a:t>struct</a:t>
            </a:r>
            <a:r>
              <a:rPr lang="fr-FR" sz="2087" dirty="0">
                <a:latin typeface="Garamond" panose="02020404030301010803" pitchFamily="18" charset="0"/>
              </a:rPr>
              <a:t> </a:t>
            </a:r>
            <a:r>
              <a:rPr lang="fr-FR" sz="2087" dirty="0" err="1">
                <a:latin typeface="Garamond" panose="02020404030301010803" pitchFamily="18" charset="0"/>
              </a:rPr>
              <a:t>sigaction</a:t>
            </a:r>
            <a:r>
              <a:rPr lang="fr-FR" sz="2087" dirty="0">
                <a:latin typeface="Garamond" panose="02020404030301010803" pitchFamily="18" charset="0"/>
              </a:rPr>
              <a:t> </a:t>
            </a:r>
            <a:r>
              <a:rPr lang="fr-FR" sz="2087" dirty="0" err="1">
                <a:latin typeface="Garamond" panose="02020404030301010803" pitchFamily="18" charset="0"/>
              </a:rPr>
              <a:t>sigact</a:t>
            </a:r>
            <a:r>
              <a:rPr lang="fr-FR" sz="2087" dirty="0">
                <a:latin typeface="Garamond" panose="02020404030301010803" pitchFamily="18" charset="0"/>
              </a:rPr>
              <a:t>;</a:t>
            </a:r>
          </a:p>
          <a:p>
            <a:pPr marL="0" indent="0">
              <a:buNone/>
            </a:pPr>
            <a:r>
              <a:rPr lang="fr-FR" sz="2087" dirty="0" err="1">
                <a:latin typeface="Garamond" panose="02020404030301010803" pitchFamily="18" charset="0"/>
              </a:rPr>
              <a:t>sigset_t</a:t>
            </a:r>
            <a:r>
              <a:rPr lang="fr-FR" sz="2087" dirty="0">
                <a:latin typeface="Garamond" panose="02020404030301010803" pitchFamily="18" charset="0"/>
              </a:rPr>
              <a:t> </a:t>
            </a:r>
            <a:r>
              <a:rPr lang="fr-FR" sz="2087" dirty="0" err="1">
                <a:latin typeface="Garamond" panose="02020404030301010803" pitchFamily="18" charset="0"/>
              </a:rPr>
              <a:t>msk_int</a:t>
            </a:r>
            <a:r>
              <a:rPr lang="fr-FR" sz="2087" dirty="0">
                <a:latin typeface="Garamond" panose="02020404030301010803" pitchFamily="18" charset="0"/>
              </a:rPr>
              <a:t>, </a:t>
            </a:r>
            <a:r>
              <a:rPr lang="fr-FR" sz="2087" dirty="0" err="1">
                <a:latin typeface="Garamond" panose="02020404030301010803" pitchFamily="18" charset="0"/>
              </a:rPr>
              <a:t>msk_quit</a:t>
            </a:r>
            <a:r>
              <a:rPr lang="fr-FR" sz="2087" dirty="0">
                <a:latin typeface="Garamond" panose="02020404030301010803" pitchFamily="18" charset="0"/>
              </a:rPr>
              <a:t>;</a:t>
            </a:r>
          </a:p>
          <a:p>
            <a:pPr marL="0" indent="0">
              <a:buNone/>
            </a:pPr>
            <a:r>
              <a:rPr lang="fr-FR" sz="2087" dirty="0" err="1">
                <a:latin typeface="Garamond" panose="02020404030301010803" pitchFamily="18" charset="0"/>
              </a:rPr>
              <a:t>sigemptyset</a:t>
            </a:r>
            <a:r>
              <a:rPr lang="fr-FR" sz="2087" dirty="0">
                <a:latin typeface="Garamond" panose="02020404030301010803" pitchFamily="18" charset="0"/>
              </a:rPr>
              <a:t>(&amp;</a:t>
            </a:r>
            <a:r>
              <a:rPr lang="fr-FR" sz="2087" dirty="0" err="1">
                <a:latin typeface="Garamond" panose="02020404030301010803" pitchFamily="18" charset="0"/>
              </a:rPr>
              <a:t>msk_int</a:t>
            </a:r>
            <a:r>
              <a:rPr lang="fr-FR" sz="2087" dirty="0">
                <a:latin typeface="Garamond" panose="02020404030301010803" pitchFamily="18" charset="0"/>
              </a:rPr>
              <a:t>);</a:t>
            </a:r>
          </a:p>
          <a:p>
            <a:pPr marL="0" indent="0">
              <a:buNone/>
            </a:pPr>
            <a:r>
              <a:rPr lang="fr-FR" sz="2087" dirty="0" err="1">
                <a:latin typeface="Garamond" panose="02020404030301010803" pitchFamily="18" charset="0"/>
              </a:rPr>
              <a:t>sigaddset</a:t>
            </a:r>
            <a:r>
              <a:rPr lang="fr-FR" sz="2087" dirty="0">
                <a:latin typeface="Garamond" panose="02020404030301010803" pitchFamily="18" charset="0"/>
              </a:rPr>
              <a:t>(&amp;</a:t>
            </a:r>
            <a:r>
              <a:rPr lang="fr-FR" sz="2087" dirty="0" err="1">
                <a:latin typeface="Garamond" panose="02020404030301010803" pitchFamily="18" charset="0"/>
              </a:rPr>
              <a:t>msk_int</a:t>
            </a:r>
            <a:r>
              <a:rPr lang="fr-FR" sz="2087" dirty="0">
                <a:latin typeface="Garamond" panose="02020404030301010803" pitchFamily="18" charset="0"/>
              </a:rPr>
              <a:t>, SIGINT);</a:t>
            </a:r>
          </a:p>
          <a:p>
            <a:pPr marL="0" indent="0">
              <a:buNone/>
            </a:pPr>
            <a:r>
              <a:rPr lang="fr-FR" sz="2087" dirty="0" err="1">
                <a:latin typeface="Garamond" panose="02020404030301010803" pitchFamily="18" charset="0"/>
              </a:rPr>
              <a:t>sigemptyset</a:t>
            </a:r>
            <a:r>
              <a:rPr lang="fr-FR" sz="2087" dirty="0">
                <a:latin typeface="Garamond" panose="02020404030301010803" pitchFamily="18" charset="0"/>
              </a:rPr>
              <a:t>(&amp;</a:t>
            </a:r>
            <a:r>
              <a:rPr lang="fr-FR" sz="2087" dirty="0" err="1">
                <a:latin typeface="Garamond" panose="02020404030301010803" pitchFamily="18" charset="0"/>
              </a:rPr>
              <a:t>msk_quit</a:t>
            </a:r>
            <a:r>
              <a:rPr lang="fr-FR" sz="2087" dirty="0">
                <a:latin typeface="Garamond" panose="02020404030301010803" pitchFamily="18" charset="0"/>
              </a:rPr>
              <a:t>);</a:t>
            </a:r>
          </a:p>
          <a:p>
            <a:pPr marL="0" indent="0">
              <a:buNone/>
            </a:pPr>
            <a:r>
              <a:rPr lang="fr-FR" sz="2087" dirty="0" err="1">
                <a:latin typeface="Garamond" panose="02020404030301010803" pitchFamily="18" charset="0"/>
              </a:rPr>
              <a:t>sigaddset</a:t>
            </a:r>
            <a:r>
              <a:rPr lang="fr-FR" sz="2087" dirty="0">
                <a:latin typeface="Garamond" panose="02020404030301010803" pitchFamily="18" charset="0"/>
              </a:rPr>
              <a:t>(&amp;</a:t>
            </a:r>
            <a:r>
              <a:rPr lang="fr-FR" sz="2087" dirty="0" err="1">
                <a:latin typeface="Garamond" panose="02020404030301010803" pitchFamily="18" charset="0"/>
              </a:rPr>
              <a:t>msk_quit</a:t>
            </a:r>
            <a:r>
              <a:rPr lang="fr-FR" sz="2087" dirty="0">
                <a:latin typeface="Garamond" panose="02020404030301010803" pitchFamily="18" charset="0"/>
              </a:rPr>
              <a:t>, SIGQUIT);</a:t>
            </a:r>
          </a:p>
        </p:txBody>
      </p:sp>
      <p:sp>
        <p:nvSpPr>
          <p:cNvPr id="4" name="Content Placeholder 2"/>
          <p:cNvSpPr txBox="1">
            <a:spLocks/>
          </p:cNvSpPr>
          <p:nvPr/>
        </p:nvSpPr>
        <p:spPr>
          <a:xfrm>
            <a:off x="6165156" y="1285155"/>
            <a:ext cx="4187414" cy="4525963"/>
          </a:xfrm>
          <a:prstGeom prst="rect">
            <a:avLst/>
          </a:prstGeom>
        </p:spPr>
        <p:txBody>
          <a:bodyPr vert="horz" lIns="82988" tIns="41494" rIns="82988" bIns="41494"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fr-FR" sz="2087" dirty="0" err="1">
                <a:latin typeface="Garamond" panose="02020404030301010803" pitchFamily="18" charset="0"/>
              </a:rPr>
              <a:t>sigact.sa_handler</a:t>
            </a:r>
            <a:r>
              <a:rPr lang="fr-FR" sz="2087" dirty="0">
                <a:latin typeface="Garamond" panose="02020404030301010803" pitchFamily="18" charset="0"/>
              </a:rPr>
              <a:t> = </a:t>
            </a:r>
            <a:r>
              <a:rPr lang="fr-FR" sz="2087" dirty="0" err="1">
                <a:latin typeface="Garamond" panose="02020404030301010803" pitchFamily="18" charset="0"/>
              </a:rPr>
              <a:t>on_signal</a:t>
            </a:r>
            <a:r>
              <a:rPr lang="fr-FR" sz="2087" dirty="0">
                <a:latin typeface="Garamond" panose="02020404030301010803" pitchFamily="18" charset="0"/>
              </a:rPr>
              <a:t>;</a:t>
            </a:r>
          </a:p>
          <a:p>
            <a:pPr marL="0" indent="0">
              <a:buNone/>
            </a:pPr>
            <a:r>
              <a:rPr lang="fr-FR" sz="2087" dirty="0" err="1">
                <a:latin typeface="Garamond" panose="02020404030301010803" pitchFamily="18" charset="0"/>
              </a:rPr>
              <a:t>sigact.sa_mask</a:t>
            </a:r>
            <a:r>
              <a:rPr lang="fr-FR" sz="2087" dirty="0">
                <a:latin typeface="Garamond" panose="02020404030301010803" pitchFamily="18" charset="0"/>
              </a:rPr>
              <a:t> = </a:t>
            </a:r>
            <a:r>
              <a:rPr lang="fr-FR" sz="2087" dirty="0" err="1">
                <a:latin typeface="Garamond" panose="02020404030301010803" pitchFamily="18" charset="0"/>
              </a:rPr>
              <a:t>msk_quit</a:t>
            </a:r>
            <a:r>
              <a:rPr lang="fr-FR" sz="2087" dirty="0">
                <a:latin typeface="Garamond" panose="02020404030301010803" pitchFamily="18" charset="0"/>
              </a:rPr>
              <a:t>;</a:t>
            </a:r>
          </a:p>
          <a:p>
            <a:pPr marL="0" indent="0">
              <a:buNone/>
            </a:pPr>
            <a:r>
              <a:rPr lang="fr-FR" sz="2087" dirty="0" err="1">
                <a:latin typeface="Garamond" panose="02020404030301010803" pitchFamily="18" charset="0"/>
              </a:rPr>
              <a:t>sigaction</a:t>
            </a:r>
            <a:r>
              <a:rPr lang="fr-FR" sz="2087" dirty="0">
                <a:latin typeface="Garamond" panose="02020404030301010803" pitchFamily="18" charset="0"/>
              </a:rPr>
              <a:t>(SIGINT, &amp;</a:t>
            </a:r>
            <a:r>
              <a:rPr lang="fr-FR" sz="2087" dirty="0" err="1">
                <a:latin typeface="Garamond" panose="02020404030301010803" pitchFamily="18" charset="0"/>
              </a:rPr>
              <a:t>sigact</a:t>
            </a:r>
            <a:r>
              <a:rPr lang="fr-FR" sz="2087" dirty="0">
                <a:latin typeface="Garamond" panose="02020404030301010803" pitchFamily="18" charset="0"/>
              </a:rPr>
              <a:t>, NULL);</a:t>
            </a:r>
          </a:p>
          <a:p>
            <a:pPr marL="0" indent="0">
              <a:buNone/>
            </a:pPr>
            <a:r>
              <a:rPr lang="fr-FR" sz="2087" dirty="0" err="1">
                <a:latin typeface="Garamond" panose="02020404030301010803" pitchFamily="18" charset="0"/>
              </a:rPr>
              <a:t>sigact.sa_mask</a:t>
            </a:r>
            <a:r>
              <a:rPr lang="fr-FR" sz="2087" dirty="0">
                <a:latin typeface="Garamond" panose="02020404030301010803" pitchFamily="18" charset="0"/>
              </a:rPr>
              <a:t> = </a:t>
            </a:r>
            <a:r>
              <a:rPr lang="fr-FR" sz="2087" dirty="0" err="1">
                <a:latin typeface="Garamond" panose="02020404030301010803" pitchFamily="18" charset="0"/>
              </a:rPr>
              <a:t>msk_int</a:t>
            </a:r>
            <a:r>
              <a:rPr lang="fr-FR" sz="2087" dirty="0">
                <a:latin typeface="Garamond" panose="02020404030301010803" pitchFamily="18" charset="0"/>
              </a:rPr>
              <a:t>;</a:t>
            </a:r>
          </a:p>
          <a:p>
            <a:pPr marL="0" indent="0">
              <a:buNone/>
            </a:pPr>
            <a:r>
              <a:rPr lang="fr-FR" sz="2087" dirty="0" err="1">
                <a:latin typeface="Garamond" panose="02020404030301010803" pitchFamily="18" charset="0"/>
              </a:rPr>
              <a:t>sigaction</a:t>
            </a:r>
            <a:r>
              <a:rPr lang="fr-FR" sz="2087" dirty="0">
                <a:latin typeface="Garamond" panose="02020404030301010803" pitchFamily="18" charset="0"/>
              </a:rPr>
              <a:t>(SIGQUIT, &amp;</a:t>
            </a:r>
            <a:r>
              <a:rPr lang="fr-FR" sz="2087" dirty="0" err="1">
                <a:latin typeface="Garamond" panose="02020404030301010803" pitchFamily="18" charset="0"/>
              </a:rPr>
              <a:t>sigact</a:t>
            </a:r>
            <a:r>
              <a:rPr lang="fr-FR" sz="2087" dirty="0">
                <a:latin typeface="Garamond" panose="02020404030301010803" pitchFamily="18" charset="0"/>
              </a:rPr>
              <a:t>, NULL);</a:t>
            </a:r>
          </a:p>
          <a:p>
            <a:pPr marL="0" indent="0">
              <a:buNone/>
            </a:pPr>
            <a:r>
              <a:rPr lang="fr-FR" sz="2087" dirty="0" err="1">
                <a:latin typeface="Garamond" panose="02020404030301010803" pitchFamily="18" charset="0"/>
              </a:rPr>
              <a:t>printf</a:t>
            </a:r>
            <a:r>
              <a:rPr lang="fr-FR" sz="2087" dirty="0">
                <a:latin typeface="Garamond" panose="02020404030301010803" pitchFamily="18" charset="0"/>
              </a:rPr>
              <a:t>("INT et QUIT trappés\n");</a:t>
            </a:r>
          </a:p>
          <a:p>
            <a:pPr marL="0" indent="0">
              <a:buNone/>
            </a:pPr>
            <a:r>
              <a:rPr lang="fr-FR" sz="2087" dirty="0" err="1">
                <a:latin typeface="Garamond" panose="02020404030301010803" pitchFamily="18" charset="0"/>
              </a:rPr>
              <a:t>sleep</a:t>
            </a:r>
            <a:r>
              <a:rPr lang="fr-FR" sz="2087" dirty="0">
                <a:latin typeface="Garamond" panose="02020404030301010803" pitchFamily="18" charset="0"/>
              </a:rPr>
              <a:t>(10);</a:t>
            </a:r>
          </a:p>
          <a:p>
            <a:pPr marL="0" indent="0">
              <a:buNone/>
            </a:pPr>
            <a:r>
              <a:rPr lang="fr-FR" sz="2087" dirty="0">
                <a:latin typeface="Garamond" panose="02020404030301010803" pitchFamily="18" charset="0"/>
              </a:rPr>
              <a:t>}</a:t>
            </a:r>
          </a:p>
        </p:txBody>
      </p:sp>
      <p:sp>
        <p:nvSpPr>
          <p:cNvPr id="5" name="Content Placeholder 2"/>
          <p:cNvSpPr txBox="1">
            <a:spLocks/>
          </p:cNvSpPr>
          <p:nvPr/>
        </p:nvSpPr>
        <p:spPr>
          <a:xfrm>
            <a:off x="6649250" y="4120564"/>
            <a:ext cx="4187414" cy="4525963"/>
          </a:xfrm>
          <a:prstGeom prst="rect">
            <a:avLst/>
          </a:prstGeom>
        </p:spPr>
        <p:txBody>
          <a:bodyPr vert="horz" lIns="82988" tIns="41494" rIns="82988" bIns="41494"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sz="2178" b="1" dirty="0">
                <a:latin typeface="Garamond" panose="02020404030301010803" pitchFamily="18" charset="0"/>
              </a:rPr>
              <a:t>% </a:t>
            </a:r>
            <a:r>
              <a:rPr lang="fr-FR" sz="2178" b="1" i="1" dirty="0">
                <a:latin typeface="Garamond" panose="02020404030301010803" pitchFamily="18" charset="0"/>
              </a:rPr>
              <a:t>test-</a:t>
            </a:r>
            <a:r>
              <a:rPr lang="fr-FR" sz="2178" b="1" i="1" dirty="0" err="1">
                <a:latin typeface="Garamond" panose="02020404030301010803" pitchFamily="18" charset="0"/>
              </a:rPr>
              <a:t>sigaction</a:t>
            </a:r>
            <a:endParaRPr lang="fr-FR" sz="2178" b="1" i="1" dirty="0">
              <a:latin typeface="Garamond" panose="02020404030301010803" pitchFamily="18" charset="0"/>
            </a:endParaRPr>
          </a:p>
          <a:p>
            <a:r>
              <a:rPr lang="fr-FR" sz="2178" b="1" dirty="0">
                <a:latin typeface="Garamond" panose="02020404030301010803" pitchFamily="18" charset="0"/>
              </a:rPr>
              <a:t>INT et QUIT trappés</a:t>
            </a:r>
          </a:p>
          <a:p>
            <a:r>
              <a:rPr lang="fr-FR" sz="2178" b="1" i="1" dirty="0">
                <a:solidFill>
                  <a:srgbClr val="0070C0"/>
                </a:solidFill>
                <a:latin typeface="Garamond" panose="02020404030301010803" pitchFamily="18" charset="0"/>
              </a:rPr>
              <a:t>^C </a:t>
            </a:r>
            <a:r>
              <a:rPr lang="fr-FR" sz="2178" b="1" dirty="0">
                <a:latin typeface="Garamond" panose="02020404030301010803" pitchFamily="18" charset="0"/>
              </a:rPr>
              <a:t>*** signal 2</a:t>
            </a:r>
          </a:p>
          <a:p>
            <a:r>
              <a:rPr lang="fr-FR" sz="2178" b="1" i="1" dirty="0">
                <a:solidFill>
                  <a:srgbClr val="0070C0"/>
                </a:solidFill>
                <a:latin typeface="Garamond" panose="02020404030301010803" pitchFamily="18" charset="0"/>
              </a:rPr>
              <a:t>^\^\</a:t>
            </a:r>
            <a:r>
              <a:rPr lang="fr-FR" sz="2178" b="1" dirty="0">
                <a:latin typeface="Garamond" panose="02020404030301010803" pitchFamily="18" charset="0"/>
              </a:rPr>
              <a:t>*** fin </a:t>
            </a:r>
            <a:r>
              <a:rPr lang="fr-FR" sz="2178" b="1" dirty="0" err="1">
                <a:latin typeface="Garamond" panose="02020404030301010803" pitchFamily="18" charset="0"/>
              </a:rPr>
              <a:t>handler</a:t>
            </a:r>
            <a:endParaRPr lang="fr-FR" sz="2178" b="1" dirty="0">
              <a:latin typeface="Garamond" panose="02020404030301010803" pitchFamily="18" charset="0"/>
            </a:endParaRPr>
          </a:p>
          <a:p>
            <a:r>
              <a:rPr lang="fr-FR" sz="2178" b="1" dirty="0">
                <a:latin typeface="Garamond" panose="02020404030301010803" pitchFamily="18" charset="0"/>
              </a:rPr>
              <a:t>*** signal 3</a:t>
            </a:r>
          </a:p>
          <a:p>
            <a:r>
              <a:rPr lang="fr-FR" sz="2178" b="1" dirty="0">
                <a:latin typeface="Garamond" panose="02020404030301010803" pitchFamily="18" charset="0"/>
              </a:rPr>
              <a:t>*** fin </a:t>
            </a:r>
            <a:r>
              <a:rPr lang="fr-FR" sz="2178" b="1" dirty="0" err="1">
                <a:latin typeface="Garamond" panose="02020404030301010803" pitchFamily="18" charset="0"/>
              </a:rPr>
              <a:t>handler</a:t>
            </a:r>
            <a:endParaRPr lang="fr-FR" sz="2178" b="1" dirty="0">
              <a:latin typeface="Garamond" panose="02020404030301010803" pitchFamily="18" charset="0"/>
            </a:endParaRPr>
          </a:p>
          <a:p>
            <a:r>
              <a:rPr lang="fr-FR" sz="2178" b="1" dirty="0">
                <a:latin typeface="Garamond" panose="02020404030301010803" pitchFamily="18" charset="0"/>
              </a:rPr>
              <a:t>%	</a:t>
            </a:r>
            <a:endParaRPr lang="fr-FR" sz="2087" dirty="0">
              <a:latin typeface="Garamond" panose="02020404030301010803" pitchFamily="18" charset="0"/>
            </a:endParaRPr>
          </a:p>
        </p:txBody>
      </p:sp>
    </p:spTree>
    <p:extLst>
      <p:ext uri="{BB962C8B-B14F-4D97-AF65-F5344CB8AC3E}">
        <p14:creationId xmlns:p14="http://schemas.microsoft.com/office/powerpoint/2010/main" val="250558951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ts val="4175"/>
              </a:lnSpc>
            </a:pPr>
            <a:r>
              <a:rPr lang="en-US" dirty="0">
                <a:solidFill>
                  <a:srgbClr val="191919"/>
                </a:solidFill>
                <a:latin typeface="Garamond" panose="02020404030301010803" pitchFamily="18" charset="0"/>
                <a:cs typeface="Times New Roman" pitchFamily="18" charset="0"/>
              </a:rPr>
              <a:t>Multiple signals</a:t>
            </a:r>
            <a:endParaRPr lang="en-US" dirty="0">
              <a:latin typeface="Garamond" panose="02020404030301010803" pitchFamily="18" charset="0"/>
              <a:cs typeface="Times New Roman" pitchFamily="18" charset="0"/>
            </a:endParaRPr>
          </a:p>
        </p:txBody>
      </p:sp>
      <p:sp>
        <p:nvSpPr>
          <p:cNvPr id="3" name="Content Placeholder 2"/>
          <p:cNvSpPr>
            <a:spLocks noGrp="1"/>
          </p:cNvSpPr>
          <p:nvPr>
            <p:ph idx="1"/>
          </p:nvPr>
        </p:nvSpPr>
        <p:spPr/>
        <p:txBody>
          <a:bodyPr/>
          <a:lstStyle/>
          <a:p>
            <a:pPr>
              <a:lnSpc>
                <a:spcPts val="3358"/>
              </a:lnSpc>
            </a:pPr>
            <a:r>
              <a:rPr lang="en-US" dirty="0">
                <a:solidFill>
                  <a:srgbClr val="191919"/>
                </a:solidFill>
                <a:latin typeface="Garamond" panose="02020404030301010803" pitchFamily="18" charset="0"/>
                <a:ea typeface="Arial Unicode MS"/>
                <a:cs typeface="Times New Roman" pitchFamily="18" charset="0"/>
              </a:rPr>
              <a:t>as a signal is only coded by one bit, it is impossible to know if it has been received more than once</a:t>
            </a:r>
          </a:p>
          <a:p>
            <a:pPr>
              <a:lnSpc>
                <a:spcPts val="3358"/>
              </a:lnSpc>
            </a:pPr>
            <a:r>
              <a:rPr lang="en-US" dirty="0">
                <a:solidFill>
                  <a:srgbClr val="191919"/>
                </a:solidFill>
                <a:latin typeface="Garamond" panose="02020404030301010803" pitchFamily="18" charset="0"/>
                <a:ea typeface="Arial Unicode MS"/>
                <a:cs typeface="Times New Roman" pitchFamily="18" charset="0"/>
              </a:rPr>
              <a:t>example: a father sends SIGUSR1 to his son who counts them in a handler</a:t>
            </a:r>
            <a:endParaRPr lang="en-US" dirty="0" smtClean="0">
              <a:solidFill>
                <a:srgbClr val="191919"/>
              </a:solidFill>
              <a:latin typeface="Garamond" panose="02020404030301010803" pitchFamily="18" charset="0"/>
              <a:cs typeface="Times New Roman" pitchFamily="18" charset="0"/>
            </a:endParaRPr>
          </a:p>
          <a:p>
            <a:pPr>
              <a:lnSpc>
                <a:spcPts val="2904"/>
              </a:lnSpc>
            </a:pPr>
            <a:r>
              <a:rPr lang="en-US" dirty="0">
                <a:solidFill>
                  <a:srgbClr val="191919"/>
                </a:solidFill>
                <a:latin typeface="Garamond" panose="02020404030301010803" pitchFamily="18" charset="0"/>
                <a:cs typeface="Times New Roman" pitchFamily="18" charset="0"/>
              </a:rPr>
              <a:t>the version that works from time to time </a:t>
            </a:r>
            <a:r>
              <a:rPr lang="fr-FR" dirty="0" smtClean="0">
                <a:solidFill>
                  <a:srgbClr val="191919"/>
                </a:solidFill>
                <a:latin typeface="Garamond" panose="02020404030301010803" pitchFamily="18" charset="0"/>
                <a:cs typeface="Times New Roman" pitchFamily="18" charset="0"/>
              </a:rPr>
              <a:t>: </a:t>
            </a:r>
          </a:p>
          <a:p>
            <a:pPr marL="0" indent="0">
              <a:lnSpc>
                <a:spcPts val="2178"/>
              </a:lnSpc>
              <a:buNone/>
            </a:pPr>
            <a:r>
              <a:rPr lang="en-US" i="1" dirty="0" smtClean="0">
                <a:solidFill>
                  <a:srgbClr val="191919"/>
                </a:solidFill>
                <a:latin typeface="Garamond" panose="02020404030301010803" pitchFamily="18" charset="0"/>
                <a:cs typeface="Times New Roman" pitchFamily="18" charset="0"/>
                <a:hlinkClick r:id="rId2" action="ppaction://hlinkfile"/>
              </a:rPr>
              <a:t>signal </a:t>
            </a:r>
            <a:r>
              <a:rPr lang="en-US" i="1" dirty="0">
                <a:solidFill>
                  <a:srgbClr val="191919"/>
                </a:solidFill>
                <a:latin typeface="Garamond" panose="02020404030301010803" pitchFamily="18" charset="0"/>
                <a:cs typeface="Times New Roman" pitchFamily="18" charset="0"/>
                <a:hlinkClick r:id="rId2" action="ppaction://hlinkfile"/>
              </a:rPr>
              <a:t>count with bug</a:t>
            </a:r>
            <a:endParaRPr lang="en-US" i="1" dirty="0">
              <a:solidFill>
                <a:srgbClr val="191919"/>
              </a:solidFill>
              <a:latin typeface="Garamond" panose="02020404030301010803" pitchFamily="18" charset="0"/>
              <a:cs typeface="Times New Roman" pitchFamily="18" charset="0"/>
            </a:endParaRPr>
          </a:p>
          <a:p>
            <a:pPr>
              <a:lnSpc>
                <a:spcPts val="2904"/>
              </a:lnSpc>
            </a:pPr>
            <a:r>
              <a:rPr lang="en-US" dirty="0">
                <a:solidFill>
                  <a:srgbClr val="191919"/>
                </a:solidFill>
                <a:latin typeface="Garamond" panose="02020404030301010803" pitchFamily="18" charset="0"/>
                <a:cs typeface="Times New Roman" pitchFamily="18" charset="0"/>
              </a:rPr>
              <a:t>one that works, and one totally safe </a:t>
            </a:r>
            <a:r>
              <a:rPr lang="fr-FR" dirty="0" smtClean="0">
                <a:solidFill>
                  <a:srgbClr val="191919"/>
                </a:solidFill>
                <a:latin typeface="Garamond" panose="02020404030301010803" pitchFamily="18" charset="0"/>
                <a:cs typeface="Times New Roman" pitchFamily="18" charset="0"/>
              </a:rPr>
              <a:t>: </a:t>
            </a:r>
          </a:p>
          <a:p>
            <a:pPr>
              <a:lnSpc>
                <a:spcPts val="2904"/>
              </a:lnSpc>
            </a:pPr>
            <a:r>
              <a:rPr lang="en-US" i="1" dirty="0">
                <a:solidFill>
                  <a:srgbClr val="191919"/>
                </a:solidFill>
                <a:latin typeface="Garamond" panose="02020404030301010803" pitchFamily="18" charset="0"/>
                <a:cs typeface="Times New Roman" pitchFamily="18" charset="0"/>
                <a:hlinkClick r:id="rId3" action="ppaction://hlinkfile"/>
              </a:rPr>
              <a:t>signal count </a:t>
            </a:r>
            <a:r>
              <a:rPr lang="en-US" i="1" dirty="0" smtClean="0">
                <a:solidFill>
                  <a:srgbClr val="191919"/>
                </a:solidFill>
                <a:latin typeface="Garamond" panose="02020404030301010803" pitchFamily="18" charset="0"/>
                <a:cs typeface="Times New Roman" pitchFamily="18" charset="0"/>
                <a:hlinkClick r:id="rId3" action="ppaction://hlinkfile"/>
              </a:rPr>
              <a:t>1</a:t>
            </a:r>
            <a:r>
              <a:rPr lang="en-US" i="1" dirty="0" smtClean="0">
                <a:solidFill>
                  <a:srgbClr val="191919"/>
                </a:solidFill>
                <a:latin typeface="Garamond" panose="02020404030301010803" pitchFamily="18" charset="0"/>
                <a:cs typeface="Times New Roman" pitchFamily="18" charset="0"/>
              </a:rPr>
              <a:t>           </a:t>
            </a:r>
            <a:r>
              <a:rPr lang="en-US" i="1" dirty="0" smtClean="0">
                <a:solidFill>
                  <a:srgbClr val="191919"/>
                </a:solidFill>
                <a:latin typeface="Garamond" panose="02020404030301010803" pitchFamily="18" charset="0"/>
                <a:cs typeface="Times New Roman" pitchFamily="18" charset="0"/>
                <a:hlinkClick r:id="rId4" action="ppaction://hlinkfile"/>
              </a:rPr>
              <a:t>signal </a:t>
            </a:r>
            <a:r>
              <a:rPr lang="en-US" i="1" dirty="0">
                <a:solidFill>
                  <a:srgbClr val="191919"/>
                </a:solidFill>
                <a:latin typeface="Garamond" panose="02020404030301010803" pitchFamily="18" charset="0"/>
                <a:cs typeface="Times New Roman" pitchFamily="18" charset="0"/>
                <a:hlinkClick r:id="rId4" action="ppaction://hlinkfile"/>
              </a:rPr>
              <a:t>count </a:t>
            </a:r>
            <a:r>
              <a:rPr lang="en-US" i="1" dirty="0" smtClean="0">
                <a:solidFill>
                  <a:srgbClr val="191919"/>
                </a:solidFill>
                <a:latin typeface="Garamond" panose="02020404030301010803" pitchFamily="18" charset="0"/>
                <a:cs typeface="Times New Roman" pitchFamily="18" charset="0"/>
                <a:hlinkClick r:id="rId4" action="ppaction://hlinkfile"/>
              </a:rPr>
              <a:t>Ok</a:t>
            </a:r>
            <a:endParaRPr lang="en-US" dirty="0">
              <a:solidFill>
                <a:srgbClr val="191919"/>
              </a:solidFill>
              <a:latin typeface="Garamond" panose="02020404030301010803" pitchFamily="18" charset="0"/>
              <a:cs typeface="Times New Roman" pitchFamily="18" charset="0"/>
            </a:endParaRPr>
          </a:p>
        </p:txBody>
      </p:sp>
    </p:spTree>
    <p:extLst>
      <p:ext uri="{BB962C8B-B14F-4D97-AF65-F5344CB8AC3E}">
        <p14:creationId xmlns:p14="http://schemas.microsoft.com/office/powerpoint/2010/main" val="28277526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dirty="0" err="1">
                <a:solidFill>
                  <a:srgbClr val="191919"/>
                </a:solidFill>
                <a:latin typeface="Garamond" panose="02020404030301010803" pitchFamily="18" charset="0"/>
                <a:cs typeface="Times New Roman" pitchFamily="18" charset="0"/>
              </a:rPr>
              <a:t>Wait</a:t>
            </a:r>
            <a:r>
              <a:rPr lang="fr-FR" dirty="0">
                <a:solidFill>
                  <a:srgbClr val="191919"/>
                </a:solidFill>
                <a:latin typeface="Garamond" panose="02020404030301010803" pitchFamily="18" charset="0"/>
                <a:cs typeface="Times New Roman" pitchFamily="18" charset="0"/>
              </a:rPr>
              <a:t> for a signal</a:t>
            </a:r>
          </a:p>
        </p:txBody>
      </p:sp>
      <p:sp>
        <p:nvSpPr>
          <p:cNvPr id="3" name="Content Placeholder 2"/>
          <p:cNvSpPr>
            <a:spLocks noGrp="1"/>
          </p:cNvSpPr>
          <p:nvPr>
            <p:ph idx="1"/>
          </p:nvPr>
        </p:nvSpPr>
        <p:spPr/>
        <p:txBody>
          <a:bodyPr/>
          <a:lstStyle/>
          <a:p>
            <a:r>
              <a:rPr lang="en-US" dirty="0">
                <a:solidFill>
                  <a:srgbClr val="000000"/>
                </a:solidFill>
                <a:latin typeface="Garamond" panose="02020404030301010803" pitchFamily="18" charset="0"/>
                <a:cs typeface="Times New Roman" panose="02020603050405020304" pitchFamily="18" charset="0"/>
              </a:rPr>
              <a:t>The call to the function </a:t>
            </a:r>
            <a:r>
              <a:rPr lang="fr-FR" b="0" i="0" u="none" strike="noStrike" baseline="0" dirty="0" smtClean="0">
                <a:solidFill>
                  <a:srgbClr val="000081"/>
                </a:solidFill>
                <a:latin typeface="Times New Roman" panose="02020603050405020304" pitchFamily="18" charset="0"/>
                <a:cs typeface="Times New Roman" panose="02020603050405020304" pitchFamily="18" charset="0"/>
              </a:rPr>
              <a:t>pause() </a:t>
            </a:r>
            <a:r>
              <a:rPr lang="en-US" dirty="0">
                <a:solidFill>
                  <a:srgbClr val="000000"/>
                </a:solidFill>
                <a:latin typeface="Garamond" panose="02020404030301010803" pitchFamily="18" charset="0"/>
                <a:cs typeface="Times New Roman" panose="02020603050405020304" pitchFamily="18" charset="0"/>
              </a:rPr>
              <a:t>blocks a process while waiting for a signal to be issued:</a:t>
            </a:r>
            <a:endParaRPr lang="fr-FR" b="0" i="0" u="none" strike="noStrike" baseline="0" dirty="0" smtClean="0">
              <a:solidFill>
                <a:srgbClr val="000000"/>
              </a:solidFill>
              <a:latin typeface="Garamond" panose="02020404030301010803" pitchFamily="18" charset="0"/>
              <a:cs typeface="Times New Roman" panose="02020603050405020304" pitchFamily="18" charset="0"/>
            </a:endParaRPr>
          </a:p>
          <a:p>
            <a:pPr marL="0" indent="0">
              <a:buNone/>
            </a:pPr>
            <a:r>
              <a:rPr lang="fr-FR" b="0" i="0" u="none" strike="noStrike" baseline="0" dirty="0" smtClean="0">
                <a:solidFill>
                  <a:srgbClr val="000081"/>
                </a:solidFill>
                <a:latin typeface="Courier New" panose="02070309020205020404" pitchFamily="49" charset="0"/>
                <a:cs typeface="Courier New" panose="02070309020205020404" pitchFamily="49" charset="0"/>
              </a:rPr>
              <a:t>#</a:t>
            </a:r>
            <a:r>
              <a:rPr lang="fr-FR" b="0" i="0" u="none" strike="noStrike" baseline="0" dirty="0" err="1" smtClean="0">
                <a:solidFill>
                  <a:srgbClr val="000081"/>
                </a:solidFill>
                <a:latin typeface="Courier New" panose="02070309020205020404" pitchFamily="49" charset="0"/>
                <a:cs typeface="Courier New" panose="02070309020205020404" pitchFamily="49" charset="0"/>
              </a:rPr>
              <a:t>include</a:t>
            </a:r>
            <a:r>
              <a:rPr lang="fr-FR" b="0" i="0" u="none" strike="noStrike" baseline="0" dirty="0" smtClean="0">
                <a:solidFill>
                  <a:srgbClr val="000081"/>
                </a:solidFill>
                <a:latin typeface="Courier New" panose="02070309020205020404" pitchFamily="49" charset="0"/>
                <a:cs typeface="Courier New" panose="02070309020205020404" pitchFamily="49" charset="0"/>
              </a:rPr>
              <a:t> &lt;</a:t>
            </a:r>
            <a:r>
              <a:rPr lang="fr-FR" b="0" i="0" u="none" strike="noStrike" baseline="0" dirty="0" err="1" smtClean="0">
                <a:solidFill>
                  <a:srgbClr val="000081"/>
                </a:solidFill>
                <a:latin typeface="Courier New" panose="02070309020205020404" pitchFamily="49" charset="0"/>
                <a:cs typeface="Courier New" panose="02070309020205020404" pitchFamily="49" charset="0"/>
              </a:rPr>
              <a:t>unistd.h</a:t>
            </a:r>
            <a:r>
              <a:rPr lang="fr-FR" b="0" i="0" u="none" strike="noStrike" baseline="0" dirty="0" smtClean="0">
                <a:solidFill>
                  <a:srgbClr val="000081"/>
                </a:solidFill>
                <a:latin typeface="Courier New" panose="02070309020205020404" pitchFamily="49" charset="0"/>
                <a:cs typeface="Courier New" panose="02070309020205020404" pitchFamily="49" charset="0"/>
              </a:rPr>
              <a:t>&gt;</a:t>
            </a:r>
          </a:p>
          <a:p>
            <a:pPr marL="0" indent="0">
              <a:buNone/>
            </a:pPr>
            <a:r>
              <a:rPr lang="fr-FR" b="0" i="0" u="none" strike="noStrike" baseline="0" dirty="0" err="1" smtClean="0">
                <a:solidFill>
                  <a:srgbClr val="000081"/>
                </a:solidFill>
                <a:latin typeface="Courier New" panose="02070309020205020404" pitchFamily="49" charset="0"/>
                <a:cs typeface="Courier New" panose="02070309020205020404" pitchFamily="49" charset="0"/>
              </a:rPr>
              <a:t>int</a:t>
            </a:r>
            <a:r>
              <a:rPr lang="fr-FR" b="0" i="0" u="none" strike="noStrike" baseline="0" dirty="0" smtClean="0">
                <a:solidFill>
                  <a:srgbClr val="000081"/>
                </a:solidFill>
                <a:latin typeface="Courier New" panose="02070309020205020404" pitchFamily="49" charset="0"/>
                <a:cs typeface="Courier New" panose="02070309020205020404" pitchFamily="49" charset="0"/>
              </a:rPr>
              <a:t> pause(</a:t>
            </a:r>
            <a:r>
              <a:rPr lang="fr-FR" b="0" i="0" u="none" strike="noStrike" baseline="0" dirty="0" err="1" smtClean="0">
                <a:solidFill>
                  <a:srgbClr val="000081"/>
                </a:solidFill>
                <a:latin typeface="Courier New" panose="02070309020205020404" pitchFamily="49" charset="0"/>
                <a:cs typeface="Courier New" panose="02070309020205020404" pitchFamily="49" charset="0"/>
              </a:rPr>
              <a:t>void</a:t>
            </a:r>
            <a:r>
              <a:rPr lang="fr-FR" b="0" i="0" u="none" strike="noStrike" baseline="0" dirty="0" smtClean="0">
                <a:solidFill>
                  <a:srgbClr val="000081"/>
                </a:solidFill>
                <a:latin typeface="Courier New" panose="02070309020205020404" pitchFamily="49" charset="0"/>
                <a:cs typeface="Courier New" panose="02070309020205020404" pitchFamily="49" charset="0"/>
              </a:rPr>
              <a:t>);</a:t>
            </a:r>
          </a:p>
          <a:p>
            <a:r>
              <a:rPr lang="fr-FR" dirty="0">
                <a:solidFill>
                  <a:srgbClr val="000000"/>
                </a:solidFill>
                <a:latin typeface="Garamond" panose="02020404030301010803" pitchFamily="18" charset="0"/>
                <a:cs typeface="Times New Roman" panose="02020603050405020304" pitchFamily="18" charset="0"/>
              </a:rPr>
              <a:t>Note</a:t>
            </a:r>
            <a:r>
              <a:rPr lang="fr-FR" b="0" i="0" u="none" strike="noStrike" baseline="0" dirty="0" smtClean="0">
                <a:solidFill>
                  <a:srgbClr val="000000"/>
                </a:solidFill>
                <a:latin typeface="Times New Roman" panose="02020603050405020304" pitchFamily="18" charset="0"/>
                <a:cs typeface="Times New Roman" panose="02020603050405020304" pitchFamily="18" charset="0"/>
              </a:rPr>
              <a:t> : </a:t>
            </a:r>
            <a:r>
              <a:rPr lang="fr-FR" dirty="0">
                <a:solidFill>
                  <a:srgbClr val="000081"/>
                </a:solidFill>
                <a:latin typeface="Courier New" panose="02070309020205020404" pitchFamily="49" charset="0"/>
                <a:cs typeface="Courier New" panose="02070309020205020404" pitchFamily="49" charset="0"/>
              </a:rPr>
              <a:t>pause() </a:t>
            </a:r>
            <a:r>
              <a:rPr lang="fr-FR" dirty="0" err="1">
                <a:solidFill>
                  <a:srgbClr val="000000"/>
                </a:solidFill>
                <a:latin typeface="Garamond" panose="02020404030301010803" pitchFamily="18" charset="0"/>
                <a:cs typeface="Times New Roman" panose="02020603050405020304" pitchFamily="18" charset="0"/>
              </a:rPr>
              <a:t>always</a:t>
            </a:r>
            <a:r>
              <a:rPr lang="fr-FR" dirty="0">
                <a:solidFill>
                  <a:srgbClr val="000000"/>
                </a:solidFill>
                <a:latin typeface="Garamond" panose="02020404030301010803" pitchFamily="18" charset="0"/>
                <a:cs typeface="Times New Roman" panose="02020603050405020304" pitchFamily="18" charset="0"/>
              </a:rPr>
              <a:t> </a:t>
            </a:r>
            <a:r>
              <a:rPr lang="fr-FR" dirty="0" err="1">
                <a:solidFill>
                  <a:srgbClr val="000000"/>
                </a:solidFill>
                <a:latin typeface="Garamond" panose="02020404030301010803" pitchFamily="18" charset="0"/>
                <a:cs typeface="Times New Roman" panose="02020603050405020304" pitchFamily="18" charset="0"/>
              </a:rPr>
              <a:t>returns</a:t>
            </a:r>
            <a:r>
              <a:rPr lang="fr-FR" dirty="0">
                <a:solidFill>
                  <a:srgbClr val="000000"/>
                </a:solidFill>
                <a:latin typeface="Garamond" panose="02020404030301010803" pitchFamily="18" charset="0"/>
                <a:cs typeface="Times New Roman" panose="02020603050405020304" pitchFamily="18" charset="0"/>
              </a:rPr>
              <a:t> -1, </a:t>
            </a:r>
            <a:r>
              <a:rPr lang="fr-FR" dirty="0" smtClean="0">
                <a:solidFill>
                  <a:srgbClr val="000000"/>
                </a:solidFill>
                <a:latin typeface="Garamond" panose="02020404030301010803" pitchFamily="18" charset="0"/>
                <a:cs typeface="Times New Roman" panose="02020603050405020304" pitchFamily="18" charset="0"/>
              </a:rPr>
              <a:t>and </a:t>
            </a:r>
            <a:r>
              <a:rPr lang="fr-FR" dirty="0" err="1">
                <a:solidFill>
                  <a:srgbClr val="000081"/>
                </a:solidFill>
                <a:latin typeface="Courier New" panose="02070309020205020404" pitchFamily="49" charset="0"/>
                <a:cs typeface="Courier New" panose="02070309020205020404" pitchFamily="49" charset="0"/>
              </a:rPr>
              <a:t>errno</a:t>
            </a:r>
            <a:r>
              <a:rPr lang="fr-FR" b="0" i="0" u="none" strike="noStrike" baseline="0" dirty="0" smtClean="0">
                <a:solidFill>
                  <a:srgbClr val="000081"/>
                </a:solidFill>
                <a:latin typeface="Times New Roman" panose="02020603050405020304" pitchFamily="18" charset="0"/>
                <a:cs typeface="Times New Roman" panose="02020603050405020304" pitchFamily="18" charset="0"/>
              </a:rPr>
              <a:t> </a:t>
            </a:r>
            <a:r>
              <a:rPr lang="en-US" dirty="0">
                <a:solidFill>
                  <a:srgbClr val="000000"/>
                </a:solidFill>
                <a:latin typeface="Garamond" panose="02020404030301010803" pitchFamily="18" charset="0"/>
                <a:cs typeface="Times New Roman" panose="02020603050405020304" pitchFamily="18" charset="0"/>
              </a:rPr>
              <a:t>is set to the value</a:t>
            </a:r>
            <a:r>
              <a:rPr lang="fr-FR" b="0" i="0" u="none" strike="noStrike" baseline="0" dirty="0" smtClean="0">
                <a:solidFill>
                  <a:srgbClr val="000000"/>
                </a:solidFill>
                <a:latin typeface="Times New Roman" panose="02020603050405020304" pitchFamily="18" charset="0"/>
                <a:cs typeface="Times New Roman" panose="02020603050405020304" pitchFamily="18" charset="0"/>
              </a:rPr>
              <a:t> </a:t>
            </a:r>
            <a:r>
              <a:rPr lang="fr-FR" dirty="0">
                <a:solidFill>
                  <a:srgbClr val="000081"/>
                </a:solidFill>
                <a:latin typeface="Courier New" panose="02070309020205020404" pitchFamily="49" charset="0"/>
                <a:cs typeface="Courier New" panose="02070309020205020404" pitchFamily="49" charset="0"/>
              </a:rPr>
              <a:t>EINTR</a:t>
            </a:r>
            <a:r>
              <a:rPr lang="fr-FR" b="0" i="0" u="none" strike="noStrike" baseline="0" dirty="0" smtClean="0">
                <a:solidFill>
                  <a:srgbClr val="000000"/>
                </a:solidFill>
                <a:latin typeface="Times New Roman" panose="02020603050405020304" pitchFamily="18" charset="0"/>
                <a:cs typeface="Times New Roman" panose="02020603050405020304" pitchFamily="18" charset="0"/>
              </a:rPr>
              <a:t>.</a:t>
            </a:r>
          </a:p>
          <a:p>
            <a:r>
              <a:rPr lang="en-US" dirty="0">
                <a:solidFill>
                  <a:srgbClr val="000000"/>
                </a:solidFill>
                <a:latin typeface="Garamond" panose="02020404030301010803" pitchFamily="18" charset="0"/>
                <a:cs typeface="Times New Roman" panose="02020603050405020304" pitchFamily="18" charset="0"/>
              </a:rPr>
              <a:t>less CPU consuming than active wait when waiting for signals</a:t>
            </a:r>
            <a:endParaRPr lang="fr-FR" dirty="0">
              <a:latin typeface="Times New Roman" panose="02020603050405020304" pitchFamily="18" charset="0"/>
              <a:cs typeface="Times New Roman" panose="02020603050405020304" pitchFamily="18" charset="0"/>
            </a:endParaRPr>
          </a:p>
        </p:txBody>
      </p:sp>
      <p:sp>
        <p:nvSpPr>
          <p:cNvPr id="4" name="TextBox 3"/>
          <p:cNvSpPr txBox="1"/>
          <p:nvPr/>
        </p:nvSpPr>
        <p:spPr>
          <a:xfrm>
            <a:off x="6153925" y="5459303"/>
            <a:ext cx="968214" cy="464871"/>
          </a:xfrm>
          <a:prstGeom prst="rect">
            <a:avLst/>
          </a:prstGeom>
          <a:noFill/>
        </p:spPr>
        <p:txBody>
          <a:bodyPr vert="horz" wrap="none" lIns="0" tIns="0" rIns="0" bIns="0" rtlCol="0">
            <a:spAutoFit/>
          </a:bodyPr>
          <a:lstStyle/>
          <a:p>
            <a:pPr>
              <a:lnSpc>
                <a:spcPts val="1800"/>
              </a:lnSpc>
            </a:pPr>
            <a:r>
              <a:rPr lang="en-US" sz="1610" smtClean="0">
                <a:solidFill>
                  <a:srgbClr val="000000"/>
                </a:solidFill>
                <a:latin typeface="Times New Roman" pitchFamily="18" charset="0"/>
                <a:cs typeface="Times New Roman" pitchFamily="18" charset="0"/>
              </a:rPr>
              <a:t>while (1) { </a:t>
            </a:r>
          </a:p>
          <a:p>
            <a:pPr>
              <a:lnSpc>
                <a:spcPts val="1800"/>
              </a:lnSpc>
            </a:pPr>
            <a:endParaRPr lang="en-US">
              <a:latin typeface="Times New Roman" pitchFamily="18" charset="0"/>
              <a:cs typeface="Times New Roman" pitchFamily="18" charset="0"/>
            </a:endParaRPr>
          </a:p>
        </p:txBody>
      </p:sp>
      <p:sp>
        <p:nvSpPr>
          <p:cNvPr id="5" name="TextBox 4"/>
          <p:cNvSpPr txBox="1"/>
          <p:nvPr/>
        </p:nvSpPr>
        <p:spPr>
          <a:xfrm>
            <a:off x="2750325" y="5687903"/>
            <a:ext cx="807913" cy="247760"/>
          </a:xfrm>
          <a:prstGeom prst="rect">
            <a:avLst/>
          </a:prstGeom>
          <a:noFill/>
        </p:spPr>
        <p:txBody>
          <a:bodyPr vert="horz" wrap="none" lIns="0" tIns="0" rIns="0" bIns="0" rtlCol="0">
            <a:spAutoFit/>
          </a:bodyPr>
          <a:lstStyle/>
          <a:p>
            <a:r>
              <a:rPr lang="en-US" sz="1610" smtClean="0">
                <a:solidFill>
                  <a:srgbClr val="000000"/>
                </a:solidFill>
                <a:latin typeface="Times New Roman" pitchFamily="18" charset="0"/>
                <a:cs typeface="Times New Roman" pitchFamily="18" charset="0"/>
              </a:rPr>
              <a:t>while (1);</a:t>
            </a:r>
            <a:endParaRPr lang="en-US" sz="1610">
              <a:solidFill>
                <a:srgbClr val="000000"/>
              </a:solidFill>
              <a:latin typeface="Times New Roman" pitchFamily="18" charset="0"/>
              <a:cs typeface="Times New Roman" pitchFamily="18" charset="0"/>
            </a:endParaRPr>
          </a:p>
        </p:txBody>
      </p:sp>
      <p:sp>
        <p:nvSpPr>
          <p:cNvPr id="6" name="TextBox 5"/>
          <p:cNvSpPr txBox="1"/>
          <p:nvPr/>
        </p:nvSpPr>
        <p:spPr>
          <a:xfrm>
            <a:off x="6611125" y="5687903"/>
            <a:ext cx="663643" cy="247760"/>
          </a:xfrm>
          <a:prstGeom prst="rect">
            <a:avLst/>
          </a:prstGeom>
          <a:noFill/>
        </p:spPr>
        <p:txBody>
          <a:bodyPr vert="horz" wrap="none" lIns="0" tIns="0" rIns="0" bIns="0" rtlCol="0">
            <a:spAutoFit/>
          </a:bodyPr>
          <a:lstStyle/>
          <a:p>
            <a:r>
              <a:rPr lang="en-US" sz="1610" smtClean="0">
                <a:solidFill>
                  <a:srgbClr val="000000"/>
                </a:solidFill>
                <a:latin typeface="Times New Roman" pitchFamily="18" charset="0"/>
                <a:cs typeface="Times New Roman" pitchFamily="18" charset="0"/>
              </a:rPr>
              <a:t>pause();</a:t>
            </a:r>
            <a:endParaRPr lang="en-US" sz="1610">
              <a:solidFill>
                <a:srgbClr val="000000"/>
              </a:solidFill>
              <a:latin typeface="Times New Roman" pitchFamily="18" charset="0"/>
              <a:cs typeface="Times New Roman" pitchFamily="18" charset="0"/>
            </a:endParaRPr>
          </a:p>
        </p:txBody>
      </p:sp>
      <p:sp>
        <p:nvSpPr>
          <p:cNvPr id="7" name="TextBox 6"/>
          <p:cNvSpPr txBox="1"/>
          <p:nvPr/>
        </p:nvSpPr>
        <p:spPr>
          <a:xfrm>
            <a:off x="6153925" y="5929203"/>
            <a:ext cx="99386" cy="247760"/>
          </a:xfrm>
          <a:prstGeom prst="rect">
            <a:avLst/>
          </a:prstGeom>
          <a:noFill/>
        </p:spPr>
        <p:txBody>
          <a:bodyPr vert="horz" wrap="none" lIns="0" tIns="0" rIns="0" bIns="0" rtlCol="0">
            <a:spAutoFit/>
          </a:bodyPr>
          <a:lstStyle/>
          <a:p>
            <a:r>
              <a:rPr lang="en-US" sz="1610" smtClean="0">
                <a:solidFill>
                  <a:srgbClr val="000000"/>
                </a:solidFill>
                <a:latin typeface="Times New Roman" pitchFamily="18" charset="0"/>
                <a:cs typeface="Times New Roman" pitchFamily="18" charset="0"/>
              </a:rPr>
              <a:t>}</a:t>
            </a:r>
            <a:endParaRPr lang="en-US" sz="161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387350635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nSpc>
                <a:spcPts val="4175"/>
              </a:lnSpc>
            </a:pPr>
            <a:r>
              <a:rPr lang="fr-FR" dirty="0" err="1">
                <a:latin typeface="Garamond" panose="02020404030301010803" pitchFamily="18" charset="0"/>
              </a:rPr>
              <a:t>Wait</a:t>
            </a:r>
            <a:r>
              <a:rPr lang="fr-FR" dirty="0">
                <a:latin typeface="Garamond" panose="02020404030301010803" pitchFamily="18" charset="0"/>
              </a:rPr>
              <a:t> for a signal</a:t>
            </a:r>
            <a:endParaRPr lang="en-US" dirty="0">
              <a:latin typeface="Garamond" panose="02020404030301010803" pitchFamily="18" charset="0"/>
              <a:cs typeface="Times New Roman" pitchFamily="18" charset="0"/>
            </a:endParaRPr>
          </a:p>
        </p:txBody>
      </p:sp>
      <p:sp>
        <p:nvSpPr>
          <p:cNvPr id="3" name="Content Placeholder 2"/>
          <p:cNvSpPr>
            <a:spLocks noGrp="1"/>
          </p:cNvSpPr>
          <p:nvPr>
            <p:ph idx="1"/>
          </p:nvPr>
        </p:nvSpPr>
        <p:spPr>
          <a:xfrm>
            <a:off x="838200" y="1530577"/>
            <a:ext cx="8896958" cy="4525963"/>
          </a:xfrm>
        </p:spPr>
        <p:txBody>
          <a:bodyPr>
            <a:noAutofit/>
          </a:bodyPr>
          <a:lstStyle/>
          <a:p>
            <a:pPr>
              <a:lnSpc>
                <a:spcPct val="110000"/>
              </a:lnSpc>
            </a:pPr>
            <a:r>
              <a:rPr lang="en-US" sz="2000" dirty="0">
                <a:solidFill>
                  <a:srgbClr val="0000FF"/>
                </a:solidFill>
                <a:latin typeface="Courier New" panose="02070309020205020404" pitchFamily="49" charset="0"/>
                <a:cs typeface="Courier New" panose="02070309020205020404" pitchFamily="49" charset="0"/>
              </a:rPr>
              <a:t>pause</a:t>
            </a:r>
            <a:r>
              <a:rPr lang="en-US" dirty="0">
                <a:solidFill>
                  <a:srgbClr val="000000"/>
                </a:solidFill>
                <a:latin typeface="Times New Roman" panose="02020603050405020304" pitchFamily="18" charset="0"/>
                <a:cs typeface="Times New Roman" panose="02020603050405020304" pitchFamily="18" charset="0"/>
              </a:rPr>
              <a:t> </a:t>
            </a:r>
            <a:r>
              <a:rPr lang="en-US" sz="2500" dirty="0">
                <a:solidFill>
                  <a:srgbClr val="000000"/>
                </a:solidFill>
                <a:latin typeface="Garamond" panose="02020404030301010803" pitchFamily="18" charset="0"/>
                <a:cs typeface="Times New Roman" panose="02020603050405020304" pitchFamily="18" charset="0"/>
              </a:rPr>
              <a:t>wait for any signal, but we can wait for one or more precise signals</a:t>
            </a:r>
            <a:endParaRPr lang="fr-FR" sz="2500" dirty="0">
              <a:solidFill>
                <a:srgbClr val="000000"/>
              </a:solidFill>
              <a:latin typeface="Garamond" panose="02020404030301010803" pitchFamily="18" charset="0"/>
              <a:cs typeface="Times New Roman" panose="02020603050405020304" pitchFamily="18" charset="0"/>
            </a:endParaRPr>
          </a:p>
          <a:p>
            <a:pPr marL="0" indent="0">
              <a:lnSpc>
                <a:spcPct val="110000"/>
              </a:lnSpc>
              <a:buNone/>
            </a:pPr>
            <a:r>
              <a:rPr lang="en-US" sz="2000" dirty="0" err="1">
                <a:solidFill>
                  <a:srgbClr val="0000FF"/>
                </a:solidFill>
                <a:latin typeface="Courier New" panose="02070309020205020404" pitchFamily="49" charset="0"/>
                <a:cs typeface="Courier New" panose="02070309020205020404" pitchFamily="49" charset="0"/>
              </a:rPr>
              <a:t>int</a:t>
            </a:r>
            <a:r>
              <a:rPr lang="en-US" sz="2000" dirty="0">
                <a:solidFill>
                  <a:srgbClr val="0000FF"/>
                </a:solidFill>
                <a:latin typeface="Courier New" panose="02070309020205020404" pitchFamily="49" charset="0"/>
                <a:cs typeface="Courier New" panose="02070309020205020404" pitchFamily="49" charset="0"/>
              </a:rPr>
              <a:t>  </a:t>
            </a:r>
            <a:r>
              <a:rPr lang="en-US" sz="2000" dirty="0" err="1">
                <a:solidFill>
                  <a:srgbClr val="0000FF"/>
                </a:solidFill>
                <a:latin typeface="Courier New" panose="02070309020205020404" pitchFamily="49" charset="0"/>
                <a:cs typeface="Courier New" panose="02070309020205020404" pitchFamily="49" charset="0"/>
              </a:rPr>
              <a:t>sigwait</a:t>
            </a:r>
            <a:r>
              <a:rPr lang="en-US" sz="2000" dirty="0">
                <a:solidFill>
                  <a:srgbClr val="0000FF"/>
                </a:solidFill>
                <a:latin typeface="Courier New" panose="02070309020205020404" pitchFamily="49" charset="0"/>
                <a:cs typeface="Courier New" panose="02070309020205020404" pitchFamily="49" charset="0"/>
              </a:rPr>
              <a:t>(</a:t>
            </a:r>
            <a:r>
              <a:rPr lang="en-US" sz="2000" dirty="0" err="1">
                <a:solidFill>
                  <a:srgbClr val="0000FF"/>
                </a:solidFill>
                <a:latin typeface="Courier New" panose="02070309020205020404" pitchFamily="49" charset="0"/>
                <a:cs typeface="Courier New" panose="02070309020205020404" pitchFamily="49" charset="0"/>
              </a:rPr>
              <a:t>const</a:t>
            </a:r>
            <a:r>
              <a:rPr lang="en-US" sz="2000" dirty="0">
                <a:solidFill>
                  <a:srgbClr val="0000FF"/>
                </a:solidFill>
                <a:latin typeface="Courier New" panose="02070309020205020404" pitchFamily="49" charset="0"/>
                <a:cs typeface="Courier New" panose="02070309020205020404" pitchFamily="49" charset="0"/>
              </a:rPr>
              <a:t>  </a:t>
            </a:r>
            <a:r>
              <a:rPr lang="en-US" sz="2000" dirty="0" err="1">
                <a:solidFill>
                  <a:srgbClr val="0000FF"/>
                </a:solidFill>
                <a:latin typeface="Courier New" panose="02070309020205020404" pitchFamily="49" charset="0"/>
                <a:cs typeface="Courier New" panose="02070309020205020404" pitchFamily="49" charset="0"/>
              </a:rPr>
              <a:t>sigset_t</a:t>
            </a:r>
            <a:r>
              <a:rPr lang="en-US" sz="2000" dirty="0">
                <a:solidFill>
                  <a:srgbClr val="0000FF"/>
                </a:solidFill>
                <a:latin typeface="Courier New" panose="02070309020205020404" pitchFamily="49" charset="0"/>
                <a:cs typeface="Courier New" panose="02070309020205020404" pitchFamily="49" charset="0"/>
              </a:rPr>
              <a:t>  *set, </a:t>
            </a:r>
            <a:r>
              <a:rPr lang="en-US" sz="2000" dirty="0" err="1">
                <a:solidFill>
                  <a:srgbClr val="0000FF"/>
                </a:solidFill>
                <a:latin typeface="Courier New" panose="02070309020205020404" pitchFamily="49" charset="0"/>
                <a:cs typeface="Courier New" panose="02070309020205020404" pitchFamily="49" charset="0"/>
              </a:rPr>
              <a:t>int</a:t>
            </a:r>
            <a:r>
              <a:rPr lang="en-US" sz="2000" dirty="0">
                <a:solidFill>
                  <a:srgbClr val="0000FF"/>
                </a:solidFill>
                <a:latin typeface="Courier New" panose="02070309020205020404" pitchFamily="49" charset="0"/>
                <a:cs typeface="Courier New" panose="02070309020205020404" pitchFamily="49" charset="0"/>
              </a:rPr>
              <a:t>  *sig); </a:t>
            </a:r>
          </a:p>
          <a:p>
            <a:pPr>
              <a:lnSpc>
                <a:spcPct val="110000"/>
              </a:lnSpc>
            </a:pPr>
            <a:r>
              <a:rPr lang="fr-FR" sz="2500" dirty="0" smtClean="0">
                <a:solidFill>
                  <a:srgbClr val="000000"/>
                </a:solidFill>
                <a:latin typeface="Garamond" panose="02020404030301010803" pitchFamily="18" charset="0"/>
                <a:cs typeface="Times New Roman" panose="02020603050405020304" pitchFamily="18" charset="0"/>
              </a:rPr>
              <a:t>The </a:t>
            </a:r>
            <a:r>
              <a:rPr lang="fr-FR" sz="2500" dirty="0" err="1" smtClean="0">
                <a:solidFill>
                  <a:srgbClr val="000000"/>
                </a:solidFill>
                <a:latin typeface="Garamond" panose="02020404030301010803" pitchFamily="18" charset="0"/>
                <a:cs typeface="Times New Roman" panose="02020603050405020304" pitchFamily="18" charset="0"/>
              </a:rPr>
              <a:t>function</a:t>
            </a:r>
            <a:r>
              <a:rPr lang="fr-FR" sz="2500" dirty="0" smtClean="0">
                <a:solidFill>
                  <a:srgbClr val="000000"/>
                </a:solidFill>
                <a:latin typeface="Garamond" panose="02020404030301010803" pitchFamily="18" charset="0"/>
                <a:cs typeface="Times New Roman" panose="02020603050405020304" pitchFamily="18" charset="0"/>
              </a:rPr>
              <a:t> </a:t>
            </a:r>
            <a:r>
              <a:rPr lang="fr-FR" sz="2000" dirty="0" err="1" smtClean="0">
                <a:solidFill>
                  <a:srgbClr val="0000FF"/>
                </a:solidFill>
                <a:latin typeface="Courier New" panose="02070309020205020404" pitchFamily="49" charset="0"/>
                <a:cs typeface="Courier New" panose="02070309020205020404" pitchFamily="49" charset="0"/>
              </a:rPr>
              <a:t>sigwait</a:t>
            </a:r>
            <a:r>
              <a:rPr lang="fr-FR" sz="2000" dirty="0" smtClean="0">
                <a:solidFill>
                  <a:srgbClr val="0000FF"/>
                </a:solidFill>
                <a:latin typeface="Courier New" panose="02070309020205020404" pitchFamily="49" charset="0"/>
                <a:cs typeface="Courier New" panose="02070309020205020404" pitchFamily="49" charset="0"/>
              </a:rPr>
              <a:t> </a:t>
            </a:r>
            <a:r>
              <a:rPr lang="fr-FR" sz="2000" dirty="0">
                <a:solidFill>
                  <a:srgbClr val="0000FF"/>
                </a:solidFill>
                <a:latin typeface="Courier New" panose="02070309020205020404" pitchFamily="49" charset="0"/>
                <a:cs typeface="Courier New" panose="02070309020205020404" pitchFamily="49" charset="0"/>
              </a:rPr>
              <a:t>() </a:t>
            </a:r>
            <a:r>
              <a:rPr lang="en-US" sz="2500" dirty="0">
                <a:solidFill>
                  <a:srgbClr val="000000"/>
                </a:solidFill>
                <a:latin typeface="Garamond" panose="02020404030301010803" pitchFamily="18" charset="0"/>
                <a:cs typeface="Times New Roman" panose="02020603050405020304" pitchFamily="18" charset="0"/>
              </a:rPr>
              <a:t>suspends execution of the calling thread until one of the signals specified in the signal set becomes pending. The function accepts the signal (removes it from the signal list) and returns the signal number in </a:t>
            </a:r>
            <a:r>
              <a:rPr lang="fr-FR" sz="2500" dirty="0" err="1" smtClean="0">
                <a:solidFill>
                  <a:srgbClr val="000000"/>
                </a:solidFill>
                <a:latin typeface="Garamond" panose="02020404030301010803" pitchFamily="18" charset="0"/>
                <a:cs typeface="Times New Roman" panose="02020603050405020304" pitchFamily="18" charset="0"/>
              </a:rPr>
              <a:t>sig</a:t>
            </a:r>
            <a:r>
              <a:rPr lang="fr-FR" sz="2500" dirty="0">
                <a:solidFill>
                  <a:srgbClr val="000000"/>
                </a:solidFill>
                <a:latin typeface="Garamond" panose="02020404030301010803" pitchFamily="18" charset="0"/>
                <a:cs typeface="Times New Roman" panose="02020603050405020304" pitchFamily="18" charset="0"/>
              </a:rPr>
              <a:t>.</a:t>
            </a:r>
            <a:endParaRPr lang="en-US" sz="2500" dirty="0">
              <a:solidFill>
                <a:srgbClr val="000000"/>
              </a:solidFill>
              <a:latin typeface="Garamond" panose="02020404030301010803" pitchFamily="18" charset="0"/>
              <a:cs typeface="Times New Roman" panose="02020603050405020304" pitchFamily="18" charset="0"/>
            </a:endParaRPr>
          </a:p>
          <a:p>
            <a:pPr>
              <a:lnSpc>
                <a:spcPct val="110000"/>
              </a:lnSpc>
            </a:pPr>
            <a:r>
              <a:rPr lang="en-US" sz="2500" dirty="0" err="1" smtClean="0">
                <a:solidFill>
                  <a:srgbClr val="000000"/>
                </a:solidFill>
                <a:latin typeface="Times New Roman" panose="02020603050405020304" pitchFamily="18" charset="0"/>
                <a:cs typeface="Times New Roman" panose="02020603050405020304" pitchFamily="18" charset="0"/>
                <a:hlinkClick r:id="rId2" action="ppaction://hlinkfile"/>
              </a:rPr>
              <a:t>Exepmle</a:t>
            </a:r>
            <a:r>
              <a:rPr lang="en-US" sz="2500" dirty="0" smtClean="0">
                <a:solidFill>
                  <a:srgbClr val="000000"/>
                </a:solidFill>
                <a:latin typeface="Times New Roman" panose="02020603050405020304" pitchFamily="18" charset="0"/>
                <a:cs typeface="Times New Roman" panose="02020603050405020304" pitchFamily="18" charset="0"/>
                <a:hlinkClick r:id="rId2" action="ppaction://hlinkfile"/>
              </a:rPr>
              <a:t> </a:t>
            </a:r>
            <a:r>
              <a:rPr lang="en-US" sz="2500" dirty="0">
                <a:solidFill>
                  <a:srgbClr val="000000"/>
                </a:solidFill>
                <a:latin typeface="Times New Roman" panose="02020603050405020304" pitchFamily="18" charset="0"/>
                <a:cs typeface="Times New Roman" panose="02020603050405020304" pitchFamily="18" charset="0"/>
                <a:hlinkClick r:id="rId2" action="ppaction://hlinkfile"/>
              </a:rPr>
              <a:t>signal et pause</a:t>
            </a:r>
            <a:endParaRPr lang="en-US" sz="2500" dirty="0">
              <a:solidFill>
                <a:srgbClr val="000000"/>
              </a:solidFill>
              <a:latin typeface="Times New Roman" panose="02020603050405020304" pitchFamily="18" charset="0"/>
              <a:cs typeface="Times New Roman" panose="02020603050405020304" pitchFamily="18" charset="0"/>
            </a:endParaRPr>
          </a:p>
          <a:p>
            <a:pPr>
              <a:lnSpc>
                <a:spcPct val="110000"/>
              </a:lnSpc>
            </a:pPr>
            <a:r>
              <a:rPr lang="en-US" sz="2500" dirty="0" err="1">
                <a:solidFill>
                  <a:srgbClr val="000000"/>
                </a:solidFill>
                <a:latin typeface="Times New Roman" panose="02020603050405020304" pitchFamily="18" charset="0"/>
                <a:cs typeface="Times New Roman" panose="02020603050405020304" pitchFamily="18" charset="0"/>
                <a:hlinkClick r:id="rId3" action="ppaction://hlinkfile"/>
              </a:rPr>
              <a:t>Exemple</a:t>
            </a:r>
            <a:r>
              <a:rPr lang="en-US" sz="2500" dirty="0">
                <a:solidFill>
                  <a:srgbClr val="000000"/>
                </a:solidFill>
                <a:latin typeface="Times New Roman" panose="02020603050405020304" pitchFamily="18" charset="0"/>
                <a:cs typeface="Times New Roman" panose="02020603050405020304" pitchFamily="18" charset="0"/>
                <a:hlinkClick r:id="rId3" action="ppaction://hlinkfile"/>
              </a:rPr>
              <a:t> signal </a:t>
            </a:r>
            <a:r>
              <a:rPr lang="en-US" sz="2500" dirty="0" err="1">
                <a:solidFill>
                  <a:srgbClr val="000000"/>
                </a:solidFill>
                <a:latin typeface="Times New Roman" panose="02020603050405020304" pitchFamily="18" charset="0"/>
                <a:cs typeface="Times New Roman" panose="02020603050405020304" pitchFamily="18" charset="0"/>
                <a:hlinkClick r:id="rId3" action="ppaction://hlinkfile"/>
              </a:rPr>
              <a:t>sigwait</a:t>
            </a:r>
            <a:endParaRPr lang="en-US" sz="25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380603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dirty="0">
                <a:latin typeface="Garamond" panose="02020404030301010803" pitchFamily="18" charset="0"/>
              </a:rPr>
              <a:t>Arm a </a:t>
            </a:r>
            <a:r>
              <a:rPr lang="fr-FR" dirty="0" err="1">
                <a:latin typeface="Garamond" panose="02020404030301010803" pitchFamily="18" charset="0"/>
              </a:rPr>
              <a:t>timer</a:t>
            </a:r>
            <a:endParaRPr lang="fr-FR" dirty="0">
              <a:latin typeface="Garamond" panose="02020404030301010803" pitchFamily="18" charset="0"/>
            </a:endParaRPr>
          </a:p>
        </p:txBody>
      </p:sp>
      <p:sp>
        <p:nvSpPr>
          <p:cNvPr id="3" name="Content Placeholder 2"/>
          <p:cNvSpPr>
            <a:spLocks noGrp="1"/>
          </p:cNvSpPr>
          <p:nvPr>
            <p:ph idx="1"/>
          </p:nvPr>
        </p:nvSpPr>
        <p:spPr/>
        <p:txBody>
          <a:bodyPr>
            <a:normAutofit/>
          </a:bodyPr>
          <a:lstStyle/>
          <a:p>
            <a:r>
              <a:rPr lang="en-US" sz="2400" dirty="0">
                <a:solidFill>
                  <a:srgbClr val="191919"/>
                </a:solidFill>
                <a:latin typeface="Garamond" panose="02020404030301010803" pitchFamily="18" charset="0"/>
                <a:ea typeface="Arial Unicode MS"/>
                <a:cs typeface="Times New Roman" pitchFamily="18" charset="0"/>
              </a:rPr>
              <a:t>Some processes carry out periodic processing or ask to be notified when a specified period of time has elapsed.</a:t>
            </a:r>
          </a:p>
          <a:p>
            <a:r>
              <a:rPr lang="en-US" sz="2400" dirty="0">
                <a:solidFill>
                  <a:srgbClr val="191919"/>
                </a:solidFill>
                <a:latin typeface="Garamond" panose="02020404030301010803" pitchFamily="18" charset="0"/>
                <a:ea typeface="Arial Unicode MS"/>
                <a:cs typeface="Times New Roman" pitchFamily="18" charset="0"/>
              </a:rPr>
              <a:t>For this purpose, the process activates a delay, the expiration of which causes the </a:t>
            </a:r>
            <a:r>
              <a:rPr lang="fr-FR" sz="2400" dirty="0" smtClean="0">
                <a:solidFill>
                  <a:srgbClr val="00B050"/>
                </a:solidFill>
                <a:latin typeface="Garamond" panose="02020404030301010803" pitchFamily="18" charset="0"/>
              </a:rPr>
              <a:t>SIGALRM</a:t>
            </a:r>
            <a:r>
              <a:rPr lang="fr-FR" sz="2400" dirty="0" smtClean="0">
                <a:latin typeface="Garamond" panose="02020404030301010803" pitchFamily="18" charset="0"/>
              </a:rPr>
              <a:t>. </a:t>
            </a:r>
          </a:p>
          <a:p>
            <a:r>
              <a:rPr lang="en-US" sz="2400" dirty="0">
                <a:latin typeface="Garamond" panose="02020404030301010803" pitchFamily="18" charset="0"/>
              </a:rPr>
              <a:t>The delay is expressed in seconds and is passed as a parameter to the alarm primitive.</a:t>
            </a:r>
          </a:p>
          <a:p>
            <a:r>
              <a:rPr lang="en-US" sz="2400" dirty="0">
                <a:latin typeface="Garamond" panose="02020404030301010803" pitchFamily="18" charset="0"/>
              </a:rPr>
              <a:t>The primitive </a:t>
            </a:r>
            <a:r>
              <a:rPr lang="fr-FR" sz="2500" dirty="0" err="1" smtClean="0">
                <a:solidFill>
                  <a:srgbClr val="000081"/>
                </a:solidFill>
                <a:latin typeface="Courier New" panose="02070309020205020404" pitchFamily="49" charset="0"/>
                <a:cs typeface="Courier New" panose="02070309020205020404" pitchFamily="49" charset="0"/>
              </a:rPr>
              <a:t>alarm</a:t>
            </a:r>
            <a:r>
              <a:rPr lang="fr-FR" sz="2500" dirty="0">
                <a:solidFill>
                  <a:srgbClr val="000081"/>
                </a:solidFill>
                <a:latin typeface="Courier New" panose="02070309020205020404" pitchFamily="49" charset="0"/>
                <a:cs typeface="Courier New" panose="02070309020205020404" pitchFamily="49" charset="0"/>
              </a:rPr>
              <a:t>() </a:t>
            </a:r>
            <a:r>
              <a:rPr lang="en-US" sz="2400" dirty="0">
                <a:solidFill>
                  <a:srgbClr val="191919"/>
                </a:solidFill>
                <a:latin typeface="Garamond" panose="02020404030301010803" pitchFamily="18" charset="0"/>
                <a:ea typeface="Arial Unicode MS"/>
                <a:cs typeface="Times New Roman" pitchFamily="18" charset="0"/>
              </a:rPr>
              <a:t>allows you to arm a timer. At the end of this time delay, the SIGALRM signal is delivered to the process.</a:t>
            </a:r>
            <a:endParaRPr lang="fr-FR" sz="2400" dirty="0">
              <a:solidFill>
                <a:srgbClr val="191919"/>
              </a:solidFill>
              <a:latin typeface="Garamond" panose="02020404030301010803" pitchFamily="18" charset="0"/>
              <a:ea typeface="Arial Unicode MS"/>
              <a:cs typeface="Times New Roman" pitchFamily="18" charset="0"/>
            </a:endParaRPr>
          </a:p>
          <a:p>
            <a:pPr marL="0" indent="0">
              <a:buNone/>
            </a:pPr>
            <a:r>
              <a:rPr lang="fr-FR" sz="2500" b="0" i="0" u="none" strike="noStrike" baseline="0" dirty="0" smtClean="0">
                <a:solidFill>
                  <a:srgbClr val="000081"/>
                </a:solidFill>
                <a:latin typeface="Courier New" panose="02070309020205020404" pitchFamily="49" charset="0"/>
                <a:cs typeface="Courier New" panose="02070309020205020404" pitchFamily="49" charset="0"/>
              </a:rPr>
              <a:t>#</a:t>
            </a:r>
            <a:r>
              <a:rPr lang="fr-FR" sz="2500" b="0" i="0" u="none" strike="noStrike" baseline="0" dirty="0" err="1" smtClean="0">
                <a:solidFill>
                  <a:srgbClr val="000081"/>
                </a:solidFill>
                <a:latin typeface="Courier New" panose="02070309020205020404" pitchFamily="49" charset="0"/>
                <a:cs typeface="Courier New" panose="02070309020205020404" pitchFamily="49" charset="0"/>
              </a:rPr>
              <a:t>include</a:t>
            </a:r>
            <a:r>
              <a:rPr lang="fr-FR" sz="2500" b="0" i="0" u="none" strike="noStrike" baseline="0" dirty="0" smtClean="0">
                <a:solidFill>
                  <a:srgbClr val="000081"/>
                </a:solidFill>
                <a:latin typeface="Courier New" panose="02070309020205020404" pitchFamily="49" charset="0"/>
                <a:cs typeface="Courier New" panose="02070309020205020404" pitchFamily="49" charset="0"/>
              </a:rPr>
              <a:t> &lt;</a:t>
            </a:r>
            <a:r>
              <a:rPr lang="fr-FR" sz="2500" b="0" i="0" u="none" strike="noStrike" baseline="0" dirty="0" err="1" smtClean="0">
                <a:solidFill>
                  <a:srgbClr val="000081"/>
                </a:solidFill>
                <a:latin typeface="Courier New" panose="02070309020205020404" pitchFamily="49" charset="0"/>
                <a:cs typeface="Courier New" panose="02070309020205020404" pitchFamily="49" charset="0"/>
              </a:rPr>
              <a:t>unistd.h</a:t>
            </a:r>
            <a:r>
              <a:rPr lang="fr-FR" sz="2500" b="0" i="0" u="none" strike="noStrike" baseline="0" dirty="0" smtClean="0">
                <a:solidFill>
                  <a:srgbClr val="000081"/>
                </a:solidFill>
                <a:latin typeface="Courier New" panose="02070309020205020404" pitchFamily="49" charset="0"/>
                <a:cs typeface="Courier New" panose="02070309020205020404" pitchFamily="49" charset="0"/>
              </a:rPr>
              <a:t>&gt;</a:t>
            </a:r>
          </a:p>
          <a:p>
            <a:pPr marL="0" indent="0">
              <a:buNone/>
            </a:pPr>
            <a:r>
              <a:rPr lang="en-US" sz="2500" b="0" i="0" u="none" strike="noStrike" baseline="0" dirty="0" smtClean="0">
                <a:solidFill>
                  <a:srgbClr val="000081"/>
                </a:solidFill>
                <a:latin typeface="Courier New" panose="02070309020205020404" pitchFamily="49" charset="0"/>
                <a:cs typeface="Courier New" panose="02070309020205020404" pitchFamily="49" charset="0"/>
              </a:rPr>
              <a:t>unsigned </a:t>
            </a:r>
            <a:r>
              <a:rPr lang="en-US" sz="2500" b="0" i="0" u="none" strike="noStrike" baseline="0" dirty="0" err="1" smtClean="0">
                <a:solidFill>
                  <a:srgbClr val="000081"/>
                </a:solidFill>
                <a:latin typeface="Courier New" panose="02070309020205020404" pitchFamily="49" charset="0"/>
                <a:cs typeface="Courier New" panose="02070309020205020404" pitchFamily="49" charset="0"/>
              </a:rPr>
              <a:t>int</a:t>
            </a:r>
            <a:r>
              <a:rPr lang="en-US" sz="2500" b="0" i="0" u="none" strike="noStrike" baseline="0" dirty="0" smtClean="0">
                <a:solidFill>
                  <a:srgbClr val="000081"/>
                </a:solidFill>
                <a:latin typeface="Courier New" panose="02070309020205020404" pitchFamily="49" charset="0"/>
                <a:cs typeface="Courier New" panose="02070309020205020404" pitchFamily="49" charset="0"/>
              </a:rPr>
              <a:t> alarm(unsigned </a:t>
            </a:r>
            <a:r>
              <a:rPr lang="en-US" sz="2500" b="0" i="0" u="none" strike="noStrike" baseline="0" dirty="0" err="1" smtClean="0">
                <a:solidFill>
                  <a:srgbClr val="000081"/>
                </a:solidFill>
                <a:latin typeface="Courier New" panose="02070309020205020404" pitchFamily="49" charset="0"/>
                <a:cs typeface="Courier New" panose="02070309020205020404" pitchFamily="49" charset="0"/>
              </a:rPr>
              <a:t>int</a:t>
            </a:r>
            <a:r>
              <a:rPr lang="en-US" sz="2500" b="0" i="0" u="none" strike="noStrike" baseline="0" dirty="0" smtClean="0">
                <a:solidFill>
                  <a:srgbClr val="000081"/>
                </a:solidFill>
                <a:latin typeface="Courier New" panose="02070309020205020404" pitchFamily="49" charset="0"/>
                <a:cs typeface="Courier New" panose="02070309020205020404" pitchFamily="49" charset="0"/>
              </a:rPr>
              <a:t> </a:t>
            </a:r>
            <a:r>
              <a:rPr lang="en-US" sz="2500" b="0" i="0" u="none" strike="noStrike" baseline="0" dirty="0" err="1" smtClean="0">
                <a:solidFill>
                  <a:srgbClr val="000081"/>
                </a:solidFill>
                <a:latin typeface="Courier New" panose="02070309020205020404" pitchFamily="49" charset="0"/>
                <a:cs typeface="Courier New" panose="02070309020205020404" pitchFamily="49" charset="0"/>
              </a:rPr>
              <a:t>nb_sec</a:t>
            </a:r>
            <a:r>
              <a:rPr lang="en-US" sz="2500" b="0" i="0" u="none" strike="noStrike" baseline="0" dirty="0" smtClean="0">
                <a:solidFill>
                  <a:srgbClr val="000081"/>
                </a:solidFill>
                <a:latin typeface="Courier New" panose="02070309020205020404" pitchFamily="49" charset="0"/>
                <a:cs typeface="Courier New" panose="02070309020205020404" pitchFamily="49" charset="0"/>
              </a:rPr>
              <a:t>);</a:t>
            </a:r>
          </a:p>
          <a:p>
            <a:r>
              <a:rPr lang="fr-FR" sz="2500" b="0" i="0" u="none" strike="noStrike" baseline="0" dirty="0" smtClean="0">
                <a:solidFill>
                  <a:srgbClr val="000000"/>
                </a:solidFill>
                <a:latin typeface="Times New Roman" panose="02020603050405020304" pitchFamily="18" charset="0"/>
                <a:cs typeface="Times New Roman" panose="02020603050405020304" pitchFamily="18" charset="0"/>
              </a:rPr>
              <a:t>Note : </a:t>
            </a:r>
            <a:r>
              <a:rPr lang="fr-FR" sz="2500" dirty="0" err="1">
                <a:solidFill>
                  <a:srgbClr val="000081"/>
                </a:solidFill>
                <a:latin typeface="Courier New" panose="02070309020205020404" pitchFamily="49" charset="0"/>
                <a:cs typeface="Courier New" panose="02070309020205020404" pitchFamily="49" charset="0"/>
              </a:rPr>
              <a:t>nb_sec</a:t>
            </a:r>
            <a:r>
              <a:rPr lang="fr-FR" sz="2500" dirty="0">
                <a:solidFill>
                  <a:srgbClr val="000081"/>
                </a:solidFill>
                <a:latin typeface="Courier New" panose="02070309020205020404" pitchFamily="49" charset="0"/>
                <a:cs typeface="Courier New" panose="02070309020205020404" pitchFamily="49" charset="0"/>
              </a:rPr>
              <a:t> = 0 </a:t>
            </a:r>
            <a:r>
              <a:rPr lang="fr-FR" sz="2500" dirty="0">
                <a:solidFill>
                  <a:srgbClr val="000000"/>
                </a:solidFill>
                <a:latin typeface="Times New Roman" panose="02020603050405020304" pitchFamily="18" charset="0"/>
                <a:cs typeface="Times New Roman" panose="02020603050405020304" pitchFamily="18" charset="0"/>
              </a:rPr>
              <a:t>cancels the </a:t>
            </a:r>
            <a:r>
              <a:rPr lang="fr-FR" sz="2500" dirty="0" err="1">
                <a:solidFill>
                  <a:srgbClr val="000000"/>
                </a:solidFill>
                <a:latin typeface="Times New Roman" panose="02020603050405020304" pitchFamily="18" charset="0"/>
                <a:cs typeface="Times New Roman" panose="02020603050405020304" pitchFamily="18" charset="0"/>
              </a:rPr>
              <a:t>alarm</a:t>
            </a:r>
            <a:r>
              <a:rPr lang="fr-FR" sz="2500" dirty="0">
                <a:solidFill>
                  <a:srgbClr val="000000"/>
                </a:solidFill>
                <a:latin typeface="Times New Roman" panose="02020603050405020304" pitchFamily="18" charset="0"/>
                <a:cs typeface="Times New Roman" panose="02020603050405020304" pitchFamily="18" charset="0"/>
              </a:rPr>
              <a:t>.</a:t>
            </a:r>
            <a:endParaRPr lang="fr-FR"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322948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Garamond" panose="02020404030301010803" pitchFamily="18" charset="0"/>
              </a:rPr>
              <a:t>Successive calls to alarm (): cancellation</a:t>
            </a:r>
            <a:endParaRPr lang="fr-FR" dirty="0">
              <a:latin typeface="Garamond" panose="02020404030301010803" pitchFamily="18" charset="0"/>
            </a:endParaRPr>
          </a:p>
        </p:txBody>
      </p:sp>
      <p:pic>
        <p:nvPicPr>
          <p:cNvPr id="4" name="Content Placeholder 3"/>
          <p:cNvPicPr>
            <a:picLocks noGrp="1" noChangeAspect="1"/>
          </p:cNvPicPr>
          <p:nvPr>
            <p:ph idx="1"/>
          </p:nvPr>
        </p:nvPicPr>
        <p:blipFill>
          <a:blip r:embed="rId2"/>
          <a:stretch>
            <a:fillRect/>
          </a:stretch>
        </p:blipFill>
        <p:spPr>
          <a:xfrm>
            <a:off x="2638186" y="1630936"/>
            <a:ext cx="6521222" cy="4043013"/>
          </a:xfrm>
          <a:prstGeom prst="rect">
            <a:avLst/>
          </a:prstGeom>
        </p:spPr>
      </p:pic>
    </p:spTree>
    <p:extLst>
      <p:ext uri="{BB962C8B-B14F-4D97-AF65-F5344CB8AC3E}">
        <p14:creationId xmlns:p14="http://schemas.microsoft.com/office/powerpoint/2010/main" val="236232440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Garamond" panose="02020404030301010803" pitchFamily="18" charset="0"/>
              </a:rPr>
              <a:t>Successive calls to alarm (): cancellation</a:t>
            </a:r>
            <a:endParaRPr lang="fr-FR" dirty="0">
              <a:latin typeface="Garamond" panose="02020404030301010803" pitchFamily="18" charset="0"/>
            </a:endParaRPr>
          </a:p>
        </p:txBody>
      </p:sp>
      <p:sp>
        <p:nvSpPr>
          <p:cNvPr id="3" name="Content Placeholder 2"/>
          <p:cNvSpPr>
            <a:spLocks noGrp="1"/>
          </p:cNvSpPr>
          <p:nvPr>
            <p:ph idx="1"/>
          </p:nvPr>
        </p:nvSpPr>
        <p:spPr/>
        <p:txBody>
          <a:bodyPr/>
          <a:lstStyle/>
          <a:p>
            <a:endParaRPr lang="fr-FR"/>
          </a:p>
        </p:txBody>
      </p:sp>
      <p:pic>
        <p:nvPicPr>
          <p:cNvPr id="5" name="Picture 4"/>
          <p:cNvPicPr>
            <a:picLocks noChangeAspect="1"/>
          </p:cNvPicPr>
          <p:nvPr/>
        </p:nvPicPr>
        <p:blipFill>
          <a:blip r:embed="rId2"/>
          <a:stretch>
            <a:fillRect/>
          </a:stretch>
        </p:blipFill>
        <p:spPr>
          <a:xfrm>
            <a:off x="2561058" y="1690688"/>
            <a:ext cx="6490020" cy="4003987"/>
          </a:xfrm>
          <a:prstGeom prst="rect">
            <a:avLst/>
          </a:prstGeom>
        </p:spPr>
      </p:pic>
    </p:spTree>
    <p:extLst>
      <p:ext uri="{BB962C8B-B14F-4D97-AF65-F5344CB8AC3E}">
        <p14:creationId xmlns:p14="http://schemas.microsoft.com/office/powerpoint/2010/main" val="28989631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FECE13F748774489199EDB80C7ECAED" ma:contentTypeVersion="8" ma:contentTypeDescription="Create a new document." ma:contentTypeScope="" ma:versionID="37c1f23fd20dce6592cf1b2dbe7bd39b">
  <xsd:schema xmlns:xsd="http://www.w3.org/2001/XMLSchema" xmlns:xs="http://www.w3.org/2001/XMLSchema" xmlns:p="http://schemas.microsoft.com/office/2006/metadata/properties" xmlns:ns2="08f3b302-e7b2-4b26-998e-7c93f5dae48d" targetNamespace="http://schemas.microsoft.com/office/2006/metadata/properties" ma:root="true" ma:fieldsID="cb495b3fe2b6e119e8bc79b02fe4ead9" ns2:_="">
    <xsd:import namespace="08f3b302-e7b2-4b26-998e-7c93f5dae48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f3b302-e7b2-4b26-998e-7c93f5dae4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83FF0D-1569-4F46-AD85-8C49346B4FC0}"/>
</file>

<file path=customXml/itemProps2.xml><?xml version="1.0" encoding="utf-8"?>
<ds:datastoreItem xmlns:ds="http://schemas.openxmlformats.org/officeDocument/2006/customXml" ds:itemID="{1B771DB0-76D7-463F-A5C1-C6EEA33EBB05}"/>
</file>

<file path=customXml/itemProps3.xml><?xml version="1.0" encoding="utf-8"?>
<ds:datastoreItem xmlns:ds="http://schemas.openxmlformats.org/officeDocument/2006/customXml" ds:itemID="{06DED8BA-CC5E-4D95-8461-88602E387298}"/>
</file>

<file path=docProps/app.xml><?xml version="1.0" encoding="utf-8"?>
<Properties xmlns="http://schemas.openxmlformats.org/officeDocument/2006/extended-properties" xmlns:vt="http://schemas.openxmlformats.org/officeDocument/2006/docPropsVTypes">
  <TotalTime>218</TotalTime>
  <Words>2729</Words>
  <Application>Microsoft Office PowerPoint</Application>
  <PresentationFormat>Widescreen</PresentationFormat>
  <Paragraphs>345</Paragraphs>
  <Slides>36</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36</vt:i4>
      </vt:variant>
    </vt:vector>
  </HeadingPairs>
  <TitlesOfParts>
    <vt:vector size="48" baseType="lpstr">
      <vt:lpstr>Arial Unicode MS</vt:lpstr>
      <vt:lpstr>Arial</vt:lpstr>
      <vt:lpstr>ArialMT</vt:lpstr>
      <vt:lpstr>Calibri</vt:lpstr>
      <vt:lpstr>Calibri Light</vt:lpstr>
      <vt:lpstr>Courier New</vt:lpstr>
      <vt:lpstr>CourierNewPS-BoldMT</vt:lpstr>
      <vt:lpstr>CourierNewPSMT</vt:lpstr>
      <vt:lpstr>Garamond</vt:lpstr>
      <vt:lpstr>Symbol</vt:lpstr>
      <vt:lpstr>Times New Roman</vt:lpstr>
      <vt:lpstr>Office Theme</vt:lpstr>
      <vt:lpstr>Signal handling in Linux</vt:lpstr>
      <vt:lpstr>Goals</vt:lpstr>
      <vt:lpstr>Signal processing by the kernel</vt:lpstr>
      <vt:lpstr>Signal processing by the kernel</vt:lpstr>
      <vt:lpstr>PowerPoint Presentation</vt:lpstr>
      <vt:lpstr>Signal sources</vt:lpstr>
      <vt:lpstr>Signal generation</vt:lpstr>
      <vt:lpstr>PCB fields associated with signals</vt:lpstr>
      <vt:lpstr>Signal state</vt:lpstr>
      <vt:lpstr>Times of signal delivery</vt:lpstr>
      <vt:lpstr>Sending signals</vt:lpstr>
      <vt:lpstr>Taking a signal into account</vt:lpstr>
      <vt:lpstr>Taking a signal into account</vt:lpstr>
      <vt:lpstr>Taking a signal into account</vt:lpstr>
      <vt:lpstr>Taking a signal into account</vt:lpstr>
      <vt:lpstr>System signals and calls</vt:lpstr>
      <vt:lpstr>Sending signals</vt:lpstr>
      <vt:lpstr>Sending signals</vt:lpstr>
      <vt:lpstr>Block signals</vt:lpstr>
      <vt:lpstr>Block signals</vt:lpstr>
      <vt:lpstr>Block signals</vt:lpstr>
      <vt:lpstr>Example of use with "Ctrl-C" current</vt:lpstr>
      <vt:lpstr>Attach a handler to a signal</vt:lpstr>
      <vt:lpstr>Attach a handler to a signal: Example with signal</vt:lpstr>
      <vt:lpstr>Attach a handler to a signal: Example with signal</vt:lpstr>
      <vt:lpstr>Attach a handler to a signal: Example with : sigaction()</vt:lpstr>
      <vt:lpstr>Attach a handler to a signal: Example with sigaction()</vt:lpstr>
      <vt:lpstr>Attach a handler to a signal: Example with sigaction()</vt:lpstr>
      <vt:lpstr>PowerPoint Presentation</vt:lpstr>
      <vt:lpstr>Example</vt:lpstr>
      <vt:lpstr>Multiple signals</vt:lpstr>
      <vt:lpstr>Wait for a signal</vt:lpstr>
      <vt:lpstr>Wait for a signal</vt:lpstr>
      <vt:lpstr>Arm a timer</vt:lpstr>
      <vt:lpstr>Successive calls to alarm (): cancellation</vt:lpstr>
      <vt:lpstr>Successive calls to alarm (): cancellation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Mouhammad SAADE</dc:creator>
  <cp:lastModifiedBy>Mouhammad SAADE</cp:lastModifiedBy>
  <cp:revision>28</cp:revision>
  <dcterms:created xsi:type="dcterms:W3CDTF">2021-01-19T16:11:10Z</dcterms:created>
  <dcterms:modified xsi:type="dcterms:W3CDTF">2021-01-20T07:17:33Z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0x0101008FECE13F748774489199EDB80C7ECAED</vt:lpwstr>
  </property>
</Properties>
</file>